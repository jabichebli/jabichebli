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6858000" cx="12192000"/>
  <p:notesSz cx="6858000" cy="9144000"/>
  <p:embeddedFontLst>
    <p:embeddedFont>
      <p:font typeface="Arial Narrow"/>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704">
          <p15:clr>
            <a:srgbClr val="A4A3A4"/>
          </p15:clr>
        </p15:guide>
        <p15:guide id="2" orient="horz" pos="2160">
          <p15:clr>
            <a:srgbClr val="A4A3A4"/>
          </p15:clr>
        </p15:guide>
        <p15:guide id="3" orient="horz" pos="529">
          <p15:clr>
            <a:srgbClr val="A4A3A4"/>
          </p15:clr>
        </p15:guide>
        <p15:guide id="4" orient="horz" pos="1524">
          <p15:clr>
            <a:srgbClr val="A4A3A4"/>
          </p15:clr>
        </p15:guide>
        <p15:guide id="5" orient="horz" pos="224">
          <p15:clr>
            <a:srgbClr val="A4A3A4"/>
          </p15:clr>
        </p15:guide>
        <p15:guide id="6" pos="301">
          <p15:clr>
            <a:srgbClr val="A4A3A4"/>
          </p15:clr>
        </p15:guide>
        <p15:guide id="7" pos="3840">
          <p15:clr>
            <a:srgbClr val="A4A3A4"/>
          </p15:clr>
        </p15:guide>
        <p15:guide id="8" orient="horz" pos="1904">
          <p15:clr>
            <a:srgbClr val="A4A3A4"/>
          </p15:clr>
        </p15:guide>
        <p15:guide id="9" orient="horz" pos="700">
          <p15:clr>
            <a:srgbClr val="A4A3A4"/>
          </p15:clr>
        </p15:guide>
        <p15:guide id="10" orient="horz" pos="1528">
          <p15:clr>
            <a:srgbClr val="A4A3A4"/>
          </p15:clr>
        </p15:guide>
        <p15:guide id="11" orient="horz" pos="233">
          <p15:clr>
            <a:srgbClr val="A4A3A4"/>
          </p15:clr>
        </p15:guide>
        <p15:guide id="12" orient="horz" pos="1715">
          <p15:clr>
            <a:srgbClr val="A4A3A4"/>
          </p15:clr>
        </p15:guide>
        <p15:guide id="13" orient="horz" pos="203">
          <p15:clr>
            <a:srgbClr val="A4A3A4"/>
          </p15:clr>
        </p15:guide>
        <p15:guide id="14" pos="3644">
          <p15:clr>
            <a:srgbClr val="A4A3A4"/>
          </p15:clr>
        </p15:guide>
        <p15:guide id="15" pos="3773">
          <p15:clr>
            <a:srgbClr val="A4A3A4"/>
          </p15:clr>
        </p15:guide>
        <p15:guide id="16" pos="313">
          <p15:clr>
            <a:srgbClr val="A4A3A4"/>
          </p15:clr>
        </p15:guide>
      </p15:sldGuideLst>
    </p:ext>
    <p:ext uri="http://customooxmlschemas.google.com/">
      <go:slidesCustomData xmlns:go="http://customooxmlschemas.google.com/" r:id="rId35" roundtripDataSignature="AMtx7mheU0CHkAAJo8oad0R3gBercjuy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13AE4E-E06C-40B6-8191-772D5B3F1EAE}">
  <a:tblStyle styleId="{FF13AE4E-E06C-40B6-8191-772D5B3F1EA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704" orient="horz"/>
        <p:guide pos="2160" orient="horz"/>
        <p:guide pos="529" orient="horz"/>
        <p:guide pos="1524" orient="horz"/>
        <p:guide pos="224" orient="horz"/>
        <p:guide pos="301"/>
        <p:guide pos="3840"/>
        <p:guide pos="1904" orient="horz"/>
        <p:guide pos="700" orient="horz"/>
        <p:guide pos="1528" orient="horz"/>
        <p:guide pos="233" orient="horz"/>
        <p:guide pos="1715" orient="horz"/>
        <p:guide pos="203" orient="horz"/>
        <p:guide pos="3644"/>
        <p:guide pos="3773"/>
        <p:guide pos="313"/>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ArialNarrow-regular.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ArialNarrow-italic.fntdata"/><Relationship Id="rId10" Type="http://schemas.openxmlformats.org/officeDocument/2006/relationships/slide" Target="slides/slide3.xml"/><Relationship Id="rId32" Type="http://schemas.openxmlformats.org/officeDocument/2006/relationships/font" Target="fonts/ArialNarrow-bold.fntdata"/><Relationship Id="rId13" Type="http://schemas.openxmlformats.org/officeDocument/2006/relationships/slide" Target="slides/slide6.xml"/><Relationship Id="rId35" Type="http://customschemas.google.com/relationships/presentationmetadata" Target="metadata"/><Relationship Id="rId12" Type="http://schemas.openxmlformats.org/officeDocument/2006/relationships/slide" Target="slides/slide5.xml"/><Relationship Id="rId34" Type="http://schemas.openxmlformats.org/officeDocument/2006/relationships/font" Target="fonts/ArialNarrow-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 name="Google Shape;5;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6" name="Google Shape;6;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 name="Google Shape;7;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A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14b29b56ded_1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 name="Google Shape;45;g14b29b56ded_1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14b29b56ded_1_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g14b29b56ded_1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4b29b56ded_1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 name="Google Shape;66;g14b29b56ded_1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4b29b56ded_1_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g14b29b56ded_1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4b29b56ded_1_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g14b29b56ded_1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4b29b56ded_1_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g14b29b56ded_1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4b29b56ded_1_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14b29b56ded_1_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4b29b56ded_1_1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14b29b56ded_1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4b29b56ded_1_2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4b29b56ded_1_2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14b29b56ded_1_26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AU"/>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4b29b56ded_1_2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14b29b56ded_1_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4b29b56ded_1_2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g14b29b56ded_1_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4b29b56ded_1_1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14b29b56ded_1_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4b29b56ded_1_1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14b29b56ded_1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4b29b56ded_1_2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g14b29b56ded_1_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4b29b56ded_1_2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g14b29b56ded_1_2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4b29b56ded_1_2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g14b29b56ded_1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4b4e40a154_3_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4" name="Google Shape;494;g14b4e40a154_3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499bbfa3bb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2" name="Google Shape;502;g1499bbfa3b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499bbfa3bb_0_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2" name="Google Shape;522;g1499bbfa3bb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499bbfa3bb_0_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g1499bbfa3bb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 name="Shape 12"/>
        <p:cNvGrpSpPr/>
        <p:nvPr/>
      </p:nvGrpSpPr>
      <p:grpSpPr>
        <a:xfrm>
          <a:off x="0" y="0"/>
          <a:ext cx="0" cy="0"/>
          <a:chOff x="0" y="0"/>
          <a:chExt cx="0" cy="0"/>
        </a:xfrm>
      </p:grpSpPr>
      <p:sp>
        <p:nvSpPr>
          <p:cNvPr id="13" name="Google Shape;13;p13"/>
          <p:cNvSpPr txBox="1"/>
          <p:nvPr>
            <p:ph type="ctrTitle"/>
          </p:nvPr>
        </p:nvSpPr>
        <p:spPr>
          <a:xfrm>
            <a:off x="283659" y="1493335"/>
            <a:ext cx="7136320" cy="14700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lt1"/>
              </a:buClr>
              <a:buSzPts val="3000"/>
              <a:buFont typeface="Arial Narrow"/>
              <a:buNone/>
              <a:defRPr b="0" i="0" sz="3000" u="none" cap="none" strike="noStrike">
                <a:solidFill>
                  <a:schemeClr val="lt1"/>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13"/>
          <p:cNvSpPr txBox="1"/>
          <p:nvPr>
            <p:ph idx="1" type="subTitle"/>
          </p:nvPr>
        </p:nvSpPr>
        <p:spPr>
          <a:xfrm>
            <a:off x="365720" y="2646769"/>
            <a:ext cx="7136320" cy="63318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360"/>
              </a:spcBef>
              <a:spcAft>
                <a:spcPts val="0"/>
              </a:spcAft>
              <a:buClr>
                <a:schemeClr val="lt1"/>
              </a:buClr>
              <a:buSzPts val="1800"/>
              <a:buFont typeface="Arial"/>
              <a:buNone/>
              <a:defRPr b="0" i="0" sz="1800" u="none" cap="none" strike="noStrike">
                <a:solidFill>
                  <a:schemeClr val="lt1"/>
                </a:solidFill>
                <a:latin typeface="Arial Narrow"/>
                <a:ea typeface="Arial Narrow"/>
                <a:cs typeface="Arial Narrow"/>
                <a:sym typeface="Arial Narrow"/>
              </a:defRPr>
            </a:lvl1pPr>
            <a:lvl2pPr lvl="1" marR="0" rtl="0" algn="ctr">
              <a:lnSpc>
                <a:spcPct val="100000"/>
              </a:lnSpc>
              <a:spcBef>
                <a:spcPts val="560"/>
              </a:spcBef>
              <a:spcAft>
                <a:spcPts val="0"/>
              </a:spcAft>
              <a:buClr>
                <a:srgbClr val="888888"/>
              </a:buClr>
              <a:buSzPts val="2800"/>
              <a:buFont typeface="Arial"/>
              <a:buNone/>
              <a:defRPr b="0" i="0" sz="2800" u="none" cap="none" strike="noStrike">
                <a:solidFill>
                  <a:srgbClr val="888888"/>
                </a:solidFill>
                <a:latin typeface="Arial"/>
                <a:ea typeface="Arial"/>
                <a:cs typeface="Arial"/>
                <a:sym typeface="Arial"/>
              </a:defRPr>
            </a:lvl2pPr>
            <a:lvl3pPr lvl="2" marR="0" rtl="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3pPr>
            <a:lvl4pPr lvl="3"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4pPr>
            <a:lvl5pPr lvl="4"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5pPr>
            <a:lvl6pPr lvl="5"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6pPr>
            <a:lvl7pPr lvl="6"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7pPr>
            <a:lvl8pPr lvl="7"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8pPr>
            <a:lvl9pPr lvl="8"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5" name="Shape 15"/>
        <p:cNvGrpSpPr/>
        <p:nvPr/>
      </p:nvGrpSpPr>
      <p:grpSpPr>
        <a:xfrm>
          <a:off x="0" y="0"/>
          <a:ext cx="0" cy="0"/>
          <a:chOff x="0" y="0"/>
          <a:chExt cx="0" cy="0"/>
        </a:xfrm>
      </p:grpSpPr>
      <p:sp>
        <p:nvSpPr>
          <p:cNvPr id="16" name="Google Shape;16;p14"/>
          <p:cNvSpPr txBox="1"/>
          <p:nvPr>
            <p:ph type="title"/>
          </p:nvPr>
        </p:nvSpPr>
        <p:spPr>
          <a:xfrm>
            <a:off x="609600" y="141897"/>
            <a:ext cx="10972800" cy="5108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Arial Narrow"/>
              <a:buNone/>
              <a:defRPr b="0" i="0" sz="2400" u="none" cap="none" strike="noStrike">
                <a:solidFill>
                  <a:schemeClr val="dk1"/>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 name="Google Shape;17;p14"/>
          <p:cNvSpPr txBox="1"/>
          <p:nvPr>
            <p:ph idx="1" type="body"/>
          </p:nvPr>
        </p:nvSpPr>
        <p:spPr>
          <a:xfrm>
            <a:off x="609599" y="1231261"/>
            <a:ext cx="11092828" cy="4525963"/>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 name="Google Shape;18;p14"/>
          <p:cNvSpPr txBox="1"/>
          <p:nvPr/>
        </p:nvSpPr>
        <p:spPr>
          <a:xfrm>
            <a:off x="5435847" y="6356351"/>
            <a:ext cx="1320307"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fld id="{00000000-1234-1234-1234-123412341234}" type="slidenum">
              <a:rPr b="0" i="0" lang="en-AU" sz="2400" u="none" cap="none" strike="noStrike">
                <a:solidFill>
                  <a:schemeClr val="dk1"/>
                </a:solidFill>
                <a:latin typeface="Arial Narrow"/>
                <a:ea typeface="Arial Narrow"/>
                <a:cs typeface="Arial Narrow"/>
                <a:sym typeface="Arial Narrow"/>
              </a:rPr>
              <a:t>‹#›</a:t>
            </a:fld>
            <a:endParaRPr b="0" i="0" sz="2400" u="none" cap="none" strike="noStrike">
              <a:solidFill>
                <a:schemeClr val="dk1"/>
              </a:solidFill>
              <a:latin typeface="Arial Narrow"/>
              <a:ea typeface="Arial Narrow"/>
              <a:cs typeface="Arial Narrow"/>
              <a:sym typeface="Arial Narrow"/>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21" name="Shape 21"/>
        <p:cNvGrpSpPr/>
        <p:nvPr/>
      </p:nvGrpSpPr>
      <p:grpSpPr>
        <a:xfrm>
          <a:off x="0" y="0"/>
          <a:ext cx="0" cy="0"/>
          <a:chOff x="0" y="0"/>
          <a:chExt cx="0" cy="0"/>
        </a:xfrm>
      </p:grpSpPr>
      <p:sp>
        <p:nvSpPr>
          <p:cNvPr id="22" name="Google Shape;22;p20"/>
          <p:cNvSpPr txBox="1"/>
          <p:nvPr>
            <p:ph type="title"/>
          </p:nvPr>
        </p:nvSpPr>
        <p:spPr>
          <a:xfrm>
            <a:off x="609600" y="141897"/>
            <a:ext cx="10972800" cy="5108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Arial Narrow"/>
              <a:buNone/>
              <a:defRPr b="0" i="0" sz="2400" u="none" cap="none" strike="noStrike">
                <a:solidFill>
                  <a:schemeClr val="dk1"/>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20"/>
          <p:cNvSpPr txBox="1"/>
          <p:nvPr>
            <p:ph idx="1" type="body"/>
          </p:nvPr>
        </p:nvSpPr>
        <p:spPr>
          <a:xfrm>
            <a:off x="609599" y="1231261"/>
            <a:ext cx="11092828" cy="4525963"/>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 name="Google Shape;24;p20"/>
          <p:cNvSpPr txBox="1"/>
          <p:nvPr/>
        </p:nvSpPr>
        <p:spPr>
          <a:xfrm>
            <a:off x="5435847" y="6356351"/>
            <a:ext cx="1320307"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Narrow"/>
              <a:ea typeface="Arial Narrow"/>
              <a:cs typeface="Arial Narrow"/>
              <a:sym typeface="Arial Narrow"/>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21"/>
          <p:cNvSpPr txBox="1"/>
          <p:nvPr>
            <p:ph type="title"/>
          </p:nvPr>
        </p:nvSpPr>
        <p:spPr>
          <a:xfrm>
            <a:off x="609600" y="141897"/>
            <a:ext cx="10972800" cy="5108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Arial Narrow"/>
              <a:buNone/>
              <a:defRPr b="0" i="0" sz="2400" u="none" cap="none" strike="noStrike">
                <a:solidFill>
                  <a:schemeClr val="dk1"/>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21"/>
          <p:cNvSpPr txBox="1"/>
          <p:nvPr/>
        </p:nvSpPr>
        <p:spPr>
          <a:xfrm>
            <a:off x="5435847" y="6356351"/>
            <a:ext cx="1320307"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Narrow"/>
              <a:ea typeface="Arial Narrow"/>
              <a:cs typeface="Arial Narrow"/>
              <a:sym typeface="Arial Narrow"/>
            </a:endParaRPr>
          </a:p>
        </p:txBody>
      </p:sp>
      <p:sp>
        <p:nvSpPr>
          <p:cNvPr id="28" name="Google Shape;28;p21"/>
          <p:cNvSpPr txBox="1"/>
          <p:nvPr/>
        </p:nvSpPr>
        <p:spPr>
          <a:xfrm>
            <a:off x="10739779" y="6384730"/>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2"/>
          <p:cNvSpPr txBox="1"/>
          <p:nvPr>
            <p:ph type="title"/>
          </p:nvPr>
        </p:nvSpPr>
        <p:spPr>
          <a:xfrm>
            <a:off x="609600" y="141897"/>
            <a:ext cx="10972800" cy="5108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Arial Narrow"/>
              <a:buNone/>
              <a:defRPr b="0" i="0" sz="2400" u="none" cap="none" strike="noStrike">
                <a:solidFill>
                  <a:schemeClr val="dk1"/>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1" name="Google Shape;31;p22"/>
          <p:cNvSpPr txBox="1"/>
          <p:nvPr>
            <p:ph idx="1" type="body"/>
          </p:nvPr>
        </p:nvSpPr>
        <p:spPr>
          <a:xfrm>
            <a:off x="609600" y="1231261"/>
            <a:ext cx="5384800" cy="4525963"/>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Google Shape;32;p22"/>
          <p:cNvSpPr txBox="1"/>
          <p:nvPr>
            <p:ph idx="2" type="body"/>
          </p:nvPr>
        </p:nvSpPr>
        <p:spPr>
          <a:xfrm>
            <a:off x="6197600" y="1231261"/>
            <a:ext cx="5384800" cy="4525963"/>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22"/>
          <p:cNvSpPr txBox="1"/>
          <p:nvPr/>
        </p:nvSpPr>
        <p:spPr>
          <a:xfrm>
            <a:off x="5435847" y="6356351"/>
            <a:ext cx="1320307"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Narrow"/>
              <a:ea typeface="Arial Narrow"/>
              <a:cs typeface="Arial Narrow"/>
              <a:sym typeface="Arial Narrow"/>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xt &amp; diagram">
  <p:cSld name="2_Text &amp; diagram">
    <p:spTree>
      <p:nvGrpSpPr>
        <p:cNvPr id="34" name="Shape 34"/>
        <p:cNvGrpSpPr/>
        <p:nvPr/>
      </p:nvGrpSpPr>
      <p:grpSpPr>
        <a:xfrm>
          <a:off x="0" y="0"/>
          <a:ext cx="0" cy="0"/>
          <a:chOff x="0" y="0"/>
          <a:chExt cx="0" cy="0"/>
        </a:xfrm>
      </p:grpSpPr>
      <p:sp>
        <p:nvSpPr>
          <p:cNvPr id="35" name="Google Shape;35;p23"/>
          <p:cNvSpPr/>
          <p:nvPr>
            <p:ph idx="2" type="pic"/>
          </p:nvPr>
        </p:nvSpPr>
        <p:spPr>
          <a:xfrm>
            <a:off x="4381704" y="1088126"/>
            <a:ext cx="7349104" cy="4743791"/>
          </a:xfrm>
          <a:prstGeom prst="rect">
            <a:avLst/>
          </a:prstGeom>
          <a:noFill/>
          <a:ln>
            <a:noFill/>
          </a:ln>
        </p:spPr>
      </p:sp>
      <p:sp>
        <p:nvSpPr>
          <p:cNvPr id="36" name="Google Shape;36;p23"/>
          <p:cNvSpPr txBox="1"/>
          <p:nvPr>
            <p:ph type="title"/>
          </p:nvPr>
        </p:nvSpPr>
        <p:spPr>
          <a:xfrm>
            <a:off x="609600" y="141897"/>
            <a:ext cx="10972800" cy="5108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Arial Narrow"/>
              <a:buNone/>
              <a:defRPr b="0" i="0" sz="2400" u="none" cap="none" strike="noStrike">
                <a:solidFill>
                  <a:schemeClr val="dk1"/>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7" name="Google Shape;37;p23"/>
          <p:cNvSpPr txBox="1"/>
          <p:nvPr>
            <p:ph idx="1" type="body"/>
          </p:nvPr>
        </p:nvSpPr>
        <p:spPr>
          <a:xfrm>
            <a:off x="609600" y="1088126"/>
            <a:ext cx="3312888" cy="4743791"/>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8" name="Google Shape;38;p23"/>
          <p:cNvSpPr txBox="1"/>
          <p:nvPr/>
        </p:nvSpPr>
        <p:spPr>
          <a:xfrm>
            <a:off x="5435847" y="6356351"/>
            <a:ext cx="1320307"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Narrow"/>
              <a:ea typeface="Arial Narrow"/>
              <a:cs typeface="Arial Narrow"/>
              <a:sym typeface="Arial Narrow"/>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39" name="Shape 39"/>
        <p:cNvGrpSpPr/>
        <p:nvPr/>
      </p:nvGrpSpPr>
      <p:grpSpPr>
        <a:xfrm>
          <a:off x="0" y="0"/>
          <a:ext cx="0" cy="0"/>
          <a:chOff x="0" y="0"/>
          <a:chExt cx="0" cy="0"/>
        </a:xfrm>
      </p:grpSpPr>
      <p:sp>
        <p:nvSpPr>
          <p:cNvPr id="40" name="Google Shape;40;p24"/>
          <p:cNvSpPr/>
          <p:nvPr>
            <p:ph idx="2" type="pic"/>
          </p:nvPr>
        </p:nvSpPr>
        <p:spPr>
          <a:xfrm>
            <a:off x="679260" y="1031359"/>
            <a:ext cx="11051549" cy="4871506"/>
          </a:xfrm>
          <a:prstGeom prst="rect">
            <a:avLst/>
          </a:prstGeom>
          <a:noFill/>
          <a:ln>
            <a:noFill/>
          </a:ln>
        </p:spPr>
      </p:sp>
      <p:sp>
        <p:nvSpPr>
          <p:cNvPr id="41" name="Google Shape;41;p24"/>
          <p:cNvSpPr txBox="1"/>
          <p:nvPr>
            <p:ph type="title"/>
          </p:nvPr>
        </p:nvSpPr>
        <p:spPr>
          <a:xfrm>
            <a:off x="620809" y="141897"/>
            <a:ext cx="11110000" cy="48749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Arial Narrow"/>
              <a:buNone/>
              <a:defRPr b="0" i="0" sz="2400" u="none" cap="none" strike="noStrike">
                <a:solidFill>
                  <a:schemeClr val="dk1"/>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2" name="Google Shape;42;p24"/>
          <p:cNvSpPr txBox="1"/>
          <p:nvPr/>
        </p:nvSpPr>
        <p:spPr>
          <a:xfrm>
            <a:off x="5435847" y="6356351"/>
            <a:ext cx="1320307"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Narrow"/>
              <a:ea typeface="Arial Narrow"/>
              <a:cs typeface="Arial Narrow"/>
              <a:sym typeface="Arial Narrow"/>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pic>
        <p:nvPicPr>
          <p:cNvPr id="9" name="Google Shape;9;p12"/>
          <p:cNvPicPr preferRelativeResize="0"/>
          <p:nvPr/>
        </p:nvPicPr>
        <p:blipFill rotWithShape="1">
          <a:blip r:embed="rId1">
            <a:alphaModFix/>
          </a:blip>
          <a:srcRect b="0" l="0" r="22212" t="0"/>
          <a:stretch/>
        </p:blipFill>
        <p:spPr>
          <a:xfrm>
            <a:off x="0" y="1529861"/>
            <a:ext cx="12199931" cy="5420109"/>
          </a:xfrm>
          <a:prstGeom prst="rect">
            <a:avLst/>
          </a:prstGeom>
          <a:noFill/>
          <a:ln>
            <a:noFill/>
          </a:ln>
        </p:spPr>
      </p:pic>
      <p:pic>
        <p:nvPicPr>
          <p:cNvPr descr="Mon_Engineering_RGB" id="10" name="Google Shape;10;p12"/>
          <p:cNvPicPr preferRelativeResize="0"/>
          <p:nvPr/>
        </p:nvPicPr>
        <p:blipFill rotWithShape="1">
          <a:blip r:embed="rId2">
            <a:alphaModFix/>
          </a:blip>
          <a:srcRect b="0" l="0" r="0" t="0"/>
          <a:stretch/>
        </p:blipFill>
        <p:spPr>
          <a:xfrm>
            <a:off x="2" y="1"/>
            <a:ext cx="5794130" cy="1362807"/>
          </a:xfrm>
          <a:prstGeom prst="rect">
            <a:avLst/>
          </a:prstGeom>
          <a:noFill/>
          <a:ln>
            <a:noFill/>
          </a:ln>
        </p:spPr>
      </p:pic>
      <p:sp>
        <p:nvSpPr>
          <p:cNvPr id="11" name="Google Shape;11;p12"/>
          <p:cNvSpPr txBox="1"/>
          <p:nvPr/>
        </p:nvSpPr>
        <p:spPr>
          <a:xfrm>
            <a:off x="8042032" y="6383214"/>
            <a:ext cx="403273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AU" sz="1600" u="none" cap="none" strike="noStrike">
                <a:solidFill>
                  <a:schemeClr val="lt1"/>
                </a:solidFill>
                <a:latin typeface="Arial"/>
                <a:ea typeface="Arial"/>
                <a:cs typeface="Arial"/>
                <a:sym typeface="Arial"/>
              </a:rPr>
              <a:t>Photo: Star of the south project</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7.jpg"/><Relationship Id="rId6" Type="http://schemas.openxmlformats.org/officeDocument/2006/relationships/image" Target="../media/image13.jpg"/><Relationship Id="rId7"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28.jpg"/><Relationship Id="rId5" Type="http://schemas.openxmlformats.org/officeDocument/2006/relationships/image" Target="../media/image32.jpg"/><Relationship Id="rId6"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4.jpg"/><Relationship Id="rId5" Type="http://schemas.openxmlformats.org/officeDocument/2006/relationships/image" Target="../media/image6.jpg"/><Relationship Id="rId6" Type="http://schemas.openxmlformats.org/officeDocument/2006/relationships/image" Target="../media/image3.jpg"/><Relationship Id="rId7" Type="http://schemas.openxmlformats.org/officeDocument/2006/relationships/image" Target="../media/image15.gif"/><Relationship Id="rId8" Type="http://schemas.openxmlformats.org/officeDocument/2006/relationships/image" Target="../media/image1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22.jpg"/><Relationship Id="rId5" Type="http://schemas.openxmlformats.org/officeDocument/2006/relationships/image" Target="../media/image20.jpg"/><Relationship Id="rId6" Type="http://schemas.openxmlformats.org/officeDocument/2006/relationships/image" Target="../media/image2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5.gif"/><Relationship Id="rId4" Type="http://schemas.openxmlformats.org/officeDocument/2006/relationships/image" Target="../media/image2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6.jpg"/><Relationship Id="rId4" Type="http://schemas.openxmlformats.org/officeDocument/2006/relationships/image" Target="../media/image28.jpg"/><Relationship Id="rId5"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6.jpg"/><Relationship Id="rId4"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8.jpg"/><Relationship Id="rId4" Type="http://schemas.openxmlformats.org/officeDocument/2006/relationships/image" Target="../media/image24.jpg"/><Relationship Id="rId5"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1.jpg"/><Relationship Id="rId4" Type="http://schemas.openxmlformats.org/officeDocument/2006/relationships/image" Target="../media/image30.jpg"/><Relationship Id="rId5" Type="http://schemas.openxmlformats.org/officeDocument/2006/relationships/image" Target="../media/image37.jpg"/><Relationship Id="rId6" Type="http://schemas.openxmlformats.org/officeDocument/2006/relationships/image" Target="../media/image33.jpg"/><Relationship Id="rId7" Type="http://schemas.openxmlformats.org/officeDocument/2006/relationships/image" Target="../media/image3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jpg"/><Relationship Id="rId4" Type="http://schemas.openxmlformats.org/officeDocument/2006/relationships/image" Target="../media/image3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3.jpg"/><Relationship Id="rId4" Type="http://schemas.openxmlformats.org/officeDocument/2006/relationships/image" Target="../media/image4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1.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9.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pic>
        <p:nvPicPr>
          <p:cNvPr id="47" name="Google Shape;47;g14b29b56ded_1_1"/>
          <p:cNvPicPr preferRelativeResize="0"/>
          <p:nvPr/>
        </p:nvPicPr>
        <p:blipFill>
          <a:blip r:embed="rId3">
            <a:alphaModFix/>
          </a:blip>
          <a:stretch>
            <a:fillRect/>
          </a:stretch>
        </p:blipFill>
        <p:spPr>
          <a:xfrm>
            <a:off x="0" y="5"/>
            <a:ext cx="12192000" cy="6857995"/>
          </a:xfrm>
          <a:prstGeom prst="rect">
            <a:avLst/>
          </a:prstGeom>
          <a:noFill/>
          <a:ln>
            <a:noFill/>
          </a:ln>
        </p:spPr>
      </p:pic>
      <p:sp>
        <p:nvSpPr>
          <p:cNvPr id="48" name="Google Shape;48;g14b29b56ded_1_1"/>
          <p:cNvSpPr txBox="1"/>
          <p:nvPr/>
        </p:nvSpPr>
        <p:spPr>
          <a:xfrm>
            <a:off x="2274600" y="1080150"/>
            <a:ext cx="76428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1800">
                <a:solidFill>
                  <a:schemeClr val="dk1"/>
                </a:solidFill>
                <a:latin typeface="Arial Narrow"/>
                <a:ea typeface="Arial Narrow"/>
                <a:cs typeface="Arial Narrow"/>
                <a:sym typeface="Arial Narrow"/>
              </a:rPr>
              <a:t>Design Group 5</a:t>
            </a:r>
            <a:br>
              <a:rPr b="1" lang="en-AU" sz="1800">
                <a:solidFill>
                  <a:schemeClr val="dk1"/>
                </a:solidFill>
                <a:latin typeface="Arial Narrow"/>
                <a:ea typeface="Arial Narrow"/>
                <a:cs typeface="Arial Narrow"/>
                <a:sym typeface="Arial Narrow"/>
              </a:rPr>
            </a:br>
            <a:r>
              <a:rPr lang="en-AU" sz="1800">
                <a:solidFill>
                  <a:schemeClr val="dk1"/>
                </a:solidFill>
                <a:latin typeface="Arial Narrow"/>
                <a:ea typeface="Arial Narrow"/>
                <a:cs typeface="Arial Narrow"/>
                <a:sym typeface="Arial Narrow"/>
              </a:rPr>
              <a:t>Jason Abi Chebli, Alex Mavros, Claire Morey, Reece Sherar, Sean Schmid Walter</a:t>
            </a:r>
            <a:br>
              <a:rPr lang="en-AU" sz="1800">
                <a:solidFill>
                  <a:schemeClr val="dk1"/>
                </a:solidFill>
                <a:latin typeface="Arial Narrow"/>
                <a:ea typeface="Arial Narrow"/>
                <a:cs typeface="Arial Narrow"/>
                <a:sym typeface="Arial Narrow"/>
              </a:rPr>
            </a:br>
            <a:r>
              <a:rPr lang="en-AU" sz="1800">
                <a:solidFill>
                  <a:schemeClr val="dk1"/>
                </a:solidFill>
                <a:latin typeface="Arial Narrow"/>
                <a:ea typeface="Arial Narrow"/>
                <a:cs typeface="Arial Narrow"/>
                <a:sym typeface="Arial Narrow"/>
              </a:rPr>
              <a:t>Preliminary submission for MEC3416 Engineering Design II, S2, 2022</a:t>
            </a:r>
            <a:endParaRPr sz="1800">
              <a:solidFill>
                <a:schemeClr val="dk1"/>
              </a:solidFill>
              <a:latin typeface="Arial Narrow"/>
              <a:ea typeface="Arial Narrow"/>
              <a:cs typeface="Arial Narrow"/>
              <a:sym typeface="Arial Narrow"/>
            </a:endParaRPr>
          </a:p>
          <a:p>
            <a:pPr indent="0" lvl="0" marL="0" rtl="0" algn="l">
              <a:spcBef>
                <a:spcPts val="360"/>
              </a:spcBef>
              <a:spcAft>
                <a:spcPts val="0"/>
              </a:spcAft>
              <a:buNone/>
            </a:pPr>
            <a:r>
              <a:t/>
            </a:r>
            <a:endParaRPr sz="1800">
              <a:solidFill>
                <a:schemeClr val="lt1"/>
              </a:solidFill>
              <a:latin typeface="Arial Narrow"/>
              <a:ea typeface="Arial Narrow"/>
              <a:cs typeface="Arial Narrow"/>
              <a:sym typeface="Arial Narrow"/>
            </a:endParaRPr>
          </a:p>
        </p:txBody>
      </p:sp>
      <p:sp>
        <p:nvSpPr>
          <p:cNvPr id="49" name="Google Shape;49;g14b29b56ded_1_1"/>
          <p:cNvSpPr txBox="1"/>
          <p:nvPr/>
        </p:nvSpPr>
        <p:spPr>
          <a:xfrm>
            <a:off x="1787700" y="464750"/>
            <a:ext cx="8616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sz="3000">
                <a:solidFill>
                  <a:schemeClr val="dk1"/>
                </a:solidFill>
                <a:latin typeface="Arial Narrow"/>
                <a:ea typeface="Arial Narrow"/>
                <a:cs typeface="Arial Narrow"/>
                <a:sym typeface="Arial Narrow"/>
              </a:rPr>
              <a:t>Maintenance of Offshore Wind Turbines</a:t>
            </a:r>
            <a:endParaRPr b="1" sz="3000">
              <a:solidFill>
                <a:schemeClr val="dk1"/>
              </a:solidFill>
              <a:latin typeface="Arial Narrow"/>
              <a:ea typeface="Arial Narrow"/>
              <a:cs typeface="Arial Narrow"/>
              <a:sym typeface="Arial Narrow"/>
            </a:endParaRPr>
          </a:p>
        </p:txBody>
      </p:sp>
      <p:sp>
        <p:nvSpPr>
          <p:cNvPr id="50" name="Google Shape;50;g14b29b56ded_1_1"/>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a:t>
            </a:r>
            <a:endParaRPr sz="1800">
              <a:solidFill>
                <a:schemeClr val="dk1"/>
              </a:solidFill>
              <a:latin typeface="Arial Narrow"/>
              <a:ea typeface="Arial Narrow"/>
              <a:cs typeface="Arial Narrow"/>
              <a:sym typeface="Arial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g14b29b56ded_1_92"/>
          <p:cNvSpPr txBox="1"/>
          <p:nvPr/>
        </p:nvSpPr>
        <p:spPr>
          <a:xfrm>
            <a:off x="496900" y="1381788"/>
            <a:ext cx="4173900" cy="4833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sz="1600">
                <a:solidFill>
                  <a:schemeClr val="dk1"/>
                </a:solidFill>
                <a:latin typeface="Arial Narrow"/>
                <a:ea typeface="Arial Narrow"/>
                <a:cs typeface="Arial Narrow"/>
                <a:sym typeface="Arial Narrow"/>
              </a:rPr>
              <a:t>After brainstorming over eight different configurations of a rack and pinion system to hoist</a:t>
            </a:r>
            <a:r>
              <a:rPr lang="en-AU" sz="1600">
                <a:solidFill>
                  <a:schemeClr val="dk1"/>
                </a:solidFill>
                <a:latin typeface="Arial Narrow"/>
                <a:ea typeface="Arial Narrow"/>
                <a:cs typeface="Arial Narrow"/>
                <a:sym typeface="Arial Narrow"/>
              </a:rPr>
              <a:t> the platform up the wind turbine, we decided to implement a dual rack and pinion system with the teeth of the racks facing towards each other. This design was selected as we thought it would naturally make our system more stable than a single rack and pinion system and the inwards direction of teeth felt like an easier way to engage our pinions with the racks. </a:t>
            </a:r>
            <a:endParaRPr sz="16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600">
              <a:solidFill>
                <a:schemeClr val="dk1"/>
              </a:solidFill>
              <a:latin typeface="Arial Narrow"/>
              <a:ea typeface="Arial Narrow"/>
              <a:cs typeface="Arial Narrow"/>
              <a:sym typeface="Arial Narrow"/>
            </a:endParaRPr>
          </a:p>
          <a:p>
            <a:pPr indent="0" lvl="0" marL="0" rtl="0" algn="just">
              <a:spcBef>
                <a:spcPts val="0"/>
              </a:spcBef>
              <a:spcAft>
                <a:spcPts val="0"/>
              </a:spcAft>
              <a:buClr>
                <a:schemeClr val="lt1"/>
              </a:buClr>
              <a:buSzPts val="3000"/>
              <a:buFont typeface="Arial"/>
              <a:buNone/>
            </a:pPr>
            <a:r>
              <a:rPr lang="en-AU" sz="1600">
                <a:solidFill>
                  <a:schemeClr val="dk1"/>
                </a:solidFill>
                <a:latin typeface="Arial Narrow"/>
                <a:ea typeface="Arial Narrow"/>
                <a:cs typeface="Arial Narrow"/>
                <a:sym typeface="Arial Narrow"/>
              </a:rPr>
              <a:t>Our system is depicted in the images on the right. A 10m wall is used as a proof of concept for the 120m wall that will be implemented. To make our platform easily removable, the rack starts 1.5 meters off the ground. A scissor lift transports the platform to the wall of the wind turbine, and then lifts the platform and the engineer up, until the the rack and pinions are engaged.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56" name="Google Shape;56;g14b29b56ded_1_92"/>
          <p:cNvSpPr txBox="1"/>
          <p:nvPr/>
        </p:nvSpPr>
        <p:spPr>
          <a:xfrm>
            <a:off x="477850" y="355600"/>
            <a:ext cx="8616600" cy="6465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Clr>
                <a:schemeClr val="dk1"/>
              </a:buClr>
              <a:buSzPts val="3000"/>
              <a:buFont typeface="Arial Narrow"/>
              <a:buAutoNum type="arabicPeriod"/>
            </a:pPr>
            <a:r>
              <a:rPr b="1" lang="en-AU" sz="3000">
                <a:solidFill>
                  <a:schemeClr val="dk1"/>
                </a:solidFill>
                <a:latin typeface="Arial Narrow"/>
                <a:ea typeface="Arial Narrow"/>
                <a:cs typeface="Arial Narrow"/>
                <a:sym typeface="Arial Narrow"/>
              </a:rPr>
              <a:t>Concept Design/Sketches</a:t>
            </a:r>
            <a:endParaRPr b="1" sz="3000">
              <a:solidFill>
                <a:schemeClr val="dk1"/>
              </a:solidFill>
              <a:latin typeface="Arial Narrow"/>
              <a:ea typeface="Arial Narrow"/>
              <a:cs typeface="Arial Narrow"/>
              <a:sym typeface="Arial Narrow"/>
            </a:endParaRPr>
          </a:p>
        </p:txBody>
      </p:sp>
      <p:pic>
        <p:nvPicPr>
          <p:cNvPr id="57" name="Google Shape;57;g14b29b56ded_1_92"/>
          <p:cNvPicPr preferRelativeResize="0"/>
          <p:nvPr/>
        </p:nvPicPr>
        <p:blipFill rotWithShape="1">
          <a:blip r:embed="rId3">
            <a:alphaModFix/>
          </a:blip>
          <a:srcRect b="4177" l="46990" r="15744" t="12273"/>
          <a:stretch/>
        </p:blipFill>
        <p:spPr>
          <a:xfrm>
            <a:off x="9012150" y="464750"/>
            <a:ext cx="3179850" cy="5703475"/>
          </a:xfrm>
          <a:prstGeom prst="rect">
            <a:avLst/>
          </a:prstGeom>
          <a:noFill/>
          <a:ln>
            <a:noFill/>
          </a:ln>
        </p:spPr>
      </p:pic>
      <p:pic>
        <p:nvPicPr>
          <p:cNvPr id="58" name="Google Shape;58;g14b29b56ded_1_92"/>
          <p:cNvPicPr preferRelativeResize="0"/>
          <p:nvPr/>
        </p:nvPicPr>
        <p:blipFill rotWithShape="1">
          <a:blip r:embed="rId4">
            <a:alphaModFix/>
          </a:blip>
          <a:srcRect b="7975" l="42742" r="19351" t="28524"/>
          <a:stretch/>
        </p:blipFill>
        <p:spPr>
          <a:xfrm>
            <a:off x="4901736" y="1410912"/>
            <a:ext cx="3254374" cy="4361675"/>
          </a:xfrm>
          <a:prstGeom prst="rect">
            <a:avLst/>
          </a:prstGeom>
          <a:noFill/>
          <a:ln>
            <a:noFill/>
          </a:ln>
        </p:spPr>
      </p:pic>
      <p:sp>
        <p:nvSpPr>
          <p:cNvPr id="59" name="Google Shape;59;g14b29b56ded_1_92"/>
          <p:cNvSpPr/>
          <p:nvPr/>
        </p:nvSpPr>
        <p:spPr>
          <a:xfrm>
            <a:off x="4901725" y="1410900"/>
            <a:ext cx="3254400" cy="43617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g14b29b56ded_1_92"/>
          <p:cNvCxnSpPr/>
          <p:nvPr/>
        </p:nvCxnSpPr>
        <p:spPr>
          <a:xfrm>
            <a:off x="8165850" y="1428750"/>
            <a:ext cx="1769400" cy="3033300"/>
          </a:xfrm>
          <a:prstGeom prst="straightConnector1">
            <a:avLst/>
          </a:prstGeom>
          <a:noFill/>
          <a:ln cap="flat" cmpd="sng" w="38100">
            <a:solidFill>
              <a:srgbClr val="CC0000"/>
            </a:solidFill>
            <a:prstDash val="solid"/>
            <a:round/>
            <a:headEnd len="med" w="med" type="none"/>
            <a:tailEnd len="med" w="med" type="none"/>
          </a:ln>
        </p:spPr>
      </p:cxnSp>
      <p:cxnSp>
        <p:nvCxnSpPr>
          <p:cNvPr id="61" name="Google Shape;61;g14b29b56ded_1_92"/>
          <p:cNvCxnSpPr/>
          <p:nvPr/>
        </p:nvCxnSpPr>
        <p:spPr>
          <a:xfrm>
            <a:off x="8176850" y="5758950"/>
            <a:ext cx="1747500" cy="417600"/>
          </a:xfrm>
          <a:prstGeom prst="straightConnector1">
            <a:avLst/>
          </a:prstGeom>
          <a:noFill/>
          <a:ln cap="flat" cmpd="sng" w="38100">
            <a:solidFill>
              <a:srgbClr val="CC0000"/>
            </a:solidFill>
            <a:prstDash val="solid"/>
            <a:round/>
            <a:headEnd len="med" w="med" type="none"/>
            <a:tailEnd len="med" w="med" type="none"/>
          </a:ln>
        </p:spPr>
      </p:cxnSp>
      <p:sp>
        <p:nvSpPr>
          <p:cNvPr id="62" name="Google Shape;62;g14b29b56ded_1_92"/>
          <p:cNvSpPr/>
          <p:nvPr/>
        </p:nvSpPr>
        <p:spPr>
          <a:xfrm>
            <a:off x="9912075" y="4462050"/>
            <a:ext cx="1506900" cy="17061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14b29b56ded_1_92"/>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2</a:t>
            </a:r>
            <a:endParaRPr sz="1800">
              <a:solidFill>
                <a:schemeClr val="dk1"/>
              </a:solidFill>
              <a:latin typeface="Arial Narrow"/>
              <a:ea typeface="Arial Narrow"/>
              <a:cs typeface="Arial Narrow"/>
              <a:sym typeface="Arial Narro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14b29b56ded_1_19"/>
          <p:cNvSpPr txBox="1"/>
          <p:nvPr/>
        </p:nvSpPr>
        <p:spPr>
          <a:xfrm>
            <a:off x="436525" y="355600"/>
            <a:ext cx="8616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3000">
                <a:solidFill>
                  <a:schemeClr val="dk1"/>
                </a:solidFill>
                <a:latin typeface="Arial Narrow"/>
                <a:ea typeface="Arial Narrow"/>
                <a:cs typeface="Arial Narrow"/>
                <a:sym typeface="Arial Narrow"/>
              </a:rPr>
              <a:t>1.1 Detailed Visualization of Components</a:t>
            </a:r>
            <a:endParaRPr b="1" sz="3000">
              <a:solidFill>
                <a:schemeClr val="dk1"/>
              </a:solidFill>
              <a:latin typeface="Arial Narrow"/>
              <a:ea typeface="Arial Narrow"/>
              <a:cs typeface="Arial Narrow"/>
              <a:sym typeface="Arial Narrow"/>
            </a:endParaRPr>
          </a:p>
        </p:txBody>
      </p:sp>
      <p:pic>
        <p:nvPicPr>
          <p:cNvPr id="69" name="Google Shape;69;g14b29b56ded_1_19"/>
          <p:cNvPicPr preferRelativeResize="0"/>
          <p:nvPr/>
        </p:nvPicPr>
        <p:blipFill rotWithShape="1">
          <a:blip r:embed="rId3">
            <a:alphaModFix/>
          </a:blip>
          <a:srcRect b="1601" l="30698" r="10571" t="7892"/>
          <a:stretch/>
        </p:blipFill>
        <p:spPr>
          <a:xfrm>
            <a:off x="1351838" y="3680500"/>
            <a:ext cx="2077174" cy="2560751"/>
          </a:xfrm>
          <a:prstGeom prst="rect">
            <a:avLst/>
          </a:prstGeom>
          <a:noFill/>
          <a:ln>
            <a:noFill/>
          </a:ln>
        </p:spPr>
      </p:pic>
      <p:pic>
        <p:nvPicPr>
          <p:cNvPr id="70" name="Google Shape;70;g14b29b56ded_1_19"/>
          <p:cNvPicPr preferRelativeResize="0"/>
          <p:nvPr/>
        </p:nvPicPr>
        <p:blipFill rotWithShape="1">
          <a:blip r:embed="rId4">
            <a:alphaModFix/>
          </a:blip>
          <a:srcRect b="5367" l="22970" r="8111" t="11795"/>
          <a:stretch/>
        </p:blipFill>
        <p:spPr>
          <a:xfrm>
            <a:off x="9660525" y="4260425"/>
            <a:ext cx="1820799" cy="1750750"/>
          </a:xfrm>
          <a:prstGeom prst="rect">
            <a:avLst/>
          </a:prstGeom>
          <a:noFill/>
          <a:ln>
            <a:noFill/>
          </a:ln>
        </p:spPr>
      </p:pic>
      <p:pic>
        <p:nvPicPr>
          <p:cNvPr id="71" name="Google Shape;71;g14b29b56ded_1_19"/>
          <p:cNvPicPr preferRelativeResize="0"/>
          <p:nvPr/>
        </p:nvPicPr>
        <p:blipFill rotWithShape="1">
          <a:blip r:embed="rId5">
            <a:alphaModFix/>
          </a:blip>
          <a:srcRect b="0" l="50501" r="24428" t="0"/>
          <a:stretch/>
        </p:blipFill>
        <p:spPr>
          <a:xfrm>
            <a:off x="9495700" y="693425"/>
            <a:ext cx="857249" cy="2735575"/>
          </a:xfrm>
          <a:prstGeom prst="rect">
            <a:avLst/>
          </a:prstGeom>
          <a:noFill/>
          <a:ln>
            <a:noFill/>
          </a:ln>
        </p:spPr>
      </p:pic>
      <p:pic>
        <p:nvPicPr>
          <p:cNvPr id="72" name="Google Shape;72;g14b29b56ded_1_19"/>
          <p:cNvPicPr preferRelativeResize="0"/>
          <p:nvPr/>
        </p:nvPicPr>
        <p:blipFill rotWithShape="1">
          <a:blip r:embed="rId6">
            <a:alphaModFix/>
          </a:blip>
          <a:srcRect b="7550" l="31719" r="10523" t="10468"/>
          <a:stretch/>
        </p:blipFill>
        <p:spPr>
          <a:xfrm>
            <a:off x="1670425" y="1026850"/>
            <a:ext cx="1593600" cy="1809500"/>
          </a:xfrm>
          <a:prstGeom prst="rect">
            <a:avLst/>
          </a:prstGeom>
          <a:noFill/>
          <a:ln>
            <a:noFill/>
          </a:ln>
        </p:spPr>
      </p:pic>
      <p:pic>
        <p:nvPicPr>
          <p:cNvPr id="73" name="Google Shape;73;g14b29b56ded_1_19"/>
          <p:cNvPicPr preferRelativeResize="0"/>
          <p:nvPr/>
        </p:nvPicPr>
        <p:blipFill rotWithShape="1">
          <a:blip r:embed="rId7">
            <a:alphaModFix/>
          </a:blip>
          <a:srcRect b="7975" l="42742" r="19351" t="28524"/>
          <a:stretch/>
        </p:blipFill>
        <p:spPr>
          <a:xfrm>
            <a:off x="4468811" y="1355975"/>
            <a:ext cx="3254374" cy="4361675"/>
          </a:xfrm>
          <a:prstGeom prst="rect">
            <a:avLst/>
          </a:prstGeom>
          <a:noFill/>
          <a:ln>
            <a:noFill/>
          </a:ln>
        </p:spPr>
      </p:pic>
      <p:cxnSp>
        <p:nvCxnSpPr>
          <p:cNvPr id="74" name="Google Shape;74;g14b29b56ded_1_19"/>
          <p:cNvCxnSpPr/>
          <p:nvPr/>
        </p:nvCxnSpPr>
        <p:spPr>
          <a:xfrm flipH="1" rot="10800000">
            <a:off x="3429000" y="3923525"/>
            <a:ext cx="2099100" cy="1238100"/>
          </a:xfrm>
          <a:prstGeom prst="straightConnector1">
            <a:avLst/>
          </a:prstGeom>
          <a:noFill/>
          <a:ln cap="flat" cmpd="sng" w="38100">
            <a:solidFill>
              <a:srgbClr val="CC0000"/>
            </a:solidFill>
            <a:prstDash val="solid"/>
            <a:round/>
            <a:headEnd len="med" w="med" type="none"/>
            <a:tailEnd len="med" w="med" type="triangle"/>
          </a:ln>
        </p:spPr>
      </p:cxnSp>
      <p:cxnSp>
        <p:nvCxnSpPr>
          <p:cNvPr id="75" name="Google Shape;75;g14b29b56ded_1_19"/>
          <p:cNvCxnSpPr/>
          <p:nvPr/>
        </p:nvCxnSpPr>
        <p:spPr>
          <a:xfrm>
            <a:off x="6297500" y="4626950"/>
            <a:ext cx="3363000" cy="761700"/>
          </a:xfrm>
          <a:prstGeom prst="straightConnector1">
            <a:avLst/>
          </a:prstGeom>
          <a:noFill/>
          <a:ln cap="flat" cmpd="sng" w="38100">
            <a:solidFill>
              <a:srgbClr val="CC0000"/>
            </a:solidFill>
            <a:prstDash val="solid"/>
            <a:round/>
            <a:headEnd len="med" w="med" type="triangle"/>
            <a:tailEnd len="med" w="med" type="none"/>
          </a:ln>
        </p:spPr>
      </p:cxnSp>
      <p:sp>
        <p:nvSpPr>
          <p:cNvPr id="76" name="Google Shape;76;g14b29b56ded_1_19"/>
          <p:cNvSpPr/>
          <p:nvPr/>
        </p:nvSpPr>
        <p:spPr>
          <a:xfrm>
            <a:off x="9660575" y="4260400"/>
            <a:ext cx="1820700" cy="17508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14b29b56ded_1_19"/>
          <p:cNvSpPr/>
          <p:nvPr/>
        </p:nvSpPr>
        <p:spPr>
          <a:xfrm>
            <a:off x="9495700" y="693425"/>
            <a:ext cx="857100" cy="27357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14b29b56ded_1_19"/>
          <p:cNvSpPr/>
          <p:nvPr/>
        </p:nvSpPr>
        <p:spPr>
          <a:xfrm>
            <a:off x="1670425" y="1026800"/>
            <a:ext cx="1593600" cy="18096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14b29b56ded_1_19"/>
          <p:cNvSpPr/>
          <p:nvPr/>
        </p:nvSpPr>
        <p:spPr>
          <a:xfrm>
            <a:off x="1351813" y="3674100"/>
            <a:ext cx="2077200" cy="25608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 name="Google Shape;80;g14b29b56ded_1_19"/>
          <p:cNvCxnSpPr>
            <a:endCxn id="77" idx="1"/>
          </p:cNvCxnSpPr>
          <p:nvPr/>
        </p:nvCxnSpPr>
        <p:spPr>
          <a:xfrm flipH="1" rot="10800000">
            <a:off x="7220800" y="2061275"/>
            <a:ext cx="2274900" cy="917100"/>
          </a:xfrm>
          <a:prstGeom prst="straightConnector1">
            <a:avLst/>
          </a:prstGeom>
          <a:noFill/>
          <a:ln cap="flat" cmpd="sng" w="38100">
            <a:solidFill>
              <a:srgbClr val="CC0000"/>
            </a:solidFill>
            <a:prstDash val="solid"/>
            <a:round/>
            <a:headEnd len="med" w="med" type="triangle"/>
            <a:tailEnd len="med" w="med" type="none"/>
          </a:ln>
        </p:spPr>
      </p:cxnSp>
      <p:cxnSp>
        <p:nvCxnSpPr>
          <p:cNvPr id="81" name="Google Shape;81;g14b29b56ded_1_19"/>
          <p:cNvCxnSpPr/>
          <p:nvPr/>
        </p:nvCxnSpPr>
        <p:spPr>
          <a:xfrm>
            <a:off x="3253150" y="2349350"/>
            <a:ext cx="2648700" cy="277500"/>
          </a:xfrm>
          <a:prstGeom prst="straightConnector1">
            <a:avLst/>
          </a:prstGeom>
          <a:noFill/>
          <a:ln cap="flat" cmpd="sng" w="38100">
            <a:solidFill>
              <a:srgbClr val="CC0000"/>
            </a:solidFill>
            <a:prstDash val="solid"/>
            <a:round/>
            <a:headEnd len="med" w="med" type="none"/>
            <a:tailEnd len="med" w="med" type="triangle"/>
          </a:ln>
        </p:spPr>
      </p:cxnSp>
      <p:sp>
        <p:nvSpPr>
          <p:cNvPr id="82" name="Google Shape;82;g14b29b56ded_1_19"/>
          <p:cNvSpPr txBox="1"/>
          <p:nvPr/>
        </p:nvSpPr>
        <p:spPr>
          <a:xfrm>
            <a:off x="436525" y="2738025"/>
            <a:ext cx="39078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safety brace </a:t>
            </a:r>
            <a:r>
              <a:rPr lang="en-AU">
                <a:solidFill>
                  <a:schemeClr val="dk1"/>
                </a:solidFill>
                <a:latin typeface="Arial Narrow"/>
                <a:ea typeface="Arial Narrow"/>
                <a:cs typeface="Arial Narrow"/>
                <a:sym typeface="Arial Narrow"/>
              </a:rPr>
              <a:t>attaches</a:t>
            </a:r>
            <a:r>
              <a:rPr lang="en-AU">
                <a:solidFill>
                  <a:schemeClr val="dk1"/>
                </a:solidFill>
                <a:latin typeface="Arial Narrow"/>
                <a:ea typeface="Arial Narrow"/>
                <a:cs typeface="Arial Narrow"/>
                <a:sym typeface="Arial Narrow"/>
              </a:rPr>
              <a:t> to the engineer’s </a:t>
            </a:r>
            <a:r>
              <a:rPr lang="en-AU">
                <a:solidFill>
                  <a:schemeClr val="dk1"/>
                </a:solidFill>
                <a:latin typeface="Arial Narrow"/>
                <a:ea typeface="Arial Narrow"/>
                <a:cs typeface="Arial Narrow"/>
                <a:sym typeface="Arial Narrow"/>
              </a:rPr>
              <a:t>harness</a:t>
            </a:r>
            <a:r>
              <a:rPr lang="en-AU">
                <a:solidFill>
                  <a:schemeClr val="dk1"/>
                </a:solidFill>
                <a:latin typeface="Arial Narrow"/>
                <a:ea typeface="Arial Narrow"/>
                <a:cs typeface="Arial Narrow"/>
                <a:sym typeface="Arial Narrow"/>
              </a:rPr>
              <a:t>. It is then attached to a metal rod and designed to catch and hold the engineer in the event of them falling.   </a:t>
            </a:r>
            <a:endParaRPr>
              <a:solidFill>
                <a:schemeClr val="dk1"/>
              </a:solidFill>
            </a:endParaRPr>
          </a:p>
        </p:txBody>
      </p:sp>
      <p:sp>
        <p:nvSpPr>
          <p:cNvPr id="83" name="Google Shape;83;g14b29b56ded_1_19"/>
          <p:cNvSpPr txBox="1"/>
          <p:nvPr/>
        </p:nvSpPr>
        <p:spPr>
          <a:xfrm>
            <a:off x="262300" y="6186475"/>
            <a:ext cx="4047600" cy="615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The platform that will transport the engineer and equipment up and down the turbine. Dimensions: 1m x 1m x 1.36m.</a:t>
            </a:r>
            <a:endParaRPr>
              <a:solidFill>
                <a:schemeClr val="dk1"/>
              </a:solidFill>
            </a:endParaRPr>
          </a:p>
        </p:txBody>
      </p:sp>
      <p:sp>
        <p:nvSpPr>
          <p:cNvPr id="84" name="Google Shape;84;g14b29b56ded_1_19"/>
          <p:cNvSpPr txBox="1"/>
          <p:nvPr/>
        </p:nvSpPr>
        <p:spPr>
          <a:xfrm>
            <a:off x="8211900" y="6011175"/>
            <a:ext cx="39801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Scissor lift used to transport the platform to the wall and lift the platform up so the teeth of the rack and pinion get engaged. Maximum lifting height of is 1.3m.</a:t>
            </a:r>
            <a:endParaRPr>
              <a:solidFill>
                <a:schemeClr val="dk1"/>
              </a:solidFill>
            </a:endParaRPr>
          </a:p>
        </p:txBody>
      </p:sp>
      <p:sp>
        <p:nvSpPr>
          <p:cNvPr id="85" name="Google Shape;85;g14b29b56ded_1_19"/>
          <p:cNvSpPr txBox="1"/>
          <p:nvPr/>
        </p:nvSpPr>
        <p:spPr>
          <a:xfrm>
            <a:off x="8211900" y="3429113"/>
            <a:ext cx="39801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Wind turbine wall which will have a rack mounted to it, via a U-channel beam, as well as a metal rod needed for the safety brace.</a:t>
            </a:r>
            <a:endParaRPr>
              <a:solidFill>
                <a:schemeClr val="dk1"/>
              </a:solidFill>
            </a:endParaRPr>
          </a:p>
        </p:txBody>
      </p:sp>
      <p:sp>
        <p:nvSpPr>
          <p:cNvPr id="86" name="Google Shape;86;g14b29b56ded_1_19"/>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3</a:t>
            </a:r>
            <a:endParaRPr sz="1800">
              <a:solidFill>
                <a:schemeClr val="dk1"/>
              </a:solidFill>
              <a:latin typeface="Arial Narrow"/>
              <a:ea typeface="Arial Narrow"/>
              <a:cs typeface="Arial Narrow"/>
              <a:sym typeface="Arial Narr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g14b29b56ded_1_29"/>
          <p:cNvPicPr preferRelativeResize="0"/>
          <p:nvPr/>
        </p:nvPicPr>
        <p:blipFill rotWithShape="1">
          <a:blip r:embed="rId3">
            <a:alphaModFix/>
          </a:blip>
          <a:srcRect b="6385" l="33534" r="14929" t="57618"/>
          <a:stretch/>
        </p:blipFill>
        <p:spPr>
          <a:xfrm>
            <a:off x="277100" y="1406775"/>
            <a:ext cx="3363075" cy="1879350"/>
          </a:xfrm>
          <a:prstGeom prst="rect">
            <a:avLst/>
          </a:prstGeom>
          <a:noFill/>
          <a:ln>
            <a:noFill/>
          </a:ln>
        </p:spPr>
      </p:pic>
      <p:sp>
        <p:nvSpPr>
          <p:cNvPr id="92" name="Google Shape;92;g14b29b56ded_1_29"/>
          <p:cNvSpPr/>
          <p:nvPr/>
        </p:nvSpPr>
        <p:spPr>
          <a:xfrm>
            <a:off x="245188" y="1406850"/>
            <a:ext cx="3426900" cy="18792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14b29b56ded_1_29"/>
          <p:cNvSpPr txBox="1"/>
          <p:nvPr/>
        </p:nvSpPr>
        <p:spPr>
          <a:xfrm>
            <a:off x="379150" y="420775"/>
            <a:ext cx="8616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3000">
                <a:solidFill>
                  <a:schemeClr val="dk1"/>
                </a:solidFill>
                <a:latin typeface="Arial Narrow"/>
                <a:ea typeface="Arial Narrow"/>
                <a:cs typeface="Arial Narrow"/>
                <a:sym typeface="Arial Narrow"/>
              </a:rPr>
              <a:t>1.1.i. Detailed Visualization of Components: Platform</a:t>
            </a:r>
            <a:endParaRPr b="1" sz="3000">
              <a:solidFill>
                <a:schemeClr val="dk1"/>
              </a:solidFill>
              <a:latin typeface="Arial Narrow"/>
              <a:ea typeface="Arial Narrow"/>
              <a:cs typeface="Arial Narrow"/>
              <a:sym typeface="Arial Narrow"/>
            </a:endParaRPr>
          </a:p>
        </p:txBody>
      </p:sp>
      <p:pic>
        <p:nvPicPr>
          <p:cNvPr id="94" name="Google Shape;94;g14b29b56ded_1_29"/>
          <p:cNvPicPr preferRelativeResize="0"/>
          <p:nvPr/>
        </p:nvPicPr>
        <p:blipFill rotWithShape="1">
          <a:blip r:embed="rId4">
            <a:alphaModFix/>
          </a:blip>
          <a:srcRect b="44505" l="26131" r="14545" t="11289"/>
          <a:stretch/>
        </p:blipFill>
        <p:spPr>
          <a:xfrm>
            <a:off x="9168825" y="673025"/>
            <a:ext cx="2733674" cy="1629656"/>
          </a:xfrm>
          <a:prstGeom prst="rect">
            <a:avLst/>
          </a:prstGeom>
          <a:noFill/>
          <a:ln>
            <a:noFill/>
          </a:ln>
        </p:spPr>
      </p:pic>
      <p:pic>
        <p:nvPicPr>
          <p:cNvPr id="95" name="Google Shape;95;g14b29b56ded_1_29"/>
          <p:cNvPicPr preferRelativeResize="0"/>
          <p:nvPr/>
        </p:nvPicPr>
        <p:blipFill rotWithShape="1">
          <a:blip r:embed="rId5">
            <a:alphaModFix/>
          </a:blip>
          <a:srcRect b="0" l="28010" r="0" t="0"/>
          <a:stretch/>
        </p:blipFill>
        <p:spPr>
          <a:xfrm>
            <a:off x="4478463" y="1749662"/>
            <a:ext cx="3022375" cy="3358674"/>
          </a:xfrm>
          <a:prstGeom prst="rect">
            <a:avLst/>
          </a:prstGeom>
          <a:noFill/>
          <a:ln>
            <a:noFill/>
          </a:ln>
        </p:spPr>
      </p:pic>
      <p:pic>
        <p:nvPicPr>
          <p:cNvPr id="96" name="Google Shape;96;g14b29b56ded_1_29"/>
          <p:cNvPicPr preferRelativeResize="0"/>
          <p:nvPr/>
        </p:nvPicPr>
        <p:blipFill rotWithShape="1">
          <a:blip r:embed="rId6">
            <a:alphaModFix/>
          </a:blip>
          <a:srcRect b="0" l="34628" r="18212" t="0"/>
          <a:stretch/>
        </p:blipFill>
        <p:spPr>
          <a:xfrm>
            <a:off x="7867903" y="3118725"/>
            <a:ext cx="787858" cy="1336575"/>
          </a:xfrm>
          <a:prstGeom prst="rect">
            <a:avLst/>
          </a:prstGeom>
          <a:noFill/>
          <a:ln>
            <a:noFill/>
          </a:ln>
        </p:spPr>
      </p:pic>
      <p:sp>
        <p:nvSpPr>
          <p:cNvPr id="97" name="Google Shape;97;g14b29b56ded_1_29"/>
          <p:cNvSpPr/>
          <p:nvPr/>
        </p:nvSpPr>
        <p:spPr>
          <a:xfrm>
            <a:off x="9168825" y="673025"/>
            <a:ext cx="2733600" cy="16296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14b29b56ded_1_29"/>
          <p:cNvSpPr/>
          <p:nvPr/>
        </p:nvSpPr>
        <p:spPr>
          <a:xfrm>
            <a:off x="5407275" y="3548525"/>
            <a:ext cx="1132200" cy="7596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14b29b56ded_1_29"/>
          <p:cNvSpPr/>
          <p:nvPr/>
        </p:nvSpPr>
        <p:spPr>
          <a:xfrm>
            <a:off x="5625625" y="2140300"/>
            <a:ext cx="1132200" cy="7596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 name="Google Shape;100;g14b29b56ded_1_29"/>
          <p:cNvCxnSpPr/>
          <p:nvPr/>
        </p:nvCxnSpPr>
        <p:spPr>
          <a:xfrm>
            <a:off x="3681775" y="1428750"/>
            <a:ext cx="1725600" cy="2154000"/>
          </a:xfrm>
          <a:prstGeom prst="straightConnector1">
            <a:avLst/>
          </a:prstGeom>
          <a:noFill/>
          <a:ln cap="flat" cmpd="sng" w="38100">
            <a:solidFill>
              <a:srgbClr val="CC0000"/>
            </a:solidFill>
            <a:prstDash val="solid"/>
            <a:round/>
            <a:headEnd len="med" w="med" type="none"/>
            <a:tailEnd len="med" w="med" type="none"/>
          </a:ln>
        </p:spPr>
      </p:cxnSp>
      <p:cxnSp>
        <p:nvCxnSpPr>
          <p:cNvPr id="101" name="Google Shape;101;g14b29b56ded_1_29"/>
          <p:cNvCxnSpPr/>
          <p:nvPr/>
        </p:nvCxnSpPr>
        <p:spPr>
          <a:xfrm>
            <a:off x="3670800" y="3264150"/>
            <a:ext cx="1758600" cy="1044000"/>
          </a:xfrm>
          <a:prstGeom prst="straightConnector1">
            <a:avLst/>
          </a:prstGeom>
          <a:noFill/>
          <a:ln cap="flat" cmpd="sng" w="38100">
            <a:solidFill>
              <a:srgbClr val="CC0000"/>
            </a:solidFill>
            <a:prstDash val="solid"/>
            <a:round/>
            <a:headEnd len="med" w="med" type="none"/>
            <a:tailEnd len="med" w="med" type="none"/>
          </a:ln>
        </p:spPr>
      </p:cxnSp>
      <p:cxnSp>
        <p:nvCxnSpPr>
          <p:cNvPr id="102" name="Google Shape;102;g14b29b56ded_1_29"/>
          <p:cNvCxnSpPr/>
          <p:nvPr/>
        </p:nvCxnSpPr>
        <p:spPr>
          <a:xfrm flipH="1" rot="10800000">
            <a:off x="6770075" y="2273975"/>
            <a:ext cx="2386500" cy="616500"/>
          </a:xfrm>
          <a:prstGeom prst="straightConnector1">
            <a:avLst/>
          </a:prstGeom>
          <a:noFill/>
          <a:ln cap="flat" cmpd="sng" w="38100">
            <a:solidFill>
              <a:srgbClr val="CC0000"/>
            </a:solidFill>
            <a:prstDash val="solid"/>
            <a:round/>
            <a:headEnd len="med" w="med" type="none"/>
            <a:tailEnd len="med" w="med" type="none"/>
          </a:ln>
        </p:spPr>
      </p:cxnSp>
      <p:cxnSp>
        <p:nvCxnSpPr>
          <p:cNvPr id="103" name="Google Shape;103;g14b29b56ded_1_29"/>
          <p:cNvCxnSpPr/>
          <p:nvPr/>
        </p:nvCxnSpPr>
        <p:spPr>
          <a:xfrm flipH="1" rot="10800000">
            <a:off x="6759075" y="691350"/>
            <a:ext cx="2410200" cy="1429800"/>
          </a:xfrm>
          <a:prstGeom prst="straightConnector1">
            <a:avLst/>
          </a:prstGeom>
          <a:noFill/>
          <a:ln cap="flat" cmpd="sng" w="38100">
            <a:solidFill>
              <a:srgbClr val="CC0000"/>
            </a:solidFill>
            <a:prstDash val="solid"/>
            <a:round/>
            <a:headEnd len="med" w="med" type="none"/>
            <a:tailEnd len="med" w="med" type="none"/>
          </a:ln>
        </p:spPr>
      </p:cxnSp>
      <p:sp>
        <p:nvSpPr>
          <p:cNvPr id="104" name="Google Shape;104;g14b29b56ded_1_29"/>
          <p:cNvSpPr txBox="1"/>
          <p:nvPr/>
        </p:nvSpPr>
        <p:spPr>
          <a:xfrm>
            <a:off x="1132000" y="2250000"/>
            <a:ext cx="593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000">
                <a:solidFill>
                  <a:schemeClr val="lt1"/>
                </a:solidFill>
              </a:rPr>
              <a:t>Battery</a:t>
            </a:r>
            <a:endParaRPr sz="1000">
              <a:solidFill>
                <a:schemeClr val="lt1"/>
              </a:solidFill>
            </a:endParaRPr>
          </a:p>
        </p:txBody>
      </p:sp>
      <p:cxnSp>
        <p:nvCxnSpPr>
          <p:cNvPr id="105" name="Google Shape;105;g14b29b56ded_1_29"/>
          <p:cNvCxnSpPr>
            <a:endCxn id="106" idx="0"/>
          </p:cNvCxnSpPr>
          <p:nvPr/>
        </p:nvCxnSpPr>
        <p:spPr>
          <a:xfrm flipH="1">
            <a:off x="6086850" y="4548400"/>
            <a:ext cx="9000" cy="904500"/>
          </a:xfrm>
          <a:prstGeom prst="straightConnector1">
            <a:avLst/>
          </a:prstGeom>
          <a:noFill/>
          <a:ln cap="flat" cmpd="sng" w="38100">
            <a:solidFill>
              <a:srgbClr val="CC0000"/>
            </a:solidFill>
            <a:prstDash val="solid"/>
            <a:round/>
            <a:headEnd len="med" w="med" type="triangle"/>
            <a:tailEnd len="med" w="med" type="none"/>
          </a:ln>
        </p:spPr>
      </p:cxnSp>
      <p:cxnSp>
        <p:nvCxnSpPr>
          <p:cNvPr id="107" name="Google Shape;107;g14b29b56ded_1_29"/>
          <p:cNvCxnSpPr/>
          <p:nvPr/>
        </p:nvCxnSpPr>
        <p:spPr>
          <a:xfrm flipH="1">
            <a:off x="3818350" y="4604975"/>
            <a:ext cx="1962600" cy="758700"/>
          </a:xfrm>
          <a:prstGeom prst="straightConnector1">
            <a:avLst/>
          </a:prstGeom>
          <a:noFill/>
          <a:ln cap="flat" cmpd="sng" w="38100">
            <a:solidFill>
              <a:srgbClr val="CC0000"/>
            </a:solidFill>
            <a:prstDash val="solid"/>
            <a:round/>
            <a:headEnd len="med" w="med" type="triangle"/>
            <a:tailEnd len="med" w="med" type="none"/>
          </a:ln>
        </p:spPr>
      </p:cxnSp>
      <p:cxnSp>
        <p:nvCxnSpPr>
          <p:cNvPr id="108" name="Google Shape;108;g14b29b56ded_1_29"/>
          <p:cNvCxnSpPr/>
          <p:nvPr/>
        </p:nvCxnSpPr>
        <p:spPr>
          <a:xfrm>
            <a:off x="6649175" y="3209200"/>
            <a:ext cx="1912200" cy="2571900"/>
          </a:xfrm>
          <a:prstGeom prst="straightConnector1">
            <a:avLst/>
          </a:prstGeom>
          <a:noFill/>
          <a:ln cap="flat" cmpd="sng" w="38100">
            <a:solidFill>
              <a:srgbClr val="CC0000"/>
            </a:solidFill>
            <a:prstDash val="solid"/>
            <a:round/>
            <a:headEnd len="med" w="med" type="triangle"/>
            <a:tailEnd len="med" w="med" type="none"/>
          </a:ln>
        </p:spPr>
      </p:cxnSp>
      <p:sp>
        <p:nvSpPr>
          <p:cNvPr id="109" name="Google Shape;109;g14b29b56ded_1_29"/>
          <p:cNvSpPr txBox="1"/>
          <p:nvPr/>
        </p:nvSpPr>
        <p:spPr>
          <a:xfrm>
            <a:off x="164850" y="3429000"/>
            <a:ext cx="36819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The platform has a storage compartment at the </a:t>
            </a:r>
            <a:r>
              <a:rPr lang="en-AU">
                <a:solidFill>
                  <a:schemeClr val="dk1"/>
                </a:solidFill>
                <a:latin typeface="Arial Narrow"/>
                <a:ea typeface="Arial Narrow"/>
                <a:cs typeface="Arial Narrow"/>
                <a:sym typeface="Arial Narrow"/>
              </a:rPr>
              <a:t>bottom</a:t>
            </a:r>
            <a:r>
              <a:rPr lang="en-AU">
                <a:solidFill>
                  <a:schemeClr val="dk1"/>
                </a:solidFill>
                <a:latin typeface="Arial Narrow"/>
                <a:ea typeface="Arial Narrow"/>
                <a:cs typeface="Arial Narrow"/>
                <a:sym typeface="Arial Narrow"/>
              </a:rPr>
              <a:t> of it where the battery can be placed alongside any equipment the engineer may need. A latch and hinge door is implemented to secure this compartment. This allows the engineer to safely store the equipment and is close to the wind turbine wall to reduce the moment it may cause. </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110" name="Google Shape;110;g14b29b56ded_1_29"/>
          <p:cNvSpPr txBox="1"/>
          <p:nvPr/>
        </p:nvSpPr>
        <p:spPr>
          <a:xfrm>
            <a:off x="252750" y="5237500"/>
            <a:ext cx="35940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back safety guide is used to support the engineer and prevent them from falling off the back of the platform. Welding will be required to secure this to the base of the platform.</a:t>
            </a:r>
            <a:r>
              <a:rPr lang="en-AU">
                <a:solidFill>
                  <a:schemeClr val="dk1"/>
                </a:solidFill>
                <a:latin typeface="Arial Narrow"/>
                <a:ea typeface="Arial Narrow"/>
                <a:cs typeface="Arial Narrow"/>
                <a:sym typeface="Arial Narrow"/>
              </a:rPr>
              <a:t> </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111" name="Google Shape;111;g14b29b56ded_1_29"/>
          <p:cNvSpPr txBox="1"/>
          <p:nvPr/>
        </p:nvSpPr>
        <p:spPr>
          <a:xfrm>
            <a:off x="8561375" y="5781100"/>
            <a:ext cx="34785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side safety guide is used to support the engineer and prevent them from falling off the sides of the platform. These can easily lift up and fold when the engineer wants to get off the platform.</a:t>
            </a:r>
            <a:endParaRPr>
              <a:solidFill>
                <a:schemeClr val="dk1"/>
              </a:solidFill>
            </a:endParaRPr>
          </a:p>
        </p:txBody>
      </p:sp>
      <p:sp>
        <p:nvSpPr>
          <p:cNvPr id="106" name="Google Shape;106;g14b29b56ded_1_29"/>
          <p:cNvSpPr txBox="1"/>
          <p:nvPr/>
        </p:nvSpPr>
        <p:spPr>
          <a:xfrm>
            <a:off x="4118850" y="5452900"/>
            <a:ext cx="39360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a:t>
            </a:r>
            <a:r>
              <a:rPr lang="en-AU">
                <a:solidFill>
                  <a:schemeClr val="dk1"/>
                </a:solidFill>
                <a:latin typeface="Arial Narrow"/>
                <a:ea typeface="Arial Narrow"/>
                <a:cs typeface="Arial Narrow"/>
                <a:sym typeface="Arial Narrow"/>
              </a:rPr>
              <a:t>brake</a:t>
            </a:r>
            <a:r>
              <a:rPr lang="en-AU">
                <a:solidFill>
                  <a:schemeClr val="dk1"/>
                </a:solidFill>
                <a:latin typeface="Arial Narrow"/>
                <a:ea typeface="Arial Narrow"/>
                <a:cs typeface="Arial Narrow"/>
                <a:sym typeface="Arial Narrow"/>
              </a:rPr>
              <a:t> pedal is placed on the floor of the platform. This is an added safety feature. The engineer’s foot must be on it when transporting on the platform, otherwise, the platform will not move/stop.</a:t>
            </a:r>
            <a:endParaRPr>
              <a:solidFill>
                <a:schemeClr val="dk1"/>
              </a:solidFill>
            </a:endParaRPr>
          </a:p>
        </p:txBody>
      </p:sp>
      <p:sp>
        <p:nvSpPr>
          <p:cNvPr id="112" name="Google Shape;112;g14b29b56ded_1_29"/>
          <p:cNvSpPr txBox="1"/>
          <p:nvPr/>
        </p:nvSpPr>
        <p:spPr>
          <a:xfrm>
            <a:off x="8743275" y="2367650"/>
            <a:ext cx="3309300" cy="3417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control bar is used to allow the engineer to traverse up (left button), down (right button) or activate the remote control (middle button). The height and position of this bar allows for comfortable holding as the engineer travels up and down the turbine. The wireless remote control can be seen in the image of the left. It would be used to transport the platform without the engineer, such as in the event of sending up cargo. Additionally, an on-off switch (left dial), an emergency stop (right button) and a monitor to track details of their position and speed (positioned in the center) is placed before the bar so that it can be easily accessible and visible to the engineer. </a:t>
            </a:r>
            <a:endParaRPr>
              <a:solidFill>
                <a:schemeClr val="dk1"/>
              </a:solidFill>
            </a:endParaRPr>
          </a:p>
        </p:txBody>
      </p:sp>
      <p:sp>
        <p:nvSpPr>
          <p:cNvPr id="113" name="Google Shape;113;g14b29b56ded_1_29"/>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4</a:t>
            </a:r>
            <a:endParaRPr sz="1800">
              <a:solidFill>
                <a:schemeClr val="dk1"/>
              </a:solidFill>
              <a:latin typeface="Arial Narrow"/>
              <a:ea typeface="Arial Narrow"/>
              <a:cs typeface="Arial Narrow"/>
              <a:sym typeface="Arial Narro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14b29b56ded_1_43"/>
          <p:cNvSpPr txBox="1"/>
          <p:nvPr/>
        </p:nvSpPr>
        <p:spPr>
          <a:xfrm>
            <a:off x="428625" y="369900"/>
            <a:ext cx="9330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3000">
                <a:solidFill>
                  <a:schemeClr val="dk1"/>
                </a:solidFill>
                <a:latin typeface="Arial Narrow"/>
                <a:ea typeface="Arial Narrow"/>
                <a:cs typeface="Arial Narrow"/>
                <a:sym typeface="Arial Narrow"/>
              </a:rPr>
              <a:t>1.1.i. Detailed Visualization of Components: Back of Platform</a:t>
            </a:r>
            <a:endParaRPr b="1" sz="3000">
              <a:solidFill>
                <a:schemeClr val="dk1"/>
              </a:solidFill>
              <a:latin typeface="Arial Narrow"/>
              <a:ea typeface="Arial Narrow"/>
              <a:cs typeface="Arial Narrow"/>
              <a:sym typeface="Arial Narrow"/>
            </a:endParaRPr>
          </a:p>
        </p:txBody>
      </p:sp>
      <p:pic>
        <p:nvPicPr>
          <p:cNvPr id="119" name="Google Shape;119;g14b29b56ded_1_43"/>
          <p:cNvPicPr preferRelativeResize="0"/>
          <p:nvPr/>
        </p:nvPicPr>
        <p:blipFill rotWithShape="1">
          <a:blip r:embed="rId3">
            <a:alphaModFix/>
          </a:blip>
          <a:srcRect b="6831" l="14538" r="4378" t="24717"/>
          <a:stretch/>
        </p:blipFill>
        <p:spPr>
          <a:xfrm>
            <a:off x="3980350" y="2000250"/>
            <a:ext cx="4231299" cy="2857499"/>
          </a:xfrm>
          <a:prstGeom prst="rect">
            <a:avLst/>
          </a:prstGeom>
          <a:noFill/>
          <a:ln>
            <a:noFill/>
          </a:ln>
        </p:spPr>
      </p:pic>
      <p:pic>
        <p:nvPicPr>
          <p:cNvPr id="120" name="Google Shape;120;g14b29b56ded_1_43"/>
          <p:cNvPicPr preferRelativeResize="0"/>
          <p:nvPr/>
        </p:nvPicPr>
        <p:blipFill rotWithShape="1">
          <a:blip r:embed="rId4">
            <a:alphaModFix/>
          </a:blip>
          <a:srcRect b="10063" l="41774" r="9925" t="8183"/>
          <a:stretch/>
        </p:blipFill>
        <p:spPr>
          <a:xfrm>
            <a:off x="9858362" y="308625"/>
            <a:ext cx="2110176" cy="2857499"/>
          </a:xfrm>
          <a:prstGeom prst="rect">
            <a:avLst/>
          </a:prstGeom>
          <a:noFill/>
          <a:ln>
            <a:noFill/>
          </a:ln>
        </p:spPr>
      </p:pic>
      <p:sp>
        <p:nvSpPr>
          <p:cNvPr id="121" name="Google Shape;121;g14b29b56ded_1_43"/>
          <p:cNvSpPr txBox="1"/>
          <p:nvPr/>
        </p:nvSpPr>
        <p:spPr>
          <a:xfrm rot="581453">
            <a:off x="6011208" y="3848972"/>
            <a:ext cx="593469" cy="30795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800">
                <a:solidFill>
                  <a:schemeClr val="dk1"/>
                </a:solidFill>
              </a:rPr>
              <a:t>Battery</a:t>
            </a:r>
            <a:endParaRPr sz="800">
              <a:solidFill>
                <a:schemeClr val="dk1"/>
              </a:solidFill>
            </a:endParaRPr>
          </a:p>
        </p:txBody>
      </p:sp>
      <p:pic>
        <p:nvPicPr>
          <p:cNvPr id="122" name="Google Shape;122;g14b29b56ded_1_43"/>
          <p:cNvPicPr preferRelativeResize="0"/>
          <p:nvPr/>
        </p:nvPicPr>
        <p:blipFill rotWithShape="1">
          <a:blip r:embed="rId5">
            <a:alphaModFix/>
          </a:blip>
          <a:srcRect b="0" l="0" r="23400" t="0"/>
          <a:stretch/>
        </p:blipFill>
        <p:spPr>
          <a:xfrm>
            <a:off x="671651" y="4264275"/>
            <a:ext cx="2277249" cy="2378326"/>
          </a:xfrm>
          <a:prstGeom prst="rect">
            <a:avLst/>
          </a:prstGeom>
          <a:noFill/>
          <a:ln>
            <a:noFill/>
          </a:ln>
        </p:spPr>
      </p:pic>
      <p:pic>
        <p:nvPicPr>
          <p:cNvPr id="123" name="Google Shape;123;g14b29b56ded_1_43"/>
          <p:cNvPicPr preferRelativeResize="0"/>
          <p:nvPr/>
        </p:nvPicPr>
        <p:blipFill rotWithShape="1">
          <a:blip r:embed="rId6">
            <a:alphaModFix/>
          </a:blip>
          <a:srcRect b="17523" l="19462" r="7968" t="40189"/>
          <a:stretch/>
        </p:blipFill>
        <p:spPr>
          <a:xfrm>
            <a:off x="557375" y="1361225"/>
            <a:ext cx="2505801" cy="1168151"/>
          </a:xfrm>
          <a:prstGeom prst="rect">
            <a:avLst/>
          </a:prstGeom>
          <a:noFill/>
          <a:ln>
            <a:noFill/>
          </a:ln>
        </p:spPr>
      </p:pic>
      <p:sp>
        <p:nvSpPr>
          <p:cNvPr id="124" name="Google Shape;124;g14b29b56ded_1_43"/>
          <p:cNvSpPr/>
          <p:nvPr/>
        </p:nvSpPr>
        <p:spPr>
          <a:xfrm>
            <a:off x="557375" y="1361300"/>
            <a:ext cx="2505900" cy="11682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14b29b56ded_1_43"/>
          <p:cNvSpPr/>
          <p:nvPr/>
        </p:nvSpPr>
        <p:spPr>
          <a:xfrm flipH="1" rot="10800000">
            <a:off x="9858062" y="322275"/>
            <a:ext cx="2110800" cy="28302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 name="Google Shape;126;g14b29b56ded_1_43"/>
          <p:cNvCxnSpPr>
            <a:endCxn id="125" idx="1"/>
          </p:cNvCxnSpPr>
          <p:nvPr/>
        </p:nvCxnSpPr>
        <p:spPr>
          <a:xfrm flipH="1" rot="10800000">
            <a:off x="6121562" y="1737375"/>
            <a:ext cx="3736500" cy="1537800"/>
          </a:xfrm>
          <a:prstGeom prst="straightConnector1">
            <a:avLst/>
          </a:prstGeom>
          <a:noFill/>
          <a:ln cap="flat" cmpd="sng" w="38100">
            <a:solidFill>
              <a:srgbClr val="CC0000"/>
            </a:solidFill>
            <a:prstDash val="solid"/>
            <a:round/>
            <a:headEnd len="med" w="med" type="triangle"/>
            <a:tailEnd len="med" w="med" type="none"/>
          </a:ln>
        </p:spPr>
      </p:cxnSp>
      <p:cxnSp>
        <p:nvCxnSpPr>
          <p:cNvPr id="127" name="Google Shape;127;g14b29b56ded_1_43"/>
          <p:cNvCxnSpPr>
            <a:endCxn id="124" idx="3"/>
          </p:cNvCxnSpPr>
          <p:nvPr/>
        </p:nvCxnSpPr>
        <p:spPr>
          <a:xfrm rot="10800000">
            <a:off x="3063275" y="1945400"/>
            <a:ext cx="2415900" cy="800100"/>
          </a:xfrm>
          <a:prstGeom prst="straightConnector1">
            <a:avLst/>
          </a:prstGeom>
          <a:noFill/>
          <a:ln cap="flat" cmpd="sng" w="38100">
            <a:solidFill>
              <a:srgbClr val="CC0000"/>
            </a:solidFill>
            <a:prstDash val="solid"/>
            <a:round/>
            <a:headEnd len="med" w="med" type="triangle"/>
            <a:tailEnd len="med" w="med" type="none"/>
          </a:ln>
        </p:spPr>
      </p:cxnSp>
      <p:sp>
        <p:nvSpPr>
          <p:cNvPr id="128" name="Google Shape;128;g14b29b56ded_1_43"/>
          <p:cNvSpPr txBox="1"/>
          <p:nvPr/>
        </p:nvSpPr>
        <p:spPr>
          <a:xfrm>
            <a:off x="54950" y="2611675"/>
            <a:ext cx="36819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Guide wheels are utilised to keep the platform steady and perpendicular to the wall</a:t>
            </a:r>
            <a:r>
              <a:rPr lang="en-AU">
                <a:solidFill>
                  <a:schemeClr val="dk1"/>
                </a:solidFill>
                <a:latin typeface="Arial Narrow"/>
                <a:ea typeface="Arial Narrow"/>
                <a:cs typeface="Arial Narrow"/>
                <a:sym typeface="Arial Narrow"/>
              </a:rPr>
              <a:t>. The figure below illustrates how the top and bottom guide wheels keep the system perpendicular. Springs, bearings, circlips and rubber stoppers are used to help fix the </a:t>
            </a:r>
            <a:r>
              <a:rPr lang="en-AU">
                <a:solidFill>
                  <a:schemeClr val="dk1"/>
                </a:solidFill>
                <a:latin typeface="Arial Narrow"/>
                <a:ea typeface="Arial Narrow"/>
                <a:cs typeface="Arial Narrow"/>
                <a:sym typeface="Arial Narrow"/>
              </a:rPr>
              <a:t>position</a:t>
            </a:r>
            <a:r>
              <a:rPr lang="en-AU">
                <a:solidFill>
                  <a:schemeClr val="dk1"/>
                </a:solidFill>
                <a:latin typeface="Arial Narrow"/>
                <a:ea typeface="Arial Narrow"/>
                <a:cs typeface="Arial Narrow"/>
                <a:sym typeface="Arial Narrow"/>
              </a:rPr>
              <a:t> of the guide wheels.</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129" name="Google Shape;129;g14b29b56ded_1_43"/>
          <p:cNvSpPr txBox="1"/>
          <p:nvPr/>
        </p:nvSpPr>
        <p:spPr>
          <a:xfrm>
            <a:off x="8709000" y="3089750"/>
            <a:ext cx="34830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The two pinions will be driven by one 30 RPM gear reduced motor. This specific motor will use a helical worm gear to prevent the motor from back driving. Bearings are placed to support the shafts of the pinions</a:t>
            </a:r>
            <a:r>
              <a:rPr lang="en-AU">
                <a:solidFill>
                  <a:schemeClr val="dk1"/>
                </a:solidFill>
                <a:latin typeface="Arial Narrow"/>
                <a:ea typeface="Arial Narrow"/>
                <a:cs typeface="Arial Narrow"/>
                <a:sym typeface="Arial Narrow"/>
                <a:extLst>
                  <a:ext uri="http://customooxmlschemas.google.com/">
                    <go:slidesCustomData xmlns:go="http://customooxmlschemas.google.com/" textRoundtripDataId="0"/>
                  </a:ext>
                </a:extLst>
              </a:rPr>
              <a:t>.</a:t>
            </a:r>
            <a:r>
              <a:rPr lang="en-AU">
                <a:solidFill>
                  <a:schemeClr val="dk1"/>
                </a:solidFill>
                <a:latin typeface="Arial Narrow"/>
                <a:ea typeface="Arial Narrow"/>
                <a:cs typeface="Arial Narrow"/>
                <a:sym typeface="Arial Narrow"/>
              </a:rPr>
              <a:t> </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130" name="Google Shape;130;g14b29b56ded_1_43"/>
          <p:cNvSpPr txBox="1"/>
          <p:nvPr/>
        </p:nvSpPr>
        <p:spPr>
          <a:xfrm>
            <a:off x="3980400" y="1035900"/>
            <a:ext cx="42312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The back is comprised of two plates that slide in from the slides and are </a:t>
            </a:r>
            <a:r>
              <a:rPr lang="en-AU">
                <a:solidFill>
                  <a:schemeClr val="dk1"/>
                </a:solidFill>
                <a:latin typeface="Arial Narrow"/>
                <a:ea typeface="Arial Narrow"/>
                <a:cs typeface="Arial Narrow"/>
                <a:sym typeface="Arial Narrow"/>
              </a:rPr>
              <a:t>screwed</a:t>
            </a:r>
            <a:r>
              <a:rPr lang="en-AU">
                <a:solidFill>
                  <a:schemeClr val="dk1"/>
                </a:solidFill>
                <a:latin typeface="Arial Narrow"/>
                <a:ea typeface="Arial Narrow"/>
                <a:cs typeface="Arial Narrow"/>
                <a:sym typeface="Arial Narrow"/>
              </a:rPr>
              <a:t> on. The design of these plates allows for the back to be easily accessible for </a:t>
            </a:r>
            <a:r>
              <a:rPr lang="en-AU">
                <a:solidFill>
                  <a:schemeClr val="dk1"/>
                </a:solidFill>
                <a:latin typeface="Arial Narrow"/>
                <a:ea typeface="Arial Narrow"/>
                <a:cs typeface="Arial Narrow"/>
                <a:sym typeface="Arial Narrow"/>
              </a:rPr>
              <a:t>maintenance</a:t>
            </a:r>
            <a:r>
              <a:rPr lang="en-AU">
                <a:solidFill>
                  <a:schemeClr val="dk1"/>
                </a:solidFill>
                <a:latin typeface="Arial Narrow"/>
                <a:ea typeface="Arial Narrow"/>
                <a:cs typeface="Arial Narrow"/>
                <a:sym typeface="Arial Narrow"/>
              </a:rPr>
              <a:t> without having to take off the guide wheels or pinions. </a:t>
            </a:r>
            <a:endParaRPr>
              <a:solidFill>
                <a:schemeClr val="dk1"/>
              </a:solidFill>
            </a:endParaRPr>
          </a:p>
        </p:txBody>
      </p:sp>
      <p:sp>
        <p:nvSpPr>
          <p:cNvPr id="131" name="Google Shape;131;g14b29b56ded_1_43"/>
          <p:cNvSpPr txBox="1"/>
          <p:nvPr/>
        </p:nvSpPr>
        <p:spPr>
          <a:xfrm>
            <a:off x="3488475" y="5296063"/>
            <a:ext cx="32112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Aluminium b</a:t>
            </a:r>
            <a:r>
              <a:rPr lang="en-AU">
                <a:solidFill>
                  <a:schemeClr val="dk1"/>
                </a:solidFill>
                <a:latin typeface="Arial Narrow"/>
                <a:ea typeface="Arial Narrow"/>
                <a:cs typeface="Arial Narrow"/>
                <a:sym typeface="Arial Narrow"/>
              </a:rPr>
              <a:t>rackets are used to attach the front control dashboard to the chassis rectangular hollow sections (RHS). Note that these RHS, are welded to the base.</a:t>
            </a:r>
            <a:endParaRPr/>
          </a:p>
        </p:txBody>
      </p:sp>
      <p:cxnSp>
        <p:nvCxnSpPr>
          <p:cNvPr id="132" name="Google Shape;132;g14b29b56ded_1_43"/>
          <p:cNvCxnSpPr>
            <a:endCxn id="131" idx="0"/>
          </p:cNvCxnSpPr>
          <p:nvPr/>
        </p:nvCxnSpPr>
        <p:spPr>
          <a:xfrm flipH="1">
            <a:off x="5094075" y="4088563"/>
            <a:ext cx="489000" cy="1207500"/>
          </a:xfrm>
          <a:prstGeom prst="straightConnector1">
            <a:avLst/>
          </a:prstGeom>
          <a:noFill/>
          <a:ln cap="flat" cmpd="sng" w="38100">
            <a:solidFill>
              <a:srgbClr val="CC0000"/>
            </a:solidFill>
            <a:prstDash val="solid"/>
            <a:round/>
            <a:headEnd len="med" w="med" type="triangle"/>
            <a:tailEnd len="med" w="med" type="none"/>
          </a:ln>
        </p:spPr>
      </p:cxnSp>
      <p:pic>
        <p:nvPicPr>
          <p:cNvPr id="133" name="Google Shape;133;g14b29b56ded_1_43"/>
          <p:cNvPicPr preferRelativeResize="0"/>
          <p:nvPr/>
        </p:nvPicPr>
        <p:blipFill rotWithShape="1">
          <a:blip r:embed="rId7">
            <a:alphaModFix/>
          </a:blip>
          <a:srcRect b="0" l="9369" r="12615" t="7158"/>
          <a:stretch/>
        </p:blipFill>
        <p:spPr>
          <a:xfrm>
            <a:off x="7482275" y="4957537"/>
            <a:ext cx="2277250" cy="1900474"/>
          </a:xfrm>
          <a:prstGeom prst="rect">
            <a:avLst/>
          </a:prstGeom>
          <a:noFill/>
          <a:ln>
            <a:noFill/>
          </a:ln>
        </p:spPr>
      </p:pic>
      <p:pic>
        <p:nvPicPr>
          <p:cNvPr id="134" name="Google Shape;134;g14b29b56ded_1_43"/>
          <p:cNvPicPr preferRelativeResize="0"/>
          <p:nvPr/>
        </p:nvPicPr>
        <p:blipFill rotWithShape="1">
          <a:blip r:embed="rId8">
            <a:alphaModFix/>
          </a:blip>
          <a:srcRect b="7216" l="24657" r="30124" t="5834"/>
          <a:stretch/>
        </p:blipFill>
        <p:spPr>
          <a:xfrm>
            <a:off x="9969702" y="4088425"/>
            <a:ext cx="2222298" cy="2769575"/>
          </a:xfrm>
          <a:prstGeom prst="rect">
            <a:avLst/>
          </a:prstGeom>
          <a:noFill/>
          <a:ln>
            <a:noFill/>
          </a:ln>
        </p:spPr>
      </p:pic>
      <p:sp>
        <p:nvSpPr>
          <p:cNvPr id="135" name="Google Shape;135;g14b29b56ded_1_43"/>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5</a:t>
            </a:r>
            <a:endParaRPr sz="1800">
              <a:solidFill>
                <a:schemeClr val="dk1"/>
              </a:solidFill>
              <a:latin typeface="Arial Narrow"/>
              <a:ea typeface="Arial Narrow"/>
              <a:cs typeface="Arial Narrow"/>
              <a:sym typeface="Arial Narro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14b29b56ded_1_73"/>
          <p:cNvSpPr txBox="1"/>
          <p:nvPr/>
        </p:nvSpPr>
        <p:spPr>
          <a:xfrm>
            <a:off x="477850" y="464750"/>
            <a:ext cx="9099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3000">
                <a:solidFill>
                  <a:schemeClr val="dk1"/>
                </a:solidFill>
                <a:latin typeface="Arial Narrow"/>
                <a:ea typeface="Arial Narrow"/>
                <a:cs typeface="Arial Narrow"/>
                <a:sym typeface="Arial Narrow"/>
              </a:rPr>
              <a:t>1.1.ii. Detailed Visualization of Components: Safety Brace</a:t>
            </a:r>
            <a:endParaRPr b="1" sz="3000">
              <a:solidFill>
                <a:schemeClr val="dk1"/>
              </a:solidFill>
              <a:latin typeface="Arial Narrow"/>
              <a:ea typeface="Arial Narrow"/>
              <a:cs typeface="Arial Narrow"/>
              <a:sym typeface="Arial Narrow"/>
            </a:endParaRPr>
          </a:p>
        </p:txBody>
      </p:sp>
      <p:sp>
        <p:nvSpPr>
          <p:cNvPr id="141" name="Google Shape;141;g14b29b56ded_1_73"/>
          <p:cNvSpPr txBox="1"/>
          <p:nvPr/>
        </p:nvSpPr>
        <p:spPr>
          <a:xfrm>
            <a:off x="602900" y="1111250"/>
            <a:ext cx="88551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safety brace is used in case of an emergency. In the unlikely circumstance that the engineer falls, </a:t>
            </a:r>
            <a:r>
              <a:rPr lang="en-AU">
                <a:solidFill>
                  <a:schemeClr val="dk1"/>
                </a:solidFill>
                <a:latin typeface="Arial Narrow"/>
                <a:ea typeface="Arial Narrow"/>
                <a:cs typeface="Arial Narrow"/>
                <a:sym typeface="Arial Narrow"/>
              </a:rPr>
              <a:t>the safety brace will catch onto the metal rod - preventing them from falling. The image below and the image on the right is a side view and isometric view of the safety brace without the cover on, respectively. The cover is not on, so that the mechanism can be easily explained and understood. </a:t>
            </a:r>
            <a:endParaRPr>
              <a:solidFill>
                <a:schemeClr val="dk1"/>
              </a:solidFill>
            </a:endParaRPr>
          </a:p>
        </p:txBody>
      </p:sp>
      <p:sp>
        <p:nvSpPr>
          <p:cNvPr id="142" name="Google Shape;142;g14b29b56ded_1_73"/>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6</a:t>
            </a:r>
            <a:endParaRPr sz="1800">
              <a:solidFill>
                <a:schemeClr val="dk1"/>
              </a:solidFill>
              <a:latin typeface="Arial Narrow"/>
              <a:ea typeface="Arial Narrow"/>
              <a:cs typeface="Arial Narrow"/>
              <a:sym typeface="Arial Narrow"/>
            </a:endParaRPr>
          </a:p>
        </p:txBody>
      </p:sp>
      <p:pic>
        <p:nvPicPr>
          <p:cNvPr id="143" name="Google Shape;143;g14b29b56ded_1_73"/>
          <p:cNvPicPr preferRelativeResize="0"/>
          <p:nvPr/>
        </p:nvPicPr>
        <p:blipFill rotWithShape="1">
          <a:blip r:embed="rId3">
            <a:alphaModFix/>
          </a:blip>
          <a:srcRect b="0" l="14002" r="26106" t="0"/>
          <a:stretch/>
        </p:blipFill>
        <p:spPr>
          <a:xfrm>
            <a:off x="4308688" y="2075025"/>
            <a:ext cx="3574627" cy="3357475"/>
          </a:xfrm>
          <a:prstGeom prst="rect">
            <a:avLst/>
          </a:prstGeom>
          <a:noFill/>
          <a:ln>
            <a:noFill/>
          </a:ln>
        </p:spPr>
      </p:pic>
      <p:pic>
        <p:nvPicPr>
          <p:cNvPr id="144" name="Google Shape;144;g14b29b56ded_1_73"/>
          <p:cNvPicPr preferRelativeResize="0"/>
          <p:nvPr/>
        </p:nvPicPr>
        <p:blipFill rotWithShape="1">
          <a:blip r:embed="rId4">
            <a:alphaModFix/>
          </a:blip>
          <a:srcRect b="0" l="26550" r="23609" t="0"/>
          <a:stretch/>
        </p:blipFill>
        <p:spPr>
          <a:xfrm>
            <a:off x="9557550" y="565600"/>
            <a:ext cx="2537200" cy="2863400"/>
          </a:xfrm>
          <a:prstGeom prst="rect">
            <a:avLst/>
          </a:prstGeom>
          <a:noFill/>
          <a:ln>
            <a:noFill/>
          </a:ln>
        </p:spPr>
      </p:pic>
      <p:cxnSp>
        <p:nvCxnSpPr>
          <p:cNvPr id="145" name="Google Shape;145;g14b29b56ded_1_73"/>
          <p:cNvCxnSpPr/>
          <p:nvPr/>
        </p:nvCxnSpPr>
        <p:spPr>
          <a:xfrm flipH="1">
            <a:off x="3768112" y="4283150"/>
            <a:ext cx="1037400" cy="1331700"/>
          </a:xfrm>
          <a:prstGeom prst="straightConnector1">
            <a:avLst/>
          </a:prstGeom>
          <a:noFill/>
          <a:ln cap="flat" cmpd="sng" w="38100">
            <a:solidFill>
              <a:srgbClr val="CC0000"/>
            </a:solidFill>
            <a:prstDash val="solid"/>
            <a:round/>
            <a:headEnd len="med" w="med" type="triangle"/>
            <a:tailEnd len="med" w="med" type="none"/>
          </a:ln>
        </p:spPr>
      </p:cxnSp>
      <p:sp>
        <p:nvSpPr>
          <p:cNvPr id="146" name="Google Shape;146;g14b29b56ded_1_73"/>
          <p:cNvSpPr txBox="1"/>
          <p:nvPr/>
        </p:nvSpPr>
        <p:spPr>
          <a:xfrm>
            <a:off x="2420325" y="5685275"/>
            <a:ext cx="3591300" cy="615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carabiner is used to attach the safety brace to a harness (that the engineer will need to wear).</a:t>
            </a:r>
            <a:endParaRPr>
              <a:solidFill>
                <a:schemeClr val="dk1"/>
              </a:solidFill>
            </a:endParaRPr>
          </a:p>
        </p:txBody>
      </p:sp>
      <p:cxnSp>
        <p:nvCxnSpPr>
          <p:cNvPr id="147" name="Google Shape;147;g14b29b56ded_1_73"/>
          <p:cNvCxnSpPr>
            <a:endCxn id="148" idx="3"/>
          </p:cNvCxnSpPr>
          <p:nvPr/>
        </p:nvCxnSpPr>
        <p:spPr>
          <a:xfrm flipH="1">
            <a:off x="3768100" y="3462013"/>
            <a:ext cx="2085000" cy="399600"/>
          </a:xfrm>
          <a:prstGeom prst="straightConnector1">
            <a:avLst/>
          </a:prstGeom>
          <a:noFill/>
          <a:ln cap="flat" cmpd="sng" w="38100">
            <a:solidFill>
              <a:srgbClr val="CC0000"/>
            </a:solidFill>
            <a:prstDash val="solid"/>
            <a:round/>
            <a:headEnd len="med" w="med" type="triangle"/>
            <a:tailEnd len="med" w="med" type="none"/>
          </a:ln>
        </p:spPr>
      </p:cxnSp>
      <p:cxnSp>
        <p:nvCxnSpPr>
          <p:cNvPr id="149" name="Google Shape;149;g14b29b56ded_1_73"/>
          <p:cNvCxnSpPr>
            <a:endCxn id="150" idx="0"/>
          </p:cNvCxnSpPr>
          <p:nvPr/>
        </p:nvCxnSpPr>
        <p:spPr>
          <a:xfrm>
            <a:off x="7071550" y="4358975"/>
            <a:ext cx="2216100" cy="1206000"/>
          </a:xfrm>
          <a:prstGeom prst="straightConnector1">
            <a:avLst/>
          </a:prstGeom>
          <a:noFill/>
          <a:ln cap="flat" cmpd="sng" w="38100">
            <a:solidFill>
              <a:srgbClr val="CC0000"/>
            </a:solidFill>
            <a:prstDash val="solid"/>
            <a:round/>
            <a:headEnd len="med" w="med" type="triangle"/>
            <a:tailEnd len="med" w="med" type="none"/>
          </a:ln>
        </p:spPr>
      </p:cxnSp>
      <p:cxnSp>
        <p:nvCxnSpPr>
          <p:cNvPr id="151" name="Google Shape;151;g14b29b56ded_1_73"/>
          <p:cNvCxnSpPr/>
          <p:nvPr/>
        </p:nvCxnSpPr>
        <p:spPr>
          <a:xfrm>
            <a:off x="7268350" y="3631700"/>
            <a:ext cx="1235100" cy="827700"/>
          </a:xfrm>
          <a:prstGeom prst="straightConnector1">
            <a:avLst/>
          </a:prstGeom>
          <a:noFill/>
          <a:ln cap="flat" cmpd="sng" w="38100">
            <a:solidFill>
              <a:srgbClr val="CC0000"/>
            </a:solidFill>
            <a:prstDash val="solid"/>
            <a:round/>
            <a:headEnd len="med" w="med" type="triangle"/>
            <a:tailEnd len="med" w="med" type="none"/>
          </a:ln>
        </p:spPr>
      </p:cxnSp>
      <p:sp>
        <p:nvSpPr>
          <p:cNvPr id="148" name="Google Shape;148;g14b29b56ded_1_73"/>
          <p:cNvSpPr txBox="1"/>
          <p:nvPr/>
        </p:nvSpPr>
        <p:spPr>
          <a:xfrm>
            <a:off x="176800" y="2368513"/>
            <a:ext cx="35913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The safety brace is designed to be easily </a:t>
            </a:r>
            <a:r>
              <a:rPr lang="en-AU">
                <a:solidFill>
                  <a:schemeClr val="dk1"/>
                </a:solidFill>
                <a:latin typeface="Arial Narrow"/>
                <a:ea typeface="Arial Narrow"/>
                <a:cs typeface="Arial Narrow"/>
                <a:sym typeface="Arial Narrow"/>
              </a:rPr>
              <a:t>removable</a:t>
            </a:r>
            <a:r>
              <a:rPr lang="en-AU">
                <a:solidFill>
                  <a:schemeClr val="dk1"/>
                </a:solidFill>
                <a:latin typeface="Arial Narrow"/>
                <a:ea typeface="Arial Narrow"/>
                <a:cs typeface="Arial Narrow"/>
                <a:sym typeface="Arial Narrow"/>
              </a:rPr>
              <a:t>. Hence, this system is designed such that when the engineer wants to hook on or remove the safety brace from the metal rod, they have to pull back this metal key in order for there to be enough space for the metal rod to slot through. Otherwise, since this key is attached to a slit of metal that blocks the rod from coming off, it will not attach/detach. Additionally, this mechanism is spring loaded, meaning the engineer needs to apply enough force to open the space, otherwise it will not come off. This is done so that the engineer cannot be unintentionally unhooked.</a:t>
            </a:r>
            <a:endParaRPr>
              <a:solidFill>
                <a:schemeClr val="dk1"/>
              </a:solidFill>
            </a:endParaRPr>
          </a:p>
        </p:txBody>
      </p:sp>
      <p:sp>
        <p:nvSpPr>
          <p:cNvPr id="150" name="Google Shape;150;g14b29b56ded_1_73"/>
          <p:cNvSpPr txBox="1"/>
          <p:nvPr/>
        </p:nvSpPr>
        <p:spPr>
          <a:xfrm>
            <a:off x="6631900" y="5564975"/>
            <a:ext cx="53115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In the event that the engineer falls, the carabiner will apply a downwards force which will cause this brake pad to rotate around the center pivot point. In doing so, it will rotate until the other end makes contact </a:t>
            </a:r>
            <a:r>
              <a:rPr lang="en-AU">
                <a:solidFill>
                  <a:schemeClr val="dk1"/>
                </a:solidFill>
                <a:latin typeface="Arial Narrow"/>
                <a:ea typeface="Arial Narrow"/>
                <a:cs typeface="Arial Narrow"/>
                <a:sym typeface="Arial Narrow"/>
              </a:rPr>
              <a:t>with</a:t>
            </a:r>
            <a:r>
              <a:rPr lang="en-AU">
                <a:solidFill>
                  <a:schemeClr val="dk1"/>
                </a:solidFill>
                <a:latin typeface="Arial Narrow"/>
                <a:ea typeface="Arial Narrow"/>
                <a:cs typeface="Arial Narrow"/>
                <a:sym typeface="Arial Narrow"/>
              </a:rPr>
              <a:t> the metal rod. Once this is done, the engineer will no longer be falling. The isometric view shows the </a:t>
            </a:r>
            <a:r>
              <a:rPr lang="en-AU">
                <a:solidFill>
                  <a:schemeClr val="dk1"/>
                </a:solidFill>
                <a:latin typeface="Arial Narrow"/>
                <a:ea typeface="Arial Narrow"/>
                <a:cs typeface="Arial Narrow"/>
                <a:sym typeface="Arial Narrow"/>
              </a:rPr>
              <a:t>brake</a:t>
            </a:r>
            <a:r>
              <a:rPr lang="en-AU">
                <a:solidFill>
                  <a:schemeClr val="dk1"/>
                </a:solidFill>
                <a:latin typeface="Arial Narrow"/>
                <a:ea typeface="Arial Narrow"/>
                <a:cs typeface="Arial Narrow"/>
                <a:sym typeface="Arial Narrow"/>
              </a:rPr>
              <a:t> pad engaged with the metal rod.</a:t>
            </a:r>
            <a:endParaRPr>
              <a:solidFill>
                <a:schemeClr val="dk1"/>
              </a:solidFill>
            </a:endParaRPr>
          </a:p>
        </p:txBody>
      </p:sp>
      <p:sp>
        <p:nvSpPr>
          <p:cNvPr id="152" name="Google Shape;152;g14b29b56ded_1_73"/>
          <p:cNvSpPr txBox="1"/>
          <p:nvPr/>
        </p:nvSpPr>
        <p:spPr>
          <a:xfrm>
            <a:off x="8503450" y="4008900"/>
            <a:ext cx="35913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The spring is relaxed in this image. When the key is pulled </a:t>
            </a:r>
            <a:r>
              <a:rPr lang="en-AU">
                <a:solidFill>
                  <a:schemeClr val="dk1"/>
                </a:solidFill>
                <a:latin typeface="Arial Narrow"/>
                <a:ea typeface="Arial Narrow"/>
                <a:cs typeface="Arial Narrow"/>
                <a:sym typeface="Arial Narrow"/>
              </a:rPr>
              <a:t>back, it causes the spring to compress and so the spring will try to close the slot.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g14b29b56ded_1_159"/>
          <p:cNvPicPr preferRelativeResize="0"/>
          <p:nvPr/>
        </p:nvPicPr>
        <p:blipFill rotWithShape="1">
          <a:blip r:embed="rId3">
            <a:alphaModFix/>
          </a:blip>
          <a:srcRect b="5367" l="22970" r="8111" t="11795"/>
          <a:stretch/>
        </p:blipFill>
        <p:spPr>
          <a:xfrm>
            <a:off x="4596225" y="2112037"/>
            <a:ext cx="2999550" cy="2884150"/>
          </a:xfrm>
          <a:prstGeom prst="rect">
            <a:avLst/>
          </a:prstGeom>
          <a:noFill/>
          <a:ln>
            <a:noFill/>
          </a:ln>
        </p:spPr>
      </p:pic>
      <p:sp>
        <p:nvSpPr>
          <p:cNvPr id="158" name="Google Shape;158;g14b29b56ded_1_159"/>
          <p:cNvSpPr txBox="1"/>
          <p:nvPr/>
        </p:nvSpPr>
        <p:spPr>
          <a:xfrm>
            <a:off x="356425" y="326775"/>
            <a:ext cx="8616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3000">
                <a:solidFill>
                  <a:schemeClr val="dk1"/>
                </a:solidFill>
                <a:latin typeface="Arial Narrow"/>
                <a:ea typeface="Arial Narrow"/>
                <a:cs typeface="Arial Narrow"/>
                <a:sym typeface="Arial Narrow"/>
              </a:rPr>
              <a:t>1.1.iii. Detailed Visualization of Components: Scissor Lift</a:t>
            </a:r>
            <a:endParaRPr b="1" sz="3000">
              <a:solidFill>
                <a:schemeClr val="dk1"/>
              </a:solidFill>
              <a:latin typeface="Arial Narrow"/>
              <a:ea typeface="Arial Narrow"/>
              <a:cs typeface="Arial Narrow"/>
              <a:sym typeface="Arial Narrow"/>
            </a:endParaRPr>
          </a:p>
        </p:txBody>
      </p:sp>
      <p:cxnSp>
        <p:nvCxnSpPr>
          <p:cNvPr id="159" name="Google Shape;159;g14b29b56ded_1_159"/>
          <p:cNvCxnSpPr>
            <a:endCxn id="160" idx="1"/>
          </p:cNvCxnSpPr>
          <p:nvPr/>
        </p:nvCxnSpPr>
        <p:spPr>
          <a:xfrm rot="10800000">
            <a:off x="2794975" y="2635775"/>
            <a:ext cx="2841300" cy="1355700"/>
          </a:xfrm>
          <a:prstGeom prst="straightConnector1">
            <a:avLst/>
          </a:prstGeom>
          <a:noFill/>
          <a:ln cap="flat" cmpd="sng" w="38100">
            <a:solidFill>
              <a:srgbClr val="CC0000"/>
            </a:solidFill>
            <a:prstDash val="solid"/>
            <a:round/>
            <a:headEnd len="med" w="med" type="triangle"/>
            <a:tailEnd len="med" w="med" type="none"/>
          </a:ln>
        </p:spPr>
      </p:cxnSp>
      <p:pic>
        <p:nvPicPr>
          <p:cNvPr id="161" name="Google Shape;161;g14b29b56ded_1_159"/>
          <p:cNvPicPr preferRelativeResize="0"/>
          <p:nvPr/>
        </p:nvPicPr>
        <p:blipFill rotWithShape="1">
          <a:blip r:embed="rId4">
            <a:alphaModFix/>
          </a:blip>
          <a:srcRect b="9632" l="20923" r="0" t="17005"/>
          <a:stretch/>
        </p:blipFill>
        <p:spPr>
          <a:xfrm>
            <a:off x="508025" y="1782875"/>
            <a:ext cx="2298075" cy="1705675"/>
          </a:xfrm>
          <a:prstGeom prst="rect">
            <a:avLst/>
          </a:prstGeom>
          <a:noFill/>
          <a:ln>
            <a:noFill/>
          </a:ln>
        </p:spPr>
      </p:pic>
      <p:pic>
        <p:nvPicPr>
          <p:cNvPr id="162" name="Google Shape;162;g14b29b56ded_1_159"/>
          <p:cNvPicPr preferRelativeResize="0"/>
          <p:nvPr/>
        </p:nvPicPr>
        <p:blipFill rotWithShape="1">
          <a:blip r:embed="rId5">
            <a:alphaModFix/>
          </a:blip>
          <a:srcRect b="23320" l="40889" r="20150" t="19549"/>
          <a:stretch/>
        </p:blipFill>
        <p:spPr>
          <a:xfrm>
            <a:off x="3205337" y="5164638"/>
            <a:ext cx="1247600" cy="1463525"/>
          </a:xfrm>
          <a:prstGeom prst="rect">
            <a:avLst/>
          </a:prstGeom>
          <a:noFill/>
          <a:ln>
            <a:noFill/>
          </a:ln>
        </p:spPr>
      </p:pic>
      <p:cxnSp>
        <p:nvCxnSpPr>
          <p:cNvPr id="163" name="Google Shape;163;g14b29b56ded_1_159"/>
          <p:cNvCxnSpPr>
            <a:endCxn id="162" idx="3"/>
          </p:cNvCxnSpPr>
          <p:nvPr/>
        </p:nvCxnSpPr>
        <p:spPr>
          <a:xfrm flipH="1">
            <a:off x="4452937" y="4898600"/>
            <a:ext cx="1231800" cy="997800"/>
          </a:xfrm>
          <a:prstGeom prst="straightConnector1">
            <a:avLst/>
          </a:prstGeom>
          <a:noFill/>
          <a:ln cap="flat" cmpd="sng" w="38100">
            <a:solidFill>
              <a:srgbClr val="CC0000"/>
            </a:solidFill>
            <a:prstDash val="solid"/>
            <a:round/>
            <a:headEnd len="med" w="med" type="triangle"/>
            <a:tailEnd len="med" w="med" type="none"/>
          </a:ln>
        </p:spPr>
      </p:cxnSp>
      <p:sp>
        <p:nvSpPr>
          <p:cNvPr id="164" name="Google Shape;164;g14b29b56ded_1_159"/>
          <p:cNvSpPr/>
          <p:nvPr/>
        </p:nvSpPr>
        <p:spPr>
          <a:xfrm flipH="1">
            <a:off x="3205275" y="5164700"/>
            <a:ext cx="1247700" cy="14634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14b29b56ded_1_159"/>
          <p:cNvSpPr/>
          <p:nvPr/>
        </p:nvSpPr>
        <p:spPr>
          <a:xfrm flipH="1">
            <a:off x="496975" y="1782875"/>
            <a:ext cx="2298000" cy="17058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5" name="Google Shape;165;g14b29b56ded_1_159"/>
          <p:cNvPicPr preferRelativeResize="0"/>
          <p:nvPr/>
        </p:nvPicPr>
        <p:blipFill rotWithShape="1">
          <a:blip r:embed="rId6">
            <a:alphaModFix/>
          </a:blip>
          <a:srcRect b="0" l="37246" r="16200" t="0"/>
          <a:stretch/>
        </p:blipFill>
        <p:spPr>
          <a:xfrm>
            <a:off x="10522850" y="4544575"/>
            <a:ext cx="1124825" cy="1932975"/>
          </a:xfrm>
          <a:prstGeom prst="rect">
            <a:avLst/>
          </a:prstGeom>
          <a:noFill/>
          <a:ln>
            <a:noFill/>
          </a:ln>
        </p:spPr>
      </p:pic>
      <p:sp>
        <p:nvSpPr>
          <p:cNvPr id="166" name="Google Shape;166;g14b29b56ded_1_159"/>
          <p:cNvSpPr txBox="1"/>
          <p:nvPr/>
        </p:nvSpPr>
        <p:spPr>
          <a:xfrm>
            <a:off x="120900" y="3589825"/>
            <a:ext cx="27807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12V, 500mm stroke, 3000N pull load electric linear actuator motor is used to lift the scissor lift up and down.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endParaRPr>
          </a:p>
        </p:txBody>
      </p:sp>
      <p:sp>
        <p:nvSpPr>
          <p:cNvPr id="167" name="Google Shape;167;g14b29b56ded_1_159"/>
          <p:cNvSpPr txBox="1"/>
          <p:nvPr/>
        </p:nvSpPr>
        <p:spPr>
          <a:xfrm>
            <a:off x="4812325" y="5653975"/>
            <a:ext cx="29028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Four wheels are attached to the base of the scissor lift to allow for the easy maneuvering of the scissor lift with the platform. </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168" name="Google Shape;168;g14b29b56ded_1_159"/>
          <p:cNvSpPr txBox="1"/>
          <p:nvPr/>
        </p:nvSpPr>
        <p:spPr>
          <a:xfrm>
            <a:off x="8643650" y="5099825"/>
            <a:ext cx="18792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wireless remote control is used to lift the scissor lift up and down. </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
        <p:nvSpPr>
          <p:cNvPr id="169" name="Google Shape;169;g14b29b56ded_1_159"/>
          <p:cNvSpPr txBox="1"/>
          <p:nvPr/>
        </p:nvSpPr>
        <p:spPr>
          <a:xfrm>
            <a:off x="3095725" y="973275"/>
            <a:ext cx="71913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Since the platform </a:t>
            </a:r>
            <a:r>
              <a:rPr lang="en-AU">
                <a:solidFill>
                  <a:schemeClr val="dk1"/>
                </a:solidFill>
                <a:latin typeface="Arial Narrow"/>
                <a:ea typeface="Arial Narrow"/>
                <a:cs typeface="Arial Narrow"/>
                <a:sym typeface="Arial Narrow"/>
              </a:rPr>
              <a:t>weighs</a:t>
            </a:r>
            <a:r>
              <a:rPr lang="en-AU">
                <a:solidFill>
                  <a:schemeClr val="dk1"/>
                </a:solidFill>
                <a:latin typeface="Arial Narrow"/>
                <a:ea typeface="Arial Narrow"/>
                <a:cs typeface="Arial Narrow"/>
                <a:sym typeface="Arial Narrow"/>
              </a:rPr>
              <a:t> 120kg, we included a scissor lift, that has wheels on it,  in our design to help the engineer transport the platform by themselves. We decided to make the scissor lift a separate component, that is not permanently fixed to the platform, as it would add more weight to the system. This would cause negative effects by needing to modify our design in various ways such as having a larger motor.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endParaRPr>
          </a:p>
        </p:txBody>
      </p:sp>
      <p:sp>
        <p:nvSpPr>
          <p:cNvPr id="170" name="Google Shape;170;g14b29b56ded_1_159"/>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7</a:t>
            </a:r>
            <a:endParaRPr sz="1800">
              <a:solidFill>
                <a:schemeClr val="dk1"/>
              </a:solidFill>
              <a:latin typeface="Arial Narrow"/>
              <a:ea typeface="Arial Narrow"/>
              <a:cs typeface="Arial Narrow"/>
              <a:sym typeface="Arial Narrow"/>
            </a:endParaRPr>
          </a:p>
        </p:txBody>
      </p:sp>
      <p:cxnSp>
        <p:nvCxnSpPr>
          <p:cNvPr id="171" name="Google Shape;171;g14b29b56ded_1_159"/>
          <p:cNvCxnSpPr>
            <a:endCxn id="172" idx="1"/>
          </p:cNvCxnSpPr>
          <p:nvPr/>
        </p:nvCxnSpPr>
        <p:spPr>
          <a:xfrm flipH="1" rot="10800000">
            <a:off x="7074025" y="3313613"/>
            <a:ext cx="1899000" cy="578700"/>
          </a:xfrm>
          <a:prstGeom prst="straightConnector1">
            <a:avLst/>
          </a:prstGeom>
          <a:noFill/>
          <a:ln cap="flat" cmpd="sng" w="38100">
            <a:solidFill>
              <a:srgbClr val="CC0000"/>
            </a:solidFill>
            <a:prstDash val="solid"/>
            <a:round/>
            <a:headEnd len="med" w="med" type="triangle"/>
            <a:tailEnd len="med" w="med" type="none"/>
          </a:ln>
        </p:spPr>
      </p:cxnSp>
      <p:sp>
        <p:nvSpPr>
          <p:cNvPr id="172" name="Google Shape;172;g14b29b56ded_1_159"/>
          <p:cNvSpPr txBox="1"/>
          <p:nvPr/>
        </p:nvSpPr>
        <p:spPr>
          <a:xfrm>
            <a:off x="8973025" y="2574863"/>
            <a:ext cx="29028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Guide wheels are attached to this end while the the other end is bolted. With the other end pinned and this end a roller, this mechanism makes the scissor </a:t>
            </a:r>
            <a:r>
              <a:rPr lang="en-AU">
                <a:solidFill>
                  <a:schemeClr val="dk1"/>
                </a:solidFill>
                <a:latin typeface="Arial Narrow"/>
                <a:ea typeface="Arial Narrow"/>
                <a:cs typeface="Arial Narrow"/>
                <a:sym typeface="Arial Narrow"/>
              </a:rPr>
              <a:t>lift</a:t>
            </a:r>
            <a:r>
              <a:rPr lang="en-AU">
                <a:solidFill>
                  <a:schemeClr val="dk1"/>
                </a:solidFill>
                <a:latin typeface="Arial Narrow"/>
                <a:ea typeface="Arial Narrow"/>
                <a:cs typeface="Arial Narrow"/>
                <a:sym typeface="Arial Narrow"/>
              </a:rPr>
              <a:t> move up and down.</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14b29b56ded_1_164"/>
          <p:cNvSpPr txBox="1"/>
          <p:nvPr/>
        </p:nvSpPr>
        <p:spPr>
          <a:xfrm>
            <a:off x="331300" y="365275"/>
            <a:ext cx="8616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3000">
                <a:solidFill>
                  <a:schemeClr val="dk1"/>
                </a:solidFill>
                <a:latin typeface="Arial Narrow"/>
                <a:ea typeface="Arial Narrow"/>
                <a:cs typeface="Arial Narrow"/>
                <a:sym typeface="Arial Narrow"/>
              </a:rPr>
              <a:t>1.iv. Detailed Visualization of Components: Wall</a:t>
            </a:r>
            <a:endParaRPr b="1" sz="3000">
              <a:solidFill>
                <a:schemeClr val="dk1"/>
              </a:solidFill>
              <a:latin typeface="Arial Narrow"/>
              <a:ea typeface="Arial Narrow"/>
              <a:cs typeface="Arial Narrow"/>
              <a:sym typeface="Arial Narrow"/>
            </a:endParaRPr>
          </a:p>
        </p:txBody>
      </p:sp>
      <p:pic>
        <p:nvPicPr>
          <p:cNvPr id="178" name="Google Shape;178;g14b29b56ded_1_164"/>
          <p:cNvPicPr preferRelativeResize="0"/>
          <p:nvPr/>
        </p:nvPicPr>
        <p:blipFill rotWithShape="1">
          <a:blip r:embed="rId3">
            <a:alphaModFix/>
          </a:blip>
          <a:srcRect b="0" l="-9097" r="12721" t="0"/>
          <a:stretch/>
        </p:blipFill>
        <p:spPr>
          <a:xfrm>
            <a:off x="6937825" y="1657981"/>
            <a:ext cx="5254174" cy="2904494"/>
          </a:xfrm>
          <a:prstGeom prst="rect">
            <a:avLst/>
          </a:prstGeom>
          <a:noFill/>
          <a:ln>
            <a:noFill/>
          </a:ln>
        </p:spPr>
      </p:pic>
      <p:pic>
        <p:nvPicPr>
          <p:cNvPr id="179" name="Google Shape;179;g14b29b56ded_1_164"/>
          <p:cNvPicPr preferRelativeResize="0"/>
          <p:nvPr/>
        </p:nvPicPr>
        <p:blipFill rotWithShape="1">
          <a:blip r:embed="rId4">
            <a:alphaModFix/>
          </a:blip>
          <a:srcRect b="0" l="44382" r="0" t="0"/>
          <a:stretch/>
        </p:blipFill>
        <p:spPr>
          <a:xfrm>
            <a:off x="3712900" y="1384625"/>
            <a:ext cx="3224924" cy="4638825"/>
          </a:xfrm>
          <a:prstGeom prst="rect">
            <a:avLst/>
          </a:prstGeom>
          <a:noFill/>
          <a:ln>
            <a:noFill/>
          </a:ln>
        </p:spPr>
      </p:pic>
      <p:cxnSp>
        <p:nvCxnSpPr>
          <p:cNvPr id="180" name="Google Shape;180;g14b29b56ded_1_164"/>
          <p:cNvCxnSpPr>
            <a:endCxn id="181" idx="3"/>
          </p:cNvCxnSpPr>
          <p:nvPr/>
        </p:nvCxnSpPr>
        <p:spPr>
          <a:xfrm rot="10800000">
            <a:off x="2851350" y="1755513"/>
            <a:ext cx="1406700" cy="443700"/>
          </a:xfrm>
          <a:prstGeom prst="straightConnector1">
            <a:avLst/>
          </a:prstGeom>
          <a:noFill/>
          <a:ln cap="flat" cmpd="sng" w="38100">
            <a:solidFill>
              <a:srgbClr val="CC0000"/>
            </a:solidFill>
            <a:prstDash val="solid"/>
            <a:round/>
            <a:headEnd len="med" w="med" type="triangle"/>
            <a:tailEnd len="med" w="med" type="none"/>
          </a:ln>
        </p:spPr>
      </p:cxnSp>
      <p:cxnSp>
        <p:nvCxnSpPr>
          <p:cNvPr id="182" name="Google Shape;182;g14b29b56ded_1_164"/>
          <p:cNvCxnSpPr>
            <a:endCxn id="183" idx="3"/>
          </p:cNvCxnSpPr>
          <p:nvPr/>
        </p:nvCxnSpPr>
        <p:spPr>
          <a:xfrm flipH="1">
            <a:off x="2272500" y="4101800"/>
            <a:ext cx="2270400" cy="1179600"/>
          </a:xfrm>
          <a:prstGeom prst="straightConnector1">
            <a:avLst/>
          </a:prstGeom>
          <a:noFill/>
          <a:ln cap="flat" cmpd="sng" w="38100">
            <a:solidFill>
              <a:srgbClr val="CC0000"/>
            </a:solidFill>
            <a:prstDash val="solid"/>
            <a:round/>
            <a:headEnd len="med" w="med" type="triangle"/>
            <a:tailEnd len="med" w="med" type="none"/>
          </a:ln>
        </p:spPr>
      </p:cxnSp>
      <p:cxnSp>
        <p:nvCxnSpPr>
          <p:cNvPr id="184" name="Google Shape;184;g14b29b56ded_1_164"/>
          <p:cNvCxnSpPr>
            <a:endCxn id="185" idx="1"/>
          </p:cNvCxnSpPr>
          <p:nvPr/>
        </p:nvCxnSpPr>
        <p:spPr>
          <a:xfrm>
            <a:off x="4912675" y="4571925"/>
            <a:ext cx="3046800" cy="1261500"/>
          </a:xfrm>
          <a:prstGeom prst="straightConnector1">
            <a:avLst/>
          </a:prstGeom>
          <a:noFill/>
          <a:ln cap="flat" cmpd="sng" w="38100">
            <a:solidFill>
              <a:srgbClr val="CC0000"/>
            </a:solidFill>
            <a:prstDash val="solid"/>
            <a:round/>
            <a:headEnd len="med" w="med" type="triangle"/>
            <a:tailEnd len="med" w="med" type="none"/>
          </a:ln>
        </p:spPr>
      </p:cxnSp>
      <p:cxnSp>
        <p:nvCxnSpPr>
          <p:cNvPr id="186" name="Google Shape;186;g14b29b56ded_1_164"/>
          <p:cNvCxnSpPr>
            <a:endCxn id="187" idx="3"/>
          </p:cNvCxnSpPr>
          <p:nvPr/>
        </p:nvCxnSpPr>
        <p:spPr>
          <a:xfrm flipH="1">
            <a:off x="2725650" y="3127900"/>
            <a:ext cx="1770900" cy="110100"/>
          </a:xfrm>
          <a:prstGeom prst="straightConnector1">
            <a:avLst/>
          </a:prstGeom>
          <a:noFill/>
          <a:ln cap="flat" cmpd="sng" w="38100">
            <a:solidFill>
              <a:srgbClr val="CC0000"/>
            </a:solidFill>
            <a:prstDash val="solid"/>
            <a:round/>
            <a:headEnd len="med" w="med" type="triangle"/>
            <a:tailEnd len="med" w="med" type="none"/>
          </a:ln>
        </p:spPr>
      </p:cxnSp>
      <p:cxnSp>
        <p:nvCxnSpPr>
          <p:cNvPr id="188" name="Google Shape;188;g14b29b56ded_1_164"/>
          <p:cNvCxnSpPr>
            <a:endCxn id="187" idx="3"/>
          </p:cNvCxnSpPr>
          <p:nvPr/>
        </p:nvCxnSpPr>
        <p:spPr>
          <a:xfrm flipH="1">
            <a:off x="2725650" y="2738500"/>
            <a:ext cx="2097600" cy="499500"/>
          </a:xfrm>
          <a:prstGeom prst="straightConnector1">
            <a:avLst/>
          </a:prstGeom>
          <a:noFill/>
          <a:ln cap="flat" cmpd="sng" w="38100">
            <a:solidFill>
              <a:srgbClr val="CC0000"/>
            </a:solidFill>
            <a:prstDash val="solid"/>
            <a:round/>
            <a:headEnd len="med" w="med" type="triangle"/>
            <a:tailEnd len="med" w="med" type="none"/>
          </a:ln>
        </p:spPr>
      </p:cxnSp>
      <p:sp>
        <p:nvSpPr>
          <p:cNvPr id="181" name="Google Shape;181;g14b29b56ded_1_164"/>
          <p:cNvSpPr txBox="1"/>
          <p:nvPr/>
        </p:nvSpPr>
        <p:spPr>
          <a:xfrm>
            <a:off x="75450" y="1124463"/>
            <a:ext cx="27759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 metal rod is attached to the side of the tower </a:t>
            </a:r>
            <a:r>
              <a:rPr lang="en-AU">
                <a:solidFill>
                  <a:schemeClr val="dk1"/>
                </a:solidFill>
                <a:latin typeface="Arial Narrow"/>
                <a:ea typeface="Arial Narrow"/>
                <a:cs typeface="Arial Narrow"/>
                <a:sym typeface="Arial Narrow"/>
              </a:rPr>
              <a:t>clamping</a:t>
            </a:r>
            <a:r>
              <a:rPr lang="en-AU">
                <a:solidFill>
                  <a:schemeClr val="dk1"/>
                </a:solidFill>
                <a:latin typeface="Arial Narrow"/>
                <a:ea typeface="Arial Narrow"/>
                <a:cs typeface="Arial Narrow"/>
                <a:sym typeface="Arial Narrow"/>
              </a:rPr>
              <a:t> system so that the safety brace can use it in case the system fails or the engineer falls off the platform. </a:t>
            </a:r>
            <a:endParaRPr>
              <a:solidFill>
                <a:schemeClr val="dk1"/>
              </a:solidFill>
            </a:endParaRPr>
          </a:p>
        </p:txBody>
      </p:sp>
      <p:sp>
        <p:nvSpPr>
          <p:cNvPr id="187" name="Google Shape;187;g14b29b56ded_1_164"/>
          <p:cNvSpPr txBox="1"/>
          <p:nvPr/>
        </p:nvSpPr>
        <p:spPr>
          <a:xfrm>
            <a:off x="75450" y="2499250"/>
            <a:ext cx="2650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dk1"/>
                </a:solidFill>
                <a:latin typeface="Arial Narrow"/>
                <a:ea typeface="Arial Narrow"/>
                <a:cs typeface="Arial Narrow"/>
                <a:sym typeface="Arial Narrow"/>
              </a:rPr>
              <a:t>Rivets are used to secure the rack to the U-channel and to secure the U-channel to the wind turbine wall. Rivets are used as we do not expect the tower clamping system to be removed frequently unless for repair.</a:t>
            </a:r>
            <a:endParaRPr>
              <a:solidFill>
                <a:schemeClr val="dk1"/>
              </a:solidFill>
            </a:endParaRPr>
          </a:p>
        </p:txBody>
      </p:sp>
      <p:sp>
        <p:nvSpPr>
          <p:cNvPr id="185" name="Google Shape;185;g14b29b56ded_1_164"/>
          <p:cNvSpPr txBox="1"/>
          <p:nvPr/>
        </p:nvSpPr>
        <p:spPr>
          <a:xfrm>
            <a:off x="7959475" y="5417775"/>
            <a:ext cx="3591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dk1"/>
                </a:solidFill>
                <a:latin typeface="Arial Narrow"/>
                <a:ea typeface="Arial Narrow"/>
                <a:cs typeface="Arial Narrow"/>
                <a:sym typeface="Arial Narrow"/>
              </a:rPr>
              <a:t>The U-channel’s used are 50x100x6. They are facing each other to provide the guide wheels a spot to sit in and a surface to act upon.</a:t>
            </a:r>
            <a:endParaRPr>
              <a:solidFill>
                <a:schemeClr val="dk1"/>
              </a:solidFill>
            </a:endParaRPr>
          </a:p>
        </p:txBody>
      </p:sp>
      <p:sp>
        <p:nvSpPr>
          <p:cNvPr id="189" name="Google Shape;189;g14b29b56ded_1_164"/>
          <p:cNvSpPr txBox="1"/>
          <p:nvPr/>
        </p:nvSpPr>
        <p:spPr>
          <a:xfrm>
            <a:off x="7801625" y="4562475"/>
            <a:ext cx="401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dk1"/>
                </a:solidFill>
                <a:latin typeface="Arial Narrow"/>
                <a:ea typeface="Arial Narrow"/>
                <a:cs typeface="Arial Narrow"/>
                <a:sym typeface="Arial Narrow"/>
              </a:rPr>
              <a:t>A zoomed-in exploded view of the assembly of the wall. </a:t>
            </a:r>
            <a:endParaRPr>
              <a:solidFill>
                <a:schemeClr val="dk1"/>
              </a:solidFill>
            </a:endParaRPr>
          </a:p>
        </p:txBody>
      </p:sp>
      <p:sp>
        <p:nvSpPr>
          <p:cNvPr id="190" name="Google Shape;190;g14b29b56ded_1_164"/>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8</a:t>
            </a:r>
            <a:endParaRPr sz="1800">
              <a:solidFill>
                <a:schemeClr val="dk1"/>
              </a:solidFill>
              <a:latin typeface="Arial Narrow"/>
              <a:ea typeface="Arial Narrow"/>
              <a:cs typeface="Arial Narrow"/>
              <a:sym typeface="Arial Narrow"/>
            </a:endParaRPr>
          </a:p>
        </p:txBody>
      </p:sp>
      <p:sp>
        <p:nvSpPr>
          <p:cNvPr id="183" name="Google Shape;183;g14b29b56ded_1_164"/>
          <p:cNvSpPr txBox="1"/>
          <p:nvPr/>
        </p:nvSpPr>
        <p:spPr>
          <a:xfrm>
            <a:off x="212700" y="4650350"/>
            <a:ext cx="2059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dk1"/>
                </a:solidFill>
                <a:latin typeface="Arial Narrow"/>
                <a:ea typeface="Arial Narrow"/>
                <a:cs typeface="Arial Narrow"/>
                <a:sym typeface="Arial Narrow"/>
              </a:rPr>
              <a:t>The racks used are module 8 which was chosen to match the pinions, allowing a smooth drive. </a:t>
            </a:r>
            <a:r>
              <a:rPr lang="en-AU">
                <a:solidFill>
                  <a:schemeClr val="dk1"/>
                </a:solidFill>
                <a:latin typeface="Arial Narrow"/>
                <a:ea typeface="Arial Narrow"/>
                <a:cs typeface="Arial Narrow"/>
                <a:sym typeface="Arial Narrow"/>
              </a:rPr>
              <a:t>The rack teeth are facing each. </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14b29b56ded_1_266"/>
          <p:cNvSpPr txBox="1"/>
          <p:nvPr/>
        </p:nvSpPr>
        <p:spPr>
          <a:xfrm>
            <a:off x="477850" y="193300"/>
            <a:ext cx="8616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3000">
                <a:solidFill>
                  <a:schemeClr val="dk1"/>
                </a:solidFill>
                <a:latin typeface="Arial Narrow"/>
                <a:ea typeface="Arial Narrow"/>
                <a:cs typeface="Arial Narrow"/>
                <a:sym typeface="Arial Narrow"/>
              </a:rPr>
              <a:t>2</a:t>
            </a:r>
            <a:r>
              <a:rPr b="1" lang="en-AU" sz="3000">
                <a:solidFill>
                  <a:schemeClr val="dk1"/>
                </a:solidFill>
                <a:latin typeface="Arial Narrow"/>
                <a:ea typeface="Arial Narrow"/>
                <a:cs typeface="Arial Narrow"/>
                <a:sym typeface="Arial Narrow"/>
              </a:rPr>
              <a:t>. General Assumptions</a:t>
            </a:r>
            <a:endParaRPr b="1" sz="3000">
              <a:solidFill>
                <a:schemeClr val="dk1"/>
              </a:solidFill>
              <a:latin typeface="Arial Narrow"/>
              <a:ea typeface="Arial Narrow"/>
              <a:cs typeface="Arial Narrow"/>
              <a:sym typeface="Arial Narrow"/>
            </a:endParaRPr>
          </a:p>
        </p:txBody>
      </p:sp>
      <p:sp>
        <p:nvSpPr>
          <p:cNvPr id="197" name="Google Shape;197;g14b29b56ded_1_266"/>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9</a:t>
            </a:r>
            <a:endParaRPr sz="1800">
              <a:solidFill>
                <a:schemeClr val="dk1"/>
              </a:solidFill>
              <a:latin typeface="Arial Narrow"/>
              <a:ea typeface="Arial Narrow"/>
              <a:cs typeface="Arial Narrow"/>
              <a:sym typeface="Arial Narrow"/>
            </a:endParaRPr>
          </a:p>
        </p:txBody>
      </p:sp>
      <p:sp>
        <p:nvSpPr>
          <p:cNvPr id="198" name="Google Shape;198;g14b29b56ded_1_266"/>
          <p:cNvSpPr txBox="1"/>
          <p:nvPr/>
        </p:nvSpPr>
        <p:spPr>
          <a:xfrm>
            <a:off x="477850" y="711850"/>
            <a:ext cx="11714100" cy="606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AU" sz="1600" u="sng">
                <a:solidFill>
                  <a:schemeClr val="dk1"/>
                </a:solidFill>
                <a:latin typeface="Arial Narrow"/>
                <a:ea typeface="Arial Narrow"/>
                <a:cs typeface="Arial Narrow"/>
                <a:sym typeface="Arial Narrow"/>
              </a:rPr>
              <a:t>The following assumptions are made about the wind turbine:</a:t>
            </a:r>
            <a:endParaRPr sz="1600" u="sng">
              <a:solidFill>
                <a:schemeClr val="dk1"/>
              </a:solidFill>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latin typeface="Arial Narrow"/>
                <a:ea typeface="Arial Narrow"/>
                <a:cs typeface="Arial Narrow"/>
                <a:sym typeface="Arial Narrow"/>
              </a:rPr>
              <a:t>The walls of the turbine are flat - meaning that they have no curvature. </a:t>
            </a:r>
            <a:endParaRPr sz="1600">
              <a:solidFill>
                <a:schemeClr val="dk1"/>
              </a:solidFill>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rgbClr val="FFFFFF"/>
                </a:highlight>
                <a:latin typeface="Arial Narrow"/>
                <a:ea typeface="Arial Narrow"/>
                <a:cs typeface="Arial Narrow"/>
                <a:sym typeface="Arial Narrow"/>
              </a:rPr>
              <a:t>The walls of the turbine are strong enough to hold and withstand the force of the systems mounted onto them.</a:t>
            </a:r>
            <a:endParaRPr sz="1600">
              <a:solidFill>
                <a:schemeClr val="dk1"/>
              </a:solidFill>
              <a:highlight>
                <a:srgbClr val="FFFFFF"/>
              </a:highlight>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chemeClr val="lt1"/>
                </a:highlight>
                <a:latin typeface="Arial Narrow"/>
                <a:ea typeface="Arial Narrow"/>
                <a:cs typeface="Arial Narrow"/>
                <a:sym typeface="Arial Narrow"/>
              </a:rPr>
              <a:t>The height of the turbine is 120m. </a:t>
            </a:r>
            <a:endParaRPr sz="1600">
              <a:solidFill>
                <a:schemeClr val="dk1"/>
              </a:solidFill>
              <a:highlight>
                <a:schemeClr val="lt1"/>
              </a:highlight>
              <a:latin typeface="Arial Narrow"/>
              <a:ea typeface="Arial Narrow"/>
              <a:cs typeface="Arial Narrow"/>
              <a:sym typeface="Arial Narrow"/>
            </a:endParaRPr>
          </a:p>
          <a:p>
            <a:pPr indent="0" lvl="0" marL="0" rtl="0" algn="l">
              <a:lnSpc>
                <a:spcPct val="115000"/>
              </a:lnSpc>
              <a:spcBef>
                <a:spcPts val="0"/>
              </a:spcBef>
              <a:spcAft>
                <a:spcPts val="0"/>
              </a:spcAft>
              <a:buNone/>
            </a:pPr>
            <a:r>
              <a:t/>
            </a:r>
            <a:endParaRPr sz="1600">
              <a:solidFill>
                <a:schemeClr val="dk1"/>
              </a:solidFill>
              <a:highlight>
                <a:schemeClr val="lt1"/>
              </a:highlight>
              <a:latin typeface="Arial Narrow"/>
              <a:ea typeface="Arial Narrow"/>
              <a:cs typeface="Arial Narrow"/>
              <a:sym typeface="Arial Narrow"/>
            </a:endParaRPr>
          </a:p>
          <a:p>
            <a:pPr indent="0" lvl="0" marL="0" rtl="0" algn="l">
              <a:lnSpc>
                <a:spcPct val="115000"/>
              </a:lnSpc>
              <a:spcBef>
                <a:spcPts val="0"/>
              </a:spcBef>
              <a:spcAft>
                <a:spcPts val="0"/>
              </a:spcAft>
              <a:buNone/>
            </a:pPr>
            <a:r>
              <a:rPr lang="en-AU" sz="1600" u="sng">
                <a:solidFill>
                  <a:schemeClr val="dk1"/>
                </a:solidFill>
                <a:latin typeface="Arial Narrow"/>
                <a:ea typeface="Arial Narrow"/>
                <a:cs typeface="Arial Narrow"/>
                <a:sym typeface="Arial Narrow"/>
              </a:rPr>
              <a:t>The following assumptions are made about the system:</a:t>
            </a:r>
            <a:endParaRPr sz="1600" u="sng">
              <a:solidFill>
                <a:schemeClr val="dk1"/>
              </a:solidFill>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chemeClr val="lt1"/>
                </a:highlight>
                <a:latin typeface="Arial Narrow"/>
                <a:ea typeface="Arial Narrow"/>
                <a:cs typeface="Arial Narrow"/>
                <a:sym typeface="Arial Narrow"/>
              </a:rPr>
              <a:t>The weight of the person and the cargo combined is at maximum 120 kg. </a:t>
            </a:r>
            <a:endParaRPr sz="1600">
              <a:solidFill>
                <a:schemeClr val="dk1"/>
              </a:solidFill>
              <a:highlight>
                <a:schemeClr val="lt1"/>
              </a:highlight>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chemeClr val="lt1"/>
                </a:highlight>
                <a:latin typeface="Arial Narrow"/>
                <a:ea typeface="Arial Narrow"/>
                <a:cs typeface="Arial Narrow"/>
                <a:sym typeface="Arial Narrow"/>
              </a:rPr>
              <a:t>The center of mass of the person is in the middle of the platform. </a:t>
            </a:r>
            <a:endParaRPr sz="1600">
              <a:solidFill>
                <a:schemeClr val="dk1"/>
              </a:solidFill>
              <a:highlight>
                <a:schemeClr val="lt1"/>
              </a:highlight>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chemeClr val="lt1"/>
                </a:highlight>
                <a:latin typeface="Arial Narrow"/>
                <a:ea typeface="Arial Narrow"/>
                <a:cs typeface="Arial Narrow"/>
                <a:sym typeface="Arial Narrow"/>
              </a:rPr>
              <a:t>The platform travels at a constant velocity, meaning that it does not accelerate and decelerate.</a:t>
            </a:r>
            <a:endParaRPr sz="1600">
              <a:solidFill>
                <a:schemeClr val="dk1"/>
              </a:solidFill>
              <a:highlight>
                <a:schemeClr val="lt1"/>
              </a:highlight>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chemeClr val="lt1"/>
                </a:highlight>
                <a:latin typeface="Arial Narrow"/>
                <a:ea typeface="Arial Narrow"/>
                <a:cs typeface="Arial Narrow"/>
                <a:sym typeface="Arial Narrow"/>
              </a:rPr>
              <a:t>Load and failure analyses is conducted in an ideal, frictionless situation.</a:t>
            </a:r>
            <a:endParaRPr sz="1600">
              <a:solidFill>
                <a:schemeClr val="dk1"/>
              </a:solidFill>
              <a:highlight>
                <a:schemeClr val="lt1"/>
              </a:highlight>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chemeClr val="lt1"/>
                </a:highlight>
                <a:latin typeface="Arial Narrow"/>
                <a:ea typeface="Arial Narrow"/>
                <a:cs typeface="Arial Narrow"/>
                <a:sym typeface="Arial Narrow"/>
              </a:rPr>
              <a:t>There will be no occurrence of excessive noise or vibration.</a:t>
            </a:r>
            <a:endParaRPr sz="1600">
              <a:solidFill>
                <a:schemeClr val="dk1"/>
              </a:solidFill>
              <a:highlight>
                <a:schemeClr val="lt1"/>
              </a:highlight>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chemeClr val="lt1"/>
                </a:highlight>
                <a:latin typeface="Arial Narrow"/>
                <a:ea typeface="Arial Narrow"/>
                <a:cs typeface="Arial Narrow"/>
                <a:sym typeface="Arial Narrow"/>
              </a:rPr>
              <a:t>The outer housing will be made by conventional means and the readily available materials will be painted or otherwise coated to provide corrosion protection.</a:t>
            </a:r>
            <a:endParaRPr sz="1600">
              <a:solidFill>
                <a:schemeClr val="dk1"/>
              </a:solidFill>
              <a:highlight>
                <a:schemeClr val="lt1"/>
              </a:highlight>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chemeClr val="lt1"/>
                </a:highlight>
                <a:latin typeface="Arial Narrow"/>
                <a:ea typeface="Arial Narrow"/>
                <a:cs typeface="Arial Narrow"/>
                <a:sym typeface="Arial Narrow"/>
              </a:rPr>
              <a:t>We assume C</a:t>
            </a:r>
            <a:r>
              <a:rPr baseline="-25000" lang="en-AU" sz="1600">
                <a:solidFill>
                  <a:schemeClr val="dk1"/>
                </a:solidFill>
                <a:highlight>
                  <a:schemeClr val="lt1"/>
                </a:highlight>
                <a:latin typeface="Arial Narrow"/>
                <a:ea typeface="Arial Narrow"/>
                <a:cs typeface="Arial Narrow"/>
                <a:sym typeface="Arial Narrow"/>
              </a:rPr>
              <a:t>T</a:t>
            </a:r>
            <a:r>
              <a:rPr lang="en-AU" sz="1600">
                <a:solidFill>
                  <a:schemeClr val="dk1"/>
                </a:solidFill>
                <a:highlight>
                  <a:schemeClr val="lt1"/>
                </a:highlight>
                <a:latin typeface="Arial Narrow"/>
                <a:ea typeface="Arial Narrow"/>
                <a:cs typeface="Arial Narrow"/>
                <a:sym typeface="Arial Narrow"/>
              </a:rPr>
              <a:t> = 1 [No temperature extremes] and C</a:t>
            </a:r>
            <a:r>
              <a:rPr baseline="-25000" lang="en-AU" sz="1600">
                <a:solidFill>
                  <a:schemeClr val="dk1"/>
                </a:solidFill>
                <a:highlight>
                  <a:schemeClr val="lt1"/>
                </a:highlight>
                <a:latin typeface="Arial Narrow"/>
                <a:ea typeface="Arial Narrow"/>
                <a:cs typeface="Arial Narrow"/>
                <a:sym typeface="Arial Narrow"/>
              </a:rPr>
              <a:t>R</a:t>
            </a:r>
            <a:r>
              <a:rPr lang="en-AU" sz="1600">
                <a:solidFill>
                  <a:schemeClr val="dk1"/>
                </a:solidFill>
                <a:highlight>
                  <a:schemeClr val="lt1"/>
                </a:highlight>
                <a:latin typeface="Arial Narrow"/>
                <a:ea typeface="Arial Narrow"/>
                <a:cs typeface="Arial Narrow"/>
                <a:sym typeface="Arial Narrow"/>
              </a:rPr>
              <a:t> = 1 [50% reliability].</a:t>
            </a:r>
            <a:endParaRPr sz="1600">
              <a:solidFill>
                <a:schemeClr val="dk1"/>
              </a:solidFill>
              <a:highlight>
                <a:schemeClr val="lt1"/>
              </a:highlight>
              <a:latin typeface="Arial Narrow"/>
              <a:ea typeface="Arial Narrow"/>
              <a:cs typeface="Arial Narrow"/>
              <a:sym typeface="Arial Narrow"/>
            </a:endParaRPr>
          </a:p>
          <a:p>
            <a:pPr indent="0" lvl="0" marL="0" rtl="0" algn="l">
              <a:lnSpc>
                <a:spcPct val="115000"/>
              </a:lnSpc>
              <a:spcBef>
                <a:spcPts val="0"/>
              </a:spcBef>
              <a:spcAft>
                <a:spcPts val="0"/>
              </a:spcAft>
              <a:buNone/>
            </a:pPr>
            <a:r>
              <a:t/>
            </a:r>
            <a:endParaRPr sz="1600">
              <a:solidFill>
                <a:schemeClr val="dk1"/>
              </a:solidFill>
              <a:highlight>
                <a:srgbClr val="FFFFFF"/>
              </a:highlight>
              <a:latin typeface="Arial Narrow"/>
              <a:ea typeface="Arial Narrow"/>
              <a:cs typeface="Arial Narrow"/>
              <a:sym typeface="Arial Narrow"/>
            </a:endParaRPr>
          </a:p>
          <a:p>
            <a:pPr indent="0" lvl="0" marL="0" rtl="0" algn="l">
              <a:lnSpc>
                <a:spcPct val="115000"/>
              </a:lnSpc>
              <a:spcBef>
                <a:spcPts val="0"/>
              </a:spcBef>
              <a:spcAft>
                <a:spcPts val="0"/>
              </a:spcAft>
              <a:buNone/>
            </a:pPr>
            <a:r>
              <a:rPr lang="en-AU" sz="1600" u="sng">
                <a:solidFill>
                  <a:schemeClr val="dk1"/>
                </a:solidFill>
                <a:latin typeface="Arial Narrow"/>
                <a:ea typeface="Arial Narrow"/>
                <a:cs typeface="Arial Narrow"/>
                <a:sym typeface="Arial Narrow"/>
              </a:rPr>
              <a:t>The following assumptions are made about the environmental conditions:</a:t>
            </a:r>
            <a:endParaRPr sz="1600" u="sng">
              <a:solidFill>
                <a:schemeClr val="dk1"/>
              </a:solidFill>
              <a:highlight>
                <a:srgbClr val="FFFFFF"/>
              </a:highlight>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rgbClr val="FFFFFF"/>
                </a:highlight>
                <a:latin typeface="Arial Narrow"/>
                <a:ea typeface="Arial Narrow"/>
                <a:cs typeface="Arial Narrow"/>
                <a:sym typeface="Arial Narrow"/>
              </a:rPr>
              <a:t>The system will be used outdoors in inclement weather, however, calculations are performed in ideal situations (such as there are no wind forces).</a:t>
            </a:r>
            <a:endParaRPr sz="1600">
              <a:solidFill>
                <a:schemeClr val="dk1"/>
              </a:solidFill>
              <a:highlight>
                <a:srgbClr val="FFFFFF"/>
              </a:highlight>
              <a:latin typeface="Arial Narrow"/>
              <a:ea typeface="Arial Narrow"/>
              <a:cs typeface="Arial Narrow"/>
              <a:sym typeface="Arial Narrow"/>
            </a:endParaRPr>
          </a:p>
          <a:p>
            <a:pPr indent="-330200" lvl="0" marL="457200" rtl="0" algn="l">
              <a:lnSpc>
                <a:spcPct val="115000"/>
              </a:lnSpc>
              <a:spcBef>
                <a:spcPts val="0"/>
              </a:spcBef>
              <a:spcAft>
                <a:spcPts val="0"/>
              </a:spcAft>
              <a:buClr>
                <a:schemeClr val="dk1"/>
              </a:buClr>
              <a:buSzPts val="1600"/>
              <a:buFont typeface="Arial Narrow"/>
              <a:buChar char="●"/>
            </a:pPr>
            <a:r>
              <a:rPr lang="en-AU" sz="1600">
                <a:solidFill>
                  <a:schemeClr val="dk1"/>
                </a:solidFill>
                <a:highlight>
                  <a:srgbClr val="FFFFFF"/>
                </a:highlight>
                <a:latin typeface="Arial Narrow"/>
                <a:ea typeface="Arial Narrow"/>
                <a:cs typeface="Arial Narrow"/>
                <a:sym typeface="Arial Narrow"/>
              </a:rPr>
              <a:t>Gravity forces are constant at 9.81m/s</a:t>
            </a:r>
            <a:r>
              <a:rPr baseline="30000" lang="en-AU" sz="1600">
                <a:solidFill>
                  <a:schemeClr val="dk1"/>
                </a:solidFill>
                <a:highlight>
                  <a:srgbClr val="FFFFFF"/>
                </a:highlight>
                <a:latin typeface="Arial Narrow"/>
                <a:ea typeface="Arial Narrow"/>
                <a:cs typeface="Arial Narrow"/>
                <a:sym typeface="Arial Narrow"/>
              </a:rPr>
              <a:t>2</a:t>
            </a:r>
            <a:r>
              <a:rPr lang="en-AU" sz="1600">
                <a:solidFill>
                  <a:schemeClr val="dk1"/>
                </a:solidFill>
                <a:highlight>
                  <a:srgbClr val="FFFFFF"/>
                </a:highlight>
                <a:latin typeface="Arial Narrow"/>
                <a:ea typeface="Arial Narrow"/>
                <a:cs typeface="Arial Narrow"/>
                <a:sym typeface="Arial Narrow"/>
              </a:rPr>
              <a:t>.</a:t>
            </a:r>
            <a:endParaRPr sz="1600">
              <a:solidFill>
                <a:schemeClr val="dk1"/>
              </a:solidFill>
              <a:highlight>
                <a:srgbClr val="FFFFFF"/>
              </a:highlight>
              <a:latin typeface="Arial Narrow"/>
              <a:ea typeface="Arial Narrow"/>
              <a:cs typeface="Arial Narrow"/>
              <a:sym typeface="Arial Narrow"/>
            </a:endParaRPr>
          </a:p>
          <a:p>
            <a:pPr indent="0" lvl="0" marL="0" rtl="0" algn="l">
              <a:lnSpc>
                <a:spcPct val="115000"/>
              </a:lnSpc>
              <a:spcBef>
                <a:spcPts val="0"/>
              </a:spcBef>
              <a:spcAft>
                <a:spcPts val="0"/>
              </a:spcAft>
              <a:buNone/>
            </a:pPr>
            <a:r>
              <a:t/>
            </a:r>
            <a:endParaRPr sz="1600">
              <a:solidFill>
                <a:schemeClr val="dk1"/>
              </a:solidFill>
              <a:highlight>
                <a:srgbClr val="FFFFFF"/>
              </a:highlight>
              <a:latin typeface="Arial Narrow"/>
              <a:ea typeface="Arial Narrow"/>
              <a:cs typeface="Arial Narrow"/>
              <a:sym typeface="Arial Narrow"/>
            </a:endParaRPr>
          </a:p>
          <a:p>
            <a:pPr indent="0" lvl="0" marL="0" rtl="0" algn="l">
              <a:lnSpc>
                <a:spcPct val="115000"/>
              </a:lnSpc>
              <a:spcBef>
                <a:spcPts val="0"/>
              </a:spcBef>
              <a:spcAft>
                <a:spcPts val="0"/>
              </a:spcAft>
              <a:buNone/>
            </a:pPr>
            <a:r>
              <a:rPr lang="en-AU" sz="1600">
                <a:solidFill>
                  <a:schemeClr val="dk1"/>
                </a:solidFill>
                <a:highlight>
                  <a:srgbClr val="FFFFFF"/>
                </a:highlight>
                <a:latin typeface="Arial Narrow"/>
                <a:ea typeface="Arial Narrow"/>
                <a:cs typeface="Arial Narrow"/>
                <a:sym typeface="Arial Narrow"/>
              </a:rPr>
              <a:t>Specific assumptions for respective parts will be indicated in their load and failure analysis sections below. </a:t>
            </a:r>
            <a:endParaRPr sz="1600">
              <a:solidFill>
                <a:schemeClr val="dk1"/>
              </a:solidFill>
              <a:highlight>
                <a:srgbClr val="FFFFFF"/>
              </a:highlight>
              <a:latin typeface="Arial Narrow"/>
              <a:ea typeface="Arial Narrow"/>
              <a:cs typeface="Arial Narrow"/>
              <a:sym typeface="Arial Narrow"/>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8"/>
          <p:cNvPicPr preferRelativeResize="0"/>
          <p:nvPr/>
        </p:nvPicPr>
        <p:blipFill rotWithShape="1">
          <a:blip r:embed="rId3">
            <a:alphaModFix/>
          </a:blip>
          <a:srcRect b="2000" l="21789" r="15561" t="13589"/>
          <a:stretch/>
        </p:blipFill>
        <p:spPr>
          <a:xfrm>
            <a:off x="609600" y="938650"/>
            <a:ext cx="4620501" cy="4980701"/>
          </a:xfrm>
          <a:prstGeom prst="rect">
            <a:avLst/>
          </a:prstGeom>
          <a:noFill/>
          <a:ln>
            <a:noFill/>
          </a:ln>
        </p:spPr>
      </p:pic>
      <p:cxnSp>
        <p:nvCxnSpPr>
          <p:cNvPr id="204" name="Google Shape;204;p8"/>
          <p:cNvCxnSpPr/>
          <p:nvPr/>
        </p:nvCxnSpPr>
        <p:spPr>
          <a:xfrm>
            <a:off x="2611575" y="4558150"/>
            <a:ext cx="0" cy="1053000"/>
          </a:xfrm>
          <a:prstGeom prst="straightConnector1">
            <a:avLst/>
          </a:prstGeom>
          <a:noFill/>
          <a:ln cap="flat" cmpd="sng" w="38100">
            <a:solidFill>
              <a:schemeClr val="accent1"/>
            </a:solidFill>
            <a:prstDash val="solid"/>
            <a:round/>
            <a:headEnd len="med" w="med" type="none"/>
            <a:tailEnd len="med" w="med" type="triangle"/>
          </a:ln>
        </p:spPr>
      </p:cxnSp>
      <p:cxnSp>
        <p:nvCxnSpPr>
          <p:cNvPr id="205" name="Google Shape;205;p8"/>
          <p:cNvCxnSpPr/>
          <p:nvPr/>
        </p:nvCxnSpPr>
        <p:spPr>
          <a:xfrm>
            <a:off x="2071250" y="4599725"/>
            <a:ext cx="0" cy="1053000"/>
          </a:xfrm>
          <a:prstGeom prst="straightConnector1">
            <a:avLst/>
          </a:prstGeom>
          <a:noFill/>
          <a:ln cap="flat" cmpd="sng" w="38100">
            <a:solidFill>
              <a:schemeClr val="accent1"/>
            </a:solidFill>
            <a:prstDash val="solid"/>
            <a:round/>
            <a:headEnd len="med" w="med" type="none"/>
            <a:tailEnd len="med" w="med" type="triangle"/>
          </a:ln>
        </p:spPr>
      </p:cxnSp>
      <p:sp>
        <p:nvSpPr>
          <p:cNvPr id="206" name="Google Shape;206;p8"/>
          <p:cNvSpPr txBox="1"/>
          <p:nvPr/>
        </p:nvSpPr>
        <p:spPr>
          <a:xfrm>
            <a:off x="2358675" y="4157950"/>
            <a:ext cx="50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B</a:t>
            </a:r>
            <a:endParaRPr baseline="-25000">
              <a:solidFill>
                <a:schemeClr val="accent1"/>
              </a:solidFill>
            </a:endParaRPr>
          </a:p>
        </p:txBody>
      </p:sp>
      <p:sp>
        <p:nvSpPr>
          <p:cNvPr id="207" name="Google Shape;207;p8"/>
          <p:cNvSpPr txBox="1"/>
          <p:nvPr/>
        </p:nvSpPr>
        <p:spPr>
          <a:xfrm>
            <a:off x="7225150" y="3269675"/>
            <a:ext cx="399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8" name="Google Shape;208;p8"/>
          <p:cNvSpPr txBox="1"/>
          <p:nvPr/>
        </p:nvSpPr>
        <p:spPr>
          <a:xfrm>
            <a:off x="1818350" y="4157950"/>
            <a:ext cx="50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W</a:t>
            </a:r>
            <a:endParaRPr baseline="-25000">
              <a:solidFill>
                <a:schemeClr val="accent1"/>
              </a:solidFill>
            </a:endParaRPr>
          </a:p>
        </p:txBody>
      </p:sp>
      <p:cxnSp>
        <p:nvCxnSpPr>
          <p:cNvPr id="209" name="Google Shape;209;p8"/>
          <p:cNvCxnSpPr/>
          <p:nvPr/>
        </p:nvCxnSpPr>
        <p:spPr>
          <a:xfrm rot="10800000">
            <a:off x="4232575" y="4876775"/>
            <a:ext cx="0" cy="831300"/>
          </a:xfrm>
          <a:prstGeom prst="straightConnector1">
            <a:avLst/>
          </a:prstGeom>
          <a:noFill/>
          <a:ln cap="flat" cmpd="sng" w="38100">
            <a:solidFill>
              <a:schemeClr val="accent1"/>
            </a:solidFill>
            <a:prstDash val="solid"/>
            <a:round/>
            <a:headEnd len="med" w="med" type="none"/>
            <a:tailEnd len="med" w="med" type="triangle"/>
          </a:ln>
        </p:spPr>
      </p:cxnSp>
      <p:sp>
        <p:nvSpPr>
          <p:cNvPr id="210" name="Google Shape;210;p8"/>
          <p:cNvSpPr txBox="1"/>
          <p:nvPr/>
        </p:nvSpPr>
        <p:spPr>
          <a:xfrm>
            <a:off x="3979675" y="4365750"/>
            <a:ext cx="50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R</a:t>
            </a:r>
            <a:r>
              <a:rPr baseline="-25000" lang="en-AU">
                <a:solidFill>
                  <a:schemeClr val="accent1"/>
                </a:solidFill>
              </a:rPr>
              <a:t>Z</a:t>
            </a:r>
            <a:endParaRPr baseline="-25000">
              <a:solidFill>
                <a:schemeClr val="accent1"/>
              </a:solidFill>
            </a:endParaRPr>
          </a:p>
        </p:txBody>
      </p:sp>
      <p:sp>
        <p:nvSpPr>
          <p:cNvPr id="211" name="Google Shape;211;p8"/>
          <p:cNvSpPr txBox="1"/>
          <p:nvPr/>
        </p:nvSpPr>
        <p:spPr>
          <a:xfrm>
            <a:off x="5479475" y="214750"/>
            <a:ext cx="6580800" cy="566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u="sng">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In order to calculate the strength of the base it is </a:t>
            </a:r>
            <a:r>
              <a:rPr lang="en-AU">
                <a:latin typeface="Arial Narrow"/>
                <a:ea typeface="Arial Narrow"/>
                <a:cs typeface="Arial Narrow"/>
                <a:sym typeface="Arial Narrow"/>
              </a:rPr>
              <a:t>reasonable</a:t>
            </a:r>
            <a:r>
              <a:rPr lang="en-AU">
                <a:latin typeface="Arial Narrow"/>
                <a:ea typeface="Arial Narrow"/>
                <a:cs typeface="Arial Narrow"/>
                <a:sym typeface="Arial Narrow"/>
              </a:rPr>
              <a:t> to assume the </a:t>
            </a:r>
            <a:r>
              <a:rPr lang="en-AU">
                <a:latin typeface="Arial Narrow"/>
                <a:ea typeface="Arial Narrow"/>
                <a:cs typeface="Arial Narrow"/>
                <a:sym typeface="Arial Narrow"/>
              </a:rPr>
              <a:t>force</a:t>
            </a:r>
            <a:r>
              <a:rPr lang="en-AU">
                <a:latin typeface="Arial Narrow"/>
                <a:ea typeface="Arial Narrow"/>
                <a:cs typeface="Arial Narrow"/>
                <a:sym typeface="Arial Narrow"/>
              </a:rPr>
              <a:t> on the base will be reacted by the force R</a:t>
            </a:r>
            <a:r>
              <a:rPr baseline="-25000" lang="en-AU">
                <a:latin typeface="Arial Narrow"/>
                <a:ea typeface="Arial Narrow"/>
                <a:cs typeface="Arial Narrow"/>
                <a:sym typeface="Arial Narrow"/>
              </a:rPr>
              <a:t>Z</a:t>
            </a:r>
            <a:r>
              <a:rPr lang="en-AU">
                <a:latin typeface="Arial Narrow"/>
                <a:ea typeface="Arial Narrow"/>
                <a:cs typeface="Arial Narrow"/>
                <a:sym typeface="Arial Narrow"/>
              </a:rPr>
              <a:t>.</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W</a:t>
            </a:r>
            <a:r>
              <a:rPr lang="en-AU">
                <a:solidFill>
                  <a:schemeClr val="dk1"/>
                </a:solidFill>
                <a:latin typeface="Arial Narrow"/>
                <a:ea typeface="Arial Narrow"/>
                <a:cs typeface="Arial Narrow"/>
                <a:sym typeface="Arial Narrow"/>
              </a:rPr>
              <a:t> = m</a:t>
            </a:r>
            <a:r>
              <a:rPr baseline="-25000" lang="en-AU">
                <a:solidFill>
                  <a:schemeClr val="dk1"/>
                </a:solidFill>
                <a:latin typeface="Arial Narrow"/>
                <a:ea typeface="Arial Narrow"/>
                <a:cs typeface="Arial Narrow"/>
                <a:sym typeface="Arial Narrow"/>
              </a:rPr>
              <a:t>load</a:t>
            </a:r>
            <a:r>
              <a:rPr lang="en-AU">
                <a:solidFill>
                  <a:schemeClr val="dk1"/>
                </a:solidFill>
                <a:latin typeface="Arial Narrow"/>
                <a:ea typeface="Arial Narrow"/>
                <a:cs typeface="Arial Narrow"/>
                <a:sym typeface="Arial Narrow"/>
              </a:rPr>
              <a:t>*a</a:t>
            </a:r>
            <a:r>
              <a:rPr baseline="-25000" lang="en-AU">
                <a:solidFill>
                  <a:schemeClr val="dk1"/>
                </a:solidFill>
                <a:latin typeface="Arial Narrow"/>
                <a:ea typeface="Arial Narrow"/>
                <a:cs typeface="Arial Narrow"/>
                <a:sym typeface="Arial Narrow"/>
              </a:rPr>
              <a:t>load</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W</a:t>
            </a:r>
            <a:r>
              <a:rPr lang="en-AU">
                <a:solidFill>
                  <a:schemeClr val="dk1"/>
                </a:solidFill>
                <a:latin typeface="Arial Narrow"/>
                <a:ea typeface="Arial Narrow"/>
                <a:cs typeface="Arial Narrow"/>
                <a:sym typeface="Arial Narrow"/>
              </a:rPr>
              <a:t> = 120 kg * 9.81m/s</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 1177.2N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 m</a:t>
            </a:r>
            <a:r>
              <a:rPr baseline="-25000" lang="en-AU">
                <a:solidFill>
                  <a:schemeClr val="dk1"/>
                </a:solidFill>
                <a:latin typeface="Arial Narrow"/>
                <a:ea typeface="Arial Narrow"/>
                <a:cs typeface="Arial Narrow"/>
                <a:sym typeface="Arial Narrow"/>
              </a:rPr>
              <a:t>base</a:t>
            </a:r>
            <a:r>
              <a:rPr lang="en-AU">
                <a:solidFill>
                  <a:schemeClr val="dk1"/>
                </a:solidFill>
                <a:latin typeface="Arial Narrow"/>
                <a:ea typeface="Arial Narrow"/>
                <a:cs typeface="Arial Narrow"/>
                <a:sym typeface="Arial Narrow"/>
              </a:rPr>
              <a:t>*a</a:t>
            </a:r>
            <a:r>
              <a:rPr baseline="-25000" lang="en-AU">
                <a:solidFill>
                  <a:schemeClr val="dk1"/>
                </a:solidFill>
                <a:latin typeface="Arial Narrow"/>
                <a:ea typeface="Arial Narrow"/>
                <a:cs typeface="Arial Narrow"/>
                <a:sym typeface="Arial Narrow"/>
              </a:rPr>
              <a:t>base</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 23 kg * 9.81m/s</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 225.63N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Z</a:t>
            </a:r>
            <a:r>
              <a:rPr lang="en-AU">
                <a:solidFill>
                  <a:schemeClr val="dk1"/>
                </a:solidFill>
                <a:latin typeface="Arial Narrow"/>
                <a:ea typeface="Arial Narrow"/>
                <a:cs typeface="Arial Narrow"/>
                <a:sym typeface="Arial Narrow"/>
              </a:rPr>
              <a:t> = 0:</a:t>
            </a:r>
            <a:endParaRPr>
              <a:solidFill>
                <a:schemeClr val="dk1"/>
              </a:solidFill>
              <a:latin typeface="Arial Narrow"/>
              <a:ea typeface="Arial Narrow"/>
              <a:cs typeface="Arial Narrow"/>
              <a:sym typeface="Arial Narrow"/>
            </a:endParaRPr>
          </a:p>
          <a:p>
            <a:pPr indent="0" lvl="0" marL="45720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W</a:t>
            </a:r>
            <a:r>
              <a:rPr lang="en-AU">
                <a:solidFill>
                  <a:schemeClr val="dk1"/>
                </a:solidFill>
                <a:latin typeface="Arial Narrow"/>
                <a:ea typeface="Arial Narrow"/>
                <a:cs typeface="Arial Narrow"/>
                <a:sym typeface="Arial Narrow"/>
              </a:rPr>
              <a:t> - F</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 R</a:t>
            </a:r>
            <a:r>
              <a:rPr baseline="-25000" lang="en-AU">
                <a:solidFill>
                  <a:schemeClr val="dk1"/>
                </a:solidFill>
                <a:latin typeface="Arial Narrow"/>
                <a:ea typeface="Arial Narrow"/>
                <a:cs typeface="Arial Narrow"/>
                <a:sym typeface="Arial Narrow"/>
              </a:rPr>
              <a:t>Z</a:t>
            </a:r>
            <a:r>
              <a:rPr lang="en-AU">
                <a:solidFill>
                  <a:schemeClr val="dk1"/>
                </a:solidFill>
                <a:latin typeface="Arial Narrow"/>
                <a:ea typeface="Arial Narrow"/>
                <a:cs typeface="Arial Narrow"/>
                <a:sym typeface="Arial Narrow"/>
              </a:rPr>
              <a:t> = 0</a:t>
            </a:r>
            <a:endParaRPr>
              <a:solidFill>
                <a:schemeClr val="dk1"/>
              </a:solidFill>
              <a:latin typeface="Arial Narrow"/>
              <a:ea typeface="Arial Narrow"/>
              <a:cs typeface="Arial Narrow"/>
              <a:sym typeface="Arial Narrow"/>
            </a:endParaRPr>
          </a:p>
          <a:p>
            <a:pPr indent="0" lvl="0" marL="45720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457200" rtl="0" algn="l">
              <a:spcBef>
                <a:spcPts val="0"/>
              </a:spcBef>
              <a:spcAft>
                <a:spcPts val="0"/>
              </a:spcAft>
              <a:buNone/>
            </a:pPr>
            <a:r>
              <a:rPr lang="en-AU">
                <a:solidFill>
                  <a:schemeClr val="dk1"/>
                </a:solidFill>
                <a:latin typeface="Arial Narrow"/>
                <a:ea typeface="Arial Narrow"/>
                <a:cs typeface="Arial Narrow"/>
                <a:sym typeface="Arial Narrow"/>
              </a:rPr>
              <a:t>R</a:t>
            </a:r>
            <a:r>
              <a:rPr baseline="-25000" lang="en-AU">
                <a:solidFill>
                  <a:schemeClr val="dk1"/>
                </a:solidFill>
                <a:latin typeface="Arial Narrow"/>
                <a:ea typeface="Arial Narrow"/>
                <a:cs typeface="Arial Narrow"/>
                <a:sym typeface="Arial Narrow"/>
              </a:rPr>
              <a:t>Z</a:t>
            </a:r>
            <a:r>
              <a:rPr lang="en-AU">
                <a:solidFill>
                  <a:schemeClr val="dk1"/>
                </a:solidFill>
                <a:latin typeface="Arial Narrow"/>
                <a:ea typeface="Arial Narrow"/>
                <a:cs typeface="Arial Narrow"/>
                <a:sym typeface="Arial Narrow"/>
              </a:rPr>
              <a:t> = 1402.83N</a:t>
            </a:r>
            <a:endParaRPr>
              <a:solidFill>
                <a:schemeClr val="dk1"/>
              </a:solidFill>
              <a:latin typeface="Arial Narrow"/>
              <a:ea typeface="Arial Narrow"/>
              <a:cs typeface="Arial Narrow"/>
              <a:sym typeface="Arial Narrow"/>
            </a:endParaRPr>
          </a:p>
          <a:p>
            <a:pPr indent="0" lvl="0" marL="45720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X</a:t>
            </a:r>
            <a:r>
              <a:rPr lang="en-AU">
                <a:solidFill>
                  <a:schemeClr val="dk1"/>
                </a:solidFill>
                <a:latin typeface="Arial Narrow"/>
                <a:ea typeface="Arial Narrow"/>
                <a:cs typeface="Arial Narrow"/>
                <a:sym typeface="Arial Narrow"/>
              </a:rPr>
              <a:t> = 0: there are no forces in the x-direction.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M = (1177.2*0.678) + (225.63*0.5)</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 910.9566Nm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𝜏 = F/A =</a:t>
            </a:r>
            <a:r>
              <a:rPr lang="en-AU" sz="1700">
                <a:solidFill>
                  <a:schemeClr val="dk1"/>
                </a:solidFill>
                <a:latin typeface="Arial Narrow"/>
                <a:ea typeface="Arial Narrow"/>
                <a:cs typeface="Arial Narrow"/>
                <a:sym typeface="Arial Narrow"/>
              </a:rPr>
              <a:t> </a:t>
            </a:r>
            <a:r>
              <a:rPr lang="en-AU">
                <a:solidFill>
                  <a:schemeClr val="dk1"/>
                </a:solidFill>
                <a:latin typeface="Arial Narrow"/>
                <a:ea typeface="Arial Narrow"/>
                <a:cs typeface="Arial Narrow"/>
                <a:sym typeface="Arial Narrow"/>
              </a:rPr>
              <a:t>1402.83N/[(0.05*0.1)-(0.044-0.094)]</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700">
                <a:solidFill>
                  <a:schemeClr val="dk1"/>
                </a:solidFill>
                <a:latin typeface="Arial Narrow"/>
                <a:ea typeface="Arial Narrow"/>
                <a:cs typeface="Arial Narrow"/>
                <a:sym typeface="Arial Narrow"/>
              </a:rPr>
              <a:t>           </a:t>
            </a:r>
            <a:r>
              <a:rPr lang="en-AU">
                <a:solidFill>
                  <a:schemeClr val="dk1"/>
                </a:solidFill>
                <a:latin typeface="Arial Narrow"/>
                <a:ea typeface="Arial Narrow"/>
                <a:cs typeface="Arial Narrow"/>
                <a:sym typeface="Arial Narrow"/>
              </a:rPr>
              <a:t>= 1.624MPa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 = 0 as there is no axial load on the base.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 Mc/I = (910.9566*0.025)/)3.7439*10</a:t>
            </a:r>
            <a:r>
              <a:rPr baseline="30000" lang="en-AU">
                <a:solidFill>
                  <a:schemeClr val="dk1"/>
                </a:solidFill>
                <a:latin typeface="Arial Narrow"/>
                <a:ea typeface="Arial Narrow"/>
                <a:cs typeface="Arial Narrow"/>
                <a:sym typeface="Arial Narrow"/>
              </a:rPr>
              <a:t>-7</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 60.83MPa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𝜏 = Tr/J = 0MPa as there is no torque on the base.</a:t>
            </a:r>
            <a:endParaRPr>
              <a:latin typeface="Arial Narrow"/>
              <a:ea typeface="Arial Narrow"/>
              <a:cs typeface="Arial Narrow"/>
              <a:sym typeface="Arial Narrow"/>
            </a:endParaRPr>
          </a:p>
        </p:txBody>
      </p:sp>
      <p:cxnSp>
        <p:nvCxnSpPr>
          <p:cNvPr id="212" name="Google Shape;212;p8"/>
          <p:cNvCxnSpPr/>
          <p:nvPr/>
        </p:nvCxnSpPr>
        <p:spPr>
          <a:xfrm flipH="1">
            <a:off x="1119850" y="6497750"/>
            <a:ext cx="858300" cy="13200"/>
          </a:xfrm>
          <a:prstGeom prst="straightConnector1">
            <a:avLst/>
          </a:prstGeom>
          <a:noFill/>
          <a:ln cap="flat" cmpd="sng" w="9525">
            <a:solidFill>
              <a:schemeClr val="dk2"/>
            </a:solidFill>
            <a:prstDash val="solid"/>
            <a:round/>
            <a:headEnd len="med" w="med" type="none"/>
            <a:tailEnd len="med" w="med" type="triangle"/>
          </a:ln>
        </p:spPr>
      </p:cxnSp>
      <p:cxnSp>
        <p:nvCxnSpPr>
          <p:cNvPr id="213" name="Google Shape;213;p8"/>
          <p:cNvCxnSpPr/>
          <p:nvPr/>
        </p:nvCxnSpPr>
        <p:spPr>
          <a:xfrm rot="10800000">
            <a:off x="1978150" y="6012900"/>
            <a:ext cx="0" cy="491400"/>
          </a:xfrm>
          <a:prstGeom prst="straightConnector1">
            <a:avLst/>
          </a:prstGeom>
          <a:noFill/>
          <a:ln cap="flat" cmpd="sng" w="9525">
            <a:solidFill>
              <a:schemeClr val="dk2"/>
            </a:solidFill>
            <a:prstDash val="solid"/>
            <a:round/>
            <a:headEnd len="med" w="med" type="none"/>
            <a:tailEnd len="med" w="med" type="triangle"/>
          </a:ln>
        </p:spPr>
      </p:cxnSp>
      <p:sp>
        <p:nvSpPr>
          <p:cNvPr id="214" name="Google Shape;214;p8"/>
          <p:cNvSpPr txBox="1"/>
          <p:nvPr/>
        </p:nvSpPr>
        <p:spPr>
          <a:xfrm>
            <a:off x="1953350" y="5875138"/>
            <a:ext cx="23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z</a:t>
            </a:r>
            <a:endParaRPr/>
          </a:p>
        </p:txBody>
      </p:sp>
      <p:sp>
        <p:nvSpPr>
          <p:cNvPr id="215" name="Google Shape;215;p8"/>
          <p:cNvSpPr txBox="1"/>
          <p:nvPr/>
        </p:nvSpPr>
        <p:spPr>
          <a:xfrm>
            <a:off x="812225" y="6304250"/>
            <a:ext cx="28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x</a:t>
            </a:r>
            <a:endParaRPr/>
          </a:p>
        </p:txBody>
      </p:sp>
      <p:sp>
        <p:nvSpPr>
          <p:cNvPr id="216" name="Google Shape;216;p8"/>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10</a:t>
            </a:r>
            <a:endParaRPr sz="1800">
              <a:solidFill>
                <a:schemeClr val="dk1"/>
              </a:solidFill>
              <a:latin typeface="Arial Narrow"/>
              <a:ea typeface="Arial Narrow"/>
              <a:cs typeface="Arial Narrow"/>
              <a:sym typeface="Arial Narrow"/>
            </a:endParaRPr>
          </a:p>
        </p:txBody>
      </p:sp>
      <p:sp>
        <p:nvSpPr>
          <p:cNvPr id="217" name="Google Shape;217;p8"/>
          <p:cNvSpPr txBox="1"/>
          <p:nvPr>
            <p:ph type="title"/>
          </p:nvPr>
        </p:nvSpPr>
        <p:spPr>
          <a:xfrm>
            <a:off x="609600" y="214750"/>
            <a:ext cx="4620600" cy="51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en-AU" sz="3000"/>
              <a:t>3.1 Base of Platform</a:t>
            </a:r>
            <a:endParaRPr/>
          </a:p>
        </p:txBody>
      </p:sp>
      <p:pic>
        <p:nvPicPr>
          <p:cNvPr id="218" name="Google Shape;218;p8"/>
          <p:cNvPicPr preferRelativeResize="0"/>
          <p:nvPr/>
        </p:nvPicPr>
        <p:blipFill rotWithShape="1">
          <a:blip r:embed="rId4">
            <a:alphaModFix/>
          </a:blip>
          <a:srcRect b="3518" l="24892" r="12087" t="11483"/>
          <a:stretch/>
        </p:blipFill>
        <p:spPr>
          <a:xfrm>
            <a:off x="9165450" y="4069263"/>
            <a:ext cx="1448250" cy="2150574"/>
          </a:xfrm>
          <a:prstGeom prst="rect">
            <a:avLst/>
          </a:prstGeom>
          <a:noFill/>
          <a:ln>
            <a:noFill/>
          </a:ln>
        </p:spPr>
      </p:pic>
      <p:sp>
        <p:nvSpPr>
          <p:cNvPr id="219" name="Google Shape;219;p8"/>
          <p:cNvSpPr/>
          <p:nvPr/>
        </p:nvSpPr>
        <p:spPr>
          <a:xfrm>
            <a:off x="9903145" y="5429555"/>
            <a:ext cx="39000" cy="594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9903145" y="5619663"/>
            <a:ext cx="39000" cy="594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txBox="1"/>
          <p:nvPr/>
        </p:nvSpPr>
        <p:spPr>
          <a:xfrm>
            <a:off x="9849250" y="5239450"/>
            <a:ext cx="85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B</a:t>
            </a:r>
            <a:endParaRPr baseline="-25000">
              <a:solidFill>
                <a:schemeClr val="accent1"/>
              </a:solidFill>
            </a:endParaRPr>
          </a:p>
        </p:txBody>
      </p:sp>
      <p:sp>
        <p:nvSpPr>
          <p:cNvPr id="222" name="Google Shape;222;p8"/>
          <p:cNvSpPr txBox="1"/>
          <p:nvPr/>
        </p:nvSpPr>
        <p:spPr>
          <a:xfrm>
            <a:off x="9559954" y="5478375"/>
            <a:ext cx="72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W</a:t>
            </a:r>
            <a:endParaRPr baseline="-25000">
              <a:solidFill>
                <a:schemeClr val="accent1"/>
              </a:solidFill>
            </a:endParaRPr>
          </a:p>
        </p:txBody>
      </p:sp>
      <p:cxnSp>
        <p:nvCxnSpPr>
          <p:cNvPr id="223" name="Google Shape;223;p8"/>
          <p:cNvCxnSpPr/>
          <p:nvPr/>
        </p:nvCxnSpPr>
        <p:spPr>
          <a:xfrm rot="10800000">
            <a:off x="9537673" y="6188103"/>
            <a:ext cx="2100" cy="359400"/>
          </a:xfrm>
          <a:prstGeom prst="straightConnector1">
            <a:avLst/>
          </a:prstGeom>
          <a:noFill/>
          <a:ln cap="flat" cmpd="sng" w="9525">
            <a:solidFill>
              <a:schemeClr val="dk2"/>
            </a:solidFill>
            <a:prstDash val="solid"/>
            <a:round/>
            <a:headEnd len="med" w="med" type="none"/>
            <a:tailEnd len="med" w="med" type="triangle"/>
          </a:ln>
        </p:spPr>
      </p:cxnSp>
      <p:cxnSp>
        <p:nvCxnSpPr>
          <p:cNvPr id="224" name="Google Shape;224;p8"/>
          <p:cNvCxnSpPr/>
          <p:nvPr/>
        </p:nvCxnSpPr>
        <p:spPr>
          <a:xfrm rot="10800000">
            <a:off x="9315373" y="6533558"/>
            <a:ext cx="224400" cy="2700"/>
          </a:xfrm>
          <a:prstGeom prst="straightConnector1">
            <a:avLst/>
          </a:prstGeom>
          <a:noFill/>
          <a:ln cap="flat" cmpd="sng" w="9525">
            <a:solidFill>
              <a:schemeClr val="dk2"/>
            </a:solidFill>
            <a:prstDash val="solid"/>
            <a:round/>
            <a:headEnd len="med" w="med" type="none"/>
            <a:tailEnd len="med" w="med" type="triangle"/>
          </a:ln>
        </p:spPr>
      </p:cxnSp>
      <p:sp>
        <p:nvSpPr>
          <p:cNvPr id="225" name="Google Shape;225;p8"/>
          <p:cNvSpPr txBox="1"/>
          <p:nvPr/>
        </p:nvSpPr>
        <p:spPr>
          <a:xfrm>
            <a:off x="9537716" y="6126187"/>
            <a:ext cx="12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x</a:t>
            </a:r>
            <a:endParaRPr/>
          </a:p>
        </p:txBody>
      </p:sp>
      <p:sp>
        <p:nvSpPr>
          <p:cNvPr id="226" name="Google Shape;226;p8"/>
          <p:cNvSpPr txBox="1"/>
          <p:nvPr/>
        </p:nvSpPr>
        <p:spPr>
          <a:xfrm>
            <a:off x="9258260" y="6449040"/>
            <a:ext cx="12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y</a:t>
            </a:r>
            <a:endParaRPr/>
          </a:p>
        </p:txBody>
      </p:sp>
      <p:pic>
        <p:nvPicPr>
          <p:cNvPr id="227" name="Google Shape;227;p8"/>
          <p:cNvPicPr preferRelativeResize="0"/>
          <p:nvPr/>
        </p:nvPicPr>
        <p:blipFill rotWithShape="1">
          <a:blip r:embed="rId5">
            <a:alphaModFix/>
          </a:blip>
          <a:srcRect b="5867" l="33309" r="16426" t="6289"/>
          <a:stretch/>
        </p:blipFill>
        <p:spPr>
          <a:xfrm>
            <a:off x="10613700" y="4072475"/>
            <a:ext cx="1578300" cy="2088142"/>
          </a:xfrm>
          <a:prstGeom prst="rect">
            <a:avLst/>
          </a:prstGeom>
          <a:noFill/>
          <a:ln>
            <a:noFill/>
          </a:ln>
        </p:spPr>
      </p:pic>
      <p:cxnSp>
        <p:nvCxnSpPr>
          <p:cNvPr id="228" name="Google Shape;228;p8"/>
          <p:cNvCxnSpPr/>
          <p:nvPr/>
        </p:nvCxnSpPr>
        <p:spPr>
          <a:xfrm>
            <a:off x="11424682" y="5347868"/>
            <a:ext cx="6300" cy="661200"/>
          </a:xfrm>
          <a:prstGeom prst="straightConnector1">
            <a:avLst/>
          </a:prstGeom>
          <a:noFill/>
          <a:ln cap="flat" cmpd="sng" w="38100">
            <a:solidFill>
              <a:schemeClr val="accent1"/>
            </a:solidFill>
            <a:prstDash val="solid"/>
            <a:round/>
            <a:headEnd len="med" w="med" type="none"/>
            <a:tailEnd len="med" w="med" type="triangle"/>
          </a:ln>
        </p:spPr>
      </p:cxnSp>
      <p:sp>
        <p:nvSpPr>
          <p:cNvPr id="229" name="Google Shape;229;p8"/>
          <p:cNvSpPr txBox="1"/>
          <p:nvPr/>
        </p:nvSpPr>
        <p:spPr>
          <a:xfrm>
            <a:off x="11299918" y="5158975"/>
            <a:ext cx="98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B</a:t>
            </a:r>
            <a:r>
              <a:rPr lang="en-AU">
                <a:solidFill>
                  <a:schemeClr val="accent1"/>
                </a:solidFill>
              </a:rPr>
              <a:t>, F</a:t>
            </a:r>
            <a:r>
              <a:rPr baseline="-25000" lang="en-AU">
                <a:solidFill>
                  <a:schemeClr val="accent1"/>
                </a:solidFill>
              </a:rPr>
              <a:t>W</a:t>
            </a:r>
            <a:endParaRPr baseline="-25000">
              <a:solidFill>
                <a:schemeClr val="accent1"/>
              </a:solidFill>
            </a:endParaRPr>
          </a:p>
        </p:txBody>
      </p:sp>
      <p:cxnSp>
        <p:nvCxnSpPr>
          <p:cNvPr id="230" name="Google Shape;230;p8"/>
          <p:cNvCxnSpPr/>
          <p:nvPr/>
        </p:nvCxnSpPr>
        <p:spPr>
          <a:xfrm rot="10800000">
            <a:off x="11118942" y="6185940"/>
            <a:ext cx="6300" cy="283500"/>
          </a:xfrm>
          <a:prstGeom prst="straightConnector1">
            <a:avLst/>
          </a:prstGeom>
          <a:noFill/>
          <a:ln cap="flat" cmpd="sng" w="9525">
            <a:solidFill>
              <a:schemeClr val="dk2"/>
            </a:solidFill>
            <a:prstDash val="solid"/>
            <a:round/>
            <a:headEnd len="med" w="med" type="none"/>
            <a:tailEnd len="med" w="med" type="triangle"/>
          </a:ln>
        </p:spPr>
      </p:cxnSp>
      <p:cxnSp>
        <p:nvCxnSpPr>
          <p:cNvPr id="231" name="Google Shape;231;p8"/>
          <p:cNvCxnSpPr/>
          <p:nvPr/>
        </p:nvCxnSpPr>
        <p:spPr>
          <a:xfrm>
            <a:off x="11125242" y="6469440"/>
            <a:ext cx="386700" cy="0"/>
          </a:xfrm>
          <a:prstGeom prst="straightConnector1">
            <a:avLst/>
          </a:prstGeom>
          <a:noFill/>
          <a:ln cap="flat" cmpd="sng" w="9525">
            <a:solidFill>
              <a:schemeClr val="dk2"/>
            </a:solidFill>
            <a:prstDash val="solid"/>
            <a:round/>
            <a:headEnd len="med" w="med" type="none"/>
            <a:tailEnd len="med" w="med" type="triangle"/>
          </a:ln>
        </p:spPr>
      </p:cxnSp>
      <p:sp>
        <p:nvSpPr>
          <p:cNvPr id="232" name="Google Shape;232;p8"/>
          <p:cNvSpPr txBox="1"/>
          <p:nvPr/>
        </p:nvSpPr>
        <p:spPr>
          <a:xfrm>
            <a:off x="11098375" y="6058502"/>
            <a:ext cx="19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z</a:t>
            </a:r>
            <a:endParaRPr/>
          </a:p>
        </p:txBody>
      </p:sp>
      <p:sp>
        <p:nvSpPr>
          <p:cNvPr id="233" name="Google Shape;233;p8"/>
          <p:cNvSpPr txBox="1"/>
          <p:nvPr/>
        </p:nvSpPr>
        <p:spPr>
          <a:xfrm>
            <a:off x="11524499" y="6445824"/>
            <a:ext cx="16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x</a:t>
            </a:r>
            <a:endParaRPr/>
          </a:p>
        </p:txBody>
      </p:sp>
      <p:sp>
        <p:nvSpPr>
          <p:cNvPr id="234" name="Google Shape;234;p8"/>
          <p:cNvSpPr txBox="1"/>
          <p:nvPr/>
        </p:nvSpPr>
        <p:spPr>
          <a:xfrm>
            <a:off x="8871000" y="1349300"/>
            <a:ext cx="31245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a:latin typeface="Arial Narrow"/>
                <a:ea typeface="Arial Narrow"/>
                <a:cs typeface="Arial Narrow"/>
                <a:sym typeface="Arial Narrow"/>
              </a:rPr>
              <a:t>Selection of material is Alloy Steel</a:t>
            </a:r>
            <a:endParaRPr b="1">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Yield Stress = 485.0MPa </a:t>
            </a:r>
            <a:br>
              <a:rPr lang="en-AU">
                <a:latin typeface="Arial Narrow"/>
                <a:ea typeface="Arial Narrow"/>
                <a:cs typeface="Arial Narrow"/>
                <a:sym typeface="Arial Narrow"/>
              </a:rPr>
            </a:b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ea</a:t>
            </a:r>
            <a:r>
              <a:rPr lang="en-AU">
                <a:solidFill>
                  <a:schemeClr val="dk1"/>
                </a:solidFill>
                <a:latin typeface="Arial Narrow"/>
                <a:ea typeface="Arial Narrow"/>
                <a:cs typeface="Arial Narrow"/>
                <a:sym typeface="Arial Narrow"/>
              </a:rPr>
              <a:t>= 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60.83MPa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em </a:t>
            </a:r>
            <a:r>
              <a:rPr lang="en-AU">
                <a:solidFill>
                  <a:schemeClr val="dk1"/>
                </a:solidFill>
                <a:latin typeface="Arial Narrow"/>
                <a:ea typeface="Arial Narrow"/>
                <a:cs typeface="Arial Narrow"/>
                <a:sym typeface="Arial Narrow"/>
              </a:rPr>
              <a:t>= 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/2 + sqrt(𝜏</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/2)</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 0MPa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Max stress from bending stress 60.83MPa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Safety factor assuming yield stress is 485.0MPa: </a:t>
            </a:r>
            <a:br>
              <a:rPr lang="en-AU">
                <a:solidFill>
                  <a:schemeClr val="dk1"/>
                </a:solidFill>
                <a:latin typeface="Arial Narrow"/>
                <a:ea typeface="Arial Narrow"/>
                <a:cs typeface="Arial Narrow"/>
                <a:sym typeface="Arial Narrow"/>
              </a:rPr>
            </a:br>
            <a:r>
              <a:rPr b="1" lang="en-AU">
                <a:solidFill>
                  <a:schemeClr val="dk1"/>
                </a:solidFill>
                <a:latin typeface="Arial Narrow"/>
                <a:ea typeface="Arial Narrow"/>
                <a:cs typeface="Arial Narrow"/>
                <a:sym typeface="Arial Narrow"/>
              </a:rPr>
              <a:t>SF = 485.0/60.83  = 7.97</a:t>
            </a:r>
            <a:endParaRPr b="1">
              <a:solidFill>
                <a:schemeClr val="dk1"/>
              </a:solidFill>
              <a:latin typeface="Arial Narrow"/>
              <a:ea typeface="Arial Narrow"/>
              <a:cs typeface="Arial Narrow"/>
              <a:sym typeface="Arial Narro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14b29b56ded_1_201"/>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11</a:t>
            </a:r>
            <a:endParaRPr sz="1800">
              <a:solidFill>
                <a:schemeClr val="dk1"/>
              </a:solidFill>
              <a:latin typeface="Arial Narrow"/>
              <a:ea typeface="Arial Narrow"/>
              <a:cs typeface="Arial Narrow"/>
              <a:sym typeface="Arial Narrow"/>
            </a:endParaRPr>
          </a:p>
        </p:txBody>
      </p:sp>
      <p:pic>
        <p:nvPicPr>
          <p:cNvPr id="240" name="Google Shape;240;g14b29b56ded_1_201"/>
          <p:cNvPicPr preferRelativeResize="0"/>
          <p:nvPr/>
        </p:nvPicPr>
        <p:blipFill rotWithShape="1">
          <a:blip r:embed="rId3">
            <a:alphaModFix/>
          </a:blip>
          <a:srcRect b="2000" l="21789" r="15561" t="13589"/>
          <a:stretch/>
        </p:blipFill>
        <p:spPr>
          <a:xfrm>
            <a:off x="325925" y="1467900"/>
            <a:ext cx="2988065" cy="3506523"/>
          </a:xfrm>
          <a:prstGeom prst="rect">
            <a:avLst/>
          </a:prstGeom>
          <a:noFill/>
          <a:ln>
            <a:noFill/>
          </a:ln>
        </p:spPr>
      </p:pic>
      <p:cxnSp>
        <p:nvCxnSpPr>
          <p:cNvPr id="241" name="Google Shape;241;g14b29b56ded_1_201"/>
          <p:cNvCxnSpPr/>
          <p:nvPr/>
        </p:nvCxnSpPr>
        <p:spPr>
          <a:xfrm>
            <a:off x="1173470" y="4253046"/>
            <a:ext cx="0" cy="495000"/>
          </a:xfrm>
          <a:prstGeom prst="straightConnector1">
            <a:avLst/>
          </a:prstGeom>
          <a:noFill/>
          <a:ln cap="flat" cmpd="sng" w="38100">
            <a:solidFill>
              <a:schemeClr val="accent1"/>
            </a:solidFill>
            <a:prstDash val="solid"/>
            <a:round/>
            <a:headEnd len="med" w="med" type="none"/>
            <a:tailEnd len="med" w="med" type="triangle"/>
          </a:ln>
        </p:spPr>
      </p:cxnSp>
      <p:cxnSp>
        <p:nvCxnSpPr>
          <p:cNvPr id="242" name="Google Shape;242;g14b29b56ded_1_201"/>
          <p:cNvCxnSpPr/>
          <p:nvPr/>
        </p:nvCxnSpPr>
        <p:spPr>
          <a:xfrm>
            <a:off x="1453846" y="4253046"/>
            <a:ext cx="0" cy="495000"/>
          </a:xfrm>
          <a:prstGeom prst="straightConnector1">
            <a:avLst/>
          </a:prstGeom>
          <a:noFill/>
          <a:ln cap="flat" cmpd="sng" w="38100">
            <a:solidFill>
              <a:schemeClr val="accent1"/>
            </a:solidFill>
            <a:prstDash val="solid"/>
            <a:round/>
            <a:headEnd len="med" w="med" type="none"/>
            <a:tailEnd len="med" w="med" type="triangle"/>
          </a:ln>
        </p:spPr>
      </p:cxnSp>
      <p:cxnSp>
        <p:nvCxnSpPr>
          <p:cNvPr id="243" name="Google Shape;243;g14b29b56ded_1_201"/>
          <p:cNvCxnSpPr/>
          <p:nvPr/>
        </p:nvCxnSpPr>
        <p:spPr>
          <a:xfrm>
            <a:off x="2390886" y="3576903"/>
            <a:ext cx="0" cy="495000"/>
          </a:xfrm>
          <a:prstGeom prst="straightConnector1">
            <a:avLst/>
          </a:prstGeom>
          <a:noFill/>
          <a:ln cap="flat" cmpd="sng" w="38100">
            <a:solidFill>
              <a:schemeClr val="accent1"/>
            </a:solidFill>
            <a:prstDash val="solid"/>
            <a:round/>
            <a:headEnd len="med" w="med" type="none"/>
            <a:tailEnd len="med" w="med" type="triangle"/>
          </a:ln>
        </p:spPr>
      </p:cxnSp>
      <p:cxnSp>
        <p:nvCxnSpPr>
          <p:cNvPr id="244" name="Google Shape;244;g14b29b56ded_1_201"/>
          <p:cNvCxnSpPr/>
          <p:nvPr/>
        </p:nvCxnSpPr>
        <p:spPr>
          <a:xfrm flipH="1" rot="10800000">
            <a:off x="3022895" y="2867375"/>
            <a:ext cx="1800" cy="519900"/>
          </a:xfrm>
          <a:prstGeom prst="straightConnector1">
            <a:avLst/>
          </a:prstGeom>
          <a:noFill/>
          <a:ln cap="flat" cmpd="sng" w="38100">
            <a:solidFill>
              <a:schemeClr val="accent1"/>
            </a:solidFill>
            <a:prstDash val="solid"/>
            <a:round/>
            <a:headEnd len="med" w="med" type="none"/>
            <a:tailEnd len="med" w="med" type="triangle"/>
          </a:ln>
        </p:spPr>
      </p:cxnSp>
      <p:cxnSp>
        <p:nvCxnSpPr>
          <p:cNvPr id="245" name="Google Shape;245;g14b29b56ded_1_201"/>
          <p:cNvCxnSpPr/>
          <p:nvPr/>
        </p:nvCxnSpPr>
        <p:spPr>
          <a:xfrm>
            <a:off x="3212361" y="2109194"/>
            <a:ext cx="341400" cy="2400"/>
          </a:xfrm>
          <a:prstGeom prst="straightConnector1">
            <a:avLst/>
          </a:prstGeom>
          <a:noFill/>
          <a:ln cap="flat" cmpd="sng" w="38100">
            <a:solidFill>
              <a:schemeClr val="accent1"/>
            </a:solidFill>
            <a:prstDash val="solid"/>
            <a:round/>
            <a:headEnd len="med" w="med" type="none"/>
            <a:tailEnd len="med" w="med" type="triangle"/>
          </a:ln>
        </p:spPr>
      </p:cxnSp>
      <p:cxnSp>
        <p:nvCxnSpPr>
          <p:cNvPr id="246" name="Google Shape;246;g14b29b56ded_1_201"/>
          <p:cNvCxnSpPr/>
          <p:nvPr/>
        </p:nvCxnSpPr>
        <p:spPr>
          <a:xfrm rot="10800000">
            <a:off x="3314138" y="4747897"/>
            <a:ext cx="396600" cy="9000"/>
          </a:xfrm>
          <a:prstGeom prst="straightConnector1">
            <a:avLst/>
          </a:prstGeom>
          <a:noFill/>
          <a:ln cap="flat" cmpd="sng" w="38100">
            <a:solidFill>
              <a:schemeClr val="accent1"/>
            </a:solidFill>
            <a:prstDash val="solid"/>
            <a:round/>
            <a:headEnd len="med" w="med" type="none"/>
            <a:tailEnd len="med" w="med" type="triangle"/>
          </a:ln>
        </p:spPr>
      </p:cxnSp>
      <p:sp>
        <p:nvSpPr>
          <p:cNvPr id="247" name="Google Shape;247;g14b29b56ded_1_201"/>
          <p:cNvSpPr/>
          <p:nvPr/>
        </p:nvSpPr>
        <p:spPr>
          <a:xfrm>
            <a:off x="988208" y="4441988"/>
            <a:ext cx="168740" cy="602800"/>
          </a:xfrm>
          <a:custGeom>
            <a:rect b="b" l="l" r="r" t="t"/>
            <a:pathLst>
              <a:path extrusionOk="0" h="34250" w="10437">
                <a:moveTo>
                  <a:pt x="5325" y="0"/>
                </a:moveTo>
                <a:cubicBezTo>
                  <a:pt x="4473" y="3493"/>
                  <a:pt x="-639" y="15251"/>
                  <a:pt x="213" y="20959"/>
                </a:cubicBezTo>
                <a:cubicBezTo>
                  <a:pt x="1065" y="26667"/>
                  <a:pt x="8733" y="32035"/>
                  <a:pt x="10437" y="34250"/>
                </a:cubicBezTo>
              </a:path>
            </a:pathLst>
          </a:custGeom>
          <a:noFill/>
          <a:ln cap="flat" cmpd="sng" w="38100">
            <a:solidFill>
              <a:schemeClr val="accent1"/>
            </a:solidFill>
            <a:prstDash val="solid"/>
            <a:round/>
            <a:headEnd len="med" w="med" type="none"/>
            <a:tailEnd len="med" w="med" type="stealth"/>
          </a:ln>
        </p:spPr>
      </p:sp>
      <p:sp>
        <p:nvSpPr>
          <p:cNvPr id="248" name="Google Shape;248;g14b29b56ded_1_201"/>
          <p:cNvSpPr/>
          <p:nvPr/>
        </p:nvSpPr>
        <p:spPr>
          <a:xfrm>
            <a:off x="1285106" y="4441988"/>
            <a:ext cx="168740" cy="602800"/>
          </a:xfrm>
          <a:custGeom>
            <a:rect b="b" l="l" r="r" t="t"/>
            <a:pathLst>
              <a:path extrusionOk="0" h="34250" w="10437">
                <a:moveTo>
                  <a:pt x="5325" y="0"/>
                </a:moveTo>
                <a:cubicBezTo>
                  <a:pt x="4473" y="3493"/>
                  <a:pt x="-639" y="15251"/>
                  <a:pt x="213" y="20959"/>
                </a:cubicBezTo>
                <a:cubicBezTo>
                  <a:pt x="1065" y="26667"/>
                  <a:pt x="8733" y="32035"/>
                  <a:pt x="10437" y="34250"/>
                </a:cubicBezTo>
              </a:path>
            </a:pathLst>
          </a:custGeom>
          <a:noFill/>
          <a:ln cap="flat" cmpd="sng" w="38100">
            <a:solidFill>
              <a:schemeClr val="accent1"/>
            </a:solidFill>
            <a:prstDash val="solid"/>
            <a:round/>
            <a:headEnd len="med" w="med" type="none"/>
            <a:tailEnd len="med" w="med" type="stealth"/>
          </a:ln>
        </p:spPr>
      </p:sp>
      <p:sp>
        <p:nvSpPr>
          <p:cNvPr id="249" name="Google Shape;249;g14b29b56ded_1_201"/>
          <p:cNvSpPr/>
          <p:nvPr/>
        </p:nvSpPr>
        <p:spPr>
          <a:xfrm>
            <a:off x="2218403" y="3576903"/>
            <a:ext cx="168740" cy="602800"/>
          </a:xfrm>
          <a:custGeom>
            <a:rect b="b" l="l" r="r" t="t"/>
            <a:pathLst>
              <a:path extrusionOk="0" h="34250" w="10437">
                <a:moveTo>
                  <a:pt x="5325" y="0"/>
                </a:moveTo>
                <a:cubicBezTo>
                  <a:pt x="4473" y="3493"/>
                  <a:pt x="-639" y="15251"/>
                  <a:pt x="213" y="20959"/>
                </a:cubicBezTo>
                <a:cubicBezTo>
                  <a:pt x="1065" y="26667"/>
                  <a:pt x="8733" y="32035"/>
                  <a:pt x="10437" y="34250"/>
                </a:cubicBezTo>
              </a:path>
            </a:pathLst>
          </a:custGeom>
          <a:noFill/>
          <a:ln cap="flat" cmpd="sng" w="38100">
            <a:solidFill>
              <a:schemeClr val="accent1"/>
            </a:solidFill>
            <a:prstDash val="solid"/>
            <a:round/>
            <a:headEnd len="med" w="med" type="none"/>
            <a:tailEnd len="med" w="med" type="stealth"/>
          </a:ln>
        </p:spPr>
      </p:sp>
      <p:sp>
        <p:nvSpPr>
          <p:cNvPr id="250" name="Google Shape;250;g14b29b56ded_1_201"/>
          <p:cNvSpPr/>
          <p:nvPr/>
        </p:nvSpPr>
        <p:spPr>
          <a:xfrm>
            <a:off x="3190066" y="1868752"/>
            <a:ext cx="126721" cy="503835"/>
          </a:xfrm>
          <a:custGeom>
            <a:rect b="b" l="l" r="r" t="t"/>
            <a:pathLst>
              <a:path extrusionOk="0" h="28627" w="7838">
                <a:moveTo>
                  <a:pt x="0" y="0"/>
                </a:moveTo>
                <a:cubicBezTo>
                  <a:pt x="1278" y="2556"/>
                  <a:pt x="6987" y="10565"/>
                  <a:pt x="7668" y="15336"/>
                </a:cubicBezTo>
                <a:cubicBezTo>
                  <a:pt x="8350" y="20107"/>
                  <a:pt x="4686" y="26412"/>
                  <a:pt x="4089" y="28627"/>
                </a:cubicBezTo>
              </a:path>
            </a:pathLst>
          </a:custGeom>
          <a:noFill/>
          <a:ln cap="flat" cmpd="sng" w="38100">
            <a:solidFill>
              <a:schemeClr val="accent1"/>
            </a:solidFill>
            <a:prstDash val="solid"/>
            <a:round/>
            <a:headEnd len="med" w="med" type="none"/>
            <a:tailEnd len="med" w="med" type="stealth"/>
          </a:ln>
        </p:spPr>
      </p:sp>
      <p:sp>
        <p:nvSpPr>
          <p:cNvPr id="251" name="Google Shape;251;g14b29b56ded_1_201"/>
          <p:cNvSpPr/>
          <p:nvPr/>
        </p:nvSpPr>
        <p:spPr>
          <a:xfrm>
            <a:off x="3212361" y="4441988"/>
            <a:ext cx="126721" cy="503835"/>
          </a:xfrm>
          <a:custGeom>
            <a:rect b="b" l="l" r="r" t="t"/>
            <a:pathLst>
              <a:path extrusionOk="0" h="28627" w="7838">
                <a:moveTo>
                  <a:pt x="0" y="0"/>
                </a:moveTo>
                <a:cubicBezTo>
                  <a:pt x="1278" y="2556"/>
                  <a:pt x="6987" y="10565"/>
                  <a:pt x="7668" y="15336"/>
                </a:cubicBezTo>
                <a:cubicBezTo>
                  <a:pt x="8350" y="20107"/>
                  <a:pt x="4686" y="26412"/>
                  <a:pt x="4089" y="28627"/>
                </a:cubicBezTo>
              </a:path>
            </a:pathLst>
          </a:custGeom>
          <a:noFill/>
          <a:ln cap="flat" cmpd="sng" w="38100">
            <a:solidFill>
              <a:schemeClr val="accent1"/>
            </a:solidFill>
            <a:prstDash val="solid"/>
            <a:round/>
            <a:headEnd len="med" w="med" type="none"/>
            <a:tailEnd len="med" w="med" type="stealth"/>
          </a:ln>
        </p:spPr>
      </p:sp>
      <p:sp>
        <p:nvSpPr>
          <p:cNvPr id="252" name="Google Shape;252;g14b29b56ded_1_201"/>
          <p:cNvSpPr txBox="1"/>
          <p:nvPr/>
        </p:nvSpPr>
        <p:spPr>
          <a:xfrm>
            <a:off x="1009929" y="3971300"/>
            <a:ext cx="60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W</a:t>
            </a:r>
            <a:endParaRPr baseline="-25000">
              <a:solidFill>
                <a:schemeClr val="accent1"/>
              </a:solidFill>
            </a:endParaRPr>
          </a:p>
        </p:txBody>
      </p:sp>
      <p:sp>
        <p:nvSpPr>
          <p:cNvPr id="253" name="Google Shape;253;g14b29b56ded_1_201"/>
          <p:cNvSpPr txBox="1"/>
          <p:nvPr/>
        </p:nvSpPr>
        <p:spPr>
          <a:xfrm>
            <a:off x="1290306" y="3897975"/>
            <a:ext cx="86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B</a:t>
            </a:r>
            <a:endParaRPr baseline="-25000">
              <a:solidFill>
                <a:schemeClr val="accent1"/>
              </a:solidFill>
            </a:endParaRPr>
          </a:p>
        </p:txBody>
      </p:sp>
      <p:sp>
        <p:nvSpPr>
          <p:cNvPr id="254" name="Google Shape;254;g14b29b56ded_1_201"/>
          <p:cNvSpPr txBox="1"/>
          <p:nvPr/>
        </p:nvSpPr>
        <p:spPr>
          <a:xfrm>
            <a:off x="2218396" y="3221150"/>
            <a:ext cx="72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M</a:t>
            </a:r>
            <a:endParaRPr baseline="-25000">
              <a:solidFill>
                <a:schemeClr val="accent1"/>
              </a:solidFill>
            </a:endParaRPr>
          </a:p>
        </p:txBody>
      </p:sp>
      <p:sp>
        <p:nvSpPr>
          <p:cNvPr id="255" name="Google Shape;255;g14b29b56ded_1_201"/>
          <p:cNvSpPr txBox="1"/>
          <p:nvPr/>
        </p:nvSpPr>
        <p:spPr>
          <a:xfrm>
            <a:off x="3089874" y="3135975"/>
            <a:ext cx="72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P</a:t>
            </a:r>
            <a:endParaRPr baseline="-25000">
              <a:solidFill>
                <a:schemeClr val="accent1"/>
              </a:solidFill>
            </a:endParaRPr>
          </a:p>
        </p:txBody>
      </p:sp>
      <p:sp>
        <p:nvSpPr>
          <p:cNvPr id="256" name="Google Shape;256;g14b29b56ded_1_201"/>
          <p:cNvSpPr txBox="1"/>
          <p:nvPr/>
        </p:nvSpPr>
        <p:spPr>
          <a:xfrm>
            <a:off x="3348840" y="1718825"/>
            <a:ext cx="7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G1</a:t>
            </a:r>
            <a:endParaRPr baseline="-25000">
              <a:solidFill>
                <a:schemeClr val="accent1"/>
              </a:solidFill>
            </a:endParaRPr>
          </a:p>
        </p:txBody>
      </p:sp>
      <p:sp>
        <p:nvSpPr>
          <p:cNvPr id="257" name="Google Shape;257;g14b29b56ded_1_201"/>
          <p:cNvSpPr txBox="1"/>
          <p:nvPr/>
        </p:nvSpPr>
        <p:spPr>
          <a:xfrm>
            <a:off x="3416974" y="4359600"/>
            <a:ext cx="7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G2</a:t>
            </a:r>
            <a:endParaRPr baseline="-25000">
              <a:solidFill>
                <a:schemeClr val="accent1"/>
              </a:solidFill>
            </a:endParaRPr>
          </a:p>
        </p:txBody>
      </p:sp>
      <p:cxnSp>
        <p:nvCxnSpPr>
          <p:cNvPr id="258" name="Google Shape;258;g14b29b56ded_1_201"/>
          <p:cNvCxnSpPr/>
          <p:nvPr/>
        </p:nvCxnSpPr>
        <p:spPr>
          <a:xfrm rot="10800000">
            <a:off x="1955262" y="4974538"/>
            <a:ext cx="0" cy="477000"/>
          </a:xfrm>
          <a:prstGeom prst="straightConnector1">
            <a:avLst/>
          </a:prstGeom>
          <a:noFill/>
          <a:ln cap="flat" cmpd="sng" w="9525">
            <a:solidFill>
              <a:schemeClr val="dk2"/>
            </a:solidFill>
            <a:prstDash val="solid"/>
            <a:round/>
            <a:headEnd len="med" w="med" type="none"/>
            <a:tailEnd len="med" w="med" type="triangle"/>
          </a:ln>
        </p:spPr>
      </p:cxnSp>
      <p:cxnSp>
        <p:nvCxnSpPr>
          <p:cNvPr id="259" name="Google Shape;259;g14b29b56ded_1_201"/>
          <p:cNvCxnSpPr/>
          <p:nvPr/>
        </p:nvCxnSpPr>
        <p:spPr>
          <a:xfrm rot="10800000">
            <a:off x="1581462" y="5462151"/>
            <a:ext cx="373800" cy="0"/>
          </a:xfrm>
          <a:prstGeom prst="straightConnector1">
            <a:avLst/>
          </a:prstGeom>
          <a:noFill/>
          <a:ln cap="flat" cmpd="sng" w="9525">
            <a:solidFill>
              <a:schemeClr val="dk2"/>
            </a:solidFill>
            <a:prstDash val="solid"/>
            <a:round/>
            <a:headEnd len="med" w="med" type="none"/>
            <a:tailEnd len="med" w="med" type="triangle"/>
          </a:ln>
        </p:spPr>
      </p:cxnSp>
      <p:sp>
        <p:nvSpPr>
          <p:cNvPr id="260" name="Google Shape;260;g14b29b56ded_1_201"/>
          <p:cNvSpPr txBox="1"/>
          <p:nvPr/>
        </p:nvSpPr>
        <p:spPr>
          <a:xfrm>
            <a:off x="1985350" y="4882002"/>
            <a:ext cx="16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z</a:t>
            </a:r>
            <a:endParaRPr/>
          </a:p>
        </p:txBody>
      </p:sp>
      <p:sp>
        <p:nvSpPr>
          <p:cNvPr id="261" name="Google Shape;261;g14b29b56ded_1_201"/>
          <p:cNvSpPr txBox="1"/>
          <p:nvPr/>
        </p:nvSpPr>
        <p:spPr>
          <a:xfrm>
            <a:off x="1443854" y="5373250"/>
            <a:ext cx="16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x</a:t>
            </a:r>
            <a:endParaRPr/>
          </a:p>
        </p:txBody>
      </p:sp>
      <p:sp>
        <p:nvSpPr>
          <p:cNvPr id="262" name="Google Shape;262;g14b29b56ded_1_201"/>
          <p:cNvSpPr txBox="1"/>
          <p:nvPr>
            <p:ph type="title"/>
          </p:nvPr>
        </p:nvSpPr>
        <p:spPr>
          <a:xfrm>
            <a:off x="547200" y="242175"/>
            <a:ext cx="4620600" cy="51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en-AU" sz="3000"/>
              <a:t>3.2 Guide Arm</a:t>
            </a:r>
            <a:endParaRPr/>
          </a:p>
        </p:txBody>
      </p:sp>
      <p:pic>
        <p:nvPicPr>
          <p:cNvPr id="263" name="Google Shape;263;g14b29b56ded_1_201"/>
          <p:cNvPicPr preferRelativeResize="0"/>
          <p:nvPr/>
        </p:nvPicPr>
        <p:blipFill rotWithShape="1">
          <a:blip r:embed="rId4">
            <a:alphaModFix/>
          </a:blip>
          <a:srcRect b="5867" l="33309" r="16426" t="6289"/>
          <a:stretch/>
        </p:blipFill>
        <p:spPr>
          <a:xfrm>
            <a:off x="9040975" y="1368875"/>
            <a:ext cx="2654649" cy="3519055"/>
          </a:xfrm>
          <a:prstGeom prst="rect">
            <a:avLst/>
          </a:prstGeom>
          <a:noFill/>
          <a:ln>
            <a:noFill/>
          </a:ln>
        </p:spPr>
      </p:pic>
      <p:cxnSp>
        <p:nvCxnSpPr>
          <p:cNvPr id="264" name="Google Shape;264;g14b29b56ded_1_201"/>
          <p:cNvCxnSpPr/>
          <p:nvPr/>
        </p:nvCxnSpPr>
        <p:spPr>
          <a:xfrm rot="10800000">
            <a:off x="9890871" y="4930776"/>
            <a:ext cx="10500" cy="477600"/>
          </a:xfrm>
          <a:prstGeom prst="straightConnector1">
            <a:avLst/>
          </a:prstGeom>
          <a:noFill/>
          <a:ln cap="flat" cmpd="sng" w="9525">
            <a:solidFill>
              <a:schemeClr val="dk2"/>
            </a:solidFill>
            <a:prstDash val="solid"/>
            <a:round/>
            <a:headEnd len="med" w="med" type="none"/>
            <a:tailEnd len="med" w="med" type="triangle"/>
          </a:ln>
        </p:spPr>
      </p:cxnSp>
      <p:cxnSp>
        <p:nvCxnSpPr>
          <p:cNvPr id="265" name="Google Shape;265;g14b29b56ded_1_201"/>
          <p:cNvCxnSpPr/>
          <p:nvPr/>
        </p:nvCxnSpPr>
        <p:spPr>
          <a:xfrm>
            <a:off x="9901371" y="5408376"/>
            <a:ext cx="650400" cy="0"/>
          </a:xfrm>
          <a:prstGeom prst="straightConnector1">
            <a:avLst/>
          </a:prstGeom>
          <a:noFill/>
          <a:ln cap="flat" cmpd="sng" w="9525">
            <a:solidFill>
              <a:schemeClr val="dk2"/>
            </a:solidFill>
            <a:prstDash val="solid"/>
            <a:round/>
            <a:headEnd len="med" w="med" type="none"/>
            <a:tailEnd len="med" w="med" type="triangle"/>
          </a:ln>
        </p:spPr>
      </p:cxnSp>
      <p:sp>
        <p:nvSpPr>
          <p:cNvPr id="266" name="Google Shape;266;g14b29b56ded_1_201"/>
          <p:cNvSpPr txBox="1"/>
          <p:nvPr/>
        </p:nvSpPr>
        <p:spPr>
          <a:xfrm>
            <a:off x="9733502" y="4712012"/>
            <a:ext cx="33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z</a:t>
            </a:r>
            <a:endParaRPr/>
          </a:p>
        </p:txBody>
      </p:sp>
      <p:sp>
        <p:nvSpPr>
          <p:cNvPr id="267" name="Google Shape;267;g14b29b56ded_1_201"/>
          <p:cNvSpPr txBox="1"/>
          <p:nvPr/>
        </p:nvSpPr>
        <p:spPr>
          <a:xfrm>
            <a:off x="10572910" y="5368577"/>
            <a:ext cx="27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x</a:t>
            </a:r>
            <a:endParaRPr/>
          </a:p>
        </p:txBody>
      </p:sp>
      <p:cxnSp>
        <p:nvCxnSpPr>
          <p:cNvPr id="268" name="Google Shape;268;g14b29b56ded_1_201"/>
          <p:cNvCxnSpPr>
            <a:endCxn id="263" idx="2"/>
          </p:cNvCxnSpPr>
          <p:nvPr/>
        </p:nvCxnSpPr>
        <p:spPr>
          <a:xfrm flipH="1">
            <a:off x="10368300" y="4153830"/>
            <a:ext cx="6600" cy="734100"/>
          </a:xfrm>
          <a:prstGeom prst="straightConnector1">
            <a:avLst/>
          </a:prstGeom>
          <a:noFill/>
          <a:ln cap="flat" cmpd="sng" w="38100">
            <a:solidFill>
              <a:schemeClr val="accent1"/>
            </a:solidFill>
            <a:prstDash val="solid"/>
            <a:round/>
            <a:headEnd len="med" w="med" type="none"/>
            <a:tailEnd len="med" w="med" type="triangle"/>
          </a:ln>
        </p:spPr>
      </p:cxnSp>
      <p:sp>
        <p:nvSpPr>
          <p:cNvPr id="269" name="Google Shape;269;g14b29b56ded_1_201"/>
          <p:cNvSpPr txBox="1"/>
          <p:nvPr/>
        </p:nvSpPr>
        <p:spPr>
          <a:xfrm>
            <a:off x="10075521" y="3847575"/>
            <a:ext cx="77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W</a:t>
            </a:r>
            <a:r>
              <a:rPr lang="en-AU">
                <a:solidFill>
                  <a:schemeClr val="accent1"/>
                </a:solidFill>
              </a:rPr>
              <a:t> + F</a:t>
            </a:r>
            <a:r>
              <a:rPr baseline="-25000" lang="en-AU">
                <a:solidFill>
                  <a:schemeClr val="accent1"/>
                </a:solidFill>
              </a:rPr>
              <a:t>B</a:t>
            </a:r>
            <a:endParaRPr>
              <a:solidFill>
                <a:schemeClr val="accent1"/>
              </a:solidFill>
            </a:endParaRPr>
          </a:p>
        </p:txBody>
      </p:sp>
      <p:cxnSp>
        <p:nvCxnSpPr>
          <p:cNvPr id="270" name="Google Shape;270;g14b29b56ded_1_201"/>
          <p:cNvCxnSpPr/>
          <p:nvPr/>
        </p:nvCxnSpPr>
        <p:spPr>
          <a:xfrm rot="10800000">
            <a:off x="9885267" y="2850719"/>
            <a:ext cx="0" cy="463800"/>
          </a:xfrm>
          <a:prstGeom prst="straightConnector1">
            <a:avLst/>
          </a:prstGeom>
          <a:noFill/>
          <a:ln cap="flat" cmpd="sng" w="38100">
            <a:solidFill>
              <a:schemeClr val="accent1"/>
            </a:solidFill>
            <a:prstDash val="solid"/>
            <a:round/>
            <a:headEnd len="med" w="med" type="none"/>
            <a:tailEnd len="med" w="med" type="triangle"/>
          </a:ln>
        </p:spPr>
      </p:cxnSp>
      <p:cxnSp>
        <p:nvCxnSpPr>
          <p:cNvPr id="271" name="Google Shape;271;g14b29b56ded_1_201"/>
          <p:cNvCxnSpPr/>
          <p:nvPr/>
        </p:nvCxnSpPr>
        <p:spPr>
          <a:xfrm rot="10800000">
            <a:off x="10911232" y="2895995"/>
            <a:ext cx="0" cy="384600"/>
          </a:xfrm>
          <a:prstGeom prst="straightConnector1">
            <a:avLst/>
          </a:prstGeom>
          <a:noFill/>
          <a:ln cap="flat" cmpd="sng" w="38100">
            <a:solidFill>
              <a:schemeClr val="accent1"/>
            </a:solidFill>
            <a:prstDash val="solid"/>
            <a:round/>
            <a:headEnd len="med" w="med" type="none"/>
            <a:tailEnd len="med" w="med" type="triangle"/>
          </a:ln>
        </p:spPr>
      </p:cxnSp>
      <p:sp>
        <p:nvSpPr>
          <p:cNvPr id="272" name="Google Shape;272;g14b29b56ded_1_201"/>
          <p:cNvSpPr txBox="1"/>
          <p:nvPr/>
        </p:nvSpPr>
        <p:spPr>
          <a:xfrm>
            <a:off x="9718245" y="2500156"/>
            <a:ext cx="472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pinA</a:t>
            </a:r>
            <a:endParaRPr>
              <a:solidFill>
                <a:schemeClr val="accent1"/>
              </a:solidFill>
            </a:endParaRPr>
          </a:p>
        </p:txBody>
      </p:sp>
      <p:sp>
        <p:nvSpPr>
          <p:cNvPr id="273" name="Google Shape;273;g14b29b56ded_1_201"/>
          <p:cNvSpPr txBox="1"/>
          <p:nvPr/>
        </p:nvSpPr>
        <p:spPr>
          <a:xfrm>
            <a:off x="10750184" y="2500156"/>
            <a:ext cx="72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pinB</a:t>
            </a:r>
            <a:endParaRPr>
              <a:solidFill>
                <a:schemeClr val="accent1"/>
              </a:solidFill>
            </a:endParaRPr>
          </a:p>
        </p:txBody>
      </p:sp>
      <p:cxnSp>
        <p:nvCxnSpPr>
          <p:cNvPr id="274" name="Google Shape;274;g14b29b56ded_1_201"/>
          <p:cNvCxnSpPr/>
          <p:nvPr/>
        </p:nvCxnSpPr>
        <p:spPr>
          <a:xfrm flipH="1">
            <a:off x="10167555" y="3381565"/>
            <a:ext cx="23400" cy="478200"/>
          </a:xfrm>
          <a:prstGeom prst="straightConnector1">
            <a:avLst/>
          </a:prstGeom>
          <a:noFill/>
          <a:ln cap="flat" cmpd="sng" w="38100">
            <a:solidFill>
              <a:schemeClr val="accent1"/>
            </a:solidFill>
            <a:prstDash val="solid"/>
            <a:round/>
            <a:headEnd len="med" w="med" type="none"/>
            <a:tailEnd len="med" w="med" type="triangle"/>
          </a:ln>
        </p:spPr>
      </p:cxnSp>
      <p:sp>
        <p:nvSpPr>
          <p:cNvPr id="275" name="Google Shape;275;g14b29b56ded_1_201"/>
          <p:cNvSpPr txBox="1"/>
          <p:nvPr/>
        </p:nvSpPr>
        <p:spPr>
          <a:xfrm>
            <a:off x="10132308" y="3170268"/>
            <a:ext cx="41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M</a:t>
            </a:r>
            <a:endParaRPr>
              <a:solidFill>
                <a:schemeClr val="accent1"/>
              </a:solidFill>
            </a:endParaRPr>
          </a:p>
        </p:txBody>
      </p:sp>
      <p:sp>
        <p:nvSpPr>
          <p:cNvPr id="276" name="Google Shape;276;g14b29b56ded_1_201"/>
          <p:cNvSpPr txBox="1"/>
          <p:nvPr/>
        </p:nvSpPr>
        <p:spPr>
          <a:xfrm>
            <a:off x="3935275" y="369900"/>
            <a:ext cx="51057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a:solidFill>
                  <a:schemeClr val="dk1"/>
                </a:solidFill>
                <a:latin typeface="Arial Narrow"/>
                <a:ea typeface="Arial Narrow"/>
                <a:cs typeface="Arial Narrow"/>
                <a:sym typeface="Arial Narrow"/>
              </a:rPr>
              <a:t>Analysis for the guide arm wheel assembly forces (left image).</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x</a:t>
            </a:r>
            <a:r>
              <a:rPr lang="en-AU">
                <a:solidFill>
                  <a:schemeClr val="dk1"/>
                </a:solidFill>
                <a:latin typeface="Arial Narrow"/>
                <a:ea typeface="Arial Narrow"/>
                <a:cs typeface="Arial Narrow"/>
                <a:sym typeface="Arial Narrow"/>
              </a:rPr>
              <a:t> = 0:</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	F</a:t>
            </a:r>
            <a:r>
              <a:rPr baseline="-25000" lang="en-AU">
                <a:solidFill>
                  <a:schemeClr val="dk1"/>
                </a:solidFill>
                <a:latin typeface="Arial Narrow"/>
                <a:ea typeface="Arial Narrow"/>
                <a:cs typeface="Arial Narrow"/>
                <a:sym typeface="Arial Narrow"/>
              </a:rPr>
              <a:t>G1</a:t>
            </a:r>
            <a:r>
              <a:rPr lang="en-AU">
                <a:solidFill>
                  <a:schemeClr val="dk1"/>
                </a:solidFill>
                <a:latin typeface="Arial Narrow"/>
                <a:ea typeface="Arial Narrow"/>
                <a:cs typeface="Arial Narrow"/>
                <a:sym typeface="Arial Narrow"/>
              </a:rPr>
              <a:t> = F</a:t>
            </a:r>
            <a:r>
              <a:rPr baseline="-25000" lang="en-AU">
                <a:solidFill>
                  <a:schemeClr val="dk1"/>
                </a:solidFill>
                <a:latin typeface="Arial Narrow"/>
                <a:ea typeface="Arial Narrow"/>
                <a:cs typeface="Arial Narrow"/>
                <a:sym typeface="Arial Narrow"/>
              </a:rPr>
              <a:t>G2</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We assume there is no moment on the pinions (meaning there is no moment at F</a:t>
            </a:r>
            <a:r>
              <a:rPr baseline="-25000" lang="en-AU">
                <a:latin typeface="Arial Narrow"/>
                <a:ea typeface="Arial Narrow"/>
                <a:cs typeface="Arial Narrow"/>
                <a:sym typeface="Arial Narrow"/>
              </a:rPr>
              <a:t>P</a:t>
            </a:r>
            <a:r>
              <a:rPr lang="en-AU">
                <a:latin typeface="Arial Narrow"/>
                <a:ea typeface="Arial Narrow"/>
                <a:cs typeface="Arial Narrow"/>
                <a:sym typeface="Arial Narrow"/>
              </a:rPr>
              <a:t>).</a:t>
            </a:r>
            <a:endParaRPr>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∑M@P = 0:</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(-120*9.81*0.768) + (-23*9.81*0.59) + (-102*9.81*0.29822) + (F</a:t>
            </a:r>
            <a:r>
              <a:rPr baseline="-25000" lang="en-AU">
                <a:solidFill>
                  <a:schemeClr val="dk1"/>
                </a:solidFill>
                <a:latin typeface="Arial Narrow"/>
                <a:ea typeface="Arial Narrow"/>
                <a:cs typeface="Arial Narrow"/>
                <a:sym typeface="Arial Narrow"/>
              </a:rPr>
              <a:t>G1</a:t>
            </a:r>
            <a:r>
              <a:rPr lang="en-AU">
                <a:solidFill>
                  <a:schemeClr val="dk1"/>
                </a:solidFill>
                <a:latin typeface="Arial Narrow"/>
                <a:ea typeface="Arial Narrow"/>
                <a:cs typeface="Arial Narrow"/>
                <a:sym typeface="Arial Narrow"/>
              </a:rPr>
              <a:t>*0.5319) + (F</a:t>
            </a:r>
            <a:r>
              <a:rPr baseline="-25000" lang="en-AU">
                <a:solidFill>
                  <a:schemeClr val="dk1"/>
                </a:solidFill>
                <a:latin typeface="Arial Narrow"/>
                <a:ea typeface="Arial Narrow"/>
                <a:cs typeface="Arial Narrow"/>
                <a:sym typeface="Arial Narrow"/>
              </a:rPr>
              <a:t>G2</a:t>
            </a:r>
            <a:r>
              <a:rPr lang="en-AU">
                <a:solidFill>
                  <a:schemeClr val="dk1"/>
                </a:solidFill>
                <a:latin typeface="Arial Narrow"/>
                <a:ea typeface="Arial Narrow"/>
                <a:cs typeface="Arial Narrow"/>
                <a:sym typeface="Arial Narrow"/>
              </a:rPr>
              <a:t>*0.5315) = 0</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Substituting in, F</a:t>
            </a:r>
            <a:r>
              <a:rPr baseline="-25000" lang="en-AU">
                <a:solidFill>
                  <a:schemeClr val="dk1"/>
                </a:solidFill>
                <a:latin typeface="Arial Narrow"/>
                <a:ea typeface="Arial Narrow"/>
                <a:cs typeface="Arial Narrow"/>
                <a:sym typeface="Arial Narrow"/>
              </a:rPr>
              <a:t>G2</a:t>
            </a:r>
            <a:r>
              <a:rPr lang="en-AU">
                <a:solidFill>
                  <a:schemeClr val="dk1"/>
                </a:solidFill>
                <a:latin typeface="Arial Narrow"/>
                <a:ea typeface="Arial Narrow"/>
                <a:cs typeface="Arial Narrow"/>
                <a:sym typeface="Arial Narrow"/>
              </a:rPr>
              <a:t> = F</a:t>
            </a:r>
            <a:r>
              <a:rPr baseline="-25000" lang="en-AU">
                <a:solidFill>
                  <a:schemeClr val="dk1"/>
                </a:solidFill>
                <a:latin typeface="Arial Narrow"/>
                <a:ea typeface="Arial Narrow"/>
                <a:cs typeface="Arial Narrow"/>
                <a:sym typeface="Arial Narrow"/>
              </a:rPr>
              <a:t>G1</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-904.09 + (-133.12) + (-298.40) + (1.0634*F</a:t>
            </a:r>
            <a:r>
              <a:rPr baseline="-25000" lang="en-AU">
                <a:solidFill>
                  <a:schemeClr val="dk1"/>
                </a:solidFill>
                <a:latin typeface="Arial Narrow"/>
                <a:ea typeface="Arial Narrow"/>
                <a:cs typeface="Arial Narrow"/>
                <a:sym typeface="Arial Narrow"/>
              </a:rPr>
              <a:t>G1</a:t>
            </a:r>
            <a:r>
              <a:rPr lang="en-AU">
                <a:solidFill>
                  <a:schemeClr val="dk1"/>
                </a:solidFill>
                <a:latin typeface="Arial Narrow"/>
                <a:ea typeface="Arial Narrow"/>
                <a:cs typeface="Arial Narrow"/>
                <a:sym typeface="Arial Narrow"/>
              </a:rPr>
              <a:t>) = 0</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G1</a:t>
            </a:r>
            <a:r>
              <a:rPr lang="en-AU">
                <a:solidFill>
                  <a:schemeClr val="dk1"/>
                </a:solidFill>
                <a:latin typeface="Arial Narrow"/>
                <a:ea typeface="Arial Narrow"/>
                <a:cs typeface="Arial Narrow"/>
                <a:sym typeface="Arial Narrow"/>
              </a:rPr>
              <a:t> = 1255.98N</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Therefore, F</a:t>
            </a:r>
            <a:r>
              <a:rPr baseline="-25000" lang="en-AU">
                <a:solidFill>
                  <a:schemeClr val="dk1"/>
                </a:solidFill>
                <a:latin typeface="Arial Narrow"/>
                <a:ea typeface="Arial Narrow"/>
                <a:cs typeface="Arial Narrow"/>
                <a:sym typeface="Arial Narrow"/>
              </a:rPr>
              <a:t>G2</a:t>
            </a:r>
            <a:r>
              <a:rPr lang="en-AU">
                <a:solidFill>
                  <a:schemeClr val="dk1"/>
                </a:solidFill>
                <a:latin typeface="Arial Narrow"/>
                <a:ea typeface="Arial Narrow"/>
                <a:cs typeface="Arial Narrow"/>
                <a:sym typeface="Arial Narrow"/>
              </a:rPr>
              <a:t> = 1255.98N</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p:txBody>
      </p:sp>
      <p:sp>
        <p:nvSpPr>
          <p:cNvPr id="277" name="Google Shape;277;g14b29b56ded_1_201"/>
          <p:cNvSpPr txBox="1"/>
          <p:nvPr/>
        </p:nvSpPr>
        <p:spPr>
          <a:xfrm>
            <a:off x="3927850" y="3754950"/>
            <a:ext cx="47556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a:latin typeface="Arial Narrow"/>
                <a:ea typeface="Arial Narrow"/>
                <a:cs typeface="Arial Narrow"/>
                <a:sym typeface="Arial Narrow"/>
              </a:rPr>
              <a:t>Analysis for the upwards force on pinions (right image).</a:t>
            </a:r>
            <a:endParaRPr b="1">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We assume moments are taken at P</a:t>
            </a:r>
            <a:r>
              <a:rPr baseline="-25000" lang="en-AU">
                <a:latin typeface="Arial Narrow"/>
                <a:ea typeface="Arial Narrow"/>
                <a:cs typeface="Arial Narrow"/>
                <a:sym typeface="Arial Narrow"/>
              </a:rPr>
              <a:t>2</a:t>
            </a:r>
            <a:r>
              <a:rPr lang="en-AU">
                <a:latin typeface="Arial Narrow"/>
                <a:ea typeface="Arial Narrow"/>
                <a:cs typeface="Arial Narrow"/>
                <a:sym typeface="Arial Narrow"/>
              </a:rPr>
              <a:t> </a:t>
            </a:r>
            <a:endParaRPr>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∑M@P</a:t>
            </a:r>
            <a:r>
              <a:rPr baseline="-25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 0: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(-1402.83N*0.2) + (-1000.62N*0.22533) + M</a:t>
            </a:r>
            <a:r>
              <a:rPr baseline="-25000" lang="en-AU">
                <a:solidFill>
                  <a:schemeClr val="dk1"/>
                </a:solidFill>
                <a:latin typeface="Arial Narrow"/>
                <a:ea typeface="Arial Narrow"/>
                <a:cs typeface="Arial Narrow"/>
                <a:sym typeface="Arial Narrow"/>
              </a:rPr>
              <a:t>P1</a:t>
            </a:r>
            <a:r>
              <a:rPr lang="en-AU">
                <a:solidFill>
                  <a:schemeClr val="dk1"/>
                </a:solidFill>
                <a:latin typeface="Arial Narrow"/>
                <a:ea typeface="Arial Narrow"/>
                <a:cs typeface="Arial Narrow"/>
                <a:sym typeface="Arial Narrow"/>
              </a:rPr>
              <a:t> = 0</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M</a:t>
            </a:r>
            <a:r>
              <a:rPr baseline="-25000" lang="en-AU">
                <a:solidFill>
                  <a:schemeClr val="dk1"/>
                </a:solidFill>
                <a:latin typeface="Arial Narrow"/>
                <a:ea typeface="Arial Narrow"/>
                <a:cs typeface="Arial Narrow"/>
                <a:sym typeface="Arial Narrow"/>
              </a:rPr>
              <a:t>P1</a:t>
            </a:r>
            <a:r>
              <a:rPr lang="en-AU">
                <a:solidFill>
                  <a:schemeClr val="dk1"/>
                </a:solidFill>
                <a:latin typeface="Arial Narrow"/>
                <a:ea typeface="Arial Narrow"/>
                <a:cs typeface="Arial Narrow"/>
                <a:sym typeface="Arial Narrow"/>
              </a:rPr>
              <a:t> = 506.04Nm</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P</a:t>
            </a:r>
            <a:r>
              <a:rPr baseline="-25000" lang="en-AU">
                <a:solidFill>
                  <a:schemeClr val="dk1"/>
                </a:solidFill>
                <a:latin typeface="Arial Narrow"/>
                <a:ea typeface="Arial Narrow"/>
                <a:cs typeface="Arial Narrow"/>
                <a:sym typeface="Arial Narrow"/>
              </a:rPr>
              <a:t>1</a:t>
            </a:r>
            <a:r>
              <a:rPr lang="en-AU">
                <a:solidFill>
                  <a:schemeClr val="dk1"/>
                </a:solidFill>
                <a:latin typeface="Arial Narrow"/>
                <a:ea typeface="Arial Narrow"/>
                <a:cs typeface="Arial Narrow"/>
                <a:sym typeface="Arial Narrow"/>
              </a:rPr>
              <a:t> = 506.04/0.4 = 1265.09N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Z</a:t>
            </a:r>
            <a:r>
              <a:rPr lang="en-AU">
                <a:solidFill>
                  <a:schemeClr val="dk1"/>
                </a:solidFill>
                <a:latin typeface="Arial Narrow"/>
                <a:ea typeface="Arial Narrow"/>
                <a:cs typeface="Arial Narrow"/>
                <a:sym typeface="Arial Narrow"/>
              </a:rPr>
              <a:t> = 0:</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-1402.83 - 1000.62 + P</a:t>
            </a:r>
            <a:r>
              <a:rPr baseline="-25000" lang="en-AU">
                <a:solidFill>
                  <a:schemeClr val="dk1"/>
                </a:solidFill>
                <a:latin typeface="Arial Narrow"/>
                <a:ea typeface="Arial Narrow"/>
                <a:cs typeface="Arial Narrow"/>
                <a:sym typeface="Arial Narrow"/>
              </a:rPr>
              <a:t>1</a:t>
            </a:r>
            <a:r>
              <a:rPr lang="en-AU">
                <a:solidFill>
                  <a:schemeClr val="dk1"/>
                </a:solidFill>
                <a:latin typeface="Arial Narrow"/>
                <a:ea typeface="Arial Narrow"/>
                <a:cs typeface="Arial Narrow"/>
                <a:sym typeface="Arial Narrow"/>
              </a:rPr>
              <a:t> + P</a:t>
            </a:r>
            <a:r>
              <a:rPr baseline="-25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 0</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a:t>
            </a:r>
            <a:r>
              <a:rPr lang="en-AU">
                <a:solidFill>
                  <a:schemeClr val="dk1"/>
                </a:solidFill>
              </a:rPr>
              <a:t>P</a:t>
            </a:r>
            <a:r>
              <a:rPr baseline="-25000" lang="en-AU">
                <a:solidFill>
                  <a:schemeClr val="dk1"/>
                </a:solidFill>
              </a:rPr>
              <a:t>2</a:t>
            </a:r>
            <a:r>
              <a:rPr lang="en-AU">
                <a:solidFill>
                  <a:schemeClr val="dk1"/>
                </a:solidFill>
              </a:rPr>
              <a:t> </a:t>
            </a:r>
            <a:r>
              <a:rPr lang="en-AU">
                <a:solidFill>
                  <a:schemeClr val="dk1"/>
                </a:solidFill>
                <a:latin typeface="Arial Narrow"/>
                <a:ea typeface="Arial Narrow"/>
                <a:cs typeface="Arial Narrow"/>
                <a:sym typeface="Arial Narrow"/>
              </a:rPr>
              <a:t>= 1138.36N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These forces calculated will be used for calculations in section 3.3. </a:t>
            </a:r>
            <a:endParaRPr>
              <a:solidFill>
                <a:schemeClr val="dk1"/>
              </a:solidFill>
              <a:latin typeface="Arial Narrow"/>
              <a:ea typeface="Arial Narrow"/>
              <a:cs typeface="Arial Narrow"/>
              <a:sym typeface="Arial Narro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14b29b56ded_1_206"/>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12</a:t>
            </a:r>
            <a:endParaRPr sz="1800">
              <a:solidFill>
                <a:schemeClr val="dk1"/>
              </a:solidFill>
              <a:latin typeface="Arial Narrow"/>
              <a:ea typeface="Arial Narrow"/>
              <a:cs typeface="Arial Narrow"/>
              <a:sym typeface="Arial Narrow"/>
            </a:endParaRPr>
          </a:p>
        </p:txBody>
      </p:sp>
      <p:pic>
        <p:nvPicPr>
          <p:cNvPr id="283" name="Google Shape;283;g14b29b56ded_1_206"/>
          <p:cNvPicPr preferRelativeResize="0"/>
          <p:nvPr/>
        </p:nvPicPr>
        <p:blipFill rotWithShape="1">
          <a:blip r:embed="rId3">
            <a:alphaModFix/>
          </a:blip>
          <a:srcRect b="76046" l="24896" r="12171" t="11483"/>
          <a:stretch/>
        </p:blipFill>
        <p:spPr>
          <a:xfrm>
            <a:off x="207125" y="1989550"/>
            <a:ext cx="4663425" cy="739249"/>
          </a:xfrm>
          <a:prstGeom prst="rect">
            <a:avLst/>
          </a:prstGeom>
          <a:noFill/>
          <a:ln>
            <a:noFill/>
          </a:ln>
        </p:spPr>
      </p:pic>
      <p:cxnSp>
        <p:nvCxnSpPr>
          <p:cNvPr id="284" name="Google Shape;284;g14b29b56ded_1_206"/>
          <p:cNvCxnSpPr/>
          <p:nvPr/>
        </p:nvCxnSpPr>
        <p:spPr>
          <a:xfrm rot="10800000">
            <a:off x="1032875" y="2951150"/>
            <a:ext cx="6600" cy="464100"/>
          </a:xfrm>
          <a:prstGeom prst="straightConnector1">
            <a:avLst/>
          </a:prstGeom>
          <a:noFill/>
          <a:ln cap="flat" cmpd="sng" w="9525">
            <a:solidFill>
              <a:schemeClr val="dk2"/>
            </a:solidFill>
            <a:prstDash val="solid"/>
            <a:round/>
            <a:headEnd len="med" w="med" type="none"/>
            <a:tailEnd len="med" w="med" type="triangle"/>
          </a:ln>
        </p:spPr>
      </p:cxnSp>
      <p:cxnSp>
        <p:nvCxnSpPr>
          <p:cNvPr id="285" name="Google Shape;285;g14b29b56ded_1_206"/>
          <p:cNvCxnSpPr/>
          <p:nvPr/>
        </p:nvCxnSpPr>
        <p:spPr>
          <a:xfrm rot="10800000">
            <a:off x="588275" y="3389100"/>
            <a:ext cx="451200" cy="0"/>
          </a:xfrm>
          <a:prstGeom prst="straightConnector1">
            <a:avLst/>
          </a:prstGeom>
          <a:noFill/>
          <a:ln cap="flat" cmpd="sng" w="9525">
            <a:solidFill>
              <a:schemeClr val="dk2"/>
            </a:solidFill>
            <a:prstDash val="solid"/>
            <a:round/>
            <a:headEnd len="med" w="med" type="none"/>
            <a:tailEnd len="med" w="med" type="triangle"/>
          </a:ln>
        </p:spPr>
      </p:cxnSp>
      <p:sp>
        <p:nvSpPr>
          <p:cNvPr id="286" name="Google Shape;286;g14b29b56ded_1_206"/>
          <p:cNvSpPr txBox="1"/>
          <p:nvPr/>
        </p:nvSpPr>
        <p:spPr>
          <a:xfrm>
            <a:off x="1098325" y="2827925"/>
            <a:ext cx="30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x</a:t>
            </a:r>
            <a:endParaRPr/>
          </a:p>
        </p:txBody>
      </p:sp>
      <p:sp>
        <p:nvSpPr>
          <p:cNvPr id="287" name="Google Shape;287;g14b29b56ded_1_206"/>
          <p:cNvSpPr txBox="1"/>
          <p:nvPr/>
        </p:nvSpPr>
        <p:spPr>
          <a:xfrm>
            <a:off x="300700" y="3189000"/>
            <a:ext cx="33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y</a:t>
            </a:r>
            <a:endParaRPr/>
          </a:p>
        </p:txBody>
      </p:sp>
      <p:pic>
        <p:nvPicPr>
          <p:cNvPr id="288" name="Google Shape;288;g14b29b56ded_1_206"/>
          <p:cNvPicPr preferRelativeResize="0"/>
          <p:nvPr/>
        </p:nvPicPr>
        <p:blipFill rotWithShape="1">
          <a:blip r:embed="rId4">
            <a:alphaModFix/>
          </a:blip>
          <a:srcRect b="75328" l="21208" r="2964" t="723"/>
          <a:stretch/>
        </p:blipFill>
        <p:spPr>
          <a:xfrm>
            <a:off x="268550" y="4054343"/>
            <a:ext cx="4663425" cy="1178306"/>
          </a:xfrm>
          <a:prstGeom prst="rect">
            <a:avLst/>
          </a:prstGeom>
          <a:noFill/>
          <a:ln>
            <a:noFill/>
          </a:ln>
        </p:spPr>
      </p:pic>
      <p:sp>
        <p:nvSpPr>
          <p:cNvPr id="289" name="Google Shape;289;g14b29b56ded_1_206"/>
          <p:cNvSpPr txBox="1"/>
          <p:nvPr/>
        </p:nvSpPr>
        <p:spPr>
          <a:xfrm>
            <a:off x="1752850" y="3027200"/>
            <a:ext cx="1572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100"/>
              <a:t>Top Guide Wheels</a:t>
            </a:r>
            <a:endParaRPr sz="1100"/>
          </a:p>
        </p:txBody>
      </p:sp>
      <p:cxnSp>
        <p:nvCxnSpPr>
          <p:cNvPr id="290" name="Google Shape;290;g14b29b56ded_1_206"/>
          <p:cNvCxnSpPr/>
          <p:nvPr/>
        </p:nvCxnSpPr>
        <p:spPr>
          <a:xfrm rot="10800000">
            <a:off x="1215938" y="5428850"/>
            <a:ext cx="6600" cy="464100"/>
          </a:xfrm>
          <a:prstGeom prst="straightConnector1">
            <a:avLst/>
          </a:prstGeom>
          <a:noFill/>
          <a:ln cap="flat" cmpd="sng" w="9525">
            <a:solidFill>
              <a:schemeClr val="dk2"/>
            </a:solidFill>
            <a:prstDash val="solid"/>
            <a:round/>
            <a:headEnd len="med" w="med" type="none"/>
            <a:tailEnd len="med" w="med" type="triangle"/>
          </a:ln>
        </p:spPr>
      </p:cxnSp>
      <p:cxnSp>
        <p:nvCxnSpPr>
          <p:cNvPr id="291" name="Google Shape;291;g14b29b56ded_1_206"/>
          <p:cNvCxnSpPr/>
          <p:nvPr/>
        </p:nvCxnSpPr>
        <p:spPr>
          <a:xfrm rot="10800000">
            <a:off x="771338" y="5866800"/>
            <a:ext cx="451200" cy="0"/>
          </a:xfrm>
          <a:prstGeom prst="straightConnector1">
            <a:avLst/>
          </a:prstGeom>
          <a:noFill/>
          <a:ln cap="flat" cmpd="sng" w="9525">
            <a:solidFill>
              <a:schemeClr val="dk2"/>
            </a:solidFill>
            <a:prstDash val="solid"/>
            <a:round/>
            <a:headEnd len="med" w="med" type="none"/>
            <a:tailEnd len="med" w="med" type="triangle"/>
          </a:ln>
        </p:spPr>
      </p:cxnSp>
      <p:sp>
        <p:nvSpPr>
          <p:cNvPr id="292" name="Google Shape;292;g14b29b56ded_1_206"/>
          <p:cNvSpPr txBox="1"/>
          <p:nvPr/>
        </p:nvSpPr>
        <p:spPr>
          <a:xfrm>
            <a:off x="1281388" y="5305625"/>
            <a:ext cx="30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x</a:t>
            </a:r>
            <a:endParaRPr/>
          </a:p>
        </p:txBody>
      </p:sp>
      <p:sp>
        <p:nvSpPr>
          <p:cNvPr id="293" name="Google Shape;293;g14b29b56ded_1_206"/>
          <p:cNvSpPr txBox="1"/>
          <p:nvPr/>
        </p:nvSpPr>
        <p:spPr>
          <a:xfrm>
            <a:off x="483763" y="5666700"/>
            <a:ext cx="33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y</a:t>
            </a:r>
            <a:endParaRPr/>
          </a:p>
        </p:txBody>
      </p:sp>
      <p:sp>
        <p:nvSpPr>
          <p:cNvPr id="294" name="Google Shape;294;g14b29b56ded_1_206"/>
          <p:cNvSpPr txBox="1"/>
          <p:nvPr/>
        </p:nvSpPr>
        <p:spPr>
          <a:xfrm>
            <a:off x="1722600" y="5483900"/>
            <a:ext cx="1755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100"/>
              <a:t>Bottom Guide Wheels</a:t>
            </a:r>
            <a:endParaRPr sz="1100"/>
          </a:p>
        </p:txBody>
      </p:sp>
      <p:cxnSp>
        <p:nvCxnSpPr>
          <p:cNvPr id="295" name="Google Shape;295;g14b29b56ded_1_206"/>
          <p:cNvCxnSpPr/>
          <p:nvPr/>
        </p:nvCxnSpPr>
        <p:spPr>
          <a:xfrm rot="10800000">
            <a:off x="2502050" y="1723325"/>
            <a:ext cx="13200" cy="615600"/>
          </a:xfrm>
          <a:prstGeom prst="straightConnector1">
            <a:avLst/>
          </a:prstGeom>
          <a:noFill/>
          <a:ln cap="flat" cmpd="sng" w="38100">
            <a:solidFill>
              <a:schemeClr val="accent1"/>
            </a:solidFill>
            <a:prstDash val="solid"/>
            <a:round/>
            <a:headEnd len="med" w="med" type="none"/>
            <a:tailEnd len="med" w="med" type="triangle"/>
          </a:ln>
        </p:spPr>
      </p:cxnSp>
      <p:sp>
        <p:nvSpPr>
          <p:cNvPr id="296" name="Google Shape;296;g14b29b56ded_1_206"/>
          <p:cNvSpPr txBox="1"/>
          <p:nvPr/>
        </p:nvSpPr>
        <p:spPr>
          <a:xfrm>
            <a:off x="2207400" y="2404425"/>
            <a:ext cx="61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97" name="Google Shape;297;g14b29b56ded_1_206"/>
          <p:cNvSpPr txBox="1"/>
          <p:nvPr/>
        </p:nvSpPr>
        <p:spPr>
          <a:xfrm>
            <a:off x="2285938" y="2404425"/>
            <a:ext cx="50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G1</a:t>
            </a:r>
            <a:endParaRPr baseline="-25000">
              <a:solidFill>
                <a:schemeClr val="accent1"/>
              </a:solidFill>
            </a:endParaRPr>
          </a:p>
        </p:txBody>
      </p:sp>
      <p:cxnSp>
        <p:nvCxnSpPr>
          <p:cNvPr id="298" name="Google Shape;298;g14b29b56ded_1_206"/>
          <p:cNvCxnSpPr>
            <a:stCxn id="288" idx="0"/>
          </p:cNvCxnSpPr>
          <p:nvPr/>
        </p:nvCxnSpPr>
        <p:spPr>
          <a:xfrm>
            <a:off x="2600262" y="4054343"/>
            <a:ext cx="0" cy="603300"/>
          </a:xfrm>
          <a:prstGeom prst="straightConnector1">
            <a:avLst/>
          </a:prstGeom>
          <a:noFill/>
          <a:ln cap="flat" cmpd="sng" w="38100">
            <a:solidFill>
              <a:schemeClr val="accent1"/>
            </a:solidFill>
            <a:prstDash val="solid"/>
            <a:round/>
            <a:headEnd len="med" w="med" type="none"/>
            <a:tailEnd len="med" w="med" type="triangle"/>
          </a:ln>
        </p:spPr>
      </p:cxnSp>
      <p:sp>
        <p:nvSpPr>
          <p:cNvPr id="299" name="Google Shape;299;g14b29b56ded_1_206"/>
          <p:cNvSpPr txBox="1"/>
          <p:nvPr/>
        </p:nvSpPr>
        <p:spPr>
          <a:xfrm>
            <a:off x="2347363" y="3603775"/>
            <a:ext cx="50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solidFill>
                  <a:schemeClr val="accent1"/>
                </a:solidFill>
              </a:rPr>
              <a:t>F</a:t>
            </a:r>
            <a:r>
              <a:rPr baseline="-25000" lang="en-AU">
                <a:solidFill>
                  <a:schemeClr val="accent1"/>
                </a:solidFill>
              </a:rPr>
              <a:t>G2</a:t>
            </a:r>
            <a:endParaRPr baseline="-25000">
              <a:solidFill>
                <a:schemeClr val="accent1"/>
              </a:solidFill>
            </a:endParaRPr>
          </a:p>
        </p:txBody>
      </p:sp>
      <p:sp>
        <p:nvSpPr>
          <p:cNvPr id="300" name="Google Shape;300;g14b29b56ded_1_206"/>
          <p:cNvSpPr txBox="1"/>
          <p:nvPr/>
        </p:nvSpPr>
        <p:spPr>
          <a:xfrm>
            <a:off x="5094100" y="1504375"/>
            <a:ext cx="6746700" cy="250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u="sng">
                <a:latin typeface="Arial Narrow"/>
                <a:ea typeface="Arial Narrow"/>
                <a:cs typeface="Arial Narrow"/>
                <a:sym typeface="Arial Narrow"/>
              </a:rPr>
              <a:t>Top Arm Analysis:</a:t>
            </a:r>
            <a:endParaRPr b="1" u="sng">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G1</a:t>
            </a:r>
            <a:r>
              <a:rPr lang="en-AU">
                <a:solidFill>
                  <a:schemeClr val="dk1"/>
                </a:solidFill>
                <a:latin typeface="Arial Narrow"/>
                <a:ea typeface="Arial Narrow"/>
                <a:cs typeface="Arial Narrow"/>
                <a:sym typeface="Arial Narrow"/>
              </a:rPr>
              <a:t> = 1255.98N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Only axial loading (in tension)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nom</a:t>
            </a:r>
            <a:r>
              <a:rPr lang="en-AU">
                <a:solidFill>
                  <a:schemeClr val="dk1"/>
                </a:solidFill>
                <a:latin typeface="Arial Narrow"/>
                <a:ea typeface="Arial Narrow"/>
                <a:cs typeface="Arial Narrow"/>
                <a:sym typeface="Arial Narrow"/>
              </a:rPr>
              <a:t> = F/A = 1255.98/[(0.05*0.1) - (0.094*0.044)]</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 1.454MPa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Plate pin loaded hole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d/b = 0.019/0.05</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Therefore k</a:t>
            </a:r>
            <a:r>
              <a:rPr baseline="-25000" lang="en-AU">
                <a:solidFill>
                  <a:schemeClr val="dk1"/>
                </a:solidFill>
                <a:latin typeface="Arial Narrow"/>
                <a:ea typeface="Arial Narrow"/>
                <a:cs typeface="Arial Narrow"/>
                <a:sym typeface="Arial Narrow"/>
              </a:rPr>
              <a:t>t</a:t>
            </a:r>
            <a:r>
              <a:rPr lang="en-AU">
                <a:solidFill>
                  <a:schemeClr val="dk1"/>
                </a:solidFill>
                <a:latin typeface="Arial Narrow"/>
                <a:ea typeface="Arial Narrow"/>
                <a:cs typeface="Arial Narrow"/>
                <a:sym typeface="Arial Narrow"/>
              </a:rPr>
              <a:t> = 2.7</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max</a:t>
            </a:r>
            <a:r>
              <a:rPr lang="en-AU">
                <a:solidFill>
                  <a:schemeClr val="dk1"/>
                </a:solidFill>
                <a:latin typeface="Arial Narrow"/>
                <a:ea typeface="Arial Narrow"/>
                <a:cs typeface="Arial Narrow"/>
                <a:sym typeface="Arial Narrow"/>
              </a:rPr>
              <a:t> = σ</a:t>
            </a:r>
            <a:r>
              <a:rPr baseline="-25000" lang="en-AU">
                <a:solidFill>
                  <a:schemeClr val="dk1"/>
                </a:solidFill>
                <a:latin typeface="Arial Narrow"/>
                <a:ea typeface="Arial Narrow"/>
                <a:cs typeface="Arial Narrow"/>
                <a:sym typeface="Arial Narrow"/>
              </a:rPr>
              <a:t>nom</a:t>
            </a:r>
            <a:r>
              <a:rPr lang="en-AU">
                <a:solidFill>
                  <a:schemeClr val="dk1"/>
                </a:solidFill>
                <a:latin typeface="Arial Narrow"/>
                <a:ea typeface="Arial Narrow"/>
                <a:cs typeface="Arial Narrow"/>
                <a:sym typeface="Arial Narrow"/>
              </a:rPr>
              <a:t> * k</a:t>
            </a:r>
            <a:r>
              <a:rPr baseline="-25000" lang="en-AU">
                <a:solidFill>
                  <a:schemeClr val="dk1"/>
                </a:solidFill>
                <a:latin typeface="Arial Narrow"/>
                <a:ea typeface="Arial Narrow"/>
                <a:cs typeface="Arial Narrow"/>
                <a:sym typeface="Arial Narrow"/>
              </a:rPr>
              <a:t>t</a:t>
            </a:r>
            <a:r>
              <a:rPr lang="en-AU">
                <a:solidFill>
                  <a:schemeClr val="dk1"/>
                </a:solidFill>
                <a:latin typeface="Arial Narrow"/>
                <a:ea typeface="Arial Narrow"/>
                <a:cs typeface="Arial Narrow"/>
                <a:sym typeface="Arial Narrow"/>
              </a:rPr>
              <a:t> = 3.925MPa max stress at hole</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sz="1100">
              <a:solidFill>
                <a:schemeClr val="dk1"/>
              </a:solidFill>
            </a:endParaRPr>
          </a:p>
        </p:txBody>
      </p:sp>
      <p:sp>
        <p:nvSpPr>
          <p:cNvPr id="301" name="Google Shape;301;g14b29b56ded_1_206"/>
          <p:cNvSpPr txBox="1"/>
          <p:nvPr/>
        </p:nvSpPr>
        <p:spPr>
          <a:xfrm>
            <a:off x="9246700" y="4231900"/>
            <a:ext cx="25941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AU">
                <a:solidFill>
                  <a:schemeClr val="dk1"/>
                </a:solidFill>
                <a:latin typeface="Arial Narrow"/>
                <a:ea typeface="Arial Narrow"/>
                <a:cs typeface="Arial Narrow"/>
                <a:sym typeface="Arial Narrow"/>
              </a:rPr>
              <a:t>Selection of material is 1060 Alloy Aluminium</a:t>
            </a:r>
            <a:endParaRPr b="1">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Yield Stress = 62MPa</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Safety Factor is</a:t>
            </a:r>
            <a:endParaRPr>
              <a:latin typeface="Arial Narrow"/>
              <a:ea typeface="Arial Narrow"/>
              <a:cs typeface="Arial Narrow"/>
              <a:sym typeface="Arial Narrow"/>
            </a:endParaRPr>
          </a:p>
          <a:p>
            <a:pPr indent="0" lvl="0" marL="0" rtl="0" algn="l">
              <a:spcBef>
                <a:spcPts val="0"/>
              </a:spcBef>
              <a:spcAft>
                <a:spcPts val="0"/>
              </a:spcAft>
              <a:buNone/>
            </a:pPr>
            <a:r>
              <a:rPr b="1" lang="en-AU">
                <a:latin typeface="Arial Narrow"/>
                <a:ea typeface="Arial Narrow"/>
                <a:cs typeface="Arial Narrow"/>
                <a:sym typeface="Arial Narrow"/>
              </a:rPr>
              <a:t>SF2 = 62/14.418 = 4.3</a:t>
            </a:r>
            <a:endParaRPr b="1">
              <a:latin typeface="Arial Narrow"/>
              <a:ea typeface="Arial Narrow"/>
              <a:cs typeface="Arial Narrow"/>
              <a:sym typeface="Arial Narrow"/>
            </a:endParaRPr>
          </a:p>
        </p:txBody>
      </p:sp>
      <p:sp>
        <p:nvSpPr>
          <p:cNvPr id="302" name="Google Shape;302;g14b29b56ded_1_206"/>
          <p:cNvSpPr txBox="1"/>
          <p:nvPr>
            <p:ph type="title"/>
          </p:nvPr>
        </p:nvSpPr>
        <p:spPr>
          <a:xfrm>
            <a:off x="473500" y="175000"/>
            <a:ext cx="4620600" cy="51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en-AU" sz="3000"/>
              <a:t>3.2 Guide Arm</a:t>
            </a:r>
            <a:endParaRPr/>
          </a:p>
        </p:txBody>
      </p:sp>
      <p:sp>
        <p:nvSpPr>
          <p:cNvPr id="303" name="Google Shape;303;g14b29b56ded_1_206"/>
          <p:cNvSpPr txBox="1"/>
          <p:nvPr/>
        </p:nvSpPr>
        <p:spPr>
          <a:xfrm>
            <a:off x="5200650" y="4069125"/>
            <a:ext cx="3662100" cy="250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u="sng">
                <a:latin typeface="Arial Narrow"/>
                <a:ea typeface="Arial Narrow"/>
                <a:cs typeface="Arial Narrow"/>
                <a:sym typeface="Arial Narrow"/>
              </a:rPr>
              <a:t>Bottom</a:t>
            </a:r>
            <a:r>
              <a:rPr b="1" lang="en-AU" u="sng">
                <a:latin typeface="Arial Narrow"/>
                <a:ea typeface="Arial Narrow"/>
                <a:cs typeface="Arial Narrow"/>
                <a:sym typeface="Arial Narrow"/>
              </a:rPr>
              <a:t> Arm Analysis:</a:t>
            </a:r>
            <a:endParaRPr b="1" u="sng">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G2</a:t>
            </a:r>
            <a:r>
              <a:rPr lang="en-AU">
                <a:solidFill>
                  <a:schemeClr val="dk1"/>
                </a:solidFill>
                <a:latin typeface="Arial Narrow"/>
                <a:ea typeface="Arial Narrow"/>
                <a:cs typeface="Arial Narrow"/>
                <a:sym typeface="Arial Narrow"/>
              </a:rPr>
              <a:t> = 1255.98N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Only axial loading (in compression)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P</a:t>
            </a:r>
            <a:r>
              <a:rPr baseline="-25000" lang="en-AU">
                <a:solidFill>
                  <a:schemeClr val="dk1"/>
                </a:solidFill>
                <a:latin typeface="Arial Narrow"/>
                <a:ea typeface="Arial Narrow"/>
                <a:cs typeface="Arial Narrow"/>
                <a:sym typeface="Arial Narrow"/>
              </a:rPr>
              <a:t>nom</a:t>
            </a:r>
            <a:r>
              <a:rPr lang="en-AU">
                <a:solidFill>
                  <a:schemeClr val="dk1"/>
                </a:solidFill>
                <a:latin typeface="Arial Narrow"/>
                <a:ea typeface="Arial Narrow"/>
                <a:cs typeface="Arial Narrow"/>
                <a:sym typeface="Arial Narrow"/>
              </a:rPr>
              <a:t> </a:t>
            </a:r>
            <a:r>
              <a:rPr lang="en-AU">
                <a:solidFill>
                  <a:schemeClr val="dk1"/>
                </a:solidFill>
                <a:latin typeface="Arial Narrow"/>
                <a:ea typeface="Arial Narrow"/>
                <a:cs typeface="Arial Narrow"/>
                <a:sym typeface="Arial Narrow"/>
              </a:rPr>
              <a:t>= π</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EI/L</a:t>
            </a:r>
            <a:r>
              <a:rPr baseline="-25000" lang="en-AU">
                <a:solidFill>
                  <a:schemeClr val="dk1"/>
                </a:solidFill>
                <a:latin typeface="Arial Narrow"/>
                <a:ea typeface="Arial Narrow"/>
                <a:cs typeface="Arial Narrow"/>
                <a:sym typeface="Arial Narrow"/>
              </a:rPr>
              <a:t>e</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a:t>
            </a:r>
            <a:r>
              <a:rPr lang="en-AU">
                <a:solidFill>
                  <a:schemeClr val="dk1"/>
                </a:solidFill>
                <a:latin typeface="Arial Narrow"/>
                <a:ea typeface="Arial Narrow"/>
                <a:cs typeface="Arial Narrow"/>
                <a:sym typeface="Arial Narrow"/>
              </a:rPr>
              <a:t>= π</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*69*3.74*10</a:t>
            </a:r>
            <a:r>
              <a:rPr baseline="30000" lang="en-AU">
                <a:solidFill>
                  <a:schemeClr val="dk1"/>
                </a:solidFill>
                <a:latin typeface="Arial Narrow"/>
                <a:ea typeface="Arial Narrow"/>
                <a:cs typeface="Arial Narrow"/>
                <a:sym typeface="Arial Narrow"/>
              </a:rPr>
              <a:t>-7</a:t>
            </a:r>
            <a:r>
              <a:rPr lang="en-AU">
                <a:solidFill>
                  <a:schemeClr val="dk1"/>
                </a:solidFill>
                <a:latin typeface="Arial Narrow"/>
                <a:ea typeface="Arial Narrow"/>
                <a:cs typeface="Arial Narrow"/>
                <a:sym typeface="Arial Narrow"/>
              </a:rPr>
              <a:t>/0.2183</a:t>
            </a:r>
            <a:r>
              <a:rPr baseline="30000" lang="en-AU">
                <a:solidFill>
                  <a:schemeClr val="dk1"/>
                </a:solidFill>
                <a:latin typeface="Arial Narrow"/>
                <a:ea typeface="Arial Narrow"/>
                <a:cs typeface="Arial Narrow"/>
                <a:sym typeface="Arial Narrow"/>
              </a:rPr>
              <a:t>2</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	        = 5.34MPa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Plate pin loaded hole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d/b = 0.019/0.05</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Therefore k</a:t>
            </a:r>
            <a:r>
              <a:rPr baseline="-25000" lang="en-AU">
                <a:solidFill>
                  <a:schemeClr val="dk1"/>
                </a:solidFill>
                <a:latin typeface="Arial Narrow"/>
                <a:ea typeface="Arial Narrow"/>
                <a:cs typeface="Arial Narrow"/>
                <a:sym typeface="Arial Narrow"/>
              </a:rPr>
              <a:t>t</a:t>
            </a:r>
            <a:r>
              <a:rPr lang="en-AU">
                <a:solidFill>
                  <a:schemeClr val="dk1"/>
                </a:solidFill>
                <a:latin typeface="Arial Narrow"/>
                <a:ea typeface="Arial Narrow"/>
                <a:cs typeface="Arial Narrow"/>
                <a:sym typeface="Arial Narrow"/>
              </a:rPr>
              <a:t> = 2.7</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P</a:t>
            </a:r>
            <a:r>
              <a:rPr baseline="-25000" lang="en-AU">
                <a:solidFill>
                  <a:schemeClr val="dk1"/>
                </a:solidFill>
                <a:latin typeface="Arial Narrow"/>
                <a:ea typeface="Arial Narrow"/>
                <a:cs typeface="Arial Narrow"/>
                <a:sym typeface="Arial Narrow"/>
              </a:rPr>
              <a:t>max</a:t>
            </a:r>
            <a:r>
              <a:rPr lang="en-AU">
                <a:solidFill>
                  <a:schemeClr val="dk1"/>
                </a:solidFill>
                <a:latin typeface="Arial Narrow"/>
                <a:ea typeface="Arial Narrow"/>
                <a:cs typeface="Arial Narrow"/>
                <a:sym typeface="Arial Narrow"/>
              </a:rPr>
              <a:t> = P</a:t>
            </a:r>
            <a:r>
              <a:rPr baseline="-25000" lang="en-AU">
                <a:solidFill>
                  <a:schemeClr val="dk1"/>
                </a:solidFill>
                <a:latin typeface="Arial Narrow"/>
                <a:ea typeface="Arial Narrow"/>
                <a:cs typeface="Arial Narrow"/>
                <a:sym typeface="Arial Narrow"/>
              </a:rPr>
              <a:t>nom</a:t>
            </a:r>
            <a:r>
              <a:rPr lang="en-AU">
                <a:solidFill>
                  <a:schemeClr val="dk1"/>
                </a:solidFill>
                <a:latin typeface="Arial Narrow"/>
                <a:ea typeface="Arial Narrow"/>
                <a:cs typeface="Arial Narrow"/>
                <a:sym typeface="Arial Narrow"/>
              </a:rPr>
              <a:t> * k</a:t>
            </a:r>
            <a:r>
              <a:rPr baseline="-25000" lang="en-AU">
                <a:solidFill>
                  <a:schemeClr val="dk1"/>
                </a:solidFill>
                <a:latin typeface="Arial Narrow"/>
                <a:ea typeface="Arial Narrow"/>
                <a:cs typeface="Arial Narrow"/>
                <a:sym typeface="Arial Narrow"/>
              </a:rPr>
              <a:t>t</a:t>
            </a:r>
            <a:r>
              <a:rPr lang="en-AU">
                <a:solidFill>
                  <a:schemeClr val="dk1"/>
                </a:solidFill>
                <a:latin typeface="Arial Narrow"/>
                <a:ea typeface="Arial Narrow"/>
                <a:cs typeface="Arial Narrow"/>
                <a:sym typeface="Arial Narrow"/>
              </a:rPr>
              <a:t> = 14.418MPa max stress at hole</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100">
              <a:solidFill>
                <a:schemeClr val="dk1"/>
              </a:solidFill>
            </a:endParaRPr>
          </a:p>
        </p:txBody>
      </p:sp>
      <p:pic>
        <p:nvPicPr>
          <p:cNvPr id="304" name="Google Shape;304;g14b29b56ded_1_206"/>
          <p:cNvPicPr preferRelativeResize="0"/>
          <p:nvPr/>
        </p:nvPicPr>
        <p:blipFill rotWithShape="1">
          <a:blip r:embed="rId5">
            <a:alphaModFix/>
          </a:blip>
          <a:srcRect b="0" l="0" r="23400" t="0"/>
          <a:stretch/>
        </p:blipFill>
        <p:spPr>
          <a:xfrm>
            <a:off x="10436700" y="-8"/>
            <a:ext cx="1755300" cy="1833209"/>
          </a:xfrm>
          <a:prstGeom prst="rect">
            <a:avLst/>
          </a:prstGeom>
          <a:noFill/>
          <a:ln>
            <a:noFill/>
          </a:ln>
        </p:spPr>
      </p:pic>
      <p:sp>
        <p:nvSpPr>
          <p:cNvPr id="305" name="Google Shape;305;g14b29b56ded_1_206"/>
          <p:cNvSpPr txBox="1"/>
          <p:nvPr/>
        </p:nvSpPr>
        <p:spPr>
          <a:xfrm>
            <a:off x="3477900" y="239050"/>
            <a:ext cx="66156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nalysis is conducted on the rectangular hollow section arm as this will be the first point of failure as the other components will be robust enough to absorb forces due to different materials being used. </a:t>
            </a:r>
            <a:r>
              <a:rPr lang="en-AU">
                <a:solidFill>
                  <a:schemeClr val="dk1"/>
                </a:solidFill>
                <a:latin typeface="Arial Narrow"/>
                <a:ea typeface="Arial Narrow"/>
                <a:cs typeface="Arial Narrow"/>
                <a:sym typeface="Arial Narrow"/>
              </a:rPr>
              <a:t>We assume that there </a:t>
            </a:r>
            <a:r>
              <a:rPr lang="en-AU">
                <a:solidFill>
                  <a:schemeClr val="dk1"/>
                </a:solidFill>
                <a:latin typeface="Arial Narrow"/>
                <a:ea typeface="Arial Narrow"/>
                <a:cs typeface="Arial Narrow"/>
                <a:sym typeface="Arial Narrow"/>
              </a:rPr>
              <a:t>will be no moment on the arms since these will be countered by the guide wheels acting on the rack as can be seen on the image on the right. </a:t>
            </a:r>
            <a:endParaRPr/>
          </a:p>
        </p:txBody>
      </p:sp>
      <p:sp>
        <p:nvSpPr>
          <p:cNvPr id="306" name="Google Shape;306;g14b29b56ded_1_206"/>
          <p:cNvSpPr txBox="1"/>
          <p:nvPr/>
        </p:nvSpPr>
        <p:spPr>
          <a:xfrm>
            <a:off x="9246700" y="2074050"/>
            <a:ext cx="25941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AU">
                <a:solidFill>
                  <a:schemeClr val="dk1"/>
                </a:solidFill>
                <a:latin typeface="Arial Narrow"/>
                <a:ea typeface="Arial Narrow"/>
                <a:cs typeface="Arial Narrow"/>
                <a:sym typeface="Arial Narrow"/>
              </a:rPr>
              <a:t>Selection of material is 1060 Alloy Aluminium</a:t>
            </a:r>
            <a:endParaRPr b="1">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Yield Stress = 62MPa</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Safety Factor is</a:t>
            </a:r>
            <a:endParaRPr>
              <a:latin typeface="Arial Narrow"/>
              <a:ea typeface="Arial Narrow"/>
              <a:cs typeface="Arial Narrow"/>
              <a:sym typeface="Arial Narrow"/>
            </a:endParaRPr>
          </a:p>
          <a:p>
            <a:pPr indent="0" lvl="0" marL="0" rtl="0" algn="l">
              <a:spcBef>
                <a:spcPts val="0"/>
              </a:spcBef>
              <a:spcAft>
                <a:spcPts val="0"/>
              </a:spcAft>
              <a:buNone/>
            </a:pPr>
            <a:r>
              <a:rPr b="1" lang="en-AU">
                <a:latin typeface="Arial Narrow"/>
                <a:ea typeface="Arial Narrow"/>
                <a:cs typeface="Arial Narrow"/>
                <a:sym typeface="Arial Narrow"/>
              </a:rPr>
              <a:t>SF1 = 62/3.925 = 15.796</a:t>
            </a:r>
            <a:r>
              <a:rPr lang="en-AU">
                <a:latin typeface="Arial Narrow"/>
                <a:ea typeface="Arial Narrow"/>
                <a:cs typeface="Arial Narrow"/>
                <a:sym typeface="Arial Narrow"/>
              </a:rPr>
              <a:t> </a:t>
            </a:r>
            <a:endParaRPr>
              <a:latin typeface="Arial Narrow"/>
              <a:ea typeface="Arial Narrow"/>
              <a:cs typeface="Arial Narrow"/>
              <a:sym typeface="Arial Narro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9"/>
          <p:cNvSpPr txBox="1"/>
          <p:nvPr>
            <p:ph type="title"/>
          </p:nvPr>
        </p:nvSpPr>
        <p:spPr>
          <a:xfrm>
            <a:off x="178775" y="83172"/>
            <a:ext cx="109728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3.3 Shaft and Pinions</a:t>
            </a:r>
            <a:endParaRPr sz="1400">
              <a:solidFill>
                <a:srgbClr val="000000"/>
              </a:solidFill>
            </a:endParaRPr>
          </a:p>
          <a:p>
            <a:pPr indent="0" lvl="0" marL="0" rtl="0" algn="l">
              <a:lnSpc>
                <a:spcPct val="100000"/>
              </a:lnSpc>
              <a:spcBef>
                <a:spcPts val="0"/>
              </a:spcBef>
              <a:spcAft>
                <a:spcPts val="0"/>
              </a:spcAft>
              <a:buClr>
                <a:schemeClr val="dk1"/>
              </a:buClr>
              <a:buSzPts val="2400"/>
              <a:buFont typeface="Arial Narrow"/>
              <a:buNone/>
            </a:pPr>
            <a:r>
              <a:t/>
            </a:r>
            <a:endParaRPr/>
          </a:p>
        </p:txBody>
      </p:sp>
      <p:sp>
        <p:nvSpPr>
          <p:cNvPr id="312" name="Google Shape;312;p9"/>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13</a:t>
            </a:r>
            <a:endParaRPr sz="1800">
              <a:solidFill>
                <a:schemeClr val="dk1"/>
              </a:solidFill>
              <a:latin typeface="Arial Narrow"/>
              <a:ea typeface="Arial Narrow"/>
              <a:cs typeface="Arial Narrow"/>
              <a:sym typeface="Arial Narrow"/>
            </a:endParaRPr>
          </a:p>
        </p:txBody>
      </p:sp>
      <p:sp>
        <p:nvSpPr>
          <p:cNvPr id="313" name="Google Shape;313;p9"/>
          <p:cNvSpPr txBox="1"/>
          <p:nvPr/>
        </p:nvSpPr>
        <p:spPr>
          <a:xfrm>
            <a:off x="9129725" y="727288"/>
            <a:ext cx="3000000" cy="195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1300" u="sng">
                <a:solidFill>
                  <a:schemeClr val="dk1"/>
                </a:solidFill>
                <a:latin typeface="Arial Narrow"/>
                <a:ea typeface="Arial Narrow"/>
                <a:cs typeface="Arial Narrow"/>
                <a:sym typeface="Arial Narrow"/>
              </a:rPr>
              <a:t>Shaft B</a:t>
            </a:r>
            <a:endParaRPr b="1" sz="1300" u="sng">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∑T = rF</a:t>
            </a:r>
            <a:r>
              <a:rPr baseline="-25000" lang="en-AU" sz="1300">
                <a:solidFill>
                  <a:schemeClr val="dk1"/>
                </a:solidFill>
                <a:latin typeface="Arial Narrow"/>
                <a:ea typeface="Arial Narrow"/>
                <a:cs typeface="Arial Narrow"/>
                <a:sym typeface="Arial Narrow"/>
              </a:rPr>
              <a:t>gear</a:t>
            </a:r>
            <a:r>
              <a:rPr lang="en-AU" sz="1300">
                <a:solidFill>
                  <a:schemeClr val="dk1"/>
                </a:solidFill>
                <a:latin typeface="Arial Narrow"/>
                <a:ea typeface="Arial Narrow"/>
                <a:cs typeface="Arial Narrow"/>
                <a:sym typeface="Arial Narrow"/>
              </a:rPr>
              <a:t> - rF</a:t>
            </a:r>
            <a:r>
              <a:rPr baseline="-25000" lang="en-AU" sz="1300">
                <a:solidFill>
                  <a:schemeClr val="dk1"/>
                </a:solidFill>
                <a:latin typeface="Arial Narrow"/>
                <a:ea typeface="Arial Narrow"/>
                <a:cs typeface="Arial Narrow"/>
                <a:sym typeface="Arial Narrow"/>
              </a:rPr>
              <a:t>pinB</a:t>
            </a:r>
            <a:r>
              <a:rPr lang="en-AU" sz="1300">
                <a:solidFill>
                  <a:schemeClr val="dk1"/>
                </a:solidFill>
                <a:latin typeface="Arial Narrow"/>
                <a:ea typeface="Arial Narrow"/>
                <a:cs typeface="Arial Narrow"/>
                <a:sym typeface="Arial Narrow"/>
              </a:rPr>
              <a:t> = 0</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  F</a:t>
            </a:r>
            <a:r>
              <a:rPr baseline="-25000" lang="en-AU" sz="1300">
                <a:solidFill>
                  <a:schemeClr val="dk1"/>
                </a:solidFill>
                <a:latin typeface="Arial Narrow"/>
                <a:ea typeface="Arial Narrow"/>
                <a:cs typeface="Arial Narrow"/>
                <a:sym typeface="Arial Narrow"/>
              </a:rPr>
              <a:t>gear</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pinB</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b="1" lang="en-AU" sz="1300">
                <a:solidFill>
                  <a:schemeClr val="dk1"/>
                </a:solidFill>
                <a:latin typeface="Arial Narrow"/>
                <a:ea typeface="Arial Narrow"/>
                <a:cs typeface="Arial Narrow"/>
                <a:sym typeface="Arial Narrow"/>
              </a:rPr>
              <a:t>F</a:t>
            </a:r>
            <a:r>
              <a:rPr b="1" baseline="-25000" lang="en-AU" sz="1300">
                <a:solidFill>
                  <a:schemeClr val="dk1"/>
                </a:solidFill>
                <a:latin typeface="Arial Narrow"/>
                <a:ea typeface="Arial Narrow"/>
                <a:cs typeface="Arial Narrow"/>
                <a:sym typeface="Arial Narrow"/>
              </a:rPr>
              <a:t>gear</a:t>
            </a:r>
            <a:r>
              <a:rPr b="1" lang="en-AU" sz="1300">
                <a:solidFill>
                  <a:schemeClr val="dk1"/>
                </a:solidFill>
                <a:latin typeface="Arial Narrow"/>
                <a:ea typeface="Arial Narrow"/>
                <a:cs typeface="Arial Narrow"/>
                <a:sym typeface="Arial Narrow"/>
              </a:rPr>
              <a:t> = 1138.36 N</a:t>
            </a:r>
            <a:endParaRPr b="1"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∑F</a:t>
            </a:r>
            <a:r>
              <a:rPr baseline="-25000" lang="en-AU" sz="1300">
                <a:solidFill>
                  <a:schemeClr val="dk1"/>
                </a:solidFill>
                <a:latin typeface="Arial Narrow"/>
                <a:ea typeface="Arial Narrow"/>
                <a:cs typeface="Arial Narrow"/>
                <a:sym typeface="Arial Narrow"/>
              </a:rPr>
              <a:t>By</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pinB </a:t>
            </a:r>
            <a:r>
              <a:rPr lang="en-AU" sz="1300">
                <a:solidFill>
                  <a:schemeClr val="dk1"/>
                </a:solidFill>
                <a:latin typeface="Arial Narrow"/>
                <a:ea typeface="Arial Narrow"/>
                <a:cs typeface="Arial Narrow"/>
                <a:sym typeface="Arial Narrow"/>
              </a:rPr>
              <a:t>- F</a:t>
            </a:r>
            <a:r>
              <a:rPr baseline="-25000" lang="en-AU" sz="1300">
                <a:solidFill>
                  <a:schemeClr val="dk1"/>
                </a:solidFill>
                <a:latin typeface="Arial Narrow"/>
                <a:ea typeface="Arial Narrow"/>
                <a:cs typeface="Arial Narrow"/>
                <a:sym typeface="Arial Narrow"/>
              </a:rPr>
              <a:t>B</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gear</a:t>
            </a:r>
            <a:r>
              <a:rPr lang="en-AU" sz="1300">
                <a:solidFill>
                  <a:schemeClr val="dk1"/>
                </a:solidFill>
                <a:latin typeface="Arial Narrow"/>
                <a:ea typeface="Arial Narrow"/>
                <a:cs typeface="Arial Narrow"/>
                <a:sym typeface="Arial Narrow"/>
              </a:rPr>
              <a:t>= 0</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 F</a:t>
            </a:r>
            <a:r>
              <a:rPr baseline="-25000" lang="en-AU" sz="1300">
                <a:solidFill>
                  <a:schemeClr val="dk1"/>
                </a:solidFill>
                <a:latin typeface="Arial Narrow"/>
                <a:ea typeface="Arial Narrow"/>
                <a:cs typeface="Arial Narrow"/>
                <a:sym typeface="Arial Narrow"/>
              </a:rPr>
              <a:t>B</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pinB </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gear</a:t>
            </a:r>
            <a:r>
              <a:rPr lang="en-AU" sz="1300">
                <a:solidFill>
                  <a:schemeClr val="dk1"/>
                </a:solidFill>
                <a:latin typeface="Arial Narrow"/>
                <a:ea typeface="Arial Narrow"/>
                <a:cs typeface="Arial Narrow"/>
                <a:sym typeface="Arial Narrow"/>
              </a:rPr>
              <a:t> = 1138.36 + 1138.36</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b="1" lang="en-AU" sz="1300">
                <a:solidFill>
                  <a:schemeClr val="dk1"/>
                </a:solidFill>
                <a:latin typeface="Arial Narrow"/>
                <a:ea typeface="Arial Narrow"/>
                <a:cs typeface="Arial Narrow"/>
                <a:sym typeface="Arial Narrow"/>
              </a:rPr>
              <a:t>F</a:t>
            </a:r>
            <a:r>
              <a:rPr b="1" baseline="-25000" lang="en-AU" sz="1300">
                <a:solidFill>
                  <a:schemeClr val="dk1"/>
                </a:solidFill>
                <a:latin typeface="Arial Narrow"/>
                <a:ea typeface="Arial Narrow"/>
                <a:cs typeface="Arial Narrow"/>
                <a:sym typeface="Arial Narrow"/>
              </a:rPr>
              <a:t>B</a:t>
            </a:r>
            <a:r>
              <a:rPr b="1" lang="en-AU" sz="1300">
                <a:solidFill>
                  <a:schemeClr val="dk1"/>
                </a:solidFill>
                <a:latin typeface="Arial Narrow"/>
                <a:ea typeface="Arial Narrow"/>
                <a:cs typeface="Arial Narrow"/>
                <a:sym typeface="Arial Narrow"/>
              </a:rPr>
              <a:t> = 2276.72 N</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b="1" sz="1100">
              <a:solidFill>
                <a:schemeClr val="dk1"/>
              </a:solidFill>
              <a:latin typeface="Arial Narrow"/>
              <a:ea typeface="Arial Narrow"/>
              <a:cs typeface="Arial Narrow"/>
              <a:sym typeface="Arial Narrow"/>
            </a:endParaRPr>
          </a:p>
        </p:txBody>
      </p:sp>
      <p:sp>
        <p:nvSpPr>
          <p:cNvPr id="314" name="Google Shape;314;p9"/>
          <p:cNvSpPr txBox="1"/>
          <p:nvPr/>
        </p:nvSpPr>
        <p:spPr>
          <a:xfrm>
            <a:off x="9129725" y="3066050"/>
            <a:ext cx="30000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1300" u="sng">
                <a:solidFill>
                  <a:schemeClr val="dk1"/>
                </a:solidFill>
                <a:latin typeface="Arial Narrow"/>
                <a:ea typeface="Arial Narrow"/>
                <a:cs typeface="Arial Narrow"/>
                <a:sym typeface="Arial Narrow"/>
              </a:rPr>
              <a:t>Shaft A</a:t>
            </a:r>
            <a:endParaRPr b="1" sz="1300" u="sng">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∑F</a:t>
            </a:r>
            <a:r>
              <a:rPr baseline="-25000" lang="en-AU" sz="1300">
                <a:solidFill>
                  <a:schemeClr val="dk1"/>
                </a:solidFill>
                <a:latin typeface="Arial Narrow"/>
                <a:ea typeface="Arial Narrow"/>
                <a:cs typeface="Arial Narrow"/>
                <a:sym typeface="Arial Narrow"/>
              </a:rPr>
              <a:t>Ay</a:t>
            </a:r>
            <a:r>
              <a:rPr lang="en-AU" sz="1300">
                <a:solidFill>
                  <a:schemeClr val="dk1"/>
                </a:solidFill>
                <a:latin typeface="Arial Narrow"/>
                <a:ea typeface="Arial Narrow"/>
                <a:cs typeface="Arial Narrow"/>
                <a:sym typeface="Arial Narrow"/>
              </a:rPr>
              <a:t>= F</a:t>
            </a:r>
            <a:r>
              <a:rPr baseline="-25000" lang="en-AU" sz="1300">
                <a:solidFill>
                  <a:schemeClr val="dk1"/>
                </a:solidFill>
                <a:latin typeface="Arial Narrow"/>
                <a:ea typeface="Arial Narrow"/>
                <a:cs typeface="Arial Narrow"/>
                <a:sym typeface="Arial Narrow"/>
              </a:rPr>
              <a:t>pinA </a:t>
            </a:r>
            <a:r>
              <a:rPr lang="en-AU" sz="1300">
                <a:solidFill>
                  <a:schemeClr val="dk1"/>
                </a:solidFill>
                <a:latin typeface="Arial Narrow"/>
                <a:ea typeface="Arial Narrow"/>
                <a:cs typeface="Arial Narrow"/>
                <a:sym typeface="Arial Narrow"/>
              </a:rPr>
              <a:t>- F</a:t>
            </a:r>
            <a:r>
              <a:rPr baseline="-25000" lang="en-AU" sz="1300">
                <a:solidFill>
                  <a:schemeClr val="dk1"/>
                </a:solidFill>
                <a:latin typeface="Arial Narrow"/>
                <a:ea typeface="Arial Narrow"/>
                <a:cs typeface="Arial Narrow"/>
                <a:sym typeface="Arial Narrow"/>
              </a:rPr>
              <a:t>A</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gear</a:t>
            </a:r>
            <a:r>
              <a:rPr lang="en-AU" sz="1300">
                <a:solidFill>
                  <a:schemeClr val="dk1"/>
                </a:solidFill>
                <a:latin typeface="Arial Narrow"/>
                <a:ea typeface="Arial Narrow"/>
                <a:cs typeface="Arial Narrow"/>
                <a:sym typeface="Arial Narrow"/>
              </a:rPr>
              <a:t>= 0</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F</a:t>
            </a:r>
            <a:r>
              <a:rPr baseline="-25000" lang="en-AU" sz="1300">
                <a:solidFill>
                  <a:schemeClr val="dk1"/>
                </a:solidFill>
                <a:latin typeface="Arial Narrow"/>
                <a:ea typeface="Arial Narrow"/>
                <a:cs typeface="Arial Narrow"/>
                <a:sym typeface="Arial Narrow"/>
              </a:rPr>
              <a:t>A</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pinA </a:t>
            </a:r>
            <a:r>
              <a:rPr lang="en-AU" sz="1300">
                <a:solidFill>
                  <a:schemeClr val="dk1"/>
                </a:solidFill>
                <a:latin typeface="Arial Narrow"/>
                <a:ea typeface="Arial Narrow"/>
                <a:cs typeface="Arial Narrow"/>
                <a:sym typeface="Arial Narrow"/>
              </a:rPr>
              <a:t>- F</a:t>
            </a:r>
            <a:r>
              <a:rPr baseline="-25000" lang="en-AU" sz="1300">
                <a:solidFill>
                  <a:schemeClr val="dk1"/>
                </a:solidFill>
                <a:latin typeface="Arial Narrow"/>
                <a:ea typeface="Arial Narrow"/>
                <a:cs typeface="Arial Narrow"/>
                <a:sym typeface="Arial Narrow"/>
              </a:rPr>
              <a:t>gear</a:t>
            </a:r>
            <a:r>
              <a:rPr lang="en-AU" sz="1300">
                <a:solidFill>
                  <a:schemeClr val="dk1"/>
                </a:solidFill>
                <a:latin typeface="Arial Narrow"/>
                <a:ea typeface="Arial Narrow"/>
                <a:cs typeface="Arial Narrow"/>
                <a:sym typeface="Arial Narrow"/>
              </a:rPr>
              <a:t> = 1265.09 - 1138.36</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b="1" lang="en-AU" sz="1300">
                <a:solidFill>
                  <a:schemeClr val="dk1"/>
                </a:solidFill>
                <a:latin typeface="Arial Narrow"/>
                <a:ea typeface="Arial Narrow"/>
                <a:cs typeface="Arial Narrow"/>
                <a:sym typeface="Arial Narrow"/>
              </a:rPr>
              <a:t>F</a:t>
            </a:r>
            <a:r>
              <a:rPr b="1" baseline="-25000" lang="en-AU" sz="1300">
                <a:solidFill>
                  <a:schemeClr val="dk1"/>
                </a:solidFill>
                <a:latin typeface="Arial Narrow"/>
                <a:ea typeface="Arial Narrow"/>
                <a:cs typeface="Arial Narrow"/>
                <a:sym typeface="Arial Narrow"/>
              </a:rPr>
              <a:t>A</a:t>
            </a:r>
            <a:r>
              <a:rPr b="1" lang="en-AU" sz="1300">
                <a:solidFill>
                  <a:schemeClr val="dk1"/>
                </a:solidFill>
                <a:latin typeface="Arial Narrow"/>
                <a:ea typeface="Arial Narrow"/>
                <a:cs typeface="Arial Narrow"/>
                <a:sym typeface="Arial Narrow"/>
              </a:rPr>
              <a:t> = 126.73 N</a:t>
            </a:r>
            <a:endParaRPr b="1"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∑T = T</a:t>
            </a:r>
            <a:r>
              <a:rPr baseline="-25000" lang="en-AU" sz="1300">
                <a:solidFill>
                  <a:schemeClr val="dk1"/>
                </a:solidFill>
                <a:latin typeface="Arial Narrow"/>
                <a:ea typeface="Arial Narrow"/>
                <a:cs typeface="Arial Narrow"/>
                <a:sym typeface="Arial Narrow"/>
              </a:rPr>
              <a:t>motor</a:t>
            </a:r>
            <a:r>
              <a:rPr lang="en-AU" sz="1300">
                <a:solidFill>
                  <a:schemeClr val="dk1"/>
                </a:solidFill>
                <a:latin typeface="Arial Narrow"/>
                <a:ea typeface="Arial Narrow"/>
                <a:cs typeface="Arial Narrow"/>
                <a:sym typeface="Arial Narrow"/>
              </a:rPr>
              <a:t>- rF</a:t>
            </a:r>
            <a:r>
              <a:rPr baseline="-25000" lang="en-AU" sz="1300">
                <a:solidFill>
                  <a:schemeClr val="dk1"/>
                </a:solidFill>
                <a:latin typeface="Arial Narrow"/>
                <a:ea typeface="Arial Narrow"/>
                <a:cs typeface="Arial Narrow"/>
                <a:sym typeface="Arial Narrow"/>
              </a:rPr>
              <a:t>gear</a:t>
            </a:r>
            <a:r>
              <a:rPr lang="en-AU" sz="1300">
                <a:solidFill>
                  <a:schemeClr val="dk1"/>
                </a:solidFill>
                <a:latin typeface="Arial Narrow"/>
                <a:ea typeface="Arial Narrow"/>
                <a:cs typeface="Arial Narrow"/>
                <a:sym typeface="Arial Narrow"/>
              </a:rPr>
              <a:t> - rF</a:t>
            </a:r>
            <a:r>
              <a:rPr baseline="-25000" lang="en-AU" sz="1300">
                <a:solidFill>
                  <a:schemeClr val="dk1"/>
                </a:solidFill>
                <a:latin typeface="Arial Narrow"/>
                <a:ea typeface="Arial Narrow"/>
                <a:cs typeface="Arial Narrow"/>
                <a:sym typeface="Arial Narrow"/>
              </a:rPr>
              <a:t>pinA</a:t>
            </a:r>
            <a:r>
              <a:rPr lang="en-AU" sz="1300">
                <a:solidFill>
                  <a:schemeClr val="dk1"/>
                </a:solidFill>
                <a:latin typeface="Arial Narrow"/>
                <a:ea typeface="Arial Narrow"/>
                <a:cs typeface="Arial Narrow"/>
                <a:sym typeface="Arial Narrow"/>
              </a:rPr>
              <a:t> = 0</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 T</a:t>
            </a:r>
            <a:r>
              <a:rPr baseline="-25000" lang="en-AU" sz="1300">
                <a:solidFill>
                  <a:schemeClr val="dk1"/>
                </a:solidFill>
                <a:latin typeface="Arial Narrow"/>
                <a:ea typeface="Arial Narrow"/>
                <a:cs typeface="Arial Narrow"/>
                <a:sym typeface="Arial Narrow"/>
              </a:rPr>
              <a:t>motor</a:t>
            </a:r>
            <a:r>
              <a:rPr lang="en-AU" sz="1300">
                <a:solidFill>
                  <a:schemeClr val="dk1"/>
                </a:solidFill>
                <a:latin typeface="Arial Narrow"/>
                <a:ea typeface="Arial Narrow"/>
                <a:cs typeface="Arial Narrow"/>
                <a:sym typeface="Arial Narrow"/>
              </a:rPr>
              <a:t>= r(</a:t>
            </a:r>
            <a:r>
              <a:rPr baseline="-25000" lang="en-AU" sz="1300">
                <a:solidFill>
                  <a:schemeClr val="dk1"/>
                </a:solidFill>
                <a:latin typeface="Arial Narrow"/>
                <a:ea typeface="Arial Narrow"/>
                <a:cs typeface="Arial Narrow"/>
                <a:sym typeface="Arial Narrow"/>
              </a:rPr>
              <a:t> </a:t>
            </a:r>
            <a:r>
              <a:rPr lang="en-AU" sz="1300">
                <a:solidFill>
                  <a:schemeClr val="dk1"/>
                </a:solidFill>
                <a:latin typeface="Arial Narrow"/>
                <a:ea typeface="Arial Narrow"/>
                <a:cs typeface="Arial Narrow"/>
                <a:sym typeface="Arial Narrow"/>
              </a:rPr>
              <a:t>F</a:t>
            </a:r>
            <a:r>
              <a:rPr baseline="-25000" lang="en-AU" sz="1300">
                <a:solidFill>
                  <a:schemeClr val="dk1"/>
                </a:solidFill>
                <a:latin typeface="Arial Narrow"/>
                <a:ea typeface="Arial Narrow"/>
                <a:cs typeface="Arial Narrow"/>
                <a:sym typeface="Arial Narrow"/>
              </a:rPr>
              <a:t>gear</a:t>
            </a:r>
            <a:r>
              <a:rPr lang="en-AU" sz="1300">
                <a:solidFill>
                  <a:schemeClr val="dk1"/>
                </a:solidFill>
                <a:latin typeface="Arial Narrow"/>
                <a:ea typeface="Arial Narrow"/>
                <a:cs typeface="Arial Narrow"/>
                <a:sym typeface="Arial Narrow"/>
              </a:rPr>
              <a:t> + </a:t>
            </a:r>
            <a:r>
              <a:rPr baseline="-25000" lang="en-AU" sz="1300">
                <a:solidFill>
                  <a:schemeClr val="dk1"/>
                </a:solidFill>
                <a:latin typeface="Arial Narrow"/>
                <a:ea typeface="Arial Narrow"/>
                <a:cs typeface="Arial Narrow"/>
                <a:sym typeface="Arial Narrow"/>
              </a:rPr>
              <a:t> </a:t>
            </a:r>
            <a:r>
              <a:rPr lang="en-AU" sz="1300">
                <a:solidFill>
                  <a:schemeClr val="dk1"/>
                </a:solidFill>
                <a:latin typeface="Arial Narrow"/>
                <a:ea typeface="Arial Narrow"/>
                <a:cs typeface="Arial Narrow"/>
                <a:sym typeface="Arial Narrow"/>
              </a:rPr>
              <a:t>F</a:t>
            </a:r>
            <a:r>
              <a:rPr baseline="-25000" lang="en-AU" sz="1300">
                <a:solidFill>
                  <a:schemeClr val="dk1"/>
                </a:solidFill>
                <a:latin typeface="Arial Narrow"/>
                <a:ea typeface="Arial Narrow"/>
                <a:cs typeface="Arial Narrow"/>
                <a:sym typeface="Arial Narrow"/>
              </a:rPr>
              <a:t>pinA</a:t>
            </a:r>
            <a:r>
              <a:rPr lang="en-AU" sz="1300">
                <a:solidFill>
                  <a:schemeClr val="dk1"/>
                </a:solidFill>
                <a:latin typeface="Arial Narrow"/>
                <a:ea typeface="Arial Narrow"/>
                <a:cs typeface="Arial Narrow"/>
                <a:sym typeface="Arial Narrow"/>
              </a:rPr>
              <a:t>) = 0.1(1138.36 +1265.09)</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b="1" lang="en-AU" sz="1300">
                <a:solidFill>
                  <a:schemeClr val="dk1"/>
                </a:solidFill>
                <a:latin typeface="Arial Narrow"/>
                <a:ea typeface="Arial Narrow"/>
                <a:cs typeface="Arial Narrow"/>
                <a:sym typeface="Arial Narrow"/>
              </a:rPr>
              <a:t>T</a:t>
            </a:r>
            <a:r>
              <a:rPr b="1" baseline="-25000" lang="en-AU" sz="1300">
                <a:solidFill>
                  <a:schemeClr val="dk1"/>
                </a:solidFill>
                <a:latin typeface="Arial Narrow"/>
                <a:ea typeface="Arial Narrow"/>
                <a:cs typeface="Arial Narrow"/>
                <a:sym typeface="Arial Narrow"/>
              </a:rPr>
              <a:t>motor</a:t>
            </a:r>
            <a:r>
              <a:rPr b="1" lang="en-AU" sz="1300">
                <a:solidFill>
                  <a:schemeClr val="dk1"/>
                </a:solidFill>
                <a:latin typeface="Arial Narrow"/>
                <a:ea typeface="Arial Narrow"/>
                <a:cs typeface="Arial Narrow"/>
                <a:sym typeface="Arial Narrow"/>
              </a:rPr>
              <a:t> = 240.345 Nm</a:t>
            </a:r>
            <a:endParaRPr b="1" sz="1600">
              <a:latin typeface="Arial Narrow"/>
              <a:ea typeface="Arial Narrow"/>
              <a:cs typeface="Arial Narrow"/>
              <a:sym typeface="Arial Narrow"/>
            </a:endParaRPr>
          </a:p>
        </p:txBody>
      </p:sp>
      <p:grpSp>
        <p:nvGrpSpPr>
          <p:cNvPr id="315" name="Google Shape;315;p9"/>
          <p:cNvGrpSpPr/>
          <p:nvPr/>
        </p:nvGrpSpPr>
        <p:grpSpPr>
          <a:xfrm>
            <a:off x="178780" y="986184"/>
            <a:ext cx="2607899" cy="3200587"/>
            <a:chOff x="178472" y="994777"/>
            <a:chExt cx="3033852" cy="3992748"/>
          </a:xfrm>
        </p:grpSpPr>
        <p:grpSp>
          <p:nvGrpSpPr>
            <p:cNvPr id="316" name="Google Shape;316;p9"/>
            <p:cNvGrpSpPr/>
            <p:nvPr/>
          </p:nvGrpSpPr>
          <p:grpSpPr>
            <a:xfrm>
              <a:off x="178472" y="994777"/>
              <a:ext cx="3033852" cy="3992748"/>
              <a:chOff x="243472" y="988827"/>
              <a:chExt cx="3033852" cy="3992748"/>
            </a:xfrm>
          </p:grpSpPr>
          <p:grpSp>
            <p:nvGrpSpPr>
              <p:cNvPr id="317" name="Google Shape;317;p9"/>
              <p:cNvGrpSpPr/>
              <p:nvPr/>
            </p:nvGrpSpPr>
            <p:grpSpPr>
              <a:xfrm>
                <a:off x="243472" y="988827"/>
                <a:ext cx="3000001" cy="3893744"/>
                <a:chOff x="243472" y="988827"/>
                <a:chExt cx="3000001" cy="3893744"/>
              </a:xfrm>
            </p:grpSpPr>
            <p:pic>
              <p:nvPicPr>
                <p:cNvPr id="318" name="Google Shape;318;p9"/>
                <p:cNvPicPr preferRelativeResize="0"/>
                <p:nvPr/>
              </p:nvPicPr>
              <p:blipFill rotWithShape="1">
                <a:blip r:embed="rId3">
                  <a:alphaModFix/>
                </a:blip>
                <a:srcRect b="3921" l="31766" r="14763" t="9325"/>
                <a:stretch/>
              </p:blipFill>
              <p:spPr>
                <a:xfrm>
                  <a:off x="243472" y="988827"/>
                  <a:ext cx="3000001" cy="3893744"/>
                </a:xfrm>
                <a:prstGeom prst="rect">
                  <a:avLst/>
                </a:prstGeom>
                <a:noFill/>
                <a:ln>
                  <a:noFill/>
                </a:ln>
              </p:spPr>
            </p:pic>
            <p:cxnSp>
              <p:nvCxnSpPr>
                <p:cNvPr id="319" name="Google Shape;319;p9"/>
                <p:cNvCxnSpPr/>
                <p:nvPr/>
              </p:nvCxnSpPr>
              <p:spPr>
                <a:xfrm flipH="1" rot="10800000">
                  <a:off x="1079850" y="2084488"/>
                  <a:ext cx="18900" cy="1553400"/>
                </a:xfrm>
                <a:prstGeom prst="straightConnector1">
                  <a:avLst/>
                </a:prstGeom>
                <a:noFill/>
                <a:ln cap="flat" cmpd="sng" w="38100">
                  <a:solidFill>
                    <a:schemeClr val="accent1"/>
                  </a:solidFill>
                  <a:prstDash val="solid"/>
                  <a:round/>
                  <a:headEnd len="med" w="med" type="none"/>
                  <a:tailEnd len="med" w="med" type="triangle"/>
                </a:ln>
              </p:spPr>
            </p:cxnSp>
            <p:cxnSp>
              <p:nvCxnSpPr>
                <p:cNvPr id="320" name="Google Shape;320;p9"/>
                <p:cNvCxnSpPr/>
                <p:nvPr/>
              </p:nvCxnSpPr>
              <p:spPr>
                <a:xfrm rot="10800000">
                  <a:off x="2860650" y="2083888"/>
                  <a:ext cx="19800" cy="1554000"/>
                </a:xfrm>
                <a:prstGeom prst="straightConnector1">
                  <a:avLst/>
                </a:prstGeom>
                <a:noFill/>
                <a:ln cap="flat" cmpd="sng" w="38100">
                  <a:solidFill>
                    <a:schemeClr val="accent1"/>
                  </a:solidFill>
                  <a:prstDash val="solid"/>
                  <a:round/>
                  <a:headEnd len="med" w="med" type="none"/>
                  <a:tailEnd len="med" w="med" type="triangle"/>
                </a:ln>
              </p:spPr>
            </p:cxnSp>
            <p:cxnSp>
              <p:nvCxnSpPr>
                <p:cNvPr id="321" name="Google Shape;321;p9"/>
                <p:cNvCxnSpPr/>
                <p:nvPr/>
              </p:nvCxnSpPr>
              <p:spPr>
                <a:xfrm>
                  <a:off x="1540625" y="3656475"/>
                  <a:ext cx="16200" cy="861300"/>
                </a:xfrm>
                <a:prstGeom prst="straightConnector1">
                  <a:avLst/>
                </a:prstGeom>
                <a:noFill/>
                <a:ln cap="flat" cmpd="sng" w="38100">
                  <a:solidFill>
                    <a:schemeClr val="accent1"/>
                  </a:solidFill>
                  <a:prstDash val="solid"/>
                  <a:round/>
                  <a:headEnd len="med" w="med" type="none"/>
                  <a:tailEnd len="med" w="med" type="triangle"/>
                </a:ln>
              </p:spPr>
            </p:cxnSp>
            <p:cxnSp>
              <p:nvCxnSpPr>
                <p:cNvPr id="322" name="Google Shape;322;p9"/>
                <p:cNvCxnSpPr/>
                <p:nvPr/>
              </p:nvCxnSpPr>
              <p:spPr>
                <a:xfrm>
                  <a:off x="2452000" y="3656475"/>
                  <a:ext cx="16200" cy="861300"/>
                </a:xfrm>
                <a:prstGeom prst="straightConnector1">
                  <a:avLst/>
                </a:prstGeom>
                <a:noFill/>
                <a:ln cap="flat" cmpd="sng" w="38100">
                  <a:solidFill>
                    <a:schemeClr val="accent1"/>
                  </a:solidFill>
                  <a:prstDash val="solid"/>
                  <a:round/>
                  <a:headEnd len="med" w="med" type="none"/>
                  <a:tailEnd len="med" w="med" type="triangle"/>
                </a:ln>
              </p:spPr>
            </p:cxnSp>
          </p:grpSp>
          <p:sp>
            <p:nvSpPr>
              <p:cNvPr id="323" name="Google Shape;323;p9"/>
              <p:cNvSpPr txBox="1"/>
              <p:nvPr/>
            </p:nvSpPr>
            <p:spPr>
              <a:xfrm>
                <a:off x="1283850" y="4482375"/>
                <a:ext cx="455100" cy="49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A</a:t>
                </a:r>
                <a:endParaRPr b="1" baseline="-25000">
                  <a:solidFill>
                    <a:srgbClr val="FF0000"/>
                  </a:solidFill>
                </a:endParaRPr>
              </a:p>
            </p:txBody>
          </p:sp>
          <p:sp>
            <p:nvSpPr>
              <p:cNvPr id="324" name="Google Shape;324;p9"/>
              <p:cNvSpPr txBox="1"/>
              <p:nvPr/>
            </p:nvSpPr>
            <p:spPr>
              <a:xfrm>
                <a:off x="2232550" y="4482375"/>
                <a:ext cx="455100" cy="49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B</a:t>
                </a:r>
                <a:endParaRPr b="1" baseline="-25000">
                  <a:solidFill>
                    <a:srgbClr val="FF0000"/>
                  </a:solidFill>
                </a:endParaRPr>
              </a:p>
            </p:txBody>
          </p:sp>
          <p:sp>
            <p:nvSpPr>
              <p:cNvPr id="325" name="Google Shape;325;p9"/>
              <p:cNvSpPr txBox="1"/>
              <p:nvPr/>
            </p:nvSpPr>
            <p:spPr>
              <a:xfrm>
                <a:off x="861808" y="1614080"/>
                <a:ext cx="725400" cy="49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pinA</a:t>
                </a:r>
                <a:r>
                  <a:rPr b="1" lang="en-AU">
                    <a:solidFill>
                      <a:srgbClr val="FF0000"/>
                    </a:solidFill>
                  </a:rPr>
                  <a:t> </a:t>
                </a:r>
                <a:endParaRPr b="1">
                  <a:solidFill>
                    <a:srgbClr val="FF0000"/>
                  </a:solidFill>
                </a:endParaRPr>
              </a:p>
            </p:txBody>
          </p:sp>
          <p:sp>
            <p:nvSpPr>
              <p:cNvPr id="326" name="Google Shape;326;p9"/>
              <p:cNvSpPr txBox="1"/>
              <p:nvPr/>
            </p:nvSpPr>
            <p:spPr>
              <a:xfrm>
                <a:off x="2551924" y="1614080"/>
                <a:ext cx="725400" cy="49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pinB</a:t>
                </a:r>
                <a:r>
                  <a:rPr b="1" lang="en-AU">
                    <a:solidFill>
                      <a:srgbClr val="FF0000"/>
                    </a:solidFill>
                  </a:rPr>
                  <a:t> </a:t>
                </a:r>
                <a:endParaRPr b="1">
                  <a:solidFill>
                    <a:srgbClr val="FF0000"/>
                  </a:solidFill>
                </a:endParaRPr>
              </a:p>
            </p:txBody>
          </p:sp>
        </p:grpSp>
        <p:sp>
          <p:nvSpPr>
            <p:cNvPr id="327" name="Google Shape;327;p9"/>
            <p:cNvSpPr txBox="1"/>
            <p:nvPr/>
          </p:nvSpPr>
          <p:spPr>
            <a:xfrm>
              <a:off x="1186025" y="3022600"/>
              <a:ext cx="725400" cy="49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chemeClr val="accent1"/>
                  </a:solidFill>
                </a:rPr>
                <a:t>𝜏</a:t>
              </a:r>
              <a:r>
                <a:rPr b="1" baseline="-25000" lang="en-AU">
                  <a:solidFill>
                    <a:schemeClr val="accent1"/>
                  </a:solidFill>
                </a:rPr>
                <a:t>motor</a:t>
              </a:r>
              <a:endParaRPr b="1" baseline="-25000">
                <a:solidFill>
                  <a:schemeClr val="accent1"/>
                </a:solidFill>
              </a:endParaRPr>
            </a:p>
          </p:txBody>
        </p:sp>
        <p:sp>
          <p:nvSpPr>
            <p:cNvPr id="328" name="Google Shape;328;p9"/>
            <p:cNvSpPr/>
            <p:nvPr/>
          </p:nvSpPr>
          <p:spPr>
            <a:xfrm rot="10800000">
              <a:off x="1186025" y="3429000"/>
              <a:ext cx="504000" cy="266100"/>
            </a:xfrm>
            <a:prstGeom prst="curvedUpArrow">
              <a:avLst>
                <a:gd fmla="val 8563" name="adj1"/>
                <a:gd fmla="val 50000" name="adj2"/>
                <a:gd fmla="val 25712" name="adj3"/>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 name="Google Shape;329;p9"/>
          <p:cNvGrpSpPr/>
          <p:nvPr/>
        </p:nvGrpSpPr>
        <p:grpSpPr>
          <a:xfrm>
            <a:off x="3068025" y="1003650"/>
            <a:ext cx="3638455" cy="3437838"/>
            <a:chOff x="8354425" y="1177213"/>
            <a:chExt cx="3638455" cy="3437838"/>
          </a:xfrm>
        </p:grpSpPr>
        <p:grpSp>
          <p:nvGrpSpPr>
            <p:cNvPr id="330" name="Google Shape;330;p9"/>
            <p:cNvGrpSpPr/>
            <p:nvPr/>
          </p:nvGrpSpPr>
          <p:grpSpPr>
            <a:xfrm>
              <a:off x="8354425" y="1177213"/>
              <a:ext cx="3638455" cy="3437838"/>
              <a:chOff x="8354425" y="1177213"/>
              <a:chExt cx="3638455" cy="3437838"/>
            </a:xfrm>
          </p:grpSpPr>
          <p:grpSp>
            <p:nvGrpSpPr>
              <p:cNvPr id="331" name="Google Shape;331;p9"/>
              <p:cNvGrpSpPr/>
              <p:nvPr/>
            </p:nvGrpSpPr>
            <p:grpSpPr>
              <a:xfrm>
                <a:off x="8354425" y="1177213"/>
                <a:ext cx="3638455" cy="3090724"/>
                <a:chOff x="7399850" y="1006175"/>
                <a:chExt cx="3638455" cy="3090724"/>
              </a:xfrm>
            </p:grpSpPr>
            <p:pic>
              <p:nvPicPr>
                <p:cNvPr id="332" name="Google Shape;332;p9"/>
                <p:cNvPicPr preferRelativeResize="0"/>
                <p:nvPr/>
              </p:nvPicPr>
              <p:blipFill rotWithShape="1">
                <a:blip r:embed="rId4">
                  <a:alphaModFix/>
                </a:blip>
                <a:srcRect b="0" l="44541" r="7789" t="2666"/>
                <a:stretch/>
              </p:blipFill>
              <p:spPr>
                <a:xfrm>
                  <a:off x="7399850" y="1006175"/>
                  <a:ext cx="1892074" cy="3090724"/>
                </a:xfrm>
                <a:prstGeom prst="rect">
                  <a:avLst/>
                </a:prstGeom>
                <a:noFill/>
                <a:ln>
                  <a:noFill/>
                </a:ln>
              </p:spPr>
            </p:pic>
            <p:pic>
              <p:nvPicPr>
                <p:cNvPr id="333" name="Google Shape;333;p9"/>
                <p:cNvPicPr preferRelativeResize="0"/>
                <p:nvPr/>
              </p:nvPicPr>
              <p:blipFill rotWithShape="1">
                <a:blip r:embed="rId5">
                  <a:alphaModFix/>
                </a:blip>
                <a:srcRect b="0" l="45771" r="10018" t="2200"/>
                <a:stretch/>
              </p:blipFill>
              <p:spPr>
                <a:xfrm>
                  <a:off x="9291925" y="1006175"/>
                  <a:ext cx="1746380" cy="3090724"/>
                </a:xfrm>
                <a:prstGeom prst="rect">
                  <a:avLst/>
                </a:prstGeom>
                <a:noFill/>
                <a:ln>
                  <a:noFill/>
                </a:ln>
              </p:spPr>
            </p:pic>
          </p:grpSp>
          <p:cxnSp>
            <p:nvCxnSpPr>
              <p:cNvPr id="334" name="Google Shape;334;p9"/>
              <p:cNvCxnSpPr/>
              <p:nvPr/>
            </p:nvCxnSpPr>
            <p:spPr>
              <a:xfrm rot="10800000">
                <a:off x="9929700" y="2457450"/>
                <a:ext cx="14400" cy="914400"/>
              </a:xfrm>
              <a:prstGeom prst="straightConnector1">
                <a:avLst/>
              </a:prstGeom>
              <a:noFill/>
              <a:ln cap="flat" cmpd="sng" w="38100">
                <a:solidFill>
                  <a:schemeClr val="accent1"/>
                </a:solidFill>
                <a:prstDash val="solid"/>
                <a:round/>
                <a:headEnd len="med" w="med" type="none"/>
                <a:tailEnd len="med" w="med" type="triangle"/>
              </a:ln>
            </p:spPr>
          </p:cxnSp>
          <p:sp>
            <p:nvSpPr>
              <p:cNvPr id="335" name="Google Shape;335;p9"/>
              <p:cNvSpPr txBox="1"/>
              <p:nvPr/>
            </p:nvSpPr>
            <p:spPr>
              <a:xfrm>
                <a:off x="9574200" y="2019150"/>
                <a:ext cx="725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pinA</a:t>
                </a:r>
                <a:r>
                  <a:rPr b="1" lang="en-AU">
                    <a:solidFill>
                      <a:srgbClr val="FF0000"/>
                    </a:solidFill>
                  </a:rPr>
                  <a:t> </a:t>
                </a:r>
                <a:endParaRPr/>
              </a:p>
            </p:txBody>
          </p:sp>
          <p:cxnSp>
            <p:nvCxnSpPr>
              <p:cNvPr id="336" name="Google Shape;336;p9"/>
              <p:cNvCxnSpPr/>
              <p:nvPr/>
            </p:nvCxnSpPr>
            <p:spPr>
              <a:xfrm>
                <a:off x="8772525" y="3371850"/>
                <a:ext cx="0" cy="843000"/>
              </a:xfrm>
              <a:prstGeom prst="straightConnector1">
                <a:avLst/>
              </a:prstGeom>
              <a:noFill/>
              <a:ln cap="flat" cmpd="sng" w="38100">
                <a:solidFill>
                  <a:srgbClr val="FF0000"/>
                </a:solidFill>
                <a:prstDash val="solid"/>
                <a:round/>
                <a:headEnd len="med" w="med" type="none"/>
                <a:tailEnd len="med" w="med" type="triangle"/>
              </a:ln>
            </p:spPr>
          </p:cxnSp>
          <p:cxnSp>
            <p:nvCxnSpPr>
              <p:cNvPr id="337" name="Google Shape;337;p9"/>
              <p:cNvCxnSpPr/>
              <p:nvPr/>
            </p:nvCxnSpPr>
            <p:spPr>
              <a:xfrm rot="10800000">
                <a:off x="10396425" y="2457450"/>
                <a:ext cx="14400" cy="914400"/>
              </a:xfrm>
              <a:prstGeom prst="straightConnector1">
                <a:avLst/>
              </a:prstGeom>
              <a:noFill/>
              <a:ln cap="flat" cmpd="sng" w="38100">
                <a:solidFill>
                  <a:schemeClr val="accent1"/>
                </a:solidFill>
                <a:prstDash val="solid"/>
                <a:round/>
                <a:headEnd len="med" w="med" type="none"/>
                <a:tailEnd len="med" w="med" type="triangle"/>
              </a:ln>
            </p:spPr>
          </p:cxnSp>
          <p:sp>
            <p:nvSpPr>
              <p:cNvPr id="338" name="Google Shape;338;p9"/>
              <p:cNvSpPr txBox="1"/>
              <p:nvPr/>
            </p:nvSpPr>
            <p:spPr>
              <a:xfrm>
                <a:off x="10139375" y="2019150"/>
                <a:ext cx="790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pinA</a:t>
                </a:r>
                <a:r>
                  <a:rPr b="1" lang="en-AU">
                    <a:solidFill>
                      <a:srgbClr val="FF0000"/>
                    </a:solidFill>
                  </a:rPr>
                  <a:t> </a:t>
                </a:r>
                <a:endParaRPr/>
              </a:p>
            </p:txBody>
          </p:sp>
          <p:cxnSp>
            <p:nvCxnSpPr>
              <p:cNvPr id="339" name="Google Shape;339;p9"/>
              <p:cNvCxnSpPr/>
              <p:nvPr/>
            </p:nvCxnSpPr>
            <p:spPr>
              <a:xfrm>
                <a:off x="10810875" y="3371850"/>
                <a:ext cx="0" cy="843000"/>
              </a:xfrm>
              <a:prstGeom prst="straightConnector1">
                <a:avLst/>
              </a:prstGeom>
              <a:noFill/>
              <a:ln cap="flat" cmpd="sng" w="38100">
                <a:solidFill>
                  <a:srgbClr val="FF0000"/>
                </a:solidFill>
                <a:prstDash val="solid"/>
                <a:round/>
                <a:headEnd len="med" w="med" type="none"/>
                <a:tailEnd len="med" w="med" type="triangle"/>
              </a:ln>
            </p:spPr>
          </p:cxnSp>
          <p:sp>
            <p:nvSpPr>
              <p:cNvPr id="340" name="Google Shape;340;p9"/>
              <p:cNvSpPr txBox="1"/>
              <p:nvPr/>
            </p:nvSpPr>
            <p:spPr>
              <a:xfrm>
                <a:off x="8551975" y="4214850"/>
                <a:ext cx="457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A</a:t>
                </a:r>
                <a:endParaRPr b="1" baseline="-25000">
                  <a:solidFill>
                    <a:srgbClr val="FF0000"/>
                  </a:solidFill>
                </a:endParaRPr>
              </a:p>
            </p:txBody>
          </p:sp>
          <p:sp>
            <p:nvSpPr>
              <p:cNvPr id="341" name="Google Shape;341;p9"/>
              <p:cNvSpPr txBox="1"/>
              <p:nvPr/>
            </p:nvSpPr>
            <p:spPr>
              <a:xfrm>
                <a:off x="10556100" y="4167225"/>
                <a:ext cx="457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B</a:t>
                </a:r>
                <a:endParaRPr b="1" baseline="-25000">
                  <a:solidFill>
                    <a:srgbClr val="FF0000"/>
                  </a:solidFill>
                </a:endParaRPr>
              </a:p>
            </p:txBody>
          </p:sp>
        </p:grpSp>
        <p:cxnSp>
          <p:nvCxnSpPr>
            <p:cNvPr id="342" name="Google Shape;342;p9"/>
            <p:cNvCxnSpPr/>
            <p:nvPr/>
          </p:nvCxnSpPr>
          <p:spPr>
            <a:xfrm>
              <a:off x="9520225" y="3324225"/>
              <a:ext cx="0" cy="843000"/>
            </a:xfrm>
            <a:prstGeom prst="straightConnector1">
              <a:avLst/>
            </a:prstGeom>
            <a:noFill/>
            <a:ln cap="flat" cmpd="sng" w="38100">
              <a:solidFill>
                <a:srgbClr val="FF0000"/>
              </a:solidFill>
              <a:prstDash val="solid"/>
              <a:round/>
              <a:headEnd len="med" w="med" type="none"/>
              <a:tailEnd len="med" w="med" type="triangle"/>
            </a:ln>
          </p:spPr>
        </p:cxnSp>
        <p:cxnSp>
          <p:nvCxnSpPr>
            <p:cNvPr id="343" name="Google Shape;343;p9"/>
            <p:cNvCxnSpPr/>
            <p:nvPr/>
          </p:nvCxnSpPr>
          <p:spPr>
            <a:xfrm>
              <a:off x="11582400" y="3324225"/>
              <a:ext cx="0" cy="843000"/>
            </a:xfrm>
            <a:prstGeom prst="straightConnector1">
              <a:avLst/>
            </a:prstGeom>
            <a:noFill/>
            <a:ln cap="flat" cmpd="sng" w="38100">
              <a:solidFill>
                <a:srgbClr val="FF0000"/>
              </a:solidFill>
              <a:prstDash val="solid"/>
              <a:round/>
              <a:headEnd len="med" w="med" type="none"/>
              <a:tailEnd len="med" w="med" type="triangle"/>
            </a:ln>
          </p:spPr>
        </p:cxnSp>
        <p:sp>
          <p:nvSpPr>
            <p:cNvPr id="344" name="Google Shape;344;p9"/>
            <p:cNvSpPr txBox="1"/>
            <p:nvPr/>
          </p:nvSpPr>
          <p:spPr>
            <a:xfrm>
              <a:off x="11322900" y="4167225"/>
              <a:ext cx="51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A</a:t>
              </a:r>
              <a:endParaRPr b="1" baseline="-25000">
                <a:solidFill>
                  <a:srgbClr val="FF0000"/>
                </a:solidFill>
              </a:endParaRPr>
            </a:p>
          </p:txBody>
        </p:sp>
        <p:sp>
          <p:nvSpPr>
            <p:cNvPr id="345" name="Google Shape;345;p9"/>
            <p:cNvSpPr txBox="1"/>
            <p:nvPr/>
          </p:nvSpPr>
          <p:spPr>
            <a:xfrm>
              <a:off x="9260725" y="4167225"/>
              <a:ext cx="51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B</a:t>
              </a:r>
              <a:endParaRPr b="1" baseline="-25000">
                <a:solidFill>
                  <a:srgbClr val="FF0000"/>
                </a:solidFill>
              </a:endParaRPr>
            </a:p>
          </p:txBody>
        </p:sp>
      </p:grpSp>
      <p:sp>
        <p:nvSpPr>
          <p:cNvPr id="346" name="Google Shape;346;p9"/>
          <p:cNvSpPr txBox="1"/>
          <p:nvPr/>
        </p:nvSpPr>
        <p:spPr>
          <a:xfrm>
            <a:off x="178775" y="4972050"/>
            <a:ext cx="52611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latin typeface="Arial Narrow"/>
                <a:ea typeface="Arial Narrow"/>
                <a:cs typeface="Arial Narrow"/>
                <a:sym typeface="Arial Narrow"/>
              </a:rPr>
              <a:t>To correctly </a:t>
            </a:r>
            <a:r>
              <a:rPr lang="en-AU">
                <a:latin typeface="Arial Narrow"/>
                <a:ea typeface="Arial Narrow"/>
                <a:cs typeface="Arial Narrow"/>
                <a:sym typeface="Arial Narrow"/>
              </a:rPr>
              <a:t>analyze the forces within the shafts, a action-reaction force pair had to be considered as the gears interact with each other, called F gear.</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To simplify the analysis, the shafts are considered to be massless. In shaft A the reaction force is assumed to be carried by the motor, with the bearing as a guide. The force transfer is assumed to be 100% efficient (pressure angle = 0).</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Z-Y axis not included as it provides no additional information  </a:t>
            </a:r>
            <a:endParaRPr>
              <a:latin typeface="Arial Narrow"/>
              <a:ea typeface="Arial Narrow"/>
              <a:cs typeface="Arial Narrow"/>
              <a:sym typeface="Arial Narrow"/>
            </a:endParaRPr>
          </a:p>
        </p:txBody>
      </p:sp>
      <p:grpSp>
        <p:nvGrpSpPr>
          <p:cNvPr id="347" name="Google Shape;347;p9"/>
          <p:cNvGrpSpPr/>
          <p:nvPr/>
        </p:nvGrpSpPr>
        <p:grpSpPr>
          <a:xfrm>
            <a:off x="7329174" y="727289"/>
            <a:ext cx="1672466" cy="2443518"/>
            <a:chOff x="9214374" y="247652"/>
            <a:chExt cx="1672466" cy="2443518"/>
          </a:xfrm>
        </p:grpSpPr>
        <p:pic>
          <p:nvPicPr>
            <p:cNvPr id="348" name="Google Shape;348;p9"/>
            <p:cNvPicPr preferRelativeResize="0"/>
            <p:nvPr/>
          </p:nvPicPr>
          <p:blipFill rotWithShape="1">
            <a:blip r:embed="rId6">
              <a:alphaModFix/>
            </a:blip>
            <a:srcRect b="-1929" l="20760" r="0" t="1930"/>
            <a:stretch/>
          </p:blipFill>
          <p:spPr>
            <a:xfrm>
              <a:off x="9326929" y="718177"/>
              <a:ext cx="1542737" cy="1644442"/>
            </a:xfrm>
            <a:prstGeom prst="rect">
              <a:avLst/>
            </a:prstGeom>
            <a:noFill/>
            <a:ln>
              <a:noFill/>
            </a:ln>
          </p:spPr>
        </p:pic>
        <p:cxnSp>
          <p:nvCxnSpPr>
            <p:cNvPr id="349" name="Google Shape;349;p9"/>
            <p:cNvCxnSpPr/>
            <p:nvPr/>
          </p:nvCxnSpPr>
          <p:spPr>
            <a:xfrm rot="10800000">
              <a:off x="10637080" y="585975"/>
              <a:ext cx="5916" cy="953482"/>
            </a:xfrm>
            <a:prstGeom prst="straightConnector1">
              <a:avLst/>
            </a:prstGeom>
            <a:noFill/>
            <a:ln cap="flat" cmpd="sng" w="38100">
              <a:solidFill>
                <a:schemeClr val="accent1"/>
              </a:solidFill>
              <a:prstDash val="solid"/>
              <a:round/>
              <a:headEnd len="med" w="med" type="none"/>
              <a:tailEnd len="med" w="med" type="triangle"/>
            </a:ln>
          </p:spPr>
        </p:cxnSp>
        <p:cxnSp>
          <p:nvCxnSpPr>
            <p:cNvPr id="350" name="Google Shape;350;p9"/>
            <p:cNvCxnSpPr/>
            <p:nvPr/>
          </p:nvCxnSpPr>
          <p:spPr>
            <a:xfrm rot="10800000">
              <a:off x="9522384" y="585975"/>
              <a:ext cx="5916" cy="953482"/>
            </a:xfrm>
            <a:prstGeom prst="straightConnector1">
              <a:avLst/>
            </a:prstGeom>
            <a:noFill/>
            <a:ln cap="flat" cmpd="sng" w="38100">
              <a:solidFill>
                <a:schemeClr val="accent1"/>
              </a:solidFill>
              <a:prstDash val="solid"/>
              <a:round/>
              <a:headEnd len="med" w="med" type="none"/>
              <a:tailEnd len="med" w="med" type="triangle"/>
            </a:ln>
          </p:spPr>
        </p:cxnSp>
        <p:cxnSp>
          <p:nvCxnSpPr>
            <p:cNvPr id="351" name="Google Shape;351;p9"/>
            <p:cNvCxnSpPr/>
            <p:nvPr/>
          </p:nvCxnSpPr>
          <p:spPr>
            <a:xfrm>
              <a:off x="10075750" y="1477061"/>
              <a:ext cx="13890" cy="763370"/>
            </a:xfrm>
            <a:prstGeom prst="straightConnector1">
              <a:avLst/>
            </a:prstGeom>
            <a:noFill/>
            <a:ln cap="flat" cmpd="sng" w="38100">
              <a:solidFill>
                <a:schemeClr val="accent1"/>
              </a:solidFill>
              <a:prstDash val="solid"/>
              <a:round/>
              <a:headEnd len="med" w="med" type="none"/>
              <a:tailEnd len="med" w="med" type="triangle"/>
            </a:ln>
          </p:spPr>
        </p:cxnSp>
        <p:sp>
          <p:nvSpPr>
            <p:cNvPr id="352" name="Google Shape;352;p9"/>
            <p:cNvSpPr txBox="1"/>
            <p:nvPr/>
          </p:nvSpPr>
          <p:spPr>
            <a:xfrm>
              <a:off x="9214374" y="247663"/>
              <a:ext cx="621958" cy="40016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pinB</a:t>
              </a:r>
              <a:r>
                <a:rPr b="1" lang="en-AU">
                  <a:solidFill>
                    <a:srgbClr val="FF0000"/>
                  </a:solidFill>
                </a:rPr>
                <a:t> </a:t>
              </a:r>
              <a:endParaRPr b="1">
                <a:solidFill>
                  <a:srgbClr val="FF0000"/>
                </a:solidFill>
              </a:endParaRPr>
            </a:p>
          </p:txBody>
        </p:sp>
        <p:sp>
          <p:nvSpPr>
            <p:cNvPr id="353" name="Google Shape;353;p9"/>
            <p:cNvSpPr txBox="1"/>
            <p:nvPr/>
          </p:nvSpPr>
          <p:spPr>
            <a:xfrm>
              <a:off x="9851487" y="2291005"/>
              <a:ext cx="493605" cy="40016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B</a:t>
              </a:r>
              <a:endParaRPr b="1" baseline="-25000">
                <a:solidFill>
                  <a:srgbClr val="FF0000"/>
                </a:solidFill>
              </a:endParaRPr>
            </a:p>
          </p:txBody>
        </p:sp>
        <p:sp>
          <p:nvSpPr>
            <p:cNvPr id="354" name="Google Shape;354;p9"/>
            <p:cNvSpPr txBox="1"/>
            <p:nvPr/>
          </p:nvSpPr>
          <p:spPr>
            <a:xfrm>
              <a:off x="10393235" y="247652"/>
              <a:ext cx="493605" cy="615535"/>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gear</a:t>
              </a:r>
              <a:endParaRPr b="1" baseline="-25000">
                <a:solidFill>
                  <a:srgbClr val="FF0000"/>
                </a:solidFill>
              </a:endParaRPr>
            </a:p>
          </p:txBody>
        </p:sp>
      </p:grpSp>
      <p:grpSp>
        <p:nvGrpSpPr>
          <p:cNvPr id="355" name="Google Shape;355;p9"/>
          <p:cNvGrpSpPr/>
          <p:nvPr/>
        </p:nvGrpSpPr>
        <p:grpSpPr>
          <a:xfrm>
            <a:off x="7329151" y="3066055"/>
            <a:ext cx="1672530" cy="2544081"/>
            <a:chOff x="9747732" y="3874585"/>
            <a:chExt cx="1425249" cy="2070884"/>
          </a:xfrm>
        </p:grpSpPr>
        <p:pic>
          <p:nvPicPr>
            <p:cNvPr id="356" name="Google Shape;356;p9"/>
            <p:cNvPicPr preferRelativeResize="0"/>
            <p:nvPr/>
          </p:nvPicPr>
          <p:blipFill rotWithShape="1">
            <a:blip r:embed="rId7">
              <a:alphaModFix/>
            </a:blip>
            <a:srcRect b="0" l="22420" r="0" t="0"/>
            <a:stretch/>
          </p:blipFill>
          <p:spPr>
            <a:xfrm>
              <a:off x="9841754" y="4186784"/>
              <a:ext cx="1331226" cy="1349120"/>
            </a:xfrm>
            <a:prstGeom prst="rect">
              <a:avLst/>
            </a:prstGeom>
            <a:noFill/>
            <a:ln>
              <a:noFill/>
            </a:ln>
          </p:spPr>
        </p:pic>
        <p:cxnSp>
          <p:nvCxnSpPr>
            <p:cNvPr id="357" name="Google Shape;357;p9"/>
            <p:cNvCxnSpPr>
              <a:endCxn id="358" idx="0"/>
            </p:cNvCxnSpPr>
            <p:nvPr/>
          </p:nvCxnSpPr>
          <p:spPr>
            <a:xfrm flipH="1">
              <a:off x="10458263" y="4854069"/>
              <a:ext cx="13800" cy="765600"/>
            </a:xfrm>
            <a:prstGeom prst="straightConnector1">
              <a:avLst/>
            </a:prstGeom>
            <a:noFill/>
            <a:ln cap="flat" cmpd="sng" w="38100">
              <a:solidFill>
                <a:schemeClr val="accent1"/>
              </a:solidFill>
              <a:prstDash val="solid"/>
              <a:round/>
              <a:headEnd len="med" w="med" type="none"/>
              <a:tailEnd len="med" w="med" type="triangle"/>
            </a:ln>
          </p:spPr>
        </p:cxnSp>
        <p:cxnSp>
          <p:nvCxnSpPr>
            <p:cNvPr id="359" name="Google Shape;359;p9"/>
            <p:cNvCxnSpPr/>
            <p:nvPr/>
          </p:nvCxnSpPr>
          <p:spPr>
            <a:xfrm>
              <a:off x="9988542" y="4853065"/>
              <a:ext cx="6486" cy="718238"/>
            </a:xfrm>
            <a:prstGeom prst="straightConnector1">
              <a:avLst/>
            </a:prstGeom>
            <a:noFill/>
            <a:ln cap="flat" cmpd="sng" w="38100">
              <a:solidFill>
                <a:srgbClr val="FF0000"/>
              </a:solidFill>
              <a:prstDash val="solid"/>
              <a:round/>
              <a:headEnd len="med" w="med" type="none"/>
              <a:tailEnd len="med" w="med" type="triangle"/>
            </a:ln>
          </p:spPr>
        </p:cxnSp>
        <p:sp>
          <p:nvSpPr>
            <p:cNvPr id="360" name="Google Shape;360;p9"/>
            <p:cNvSpPr/>
            <p:nvPr/>
          </p:nvSpPr>
          <p:spPr>
            <a:xfrm>
              <a:off x="10195902" y="4574335"/>
              <a:ext cx="580828" cy="278730"/>
            </a:xfrm>
            <a:prstGeom prst="curvedDownArrow">
              <a:avLst>
                <a:gd fmla="val 13645" name="adj1"/>
                <a:gd fmla="val 50000" name="adj2"/>
                <a:gd fmla="val 25000" name="adj3"/>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9"/>
            <p:cNvSpPr txBox="1"/>
            <p:nvPr/>
          </p:nvSpPr>
          <p:spPr>
            <a:xfrm>
              <a:off x="9747732" y="5602760"/>
              <a:ext cx="488100" cy="32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gear</a:t>
              </a:r>
              <a:endParaRPr/>
            </a:p>
          </p:txBody>
        </p:sp>
        <p:sp>
          <p:nvSpPr>
            <p:cNvPr id="358" name="Google Shape;358;p9"/>
            <p:cNvSpPr txBox="1"/>
            <p:nvPr/>
          </p:nvSpPr>
          <p:spPr>
            <a:xfrm>
              <a:off x="10275263" y="5619669"/>
              <a:ext cx="366000" cy="32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A</a:t>
              </a:r>
              <a:endParaRPr b="1" baseline="-25000">
                <a:solidFill>
                  <a:srgbClr val="FF0000"/>
                </a:solidFill>
              </a:endParaRPr>
            </a:p>
          </p:txBody>
        </p:sp>
        <p:sp>
          <p:nvSpPr>
            <p:cNvPr id="362" name="Google Shape;362;p9"/>
            <p:cNvSpPr txBox="1"/>
            <p:nvPr/>
          </p:nvSpPr>
          <p:spPr>
            <a:xfrm>
              <a:off x="10684881" y="3874585"/>
              <a:ext cx="488100" cy="32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pinA</a:t>
              </a:r>
              <a:endParaRPr/>
            </a:p>
          </p:txBody>
        </p:sp>
        <p:cxnSp>
          <p:nvCxnSpPr>
            <p:cNvPr id="363" name="Google Shape;363;p9"/>
            <p:cNvCxnSpPr/>
            <p:nvPr/>
          </p:nvCxnSpPr>
          <p:spPr>
            <a:xfrm rot="10800000">
              <a:off x="10977577" y="4186781"/>
              <a:ext cx="5044" cy="715664"/>
            </a:xfrm>
            <a:prstGeom prst="straightConnector1">
              <a:avLst/>
            </a:prstGeom>
            <a:noFill/>
            <a:ln cap="flat" cmpd="sng" w="38100">
              <a:solidFill>
                <a:srgbClr val="FF0000"/>
              </a:solidFill>
              <a:prstDash val="solid"/>
              <a:round/>
              <a:headEnd len="med" w="med" type="none"/>
              <a:tailEnd len="med" w="med" type="triangle"/>
            </a:ln>
          </p:spPr>
        </p:cxnSp>
      </p:grpSp>
      <p:grpSp>
        <p:nvGrpSpPr>
          <p:cNvPr id="364" name="Google Shape;364;p9"/>
          <p:cNvGrpSpPr/>
          <p:nvPr/>
        </p:nvGrpSpPr>
        <p:grpSpPr>
          <a:xfrm>
            <a:off x="3068025" y="4256588"/>
            <a:ext cx="737300" cy="888900"/>
            <a:chOff x="13007350" y="3583225"/>
            <a:chExt cx="737300" cy="888900"/>
          </a:xfrm>
        </p:grpSpPr>
        <p:grpSp>
          <p:nvGrpSpPr>
            <p:cNvPr id="365" name="Google Shape;365;p9"/>
            <p:cNvGrpSpPr/>
            <p:nvPr/>
          </p:nvGrpSpPr>
          <p:grpSpPr>
            <a:xfrm>
              <a:off x="13173075" y="3886250"/>
              <a:ext cx="314400" cy="414300"/>
              <a:chOff x="13173075" y="3886250"/>
              <a:chExt cx="314400" cy="414300"/>
            </a:xfrm>
          </p:grpSpPr>
          <p:cxnSp>
            <p:nvCxnSpPr>
              <p:cNvPr id="366" name="Google Shape;366;p9"/>
              <p:cNvCxnSpPr/>
              <p:nvPr/>
            </p:nvCxnSpPr>
            <p:spPr>
              <a:xfrm rot="10800000">
                <a:off x="13173075" y="3886250"/>
                <a:ext cx="0" cy="414300"/>
              </a:xfrm>
              <a:prstGeom prst="straightConnector1">
                <a:avLst/>
              </a:prstGeom>
              <a:noFill/>
              <a:ln cap="flat" cmpd="sng" w="9525">
                <a:solidFill>
                  <a:schemeClr val="dk2"/>
                </a:solidFill>
                <a:prstDash val="solid"/>
                <a:round/>
                <a:headEnd len="med" w="med" type="none"/>
                <a:tailEnd len="med" w="med" type="triangle"/>
              </a:ln>
            </p:spPr>
          </p:cxnSp>
          <p:cxnSp>
            <p:nvCxnSpPr>
              <p:cNvPr id="367" name="Google Shape;367;p9"/>
              <p:cNvCxnSpPr/>
              <p:nvPr/>
            </p:nvCxnSpPr>
            <p:spPr>
              <a:xfrm>
                <a:off x="13173075" y="4286250"/>
                <a:ext cx="314400" cy="0"/>
              </a:xfrm>
              <a:prstGeom prst="straightConnector1">
                <a:avLst/>
              </a:prstGeom>
              <a:noFill/>
              <a:ln cap="flat" cmpd="sng" w="9525">
                <a:solidFill>
                  <a:schemeClr val="dk2"/>
                </a:solidFill>
                <a:prstDash val="solid"/>
                <a:round/>
                <a:headEnd len="med" w="med" type="none"/>
                <a:tailEnd len="med" w="med" type="triangle"/>
              </a:ln>
            </p:spPr>
          </p:cxnSp>
        </p:grpSp>
        <p:sp>
          <p:nvSpPr>
            <p:cNvPr id="368" name="Google Shape;368;p9"/>
            <p:cNvSpPr txBox="1"/>
            <p:nvPr/>
          </p:nvSpPr>
          <p:spPr>
            <a:xfrm>
              <a:off x="13007350" y="3583225"/>
              <a:ext cx="3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y</a:t>
              </a:r>
              <a:endParaRPr/>
            </a:p>
          </p:txBody>
        </p:sp>
        <p:sp>
          <p:nvSpPr>
            <p:cNvPr id="369" name="Google Shape;369;p9"/>
            <p:cNvSpPr txBox="1"/>
            <p:nvPr/>
          </p:nvSpPr>
          <p:spPr>
            <a:xfrm>
              <a:off x="13430250" y="4071925"/>
              <a:ext cx="3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x</a:t>
              </a:r>
              <a:endParaRPr/>
            </a:p>
          </p:txBody>
        </p:sp>
      </p:grpSp>
      <p:grpSp>
        <p:nvGrpSpPr>
          <p:cNvPr id="370" name="Google Shape;370;p9"/>
          <p:cNvGrpSpPr/>
          <p:nvPr/>
        </p:nvGrpSpPr>
        <p:grpSpPr>
          <a:xfrm>
            <a:off x="178775" y="4131613"/>
            <a:ext cx="737300" cy="888900"/>
            <a:chOff x="13007350" y="3583225"/>
            <a:chExt cx="737300" cy="888900"/>
          </a:xfrm>
        </p:grpSpPr>
        <p:grpSp>
          <p:nvGrpSpPr>
            <p:cNvPr id="371" name="Google Shape;371;p9"/>
            <p:cNvGrpSpPr/>
            <p:nvPr/>
          </p:nvGrpSpPr>
          <p:grpSpPr>
            <a:xfrm>
              <a:off x="13173075" y="3886250"/>
              <a:ext cx="314400" cy="414300"/>
              <a:chOff x="13173075" y="3886250"/>
              <a:chExt cx="314400" cy="414300"/>
            </a:xfrm>
          </p:grpSpPr>
          <p:cxnSp>
            <p:nvCxnSpPr>
              <p:cNvPr id="372" name="Google Shape;372;p9"/>
              <p:cNvCxnSpPr/>
              <p:nvPr/>
            </p:nvCxnSpPr>
            <p:spPr>
              <a:xfrm rot="10800000">
                <a:off x="13173075" y="3886250"/>
                <a:ext cx="0" cy="414300"/>
              </a:xfrm>
              <a:prstGeom prst="straightConnector1">
                <a:avLst/>
              </a:prstGeom>
              <a:noFill/>
              <a:ln cap="flat" cmpd="sng" w="9525">
                <a:solidFill>
                  <a:schemeClr val="dk2"/>
                </a:solidFill>
                <a:prstDash val="solid"/>
                <a:round/>
                <a:headEnd len="med" w="med" type="none"/>
                <a:tailEnd len="med" w="med" type="triangle"/>
              </a:ln>
            </p:spPr>
          </p:cxnSp>
          <p:cxnSp>
            <p:nvCxnSpPr>
              <p:cNvPr id="373" name="Google Shape;373;p9"/>
              <p:cNvCxnSpPr/>
              <p:nvPr/>
            </p:nvCxnSpPr>
            <p:spPr>
              <a:xfrm>
                <a:off x="13173075" y="4286250"/>
                <a:ext cx="314400" cy="0"/>
              </a:xfrm>
              <a:prstGeom prst="straightConnector1">
                <a:avLst/>
              </a:prstGeom>
              <a:noFill/>
              <a:ln cap="flat" cmpd="sng" w="9525">
                <a:solidFill>
                  <a:schemeClr val="dk2"/>
                </a:solidFill>
                <a:prstDash val="solid"/>
                <a:round/>
                <a:headEnd len="med" w="med" type="none"/>
                <a:tailEnd len="med" w="med" type="triangle"/>
              </a:ln>
            </p:spPr>
          </p:cxnSp>
        </p:grpSp>
        <p:sp>
          <p:nvSpPr>
            <p:cNvPr id="374" name="Google Shape;374;p9"/>
            <p:cNvSpPr txBox="1"/>
            <p:nvPr/>
          </p:nvSpPr>
          <p:spPr>
            <a:xfrm>
              <a:off x="13007350" y="3583225"/>
              <a:ext cx="3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y</a:t>
              </a:r>
              <a:endParaRPr/>
            </a:p>
          </p:txBody>
        </p:sp>
        <p:sp>
          <p:nvSpPr>
            <p:cNvPr id="375" name="Google Shape;375;p9"/>
            <p:cNvSpPr txBox="1"/>
            <p:nvPr/>
          </p:nvSpPr>
          <p:spPr>
            <a:xfrm>
              <a:off x="13430250" y="4071925"/>
              <a:ext cx="3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z</a:t>
              </a:r>
              <a:endParaRPr/>
            </a:p>
          </p:txBody>
        </p:sp>
      </p:grpSp>
      <p:grpSp>
        <p:nvGrpSpPr>
          <p:cNvPr id="376" name="Google Shape;376;p9"/>
          <p:cNvGrpSpPr/>
          <p:nvPr/>
        </p:nvGrpSpPr>
        <p:grpSpPr>
          <a:xfrm>
            <a:off x="5957275" y="4272313"/>
            <a:ext cx="771800" cy="857450"/>
            <a:chOff x="5163600" y="4256575"/>
            <a:chExt cx="771800" cy="857450"/>
          </a:xfrm>
        </p:grpSpPr>
        <p:grpSp>
          <p:nvGrpSpPr>
            <p:cNvPr id="377" name="Google Shape;377;p9"/>
            <p:cNvGrpSpPr/>
            <p:nvPr/>
          </p:nvGrpSpPr>
          <p:grpSpPr>
            <a:xfrm>
              <a:off x="5621000" y="4256575"/>
              <a:ext cx="314400" cy="717325"/>
              <a:chOff x="13007350" y="3583225"/>
              <a:chExt cx="314400" cy="717325"/>
            </a:xfrm>
          </p:grpSpPr>
          <p:cxnSp>
            <p:nvCxnSpPr>
              <p:cNvPr id="378" name="Google Shape;378;p9"/>
              <p:cNvCxnSpPr/>
              <p:nvPr/>
            </p:nvCxnSpPr>
            <p:spPr>
              <a:xfrm rot="10800000">
                <a:off x="13173075" y="3886250"/>
                <a:ext cx="0" cy="414300"/>
              </a:xfrm>
              <a:prstGeom prst="straightConnector1">
                <a:avLst/>
              </a:prstGeom>
              <a:noFill/>
              <a:ln cap="flat" cmpd="sng" w="9525">
                <a:solidFill>
                  <a:schemeClr val="dk2"/>
                </a:solidFill>
                <a:prstDash val="solid"/>
                <a:round/>
                <a:headEnd len="med" w="med" type="none"/>
                <a:tailEnd len="med" w="med" type="triangle"/>
              </a:ln>
            </p:spPr>
          </p:cxnSp>
          <p:sp>
            <p:nvSpPr>
              <p:cNvPr id="379" name="Google Shape;379;p9"/>
              <p:cNvSpPr txBox="1"/>
              <p:nvPr/>
            </p:nvSpPr>
            <p:spPr>
              <a:xfrm>
                <a:off x="13007350" y="3583225"/>
                <a:ext cx="3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y</a:t>
                </a:r>
                <a:endParaRPr/>
              </a:p>
            </p:txBody>
          </p:sp>
        </p:grpSp>
        <p:cxnSp>
          <p:nvCxnSpPr>
            <p:cNvPr id="380" name="Google Shape;380;p9"/>
            <p:cNvCxnSpPr/>
            <p:nvPr/>
          </p:nvCxnSpPr>
          <p:spPr>
            <a:xfrm flipH="1">
              <a:off x="5439900" y="4972050"/>
              <a:ext cx="351300" cy="1800"/>
            </a:xfrm>
            <a:prstGeom prst="straightConnector1">
              <a:avLst/>
            </a:prstGeom>
            <a:noFill/>
            <a:ln cap="flat" cmpd="sng" w="9525">
              <a:solidFill>
                <a:schemeClr val="dk2"/>
              </a:solidFill>
              <a:prstDash val="solid"/>
              <a:round/>
              <a:headEnd len="med" w="med" type="none"/>
              <a:tailEnd len="med" w="med" type="triangle"/>
            </a:ln>
          </p:spPr>
        </p:cxnSp>
        <p:sp>
          <p:nvSpPr>
            <p:cNvPr id="381" name="Google Shape;381;p9"/>
            <p:cNvSpPr txBox="1"/>
            <p:nvPr/>
          </p:nvSpPr>
          <p:spPr>
            <a:xfrm>
              <a:off x="5163600" y="4713825"/>
              <a:ext cx="27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solidFill>
                    <a:schemeClr val="dk1"/>
                  </a:solidFill>
                </a:rPr>
                <a:t>x</a:t>
              </a:r>
              <a:endParaRPr/>
            </a:p>
          </p:txBody>
        </p:sp>
      </p:grpSp>
      <p:sp>
        <p:nvSpPr>
          <p:cNvPr id="382" name="Google Shape;382;p9"/>
          <p:cNvSpPr txBox="1"/>
          <p:nvPr/>
        </p:nvSpPr>
        <p:spPr>
          <a:xfrm>
            <a:off x="225125" y="639700"/>
            <a:ext cx="251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a:latin typeface="Arial Narrow"/>
                <a:ea typeface="Arial Narrow"/>
                <a:cs typeface="Arial Narrow"/>
                <a:sym typeface="Arial Narrow"/>
              </a:rPr>
              <a:t>X-Z</a:t>
            </a:r>
            <a:endParaRPr b="1">
              <a:latin typeface="Arial Narrow"/>
              <a:ea typeface="Arial Narrow"/>
              <a:cs typeface="Arial Narrow"/>
              <a:sym typeface="Arial Narrow"/>
            </a:endParaRPr>
          </a:p>
        </p:txBody>
      </p:sp>
      <p:grpSp>
        <p:nvGrpSpPr>
          <p:cNvPr id="383" name="Google Shape;383;p9"/>
          <p:cNvGrpSpPr/>
          <p:nvPr/>
        </p:nvGrpSpPr>
        <p:grpSpPr>
          <a:xfrm>
            <a:off x="7457075" y="5890213"/>
            <a:ext cx="772525" cy="903125"/>
            <a:chOff x="12549225" y="3583225"/>
            <a:chExt cx="772525" cy="903125"/>
          </a:xfrm>
        </p:grpSpPr>
        <p:grpSp>
          <p:nvGrpSpPr>
            <p:cNvPr id="384" name="Google Shape;384;p9"/>
            <p:cNvGrpSpPr/>
            <p:nvPr/>
          </p:nvGrpSpPr>
          <p:grpSpPr>
            <a:xfrm>
              <a:off x="12863625" y="3886113"/>
              <a:ext cx="309600" cy="406800"/>
              <a:chOff x="12863625" y="3886113"/>
              <a:chExt cx="309600" cy="406800"/>
            </a:xfrm>
          </p:grpSpPr>
          <p:cxnSp>
            <p:nvCxnSpPr>
              <p:cNvPr id="385" name="Google Shape;385;p9"/>
              <p:cNvCxnSpPr/>
              <p:nvPr/>
            </p:nvCxnSpPr>
            <p:spPr>
              <a:xfrm rot="10800000">
                <a:off x="13173150" y="3886113"/>
                <a:ext cx="0" cy="406800"/>
              </a:xfrm>
              <a:prstGeom prst="straightConnector1">
                <a:avLst/>
              </a:prstGeom>
              <a:noFill/>
              <a:ln cap="flat" cmpd="sng" w="9525">
                <a:solidFill>
                  <a:schemeClr val="dk2"/>
                </a:solidFill>
                <a:prstDash val="solid"/>
                <a:round/>
                <a:headEnd len="med" w="med" type="none"/>
                <a:tailEnd len="med" w="med" type="triangle"/>
              </a:ln>
            </p:spPr>
          </p:cxnSp>
          <p:cxnSp>
            <p:nvCxnSpPr>
              <p:cNvPr id="386" name="Google Shape;386;p9"/>
              <p:cNvCxnSpPr>
                <a:endCxn id="387" idx="3"/>
              </p:cNvCxnSpPr>
              <p:nvPr/>
            </p:nvCxnSpPr>
            <p:spPr>
              <a:xfrm rot="10800000">
                <a:off x="12863625" y="4286250"/>
                <a:ext cx="309600" cy="6600"/>
              </a:xfrm>
              <a:prstGeom prst="straightConnector1">
                <a:avLst/>
              </a:prstGeom>
              <a:noFill/>
              <a:ln cap="flat" cmpd="sng" w="9525">
                <a:solidFill>
                  <a:schemeClr val="dk2"/>
                </a:solidFill>
                <a:prstDash val="solid"/>
                <a:round/>
                <a:headEnd len="med" w="med" type="none"/>
                <a:tailEnd len="med" w="med" type="triangle"/>
              </a:ln>
            </p:spPr>
          </p:cxnSp>
        </p:grpSp>
        <p:sp>
          <p:nvSpPr>
            <p:cNvPr id="388" name="Google Shape;388;p9"/>
            <p:cNvSpPr txBox="1"/>
            <p:nvPr/>
          </p:nvSpPr>
          <p:spPr>
            <a:xfrm>
              <a:off x="13007350" y="3583225"/>
              <a:ext cx="3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y</a:t>
              </a:r>
              <a:endParaRPr/>
            </a:p>
          </p:txBody>
        </p:sp>
        <p:sp>
          <p:nvSpPr>
            <p:cNvPr id="387" name="Google Shape;387;p9"/>
            <p:cNvSpPr txBox="1"/>
            <p:nvPr/>
          </p:nvSpPr>
          <p:spPr>
            <a:xfrm>
              <a:off x="12549225" y="4086150"/>
              <a:ext cx="3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z</a:t>
              </a:r>
              <a:endParaRPr/>
            </a:p>
          </p:txBody>
        </p:sp>
      </p:grpSp>
      <p:sp>
        <p:nvSpPr>
          <p:cNvPr id="389" name="Google Shape;389;p9"/>
          <p:cNvSpPr txBox="1"/>
          <p:nvPr/>
        </p:nvSpPr>
        <p:spPr>
          <a:xfrm>
            <a:off x="3068025" y="639700"/>
            <a:ext cx="83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a:t>X-Y</a:t>
            </a:r>
            <a:endParaRPr b="1"/>
          </a:p>
        </p:txBody>
      </p:sp>
      <p:sp>
        <p:nvSpPr>
          <p:cNvPr id="390" name="Google Shape;390;p9"/>
          <p:cNvSpPr txBox="1"/>
          <p:nvPr/>
        </p:nvSpPr>
        <p:spPr>
          <a:xfrm>
            <a:off x="9129725" y="5187600"/>
            <a:ext cx="2529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u="sng">
                <a:latin typeface="Arial Narrow"/>
                <a:ea typeface="Arial Narrow"/>
                <a:cs typeface="Arial Narrow"/>
                <a:sym typeface="Arial Narrow"/>
              </a:rPr>
              <a:t>Motor</a:t>
            </a:r>
            <a:r>
              <a:rPr b="1" lang="en-AU" u="sng">
                <a:latin typeface="Arial Narrow"/>
                <a:ea typeface="Arial Narrow"/>
                <a:cs typeface="Arial Narrow"/>
                <a:sym typeface="Arial Narrow"/>
              </a:rPr>
              <a:t> </a:t>
            </a:r>
            <a:r>
              <a:rPr b="1" lang="en-AU" u="sng">
                <a:latin typeface="Arial Narrow"/>
                <a:ea typeface="Arial Narrow"/>
                <a:cs typeface="Arial Narrow"/>
                <a:sym typeface="Arial Narrow"/>
              </a:rPr>
              <a:t>specification</a:t>
            </a:r>
            <a:endParaRPr b="1" u="sng">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To hoist Base and cargo 120 in 5-7 min</a:t>
            </a:r>
            <a:endParaRPr>
              <a:latin typeface="Arial Narrow"/>
              <a:ea typeface="Arial Narrow"/>
              <a:cs typeface="Arial Narrow"/>
              <a:sym typeface="Arial Narrow"/>
            </a:endParaRPr>
          </a:p>
          <a:p>
            <a:pPr indent="0" lvl="0" marL="0" rtl="0" algn="ctr">
              <a:spcBef>
                <a:spcPts val="0"/>
              </a:spcBef>
              <a:spcAft>
                <a:spcPts val="0"/>
              </a:spcAft>
              <a:buNone/>
            </a:pPr>
            <a:r>
              <a:rPr lang="en-AU">
                <a:latin typeface="Arial Narrow"/>
                <a:ea typeface="Arial Narrow"/>
                <a:cs typeface="Arial Narrow"/>
                <a:sym typeface="Arial Narrow"/>
              </a:rPr>
              <a:t>17.95 &lt; ⍵</a:t>
            </a:r>
            <a:r>
              <a:rPr baseline="-25000" lang="en-AU">
                <a:latin typeface="Arial Narrow"/>
                <a:ea typeface="Arial Narrow"/>
                <a:cs typeface="Arial Narrow"/>
                <a:sym typeface="Arial Narrow"/>
              </a:rPr>
              <a:t>pinion</a:t>
            </a:r>
            <a:r>
              <a:rPr lang="en-AU">
                <a:latin typeface="Arial Narrow"/>
                <a:ea typeface="Arial Narrow"/>
                <a:cs typeface="Arial Narrow"/>
                <a:sym typeface="Arial Narrow"/>
              </a:rPr>
              <a:t>&lt; 25.13 rad/s</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P</a:t>
            </a:r>
            <a:r>
              <a:rPr baseline="-25000" lang="en-AU">
                <a:latin typeface="Arial Narrow"/>
                <a:ea typeface="Arial Narrow"/>
                <a:cs typeface="Arial Narrow"/>
                <a:sym typeface="Arial Narrow"/>
              </a:rPr>
              <a:t>req</a:t>
            </a:r>
            <a:r>
              <a:rPr lang="en-AU">
                <a:latin typeface="Arial Narrow"/>
                <a:ea typeface="Arial Narrow"/>
                <a:cs typeface="Arial Narrow"/>
                <a:sym typeface="Arial Narrow"/>
              </a:rPr>
              <a:t> = t</a:t>
            </a:r>
            <a:r>
              <a:rPr baseline="-25000" lang="en-AU">
                <a:latin typeface="Arial Narrow"/>
                <a:ea typeface="Arial Narrow"/>
                <a:cs typeface="Arial Narrow"/>
                <a:sym typeface="Arial Narrow"/>
              </a:rPr>
              <a:t>motor</a:t>
            </a:r>
            <a:r>
              <a:rPr lang="en-AU">
                <a:solidFill>
                  <a:schemeClr val="dk1"/>
                </a:solidFill>
                <a:latin typeface="Arial Narrow"/>
                <a:ea typeface="Arial Narrow"/>
                <a:cs typeface="Arial Narrow"/>
                <a:sym typeface="Arial Narrow"/>
              </a:rPr>
              <a:t>⍵</a:t>
            </a:r>
            <a:r>
              <a:rPr baseline="-25000" lang="en-AU">
                <a:solidFill>
                  <a:schemeClr val="dk1"/>
                </a:solidFill>
                <a:latin typeface="Arial Narrow"/>
                <a:ea typeface="Arial Narrow"/>
                <a:cs typeface="Arial Narrow"/>
                <a:sym typeface="Arial Narrow"/>
              </a:rPr>
              <a:t>pinion</a:t>
            </a:r>
            <a:endParaRPr baseline="-25000">
              <a:solidFill>
                <a:schemeClr val="dk1"/>
              </a:solidFill>
              <a:latin typeface="Arial Narrow"/>
              <a:ea typeface="Arial Narrow"/>
              <a:cs typeface="Arial Narrow"/>
              <a:sym typeface="Arial Narrow"/>
            </a:endParaRPr>
          </a:p>
          <a:p>
            <a:pPr indent="0" lvl="0" marL="0" rtl="0" algn="ctr">
              <a:spcBef>
                <a:spcPts val="0"/>
              </a:spcBef>
              <a:spcAft>
                <a:spcPts val="0"/>
              </a:spcAft>
              <a:buNone/>
            </a:pPr>
            <a:r>
              <a:rPr lang="en-AU">
                <a:solidFill>
                  <a:schemeClr val="dk1"/>
                </a:solidFill>
                <a:latin typeface="Arial Narrow"/>
                <a:ea typeface="Arial Narrow"/>
                <a:cs typeface="Arial Narrow"/>
                <a:sym typeface="Arial Narrow"/>
              </a:rPr>
              <a:t>4308 &lt; P</a:t>
            </a:r>
            <a:r>
              <a:rPr baseline="-25000" lang="en-AU">
                <a:solidFill>
                  <a:schemeClr val="dk1"/>
                </a:solidFill>
                <a:latin typeface="Arial Narrow"/>
                <a:ea typeface="Arial Narrow"/>
                <a:cs typeface="Arial Narrow"/>
                <a:sym typeface="Arial Narrow"/>
              </a:rPr>
              <a:t>req</a:t>
            </a:r>
            <a:r>
              <a:rPr lang="en-AU">
                <a:solidFill>
                  <a:schemeClr val="dk1"/>
                </a:solidFill>
                <a:latin typeface="Arial Narrow"/>
                <a:ea typeface="Arial Narrow"/>
                <a:cs typeface="Arial Narrow"/>
                <a:sym typeface="Arial Narrow"/>
              </a:rPr>
              <a:t>&lt; 6031 W</a:t>
            </a:r>
            <a:endParaRPr>
              <a:solidFill>
                <a:schemeClr val="dk1"/>
              </a:solidFill>
              <a:latin typeface="Arial Narrow"/>
              <a:ea typeface="Arial Narrow"/>
              <a:cs typeface="Arial Narrow"/>
              <a:sym typeface="Arial Narro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14b29b56ded_1_191"/>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14</a:t>
            </a:r>
            <a:endParaRPr sz="1800">
              <a:solidFill>
                <a:schemeClr val="dk1"/>
              </a:solidFill>
              <a:latin typeface="Arial Narrow"/>
              <a:ea typeface="Arial Narrow"/>
              <a:cs typeface="Arial Narrow"/>
              <a:sym typeface="Arial Narrow"/>
            </a:endParaRPr>
          </a:p>
        </p:txBody>
      </p:sp>
      <p:sp>
        <p:nvSpPr>
          <p:cNvPr id="396" name="Google Shape;396;g14b29b56ded_1_191"/>
          <p:cNvSpPr txBox="1"/>
          <p:nvPr/>
        </p:nvSpPr>
        <p:spPr>
          <a:xfrm>
            <a:off x="5310025" y="601050"/>
            <a:ext cx="35148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1300" u="sng">
                <a:solidFill>
                  <a:schemeClr val="dk1"/>
                </a:solidFill>
                <a:latin typeface="Arial Narrow"/>
                <a:ea typeface="Arial Narrow"/>
                <a:cs typeface="Arial Narrow"/>
                <a:sym typeface="Arial Narrow"/>
              </a:rPr>
              <a:t>Bending stress:</a:t>
            </a:r>
            <a:endParaRPr b="1" sz="1300" u="sng">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M</a:t>
            </a:r>
            <a:r>
              <a:rPr baseline="-25000" lang="en-AU" sz="1300">
                <a:solidFill>
                  <a:schemeClr val="dk1"/>
                </a:solidFill>
                <a:latin typeface="Arial Narrow"/>
                <a:ea typeface="Arial Narrow"/>
                <a:cs typeface="Arial Narrow"/>
                <a:sym typeface="Arial Narrow"/>
              </a:rPr>
              <a:t>max</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shear</a:t>
            </a:r>
            <a:r>
              <a:rPr lang="en-AU" sz="1300">
                <a:solidFill>
                  <a:schemeClr val="dk1"/>
                </a:solidFill>
                <a:latin typeface="Arial Narrow"/>
                <a:ea typeface="Arial Narrow"/>
                <a:cs typeface="Arial Narrow"/>
                <a:sym typeface="Arial Narrow"/>
              </a:rPr>
              <a:t>*Distance = 126.73*0.415 = 52.593 Nm</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M</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shear</a:t>
            </a:r>
            <a:r>
              <a:rPr lang="en-AU" sz="1300">
                <a:solidFill>
                  <a:schemeClr val="dk1"/>
                </a:solidFill>
                <a:latin typeface="Arial Narrow"/>
                <a:ea typeface="Arial Narrow"/>
                <a:cs typeface="Arial Narrow"/>
                <a:sym typeface="Arial Narrow"/>
              </a:rPr>
              <a:t>*Distance = 126.73*0.4 = 50.692 Nm</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M max</a:t>
            </a:r>
            <a:r>
              <a:rPr lang="en-AU" sz="1300">
                <a:solidFill>
                  <a:schemeClr val="dk1"/>
                </a:solidFill>
                <a:latin typeface="Arial Narrow"/>
                <a:ea typeface="Arial Narrow"/>
                <a:cs typeface="Arial Narrow"/>
                <a:sym typeface="Arial Narrow"/>
              </a:rPr>
              <a:t> = 32*M</a:t>
            </a:r>
            <a:r>
              <a:rPr baseline="-25000" lang="en-AU" sz="1300">
                <a:solidFill>
                  <a:schemeClr val="dk1"/>
                </a:solidFill>
                <a:latin typeface="Arial Narrow"/>
                <a:ea typeface="Arial Narrow"/>
                <a:cs typeface="Arial Narrow"/>
                <a:sym typeface="Arial Narrow"/>
              </a:rPr>
              <a:t>max</a:t>
            </a:r>
            <a:r>
              <a:rPr lang="en-AU" sz="1300">
                <a:solidFill>
                  <a:schemeClr val="dk1"/>
                </a:solidFill>
                <a:latin typeface="Arial Narrow"/>
                <a:ea typeface="Arial Narrow"/>
                <a:cs typeface="Arial Narrow"/>
                <a:sym typeface="Arial Narrow"/>
              </a:rPr>
              <a:t>/π*d</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 = 32*52.593/</a:t>
            </a:r>
            <a:r>
              <a:rPr baseline="-25000" lang="en-AU" sz="1300">
                <a:solidFill>
                  <a:schemeClr val="dk1"/>
                </a:solidFill>
                <a:latin typeface="Arial Narrow"/>
                <a:ea typeface="Arial Narrow"/>
                <a:cs typeface="Arial Narrow"/>
                <a:sym typeface="Arial Narrow"/>
              </a:rPr>
              <a:t> </a:t>
            </a:r>
            <a:r>
              <a:rPr lang="en-AU" sz="1300">
                <a:solidFill>
                  <a:schemeClr val="dk1"/>
                </a:solidFill>
                <a:latin typeface="Arial Narrow"/>
                <a:ea typeface="Arial Narrow"/>
                <a:cs typeface="Arial Narrow"/>
                <a:sym typeface="Arial Narrow"/>
              </a:rPr>
              <a:t>π*(0.05</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M max</a:t>
            </a:r>
            <a:r>
              <a:rPr lang="en-AU" sz="1300">
                <a:solidFill>
                  <a:schemeClr val="dk1"/>
                </a:solidFill>
                <a:latin typeface="Arial Narrow"/>
                <a:ea typeface="Arial Narrow"/>
                <a:cs typeface="Arial Narrow"/>
                <a:sym typeface="Arial Narrow"/>
              </a:rPr>
              <a:t> = 4.286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(32*M</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/π*d</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)*Kf</a:t>
            </a:r>
            <a:r>
              <a:rPr baseline="-25000" lang="en-AU" sz="1300">
                <a:solidFill>
                  <a:schemeClr val="dk1"/>
                </a:solidFill>
                <a:latin typeface="Arial Narrow"/>
                <a:ea typeface="Arial Narrow"/>
                <a:cs typeface="Arial Narrow"/>
                <a:sym typeface="Arial Narrow"/>
              </a:rPr>
              <a:t>b</a:t>
            </a:r>
            <a:r>
              <a:rPr lang="en-AU" sz="1300">
                <a:solidFill>
                  <a:schemeClr val="dk1"/>
                </a:solidFill>
                <a:latin typeface="Arial Narrow"/>
                <a:ea typeface="Arial Narrow"/>
                <a:cs typeface="Arial Narrow"/>
                <a:sym typeface="Arial Narrow"/>
              </a:rPr>
              <a:t> = (32*50.692/π*(0.05</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))*1.27</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5.246 MPa</a:t>
            </a:r>
            <a:endParaRPr sz="1300">
              <a:solidFill>
                <a:schemeClr val="dk1"/>
              </a:solidFill>
              <a:latin typeface="Arial Narrow"/>
              <a:ea typeface="Arial Narrow"/>
              <a:cs typeface="Arial Narrow"/>
              <a:sym typeface="Arial Narrow"/>
            </a:endParaRPr>
          </a:p>
        </p:txBody>
      </p:sp>
      <p:sp>
        <p:nvSpPr>
          <p:cNvPr id="397" name="Google Shape;397;g14b29b56ded_1_191"/>
          <p:cNvSpPr txBox="1"/>
          <p:nvPr/>
        </p:nvSpPr>
        <p:spPr>
          <a:xfrm>
            <a:off x="5310013" y="2186550"/>
            <a:ext cx="3514800" cy="140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1300" u="sng">
                <a:solidFill>
                  <a:schemeClr val="dk1"/>
                </a:solidFill>
                <a:latin typeface="Arial Narrow"/>
                <a:ea typeface="Arial Narrow"/>
                <a:cs typeface="Arial Narrow"/>
                <a:sym typeface="Arial Narrow"/>
              </a:rPr>
              <a:t>Torsional Stress:</a:t>
            </a:r>
            <a:endParaRPr b="1" sz="1300" u="sng">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𝜏 = 16*T/π*d</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 = 16*240.345/π*(0.05</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𝜏 = 9.793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𝜏</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𝜏*Kt</a:t>
            </a:r>
            <a:r>
              <a:rPr baseline="-25000" lang="en-AU" sz="1300">
                <a:solidFill>
                  <a:schemeClr val="dk1"/>
                </a:solidFill>
                <a:latin typeface="Arial Narrow"/>
                <a:ea typeface="Arial Narrow"/>
                <a:cs typeface="Arial Narrow"/>
                <a:sym typeface="Arial Narrow"/>
              </a:rPr>
              <a:t>τ</a:t>
            </a:r>
            <a:r>
              <a:rPr lang="en-AU" sz="1300">
                <a:solidFill>
                  <a:schemeClr val="dk1"/>
                </a:solidFill>
                <a:latin typeface="Arial Narrow"/>
                <a:ea typeface="Arial Narrow"/>
                <a:cs typeface="Arial Narrow"/>
                <a:sym typeface="Arial Narrow"/>
              </a:rPr>
              <a:t> = 9.793*1.16</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𝜏</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11.359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endParaRPr>
          </a:p>
        </p:txBody>
      </p:sp>
      <p:sp>
        <p:nvSpPr>
          <p:cNvPr id="398" name="Google Shape;398;g14b29b56ded_1_191"/>
          <p:cNvSpPr txBox="1"/>
          <p:nvPr/>
        </p:nvSpPr>
        <p:spPr>
          <a:xfrm>
            <a:off x="5195700" y="3357575"/>
            <a:ext cx="3514800" cy="1385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300">
                <a:solidFill>
                  <a:schemeClr val="dk1"/>
                </a:solidFill>
                <a:latin typeface="Arial Narrow"/>
                <a:ea typeface="Arial Narrow"/>
                <a:cs typeface="Arial Narrow"/>
                <a:sym typeface="Arial Narrow"/>
              </a:rPr>
              <a:t>From observation, the maximum stress in the shaft is largest at the fillet due to the introduced stress concentration</a:t>
            </a:r>
            <a:endParaRPr sz="1300">
              <a:solidFill>
                <a:schemeClr val="dk1"/>
              </a:solidFill>
              <a:latin typeface="Arial Narrow"/>
              <a:ea typeface="Arial Narrow"/>
              <a:cs typeface="Arial Narrow"/>
              <a:sym typeface="Arial Narrow"/>
            </a:endParaRPr>
          </a:p>
          <a:p>
            <a:pPr indent="0" lvl="0" marL="0" rtl="0" algn="ctr">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ctr">
              <a:spcBef>
                <a:spcPts val="0"/>
              </a:spcBef>
              <a:spcAft>
                <a:spcPts val="0"/>
              </a:spcAft>
              <a:buNone/>
            </a:pPr>
            <a:r>
              <a:rPr lang="en-AU" sz="1300">
                <a:solidFill>
                  <a:schemeClr val="dk1"/>
                </a:solidFill>
                <a:latin typeface="Arial Narrow"/>
                <a:ea typeface="Arial Narrow"/>
                <a:cs typeface="Arial Narrow"/>
                <a:sym typeface="Arial Narrow"/>
              </a:rPr>
              <a:t>.</a:t>
            </a:r>
            <a:r>
              <a:rPr lang="en-AU" sz="1300">
                <a:solidFill>
                  <a:schemeClr val="dk1"/>
                </a:solidFill>
                <a:latin typeface="Arial Narrow"/>
                <a:ea typeface="Arial Narrow"/>
                <a:cs typeface="Arial Narrow"/>
                <a:sym typeface="Arial Narrow"/>
              </a:rPr>
              <a:t>Shaft is machined from </a:t>
            </a:r>
            <a:r>
              <a:rPr b="1" lang="en-AU" sz="1300">
                <a:solidFill>
                  <a:schemeClr val="dk1"/>
                </a:solidFill>
                <a:latin typeface="Arial Narrow"/>
                <a:ea typeface="Arial Narrow"/>
                <a:cs typeface="Arial Narrow"/>
                <a:sym typeface="Arial Narrow"/>
              </a:rPr>
              <a:t>pure tungsten</a:t>
            </a:r>
            <a:r>
              <a:rPr lang="en-AU" sz="1300">
                <a:solidFill>
                  <a:schemeClr val="dk1"/>
                </a:solidFill>
                <a:latin typeface="Arial Narrow"/>
                <a:ea typeface="Arial Narrow"/>
                <a:cs typeface="Arial Narrow"/>
                <a:sym typeface="Arial Narrow"/>
              </a:rPr>
              <a:t>:</a:t>
            </a:r>
            <a:endParaRPr sz="1300">
              <a:solidFill>
                <a:schemeClr val="dk1"/>
              </a:solidFill>
              <a:latin typeface="Arial Narrow"/>
              <a:ea typeface="Arial Narrow"/>
              <a:cs typeface="Arial Narrow"/>
              <a:sym typeface="Arial Narrow"/>
            </a:endParaRPr>
          </a:p>
          <a:p>
            <a:pPr indent="0" lvl="0" marL="0" rtl="0" algn="ctr">
              <a:spcBef>
                <a:spcPts val="0"/>
              </a:spcBef>
              <a:spcAft>
                <a:spcPts val="0"/>
              </a:spcAft>
              <a:buNone/>
            </a:pPr>
            <a:r>
              <a:rPr lang="en-AU" sz="1300">
                <a:solidFill>
                  <a:schemeClr val="dk1"/>
                </a:solidFill>
                <a:latin typeface="Arial Narrow"/>
                <a:ea typeface="Arial Narrow"/>
                <a:cs typeface="Arial Narrow"/>
                <a:sym typeface="Arial Narrow"/>
              </a:rPr>
              <a:t>S</a:t>
            </a:r>
            <a:r>
              <a:rPr baseline="-25000" lang="en-AU" sz="1300">
                <a:solidFill>
                  <a:schemeClr val="dk1"/>
                </a:solidFill>
                <a:latin typeface="Arial Narrow"/>
                <a:ea typeface="Arial Narrow"/>
                <a:cs typeface="Arial Narrow"/>
                <a:sym typeface="Arial Narrow"/>
              </a:rPr>
              <a:t>u</a:t>
            </a:r>
            <a:r>
              <a:rPr lang="en-AU" sz="1300">
                <a:solidFill>
                  <a:schemeClr val="dk1"/>
                </a:solidFill>
                <a:latin typeface="Arial Narrow"/>
                <a:ea typeface="Arial Narrow"/>
                <a:cs typeface="Arial Narrow"/>
                <a:sym typeface="Arial Narrow"/>
              </a:rPr>
              <a:t> = 980 MPa, S</a:t>
            </a:r>
            <a:r>
              <a:rPr baseline="-25000" lang="en-AU" sz="1300">
                <a:solidFill>
                  <a:schemeClr val="dk1"/>
                </a:solidFill>
                <a:latin typeface="Arial Narrow"/>
                <a:ea typeface="Arial Narrow"/>
                <a:cs typeface="Arial Narrow"/>
                <a:sym typeface="Arial Narrow"/>
              </a:rPr>
              <a:t>y</a:t>
            </a:r>
            <a:r>
              <a:rPr lang="en-AU" sz="1300">
                <a:solidFill>
                  <a:schemeClr val="dk1"/>
                </a:solidFill>
                <a:latin typeface="Arial Narrow"/>
                <a:ea typeface="Arial Narrow"/>
                <a:cs typeface="Arial Narrow"/>
                <a:sym typeface="Arial Narrow"/>
              </a:rPr>
              <a:t> = 750 MPa</a:t>
            </a:r>
            <a:endParaRPr sz="1300">
              <a:solidFill>
                <a:schemeClr val="dk1"/>
              </a:solidFill>
              <a:latin typeface="Arial Narrow"/>
              <a:ea typeface="Arial Narrow"/>
              <a:cs typeface="Arial Narrow"/>
              <a:sym typeface="Arial Narrow"/>
            </a:endParaRPr>
          </a:p>
        </p:txBody>
      </p:sp>
      <p:sp>
        <p:nvSpPr>
          <p:cNvPr id="399" name="Google Shape;399;g14b29b56ded_1_191"/>
          <p:cNvSpPr txBox="1"/>
          <p:nvPr/>
        </p:nvSpPr>
        <p:spPr>
          <a:xfrm>
            <a:off x="5310025" y="4619625"/>
            <a:ext cx="3000000" cy="232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S</a:t>
            </a:r>
            <a:r>
              <a:rPr baseline="-25000" lang="en-AU" sz="1300">
                <a:solidFill>
                  <a:schemeClr val="dk1"/>
                </a:solidFill>
                <a:latin typeface="Arial Narrow"/>
                <a:ea typeface="Arial Narrow"/>
                <a:cs typeface="Arial Narrow"/>
                <a:sym typeface="Arial Narrow"/>
              </a:rPr>
              <a:t>n</a:t>
            </a:r>
            <a:r>
              <a:rPr lang="en-AU" sz="1300">
                <a:solidFill>
                  <a:schemeClr val="dk1"/>
                </a:solidFill>
                <a:latin typeface="Arial Narrow"/>
                <a:ea typeface="Arial Narrow"/>
                <a:cs typeface="Arial Narrow"/>
                <a:sym typeface="Arial Narrow"/>
              </a:rPr>
              <a:t> = S</a:t>
            </a:r>
            <a:r>
              <a:rPr baseline="-25000" lang="en-AU" sz="1300">
                <a:solidFill>
                  <a:schemeClr val="dk1"/>
                </a:solidFill>
                <a:latin typeface="Arial Narrow"/>
                <a:ea typeface="Arial Narrow"/>
                <a:cs typeface="Arial Narrow"/>
                <a:sym typeface="Arial Narrow"/>
              </a:rPr>
              <a:t>n</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L</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G</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S</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T</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R</a:t>
            </a:r>
            <a:endParaRPr baseline="-25000"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baseline="-25000"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S</a:t>
            </a:r>
            <a:r>
              <a:rPr baseline="-25000" lang="en-AU" sz="1300">
                <a:solidFill>
                  <a:schemeClr val="dk1"/>
                </a:solidFill>
                <a:latin typeface="Arial Narrow"/>
                <a:ea typeface="Arial Narrow"/>
                <a:cs typeface="Arial Narrow"/>
                <a:sym typeface="Arial Narrow"/>
              </a:rPr>
              <a:t>n</a:t>
            </a:r>
            <a:r>
              <a:rPr lang="en-AU" sz="1300">
                <a:solidFill>
                  <a:schemeClr val="dk1"/>
                </a:solidFill>
                <a:latin typeface="Arial Narrow"/>
                <a:ea typeface="Arial Narrow"/>
                <a:cs typeface="Arial Narrow"/>
                <a:sym typeface="Arial Narrow"/>
              </a:rPr>
              <a:t>’ = 0.5S</a:t>
            </a:r>
            <a:r>
              <a:rPr baseline="-25000" lang="en-AU" sz="1300">
                <a:solidFill>
                  <a:schemeClr val="dk1"/>
                </a:solidFill>
                <a:latin typeface="Arial Narrow"/>
                <a:ea typeface="Arial Narrow"/>
                <a:cs typeface="Arial Narrow"/>
                <a:sym typeface="Arial Narrow"/>
              </a:rPr>
              <a:t>u</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L</a:t>
            </a:r>
            <a:r>
              <a:rPr lang="en-AU" sz="1300">
                <a:solidFill>
                  <a:schemeClr val="dk1"/>
                </a:solidFill>
                <a:latin typeface="Arial Narrow"/>
                <a:ea typeface="Arial Narrow"/>
                <a:cs typeface="Arial Narrow"/>
                <a:sym typeface="Arial Narrow"/>
              </a:rPr>
              <a:t> = 1 - Bending load</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G</a:t>
            </a:r>
            <a:r>
              <a:rPr lang="en-AU" sz="1300">
                <a:solidFill>
                  <a:schemeClr val="dk1"/>
                </a:solidFill>
                <a:latin typeface="Arial Narrow"/>
                <a:ea typeface="Arial Narrow"/>
                <a:cs typeface="Arial Narrow"/>
                <a:sym typeface="Arial Narrow"/>
              </a:rPr>
              <a:t> = 0.9 - 50mm diameter</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S</a:t>
            </a:r>
            <a:r>
              <a:rPr lang="en-AU" sz="1300">
                <a:solidFill>
                  <a:schemeClr val="dk1"/>
                </a:solidFill>
                <a:latin typeface="Arial Narrow"/>
                <a:ea typeface="Arial Narrow"/>
                <a:cs typeface="Arial Narrow"/>
                <a:sym typeface="Arial Narrow"/>
              </a:rPr>
              <a:t> = 0.9 - Fine ground finish</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S</a:t>
            </a:r>
            <a:r>
              <a:rPr baseline="-25000" lang="en-AU" sz="1300">
                <a:solidFill>
                  <a:schemeClr val="dk1"/>
                </a:solidFill>
                <a:latin typeface="Arial Narrow"/>
                <a:ea typeface="Arial Narrow"/>
                <a:cs typeface="Arial Narrow"/>
                <a:sym typeface="Arial Narrow"/>
              </a:rPr>
              <a:t>n</a:t>
            </a:r>
            <a:r>
              <a:rPr lang="en-AU" sz="1300">
                <a:solidFill>
                  <a:schemeClr val="dk1"/>
                </a:solidFill>
                <a:latin typeface="Arial Narrow"/>
                <a:ea typeface="Arial Narrow"/>
                <a:cs typeface="Arial Narrow"/>
                <a:sym typeface="Arial Narrow"/>
              </a:rPr>
              <a:t> = 0.5(980)(1)(0.9)(0.9)(1)(1)</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S</a:t>
            </a:r>
            <a:r>
              <a:rPr baseline="-25000" lang="en-AU" sz="1300">
                <a:solidFill>
                  <a:schemeClr val="dk1"/>
                </a:solidFill>
                <a:latin typeface="Arial Narrow"/>
                <a:ea typeface="Arial Narrow"/>
                <a:cs typeface="Arial Narrow"/>
                <a:sym typeface="Arial Narrow"/>
              </a:rPr>
              <a:t>n</a:t>
            </a:r>
            <a:r>
              <a:rPr lang="en-AU" sz="1300">
                <a:solidFill>
                  <a:schemeClr val="dk1"/>
                </a:solidFill>
                <a:latin typeface="Arial Narrow"/>
                <a:ea typeface="Arial Narrow"/>
                <a:cs typeface="Arial Narrow"/>
                <a:sym typeface="Arial Narrow"/>
              </a:rPr>
              <a:t> = 396.9 MPa</a:t>
            </a:r>
            <a:endParaRPr sz="1600">
              <a:latin typeface="Arial Narrow"/>
              <a:ea typeface="Arial Narrow"/>
              <a:cs typeface="Arial Narrow"/>
              <a:sym typeface="Arial Narrow"/>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400" name="Google Shape;400;g14b29b56ded_1_191"/>
          <p:cNvSpPr txBox="1"/>
          <p:nvPr/>
        </p:nvSpPr>
        <p:spPr>
          <a:xfrm>
            <a:off x="8893250" y="2522550"/>
            <a:ext cx="30000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No axial load present, therefore:</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ea</a:t>
            </a:r>
            <a:r>
              <a:rPr lang="en-AU" sz="1300">
                <a:solidFill>
                  <a:schemeClr val="dk1"/>
                </a:solidFill>
                <a:latin typeface="Arial Narrow"/>
                <a:ea typeface="Arial Narrow"/>
                <a:cs typeface="Arial Narrow"/>
                <a:sym typeface="Arial Narrow"/>
              </a:rPr>
              <a:t> = σ</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5.246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em</a:t>
            </a:r>
            <a:r>
              <a:rPr lang="en-AU" sz="1300">
                <a:solidFill>
                  <a:schemeClr val="dk1"/>
                </a:solidFill>
                <a:latin typeface="Arial Narrow"/>
                <a:ea typeface="Arial Narrow"/>
                <a:cs typeface="Arial Narrow"/>
                <a:sym typeface="Arial Narrow"/>
              </a:rPr>
              <a:t> = 𝜏</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11.359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ea</a:t>
            </a: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em</a:t>
            </a:r>
            <a:r>
              <a:rPr lang="en-AU" sz="1300">
                <a:solidFill>
                  <a:schemeClr val="dk1"/>
                </a:solidFill>
                <a:latin typeface="Arial Narrow"/>
                <a:ea typeface="Arial Narrow"/>
                <a:cs typeface="Arial Narrow"/>
                <a:sym typeface="Arial Narrow"/>
              </a:rPr>
              <a:t> = 5.246/11.359 = 0.462</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Goodman diagram intersecting lines:</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y = -0.405n + 396.9</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y = 0.462n</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0.462n  = -0.405n + 396.9</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0.867n = 396.9</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n = 457.876 MPa, y = 211.46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Safety Factor = 457.876/240.345</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b="1" lang="en-AU" sz="1300">
                <a:solidFill>
                  <a:schemeClr val="accent1"/>
                </a:solidFill>
                <a:latin typeface="Arial Narrow"/>
                <a:ea typeface="Arial Narrow"/>
                <a:cs typeface="Arial Narrow"/>
                <a:sym typeface="Arial Narrow"/>
              </a:rPr>
              <a:t>Safety Factor = 1.91</a:t>
            </a:r>
            <a:endParaRPr b="1" sz="1300">
              <a:solidFill>
                <a:schemeClr val="accent1"/>
              </a:solidFill>
              <a:latin typeface="Arial Narrow"/>
              <a:ea typeface="Arial Narrow"/>
              <a:cs typeface="Arial Narrow"/>
              <a:sym typeface="Arial Narrow"/>
            </a:endParaRPr>
          </a:p>
          <a:p>
            <a:pPr indent="0" lvl="0" marL="0" rtl="0" algn="l">
              <a:spcBef>
                <a:spcPts val="0"/>
              </a:spcBef>
              <a:spcAft>
                <a:spcPts val="0"/>
              </a:spcAft>
              <a:buNone/>
            </a:pPr>
            <a:r>
              <a:t/>
            </a:r>
            <a:endParaRPr b="1"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b="1" lang="en-AU" sz="1300">
                <a:solidFill>
                  <a:schemeClr val="dk1"/>
                </a:solidFill>
                <a:latin typeface="Arial Narrow"/>
                <a:ea typeface="Arial Narrow"/>
                <a:cs typeface="Arial Narrow"/>
                <a:sym typeface="Arial Narrow"/>
              </a:rPr>
              <a:t>This does not meet the required design specifications, and thus needs to be re-</a:t>
            </a:r>
            <a:r>
              <a:rPr b="1" lang="en-AU" sz="1300">
                <a:solidFill>
                  <a:schemeClr val="dk1"/>
                </a:solidFill>
                <a:latin typeface="Arial Narrow"/>
                <a:ea typeface="Arial Narrow"/>
                <a:cs typeface="Arial Narrow"/>
                <a:sym typeface="Arial Narrow"/>
              </a:rPr>
              <a:t>evaluated</a:t>
            </a:r>
            <a:r>
              <a:rPr b="1" lang="en-AU" sz="1300">
                <a:solidFill>
                  <a:schemeClr val="dk1"/>
                </a:solidFill>
                <a:latin typeface="Arial Narrow"/>
                <a:ea typeface="Arial Narrow"/>
                <a:cs typeface="Arial Narrow"/>
                <a:sym typeface="Arial Narrow"/>
              </a:rPr>
              <a:t> for future designs. This will be further </a:t>
            </a:r>
            <a:r>
              <a:rPr b="1" lang="en-AU" sz="1300">
                <a:solidFill>
                  <a:schemeClr val="dk1"/>
                </a:solidFill>
                <a:latin typeface="Arial Narrow"/>
                <a:ea typeface="Arial Narrow"/>
                <a:cs typeface="Arial Narrow"/>
                <a:sym typeface="Arial Narrow"/>
              </a:rPr>
              <a:t>discussed</a:t>
            </a:r>
            <a:r>
              <a:rPr b="1" lang="en-AU" sz="1300">
                <a:solidFill>
                  <a:schemeClr val="dk1"/>
                </a:solidFill>
                <a:latin typeface="Arial Narrow"/>
                <a:ea typeface="Arial Narrow"/>
                <a:cs typeface="Arial Narrow"/>
                <a:sym typeface="Arial Narrow"/>
              </a:rPr>
              <a:t> next slide.</a:t>
            </a:r>
            <a:endParaRPr b="1" sz="1300">
              <a:solidFill>
                <a:schemeClr val="dk1"/>
              </a:solidFill>
              <a:latin typeface="Arial Narrow"/>
              <a:ea typeface="Arial Narrow"/>
              <a:cs typeface="Arial Narrow"/>
              <a:sym typeface="Arial Narrow"/>
            </a:endParaRPr>
          </a:p>
        </p:txBody>
      </p:sp>
      <p:sp>
        <p:nvSpPr>
          <p:cNvPr id="401" name="Google Shape;401;g14b29b56ded_1_191"/>
          <p:cNvSpPr txBox="1"/>
          <p:nvPr/>
        </p:nvSpPr>
        <p:spPr>
          <a:xfrm>
            <a:off x="8893250" y="686775"/>
            <a:ext cx="30000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1300" u="sng">
                <a:solidFill>
                  <a:schemeClr val="dk1"/>
                </a:solidFill>
                <a:latin typeface="Arial Narrow"/>
                <a:ea typeface="Arial Narrow"/>
                <a:cs typeface="Arial Narrow"/>
                <a:sym typeface="Arial Narrow"/>
              </a:rPr>
              <a:t>Stress concentration factor (due to fillet):</a:t>
            </a:r>
            <a:endParaRPr b="1" sz="1300" u="sng">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Kf = 1 + (Kt - 1)q</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D/d = 200/50 = 4</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r/d = 20/50 = 0.4</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Since r is large, Kf ≅ Kt</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Kt</a:t>
            </a:r>
            <a:r>
              <a:rPr baseline="-25000" lang="en-AU" sz="1300">
                <a:solidFill>
                  <a:schemeClr val="dk1"/>
                </a:solidFill>
                <a:latin typeface="Arial Narrow"/>
                <a:ea typeface="Arial Narrow"/>
                <a:cs typeface="Arial Narrow"/>
                <a:sym typeface="Arial Narrow"/>
              </a:rPr>
              <a:t>b</a:t>
            </a:r>
            <a:r>
              <a:rPr lang="en-AU" sz="1300">
                <a:solidFill>
                  <a:schemeClr val="dk1"/>
                </a:solidFill>
                <a:latin typeface="Arial Narrow"/>
                <a:ea typeface="Arial Narrow"/>
                <a:cs typeface="Arial Narrow"/>
                <a:sym typeface="Arial Narrow"/>
              </a:rPr>
              <a:t> = 1.27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Kt</a:t>
            </a:r>
            <a:r>
              <a:rPr baseline="-25000" lang="en-AU" sz="1300">
                <a:solidFill>
                  <a:schemeClr val="dk1"/>
                </a:solidFill>
                <a:latin typeface="Arial Narrow"/>
                <a:ea typeface="Arial Narrow"/>
                <a:cs typeface="Arial Narrow"/>
                <a:sym typeface="Arial Narrow"/>
              </a:rPr>
              <a:t>τ</a:t>
            </a:r>
            <a:r>
              <a:rPr lang="en-AU" sz="1300">
                <a:solidFill>
                  <a:schemeClr val="dk1"/>
                </a:solidFill>
                <a:latin typeface="Arial Narrow"/>
                <a:ea typeface="Arial Narrow"/>
                <a:cs typeface="Arial Narrow"/>
                <a:sym typeface="Arial Narrow"/>
              </a:rPr>
              <a:t> = 1.16</a:t>
            </a:r>
            <a:endParaRPr sz="1600">
              <a:latin typeface="Arial Narrow"/>
              <a:ea typeface="Arial Narrow"/>
              <a:cs typeface="Arial Narrow"/>
              <a:sym typeface="Arial Narrow"/>
            </a:endParaRPr>
          </a:p>
        </p:txBody>
      </p:sp>
      <p:sp>
        <p:nvSpPr>
          <p:cNvPr id="402" name="Google Shape;402;g14b29b56ded_1_191"/>
          <p:cNvSpPr txBox="1"/>
          <p:nvPr>
            <p:ph type="title"/>
          </p:nvPr>
        </p:nvSpPr>
        <p:spPr>
          <a:xfrm>
            <a:off x="503250" y="175872"/>
            <a:ext cx="109728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a:t>
            </a:r>
            <a:r>
              <a:rPr b="1" lang="en-AU" sz="3000"/>
              <a:t>3.1</a:t>
            </a:r>
            <a:r>
              <a:rPr b="1" lang="en-AU" sz="3000">
                <a:solidFill>
                  <a:srgbClr val="000000"/>
                </a:solidFill>
              </a:rPr>
              <a:t> Shaft A Design Analysis</a:t>
            </a:r>
            <a:endParaRPr/>
          </a:p>
        </p:txBody>
      </p:sp>
      <p:grpSp>
        <p:nvGrpSpPr>
          <p:cNvPr id="403" name="Google Shape;403;g14b29b56ded_1_191"/>
          <p:cNvGrpSpPr/>
          <p:nvPr/>
        </p:nvGrpSpPr>
        <p:grpSpPr>
          <a:xfrm>
            <a:off x="212416" y="1547900"/>
            <a:ext cx="4800559" cy="3762191"/>
            <a:chOff x="212416" y="625350"/>
            <a:chExt cx="4800559" cy="3762191"/>
          </a:xfrm>
        </p:grpSpPr>
        <p:grpSp>
          <p:nvGrpSpPr>
            <p:cNvPr id="404" name="Google Shape;404;g14b29b56ded_1_191"/>
            <p:cNvGrpSpPr/>
            <p:nvPr/>
          </p:nvGrpSpPr>
          <p:grpSpPr>
            <a:xfrm>
              <a:off x="419134" y="3254867"/>
              <a:ext cx="809674" cy="1040963"/>
              <a:chOff x="419156" y="3549100"/>
              <a:chExt cx="1233319" cy="1476125"/>
            </a:xfrm>
          </p:grpSpPr>
          <p:cxnSp>
            <p:nvCxnSpPr>
              <p:cNvPr id="405" name="Google Shape;405;g14b29b56ded_1_191"/>
              <p:cNvCxnSpPr/>
              <p:nvPr/>
            </p:nvCxnSpPr>
            <p:spPr>
              <a:xfrm flipH="1" rot="10800000">
                <a:off x="600075" y="3916125"/>
                <a:ext cx="9600" cy="741600"/>
              </a:xfrm>
              <a:prstGeom prst="straightConnector1">
                <a:avLst/>
              </a:prstGeom>
              <a:noFill/>
              <a:ln cap="flat" cmpd="sng" w="9525">
                <a:solidFill>
                  <a:schemeClr val="dk2"/>
                </a:solidFill>
                <a:prstDash val="solid"/>
                <a:round/>
                <a:headEnd len="med" w="med" type="none"/>
                <a:tailEnd len="med" w="med" type="triangle"/>
              </a:ln>
            </p:spPr>
          </p:cxnSp>
          <p:cxnSp>
            <p:nvCxnSpPr>
              <p:cNvPr id="406" name="Google Shape;406;g14b29b56ded_1_191"/>
              <p:cNvCxnSpPr/>
              <p:nvPr/>
            </p:nvCxnSpPr>
            <p:spPr>
              <a:xfrm>
                <a:off x="609675" y="4657725"/>
                <a:ext cx="671400" cy="0"/>
              </a:xfrm>
              <a:prstGeom prst="straightConnector1">
                <a:avLst/>
              </a:prstGeom>
              <a:noFill/>
              <a:ln cap="flat" cmpd="sng" w="9525">
                <a:solidFill>
                  <a:schemeClr val="dk2"/>
                </a:solidFill>
                <a:prstDash val="solid"/>
                <a:round/>
                <a:headEnd len="med" w="med" type="none"/>
                <a:tailEnd len="med" w="med" type="triangle"/>
              </a:ln>
            </p:spPr>
          </p:cxnSp>
          <p:sp>
            <p:nvSpPr>
              <p:cNvPr id="407" name="Google Shape;407;g14b29b56ded_1_191"/>
              <p:cNvSpPr txBox="1"/>
              <p:nvPr/>
            </p:nvSpPr>
            <p:spPr>
              <a:xfrm>
                <a:off x="419156" y="3549100"/>
                <a:ext cx="371400" cy="567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y</a:t>
                </a:r>
                <a:endParaRPr/>
              </a:p>
            </p:txBody>
          </p:sp>
          <p:sp>
            <p:nvSpPr>
              <p:cNvPr id="408" name="Google Shape;408;g14b29b56ded_1_191"/>
              <p:cNvSpPr txBox="1"/>
              <p:nvPr/>
            </p:nvSpPr>
            <p:spPr>
              <a:xfrm>
                <a:off x="1281075" y="4457625"/>
                <a:ext cx="371400" cy="567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x</a:t>
                </a:r>
                <a:endParaRPr/>
              </a:p>
            </p:txBody>
          </p:sp>
        </p:grpSp>
        <p:grpSp>
          <p:nvGrpSpPr>
            <p:cNvPr id="409" name="Google Shape;409;g14b29b56ded_1_191"/>
            <p:cNvGrpSpPr/>
            <p:nvPr/>
          </p:nvGrpSpPr>
          <p:grpSpPr>
            <a:xfrm>
              <a:off x="3548000" y="3348243"/>
              <a:ext cx="809661" cy="1039298"/>
              <a:chOff x="419175" y="3549100"/>
              <a:chExt cx="1233300" cy="1477325"/>
            </a:xfrm>
          </p:grpSpPr>
          <p:cxnSp>
            <p:nvCxnSpPr>
              <p:cNvPr id="410" name="Google Shape;410;g14b29b56ded_1_191"/>
              <p:cNvCxnSpPr/>
              <p:nvPr/>
            </p:nvCxnSpPr>
            <p:spPr>
              <a:xfrm flipH="1" rot="10800000">
                <a:off x="600075" y="3916125"/>
                <a:ext cx="9600" cy="741600"/>
              </a:xfrm>
              <a:prstGeom prst="straightConnector1">
                <a:avLst/>
              </a:prstGeom>
              <a:noFill/>
              <a:ln cap="flat" cmpd="sng" w="9525">
                <a:solidFill>
                  <a:schemeClr val="dk2"/>
                </a:solidFill>
                <a:prstDash val="solid"/>
                <a:round/>
                <a:headEnd len="med" w="med" type="none"/>
                <a:tailEnd len="med" w="med" type="triangle"/>
              </a:ln>
            </p:spPr>
          </p:cxnSp>
          <p:cxnSp>
            <p:nvCxnSpPr>
              <p:cNvPr id="411" name="Google Shape;411;g14b29b56ded_1_191"/>
              <p:cNvCxnSpPr/>
              <p:nvPr/>
            </p:nvCxnSpPr>
            <p:spPr>
              <a:xfrm>
                <a:off x="609675" y="4657725"/>
                <a:ext cx="671400" cy="0"/>
              </a:xfrm>
              <a:prstGeom prst="straightConnector1">
                <a:avLst/>
              </a:prstGeom>
              <a:noFill/>
              <a:ln cap="flat" cmpd="sng" w="9525">
                <a:solidFill>
                  <a:schemeClr val="dk2"/>
                </a:solidFill>
                <a:prstDash val="solid"/>
                <a:round/>
                <a:headEnd len="med" w="med" type="none"/>
                <a:tailEnd len="med" w="med" type="triangle"/>
              </a:ln>
            </p:spPr>
          </p:cxnSp>
          <p:sp>
            <p:nvSpPr>
              <p:cNvPr id="412" name="Google Shape;412;g14b29b56ded_1_191"/>
              <p:cNvSpPr txBox="1"/>
              <p:nvPr/>
            </p:nvSpPr>
            <p:spPr>
              <a:xfrm>
                <a:off x="419175" y="3549100"/>
                <a:ext cx="371400" cy="56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y</a:t>
                </a:r>
                <a:endParaRPr/>
              </a:p>
            </p:txBody>
          </p:sp>
          <p:sp>
            <p:nvSpPr>
              <p:cNvPr id="413" name="Google Shape;413;g14b29b56ded_1_191"/>
              <p:cNvSpPr txBox="1"/>
              <p:nvPr/>
            </p:nvSpPr>
            <p:spPr>
              <a:xfrm>
                <a:off x="1281075" y="4457625"/>
                <a:ext cx="371400" cy="56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z</a:t>
                </a:r>
                <a:endParaRPr/>
              </a:p>
            </p:txBody>
          </p:sp>
        </p:grpSp>
        <p:grpSp>
          <p:nvGrpSpPr>
            <p:cNvPr id="414" name="Google Shape;414;g14b29b56ded_1_191"/>
            <p:cNvGrpSpPr/>
            <p:nvPr/>
          </p:nvGrpSpPr>
          <p:grpSpPr>
            <a:xfrm>
              <a:off x="212416" y="625350"/>
              <a:ext cx="4800559" cy="2722900"/>
              <a:chOff x="212416" y="625350"/>
              <a:chExt cx="4800559" cy="2722900"/>
            </a:xfrm>
          </p:grpSpPr>
          <p:grpSp>
            <p:nvGrpSpPr>
              <p:cNvPr id="415" name="Google Shape;415;g14b29b56ded_1_191"/>
              <p:cNvGrpSpPr/>
              <p:nvPr/>
            </p:nvGrpSpPr>
            <p:grpSpPr>
              <a:xfrm>
                <a:off x="212416" y="1111253"/>
                <a:ext cx="4800549" cy="1729419"/>
                <a:chOff x="3477750" y="4317550"/>
                <a:chExt cx="5195399" cy="1855401"/>
              </a:xfrm>
            </p:grpSpPr>
            <p:pic>
              <p:nvPicPr>
                <p:cNvPr id="416" name="Google Shape;416;g14b29b56ded_1_191"/>
                <p:cNvPicPr preferRelativeResize="0"/>
                <p:nvPr/>
              </p:nvPicPr>
              <p:blipFill rotWithShape="1">
                <a:blip r:embed="rId3">
                  <a:alphaModFix/>
                </a:blip>
                <a:srcRect b="14976" l="0" r="0" t="16731"/>
                <a:stretch/>
              </p:blipFill>
              <p:spPr>
                <a:xfrm rot="10800000">
                  <a:off x="3477750" y="4317550"/>
                  <a:ext cx="3396075" cy="1855400"/>
                </a:xfrm>
                <a:prstGeom prst="rect">
                  <a:avLst/>
                </a:prstGeom>
                <a:noFill/>
                <a:ln>
                  <a:noFill/>
                </a:ln>
              </p:spPr>
            </p:pic>
            <p:pic>
              <p:nvPicPr>
                <p:cNvPr id="417" name="Google Shape;417;g14b29b56ded_1_191"/>
                <p:cNvPicPr preferRelativeResize="0"/>
                <p:nvPr/>
              </p:nvPicPr>
              <p:blipFill rotWithShape="1">
                <a:blip r:embed="rId4">
                  <a:alphaModFix/>
                </a:blip>
                <a:srcRect b="0" l="22420" r="0" t="0"/>
                <a:stretch/>
              </p:blipFill>
              <p:spPr>
                <a:xfrm>
                  <a:off x="6873824" y="4317550"/>
                  <a:ext cx="1799326" cy="1855400"/>
                </a:xfrm>
                <a:prstGeom prst="rect">
                  <a:avLst/>
                </a:prstGeom>
                <a:noFill/>
                <a:ln>
                  <a:noFill/>
                </a:ln>
              </p:spPr>
            </p:pic>
          </p:grpSp>
          <p:cxnSp>
            <p:nvCxnSpPr>
              <p:cNvPr id="418" name="Google Shape;418;g14b29b56ded_1_191"/>
              <p:cNvCxnSpPr/>
              <p:nvPr/>
            </p:nvCxnSpPr>
            <p:spPr>
              <a:xfrm>
                <a:off x="485050" y="1928825"/>
                <a:ext cx="600" cy="928800"/>
              </a:xfrm>
              <a:prstGeom prst="straightConnector1">
                <a:avLst/>
              </a:prstGeom>
              <a:noFill/>
              <a:ln cap="flat" cmpd="sng" w="38100">
                <a:solidFill>
                  <a:schemeClr val="accent1"/>
                </a:solidFill>
                <a:prstDash val="solid"/>
                <a:round/>
                <a:headEnd len="med" w="med" type="none"/>
                <a:tailEnd len="med" w="med" type="triangle"/>
              </a:ln>
            </p:spPr>
          </p:cxnSp>
          <p:cxnSp>
            <p:nvCxnSpPr>
              <p:cNvPr id="419" name="Google Shape;419;g14b29b56ded_1_191"/>
              <p:cNvCxnSpPr/>
              <p:nvPr/>
            </p:nvCxnSpPr>
            <p:spPr>
              <a:xfrm flipH="1">
                <a:off x="2929050" y="2104950"/>
                <a:ext cx="8700" cy="909600"/>
              </a:xfrm>
              <a:prstGeom prst="straightConnector1">
                <a:avLst/>
              </a:prstGeom>
              <a:noFill/>
              <a:ln cap="flat" cmpd="sng" w="38100">
                <a:solidFill>
                  <a:schemeClr val="accent1"/>
                </a:solidFill>
                <a:prstDash val="dash"/>
                <a:round/>
                <a:headEnd len="med" w="med" type="none"/>
                <a:tailEnd len="med" w="med" type="triangle"/>
              </a:ln>
            </p:spPr>
          </p:cxnSp>
          <p:cxnSp>
            <p:nvCxnSpPr>
              <p:cNvPr id="420" name="Google Shape;420;g14b29b56ded_1_191"/>
              <p:cNvCxnSpPr>
                <a:endCxn id="421" idx="2"/>
              </p:cNvCxnSpPr>
              <p:nvPr/>
            </p:nvCxnSpPr>
            <p:spPr>
              <a:xfrm rot="10800000">
                <a:off x="2936925" y="1025550"/>
                <a:ext cx="6300" cy="917400"/>
              </a:xfrm>
              <a:prstGeom prst="straightConnector1">
                <a:avLst/>
              </a:prstGeom>
              <a:noFill/>
              <a:ln cap="flat" cmpd="sng" w="38100">
                <a:solidFill>
                  <a:srgbClr val="FF0000"/>
                </a:solidFill>
                <a:prstDash val="solid"/>
                <a:round/>
                <a:headEnd len="med" w="med" type="none"/>
                <a:tailEnd len="med" w="med" type="triangle"/>
              </a:ln>
            </p:spPr>
          </p:cxnSp>
          <p:cxnSp>
            <p:nvCxnSpPr>
              <p:cNvPr id="422" name="Google Shape;422;g14b29b56ded_1_191"/>
              <p:cNvCxnSpPr>
                <a:endCxn id="423" idx="0"/>
              </p:cNvCxnSpPr>
              <p:nvPr/>
            </p:nvCxnSpPr>
            <p:spPr>
              <a:xfrm flipH="1">
                <a:off x="4120400" y="1966450"/>
                <a:ext cx="17400" cy="981600"/>
              </a:xfrm>
              <a:prstGeom prst="straightConnector1">
                <a:avLst/>
              </a:prstGeom>
              <a:noFill/>
              <a:ln cap="flat" cmpd="sng" w="38100">
                <a:solidFill>
                  <a:schemeClr val="accent1"/>
                </a:solidFill>
                <a:prstDash val="solid"/>
                <a:round/>
                <a:headEnd len="med" w="med" type="none"/>
                <a:tailEnd len="med" w="med" type="triangle"/>
              </a:ln>
            </p:spPr>
          </p:cxnSp>
          <p:cxnSp>
            <p:nvCxnSpPr>
              <p:cNvPr id="424" name="Google Shape;424;g14b29b56ded_1_191"/>
              <p:cNvCxnSpPr/>
              <p:nvPr/>
            </p:nvCxnSpPr>
            <p:spPr>
              <a:xfrm>
                <a:off x="3533713" y="1965350"/>
                <a:ext cx="8100" cy="920700"/>
              </a:xfrm>
              <a:prstGeom prst="straightConnector1">
                <a:avLst/>
              </a:prstGeom>
              <a:noFill/>
              <a:ln cap="flat" cmpd="sng" w="38100">
                <a:solidFill>
                  <a:srgbClr val="FF0000"/>
                </a:solidFill>
                <a:prstDash val="solid"/>
                <a:round/>
                <a:headEnd len="med" w="med" type="none"/>
                <a:tailEnd len="med" w="med" type="triangle"/>
              </a:ln>
            </p:spPr>
          </p:cxnSp>
          <p:sp>
            <p:nvSpPr>
              <p:cNvPr id="425" name="Google Shape;425;g14b29b56ded_1_191"/>
              <p:cNvSpPr/>
              <p:nvPr/>
            </p:nvSpPr>
            <p:spPr>
              <a:xfrm>
                <a:off x="3792685" y="1608050"/>
                <a:ext cx="725400" cy="357300"/>
              </a:xfrm>
              <a:prstGeom prst="curvedDownArrow">
                <a:avLst>
                  <a:gd fmla="val 13645" name="adj1"/>
                  <a:gd fmla="val 50000" name="adj2"/>
                  <a:gd fmla="val 25000" name="adj3"/>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14b29b56ded_1_191"/>
              <p:cNvSpPr txBox="1"/>
              <p:nvPr/>
            </p:nvSpPr>
            <p:spPr>
              <a:xfrm>
                <a:off x="369325" y="2822500"/>
                <a:ext cx="376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A</a:t>
                </a:r>
                <a:endParaRPr b="1" baseline="-25000">
                  <a:solidFill>
                    <a:srgbClr val="FF0000"/>
                  </a:solidFill>
                </a:endParaRPr>
              </a:p>
            </p:txBody>
          </p:sp>
          <p:sp>
            <p:nvSpPr>
              <p:cNvPr id="421" name="Google Shape;421;g14b29b56ded_1_191"/>
              <p:cNvSpPr txBox="1"/>
              <p:nvPr/>
            </p:nvSpPr>
            <p:spPr>
              <a:xfrm>
                <a:off x="2632125" y="625350"/>
                <a:ext cx="609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pinA</a:t>
                </a:r>
                <a:r>
                  <a:rPr b="1" lang="en-AU">
                    <a:solidFill>
                      <a:srgbClr val="FF0000"/>
                    </a:solidFill>
                  </a:rPr>
                  <a:t> </a:t>
                </a:r>
                <a:endParaRPr/>
              </a:p>
            </p:txBody>
          </p:sp>
          <p:sp>
            <p:nvSpPr>
              <p:cNvPr id="427" name="Google Shape;427;g14b29b56ded_1_191"/>
              <p:cNvSpPr txBox="1"/>
              <p:nvPr/>
            </p:nvSpPr>
            <p:spPr>
              <a:xfrm>
                <a:off x="2628600" y="2926375"/>
                <a:ext cx="609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gear</a:t>
                </a:r>
                <a:endParaRPr/>
              </a:p>
            </p:txBody>
          </p:sp>
          <p:sp>
            <p:nvSpPr>
              <p:cNvPr id="428" name="Google Shape;428;g14b29b56ded_1_191"/>
              <p:cNvSpPr txBox="1"/>
              <p:nvPr/>
            </p:nvSpPr>
            <p:spPr>
              <a:xfrm>
                <a:off x="3232963" y="2926375"/>
                <a:ext cx="609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gear</a:t>
                </a:r>
                <a:endParaRPr/>
              </a:p>
            </p:txBody>
          </p:sp>
          <p:sp>
            <p:nvSpPr>
              <p:cNvPr id="423" name="Google Shape;423;g14b29b56ded_1_191"/>
              <p:cNvSpPr txBox="1"/>
              <p:nvPr/>
            </p:nvSpPr>
            <p:spPr>
              <a:xfrm>
                <a:off x="3891800" y="2948050"/>
                <a:ext cx="457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A</a:t>
                </a:r>
                <a:endParaRPr b="1" baseline="-25000">
                  <a:solidFill>
                    <a:srgbClr val="FF0000"/>
                  </a:solidFill>
                </a:endParaRPr>
              </a:p>
            </p:txBody>
          </p:sp>
          <p:sp>
            <p:nvSpPr>
              <p:cNvPr id="429" name="Google Shape;429;g14b29b56ded_1_191"/>
              <p:cNvSpPr txBox="1"/>
              <p:nvPr/>
            </p:nvSpPr>
            <p:spPr>
              <a:xfrm>
                <a:off x="4403375" y="711050"/>
                <a:ext cx="609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pinA</a:t>
                </a:r>
                <a:endParaRPr/>
              </a:p>
            </p:txBody>
          </p:sp>
          <p:cxnSp>
            <p:nvCxnSpPr>
              <p:cNvPr id="430" name="Google Shape;430;g14b29b56ded_1_191"/>
              <p:cNvCxnSpPr/>
              <p:nvPr/>
            </p:nvCxnSpPr>
            <p:spPr>
              <a:xfrm rot="10800000">
                <a:off x="4768925" y="1111250"/>
                <a:ext cx="6300" cy="917400"/>
              </a:xfrm>
              <a:prstGeom prst="straightConnector1">
                <a:avLst/>
              </a:prstGeom>
              <a:noFill/>
              <a:ln cap="flat" cmpd="sng" w="38100">
                <a:solidFill>
                  <a:srgbClr val="FF0000"/>
                </a:solidFill>
                <a:prstDash val="solid"/>
                <a:round/>
                <a:headEnd len="med" w="med" type="none"/>
                <a:tailEnd len="med" w="med" type="triangle"/>
              </a:ln>
            </p:spPr>
          </p:cxnSp>
        </p:grpSp>
        <p:sp>
          <p:nvSpPr>
            <p:cNvPr id="431" name="Google Shape;431;g14b29b56ded_1_191"/>
            <p:cNvSpPr txBox="1"/>
            <p:nvPr/>
          </p:nvSpPr>
          <p:spPr>
            <a:xfrm>
              <a:off x="3786200" y="1243000"/>
              <a:ext cx="725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chemeClr val="accent1"/>
                  </a:solidFill>
                </a:rPr>
                <a:t>𝜏</a:t>
              </a:r>
              <a:r>
                <a:rPr b="1" baseline="-25000" lang="en-AU">
                  <a:solidFill>
                    <a:schemeClr val="accent1"/>
                  </a:solidFill>
                </a:rPr>
                <a:t>motor</a:t>
              </a:r>
              <a:endParaRPr b="1" baseline="-25000">
                <a:solidFill>
                  <a:schemeClr val="accent1"/>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14b29b56ded_1_196"/>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15</a:t>
            </a:r>
            <a:endParaRPr sz="1800">
              <a:solidFill>
                <a:schemeClr val="dk1"/>
              </a:solidFill>
              <a:latin typeface="Arial Narrow"/>
              <a:ea typeface="Arial Narrow"/>
              <a:cs typeface="Arial Narrow"/>
              <a:sym typeface="Arial Narrow"/>
            </a:endParaRPr>
          </a:p>
        </p:txBody>
      </p:sp>
      <p:sp>
        <p:nvSpPr>
          <p:cNvPr id="437" name="Google Shape;437;g14b29b56ded_1_196"/>
          <p:cNvSpPr txBox="1"/>
          <p:nvPr>
            <p:ph type="title"/>
          </p:nvPr>
        </p:nvSpPr>
        <p:spPr>
          <a:xfrm>
            <a:off x="355150" y="173372"/>
            <a:ext cx="109728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a:t>
            </a:r>
            <a:r>
              <a:rPr b="1" lang="en-AU" sz="3000"/>
              <a:t>3.2</a:t>
            </a:r>
            <a:r>
              <a:rPr b="1" lang="en-AU" sz="3000">
                <a:solidFill>
                  <a:srgbClr val="000000"/>
                </a:solidFill>
              </a:rPr>
              <a:t> Shaft B Design Analysis</a:t>
            </a:r>
            <a:endParaRPr/>
          </a:p>
        </p:txBody>
      </p:sp>
      <p:grpSp>
        <p:nvGrpSpPr>
          <p:cNvPr id="438" name="Google Shape;438;g14b29b56ded_1_196"/>
          <p:cNvGrpSpPr/>
          <p:nvPr/>
        </p:nvGrpSpPr>
        <p:grpSpPr>
          <a:xfrm>
            <a:off x="169437" y="1709950"/>
            <a:ext cx="4090388" cy="3568306"/>
            <a:chOff x="355162" y="974125"/>
            <a:chExt cx="4090388" cy="3568306"/>
          </a:xfrm>
        </p:grpSpPr>
        <p:grpSp>
          <p:nvGrpSpPr>
            <p:cNvPr id="439" name="Google Shape;439;g14b29b56ded_1_196"/>
            <p:cNvGrpSpPr/>
            <p:nvPr/>
          </p:nvGrpSpPr>
          <p:grpSpPr>
            <a:xfrm>
              <a:off x="355162" y="974125"/>
              <a:ext cx="4090388" cy="2739025"/>
              <a:chOff x="3572612" y="322263"/>
              <a:chExt cx="4090388" cy="2739025"/>
            </a:xfrm>
          </p:grpSpPr>
          <p:pic>
            <p:nvPicPr>
              <p:cNvPr id="440" name="Google Shape;440;g14b29b56ded_1_196"/>
              <p:cNvPicPr preferRelativeResize="0"/>
              <p:nvPr/>
            </p:nvPicPr>
            <p:blipFill rotWithShape="1">
              <a:blip r:embed="rId3">
                <a:alphaModFix/>
              </a:blip>
              <a:srcRect b="-1929" l="20760" r="0" t="1930"/>
              <a:stretch/>
            </p:blipFill>
            <p:spPr>
              <a:xfrm>
                <a:off x="5843650" y="886475"/>
                <a:ext cx="1799321" cy="1855400"/>
              </a:xfrm>
              <a:prstGeom prst="rect">
                <a:avLst/>
              </a:prstGeom>
              <a:noFill/>
              <a:ln>
                <a:noFill/>
              </a:ln>
            </p:spPr>
          </p:pic>
          <p:pic>
            <p:nvPicPr>
              <p:cNvPr id="441" name="Google Shape;441;g14b29b56ded_1_196"/>
              <p:cNvPicPr preferRelativeResize="0"/>
              <p:nvPr/>
            </p:nvPicPr>
            <p:blipFill rotWithShape="1">
              <a:blip r:embed="rId4">
                <a:alphaModFix/>
              </a:blip>
              <a:srcRect b="0" l="0" r="0" t="0"/>
              <a:stretch/>
            </p:blipFill>
            <p:spPr>
              <a:xfrm rot="10800000">
                <a:off x="3572612" y="913338"/>
                <a:ext cx="2271050" cy="1816800"/>
              </a:xfrm>
              <a:prstGeom prst="rect">
                <a:avLst/>
              </a:prstGeom>
              <a:noFill/>
              <a:ln>
                <a:noFill/>
              </a:ln>
            </p:spPr>
          </p:pic>
          <p:cxnSp>
            <p:nvCxnSpPr>
              <p:cNvPr id="442" name="Google Shape;442;g14b29b56ded_1_196"/>
              <p:cNvCxnSpPr/>
              <p:nvPr/>
            </p:nvCxnSpPr>
            <p:spPr>
              <a:xfrm rot="10800000">
                <a:off x="7371700" y="737313"/>
                <a:ext cx="6900" cy="1075800"/>
              </a:xfrm>
              <a:prstGeom prst="straightConnector1">
                <a:avLst/>
              </a:prstGeom>
              <a:noFill/>
              <a:ln cap="flat" cmpd="sng" w="38100">
                <a:solidFill>
                  <a:schemeClr val="accent1"/>
                </a:solidFill>
                <a:prstDash val="solid"/>
                <a:round/>
                <a:headEnd len="med" w="med" type="none"/>
                <a:tailEnd len="med" w="med" type="triangle"/>
              </a:ln>
            </p:spPr>
          </p:cxnSp>
          <p:cxnSp>
            <p:nvCxnSpPr>
              <p:cNvPr id="443" name="Google Shape;443;g14b29b56ded_1_196"/>
              <p:cNvCxnSpPr/>
              <p:nvPr/>
            </p:nvCxnSpPr>
            <p:spPr>
              <a:xfrm rot="10800000">
                <a:off x="6071613" y="737313"/>
                <a:ext cx="6900" cy="1075800"/>
              </a:xfrm>
              <a:prstGeom prst="straightConnector1">
                <a:avLst/>
              </a:prstGeom>
              <a:noFill/>
              <a:ln cap="flat" cmpd="sng" w="38100">
                <a:solidFill>
                  <a:schemeClr val="accent1"/>
                </a:solidFill>
                <a:prstDash val="solid"/>
                <a:round/>
                <a:headEnd len="med" w="med" type="none"/>
                <a:tailEnd len="med" w="med" type="triangle"/>
              </a:ln>
            </p:spPr>
          </p:cxnSp>
          <p:cxnSp>
            <p:nvCxnSpPr>
              <p:cNvPr id="444" name="Google Shape;444;g14b29b56ded_1_196"/>
              <p:cNvCxnSpPr/>
              <p:nvPr/>
            </p:nvCxnSpPr>
            <p:spPr>
              <a:xfrm>
                <a:off x="6717013" y="1742713"/>
                <a:ext cx="16200" cy="861300"/>
              </a:xfrm>
              <a:prstGeom prst="straightConnector1">
                <a:avLst/>
              </a:prstGeom>
              <a:noFill/>
              <a:ln cap="flat" cmpd="sng" w="38100">
                <a:solidFill>
                  <a:schemeClr val="accent1"/>
                </a:solidFill>
                <a:prstDash val="solid"/>
                <a:round/>
                <a:headEnd len="med" w="med" type="none"/>
                <a:tailEnd len="med" w="med" type="triangle"/>
              </a:ln>
            </p:spPr>
          </p:cxnSp>
          <p:cxnSp>
            <p:nvCxnSpPr>
              <p:cNvPr id="445" name="Google Shape;445;g14b29b56ded_1_196"/>
              <p:cNvCxnSpPr/>
              <p:nvPr/>
            </p:nvCxnSpPr>
            <p:spPr>
              <a:xfrm>
                <a:off x="3944213" y="1742700"/>
                <a:ext cx="16200" cy="861300"/>
              </a:xfrm>
              <a:prstGeom prst="straightConnector1">
                <a:avLst/>
              </a:prstGeom>
              <a:noFill/>
              <a:ln cap="flat" cmpd="sng" w="38100">
                <a:solidFill>
                  <a:schemeClr val="accent1"/>
                </a:solidFill>
                <a:prstDash val="solid"/>
                <a:round/>
                <a:headEnd len="med" w="med" type="none"/>
                <a:tailEnd len="med" w="med" type="triangle"/>
              </a:ln>
            </p:spPr>
          </p:cxnSp>
          <p:cxnSp>
            <p:nvCxnSpPr>
              <p:cNvPr id="446" name="Google Shape;446;g14b29b56ded_1_196"/>
              <p:cNvCxnSpPr/>
              <p:nvPr/>
            </p:nvCxnSpPr>
            <p:spPr>
              <a:xfrm rot="10800000">
                <a:off x="4947563" y="652713"/>
                <a:ext cx="6900" cy="1075800"/>
              </a:xfrm>
              <a:prstGeom prst="straightConnector1">
                <a:avLst/>
              </a:prstGeom>
              <a:noFill/>
              <a:ln cap="flat" cmpd="sng" w="38100">
                <a:solidFill>
                  <a:schemeClr val="accent1"/>
                </a:solidFill>
                <a:prstDash val="solid"/>
                <a:round/>
                <a:headEnd len="med" w="med" type="none"/>
                <a:tailEnd len="med" w="med" type="triangle"/>
              </a:ln>
            </p:spPr>
          </p:cxnSp>
          <p:sp>
            <p:nvSpPr>
              <p:cNvPr id="447" name="Google Shape;447;g14b29b56ded_1_196"/>
              <p:cNvSpPr txBox="1"/>
              <p:nvPr/>
            </p:nvSpPr>
            <p:spPr>
              <a:xfrm>
                <a:off x="3664475" y="2661088"/>
                <a:ext cx="57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B</a:t>
                </a:r>
                <a:endParaRPr b="1" baseline="-25000">
                  <a:solidFill>
                    <a:srgbClr val="FF0000"/>
                  </a:solidFill>
                </a:endParaRPr>
              </a:p>
            </p:txBody>
          </p:sp>
          <p:sp>
            <p:nvSpPr>
              <p:cNvPr id="448" name="Google Shape;448;g14b29b56ded_1_196"/>
              <p:cNvSpPr txBox="1"/>
              <p:nvPr/>
            </p:nvSpPr>
            <p:spPr>
              <a:xfrm>
                <a:off x="5712375" y="355600"/>
                <a:ext cx="725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pinB</a:t>
                </a:r>
                <a:r>
                  <a:rPr b="1" lang="en-AU">
                    <a:solidFill>
                      <a:srgbClr val="FF0000"/>
                    </a:solidFill>
                  </a:rPr>
                  <a:t> </a:t>
                </a:r>
                <a:endParaRPr b="1">
                  <a:solidFill>
                    <a:srgbClr val="FF0000"/>
                  </a:solidFill>
                </a:endParaRPr>
              </a:p>
            </p:txBody>
          </p:sp>
          <p:sp>
            <p:nvSpPr>
              <p:cNvPr id="449" name="Google Shape;449;g14b29b56ded_1_196"/>
              <p:cNvSpPr txBox="1"/>
              <p:nvPr/>
            </p:nvSpPr>
            <p:spPr>
              <a:xfrm>
                <a:off x="6455450" y="2661075"/>
                <a:ext cx="57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B</a:t>
                </a:r>
                <a:endParaRPr b="1" baseline="-25000">
                  <a:solidFill>
                    <a:srgbClr val="FF0000"/>
                  </a:solidFill>
                </a:endParaRPr>
              </a:p>
            </p:txBody>
          </p:sp>
          <p:sp>
            <p:nvSpPr>
              <p:cNvPr id="450" name="Google Shape;450;g14b29b56ded_1_196"/>
              <p:cNvSpPr txBox="1"/>
              <p:nvPr/>
            </p:nvSpPr>
            <p:spPr>
              <a:xfrm>
                <a:off x="7087300" y="355588"/>
                <a:ext cx="575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gear</a:t>
                </a:r>
                <a:endParaRPr b="1" baseline="-25000">
                  <a:solidFill>
                    <a:srgbClr val="FF0000"/>
                  </a:solidFill>
                </a:endParaRPr>
              </a:p>
            </p:txBody>
          </p:sp>
          <p:sp>
            <p:nvSpPr>
              <p:cNvPr id="451" name="Google Shape;451;g14b29b56ded_1_196"/>
              <p:cNvSpPr txBox="1"/>
              <p:nvPr/>
            </p:nvSpPr>
            <p:spPr>
              <a:xfrm>
                <a:off x="4476725" y="322263"/>
                <a:ext cx="948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AU">
                    <a:solidFill>
                      <a:srgbClr val="FF0000"/>
                    </a:solidFill>
                  </a:rPr>
                  <a:t>F</a:t>
                </a:r>
                <a:r>
                  <a:rPr b="1" baseline="-25000" lang="en-AU">
                    <a:solidFill>
                      <a:srgbClr val="FF0000"/>
                    </a:solidFill>
                  </a:rPr>
                  <a:t>B</a:t>
                </a:r>
                <a:r>
                  <a:rPr b="1" lang="en-AU">
                    <a:solidFill>
                      <a:srgbClr val="FF0000"/>
                    </a:solidFill>
                  </a:rPr>
                  <a:t> + F</a:t>
                </a:r>
                <a:r>
                  <a:rPr b="1" baseline="-25000" lang="en-AU">
                    <a:solidFill>
                      <a:srgbClr val="FF0000"/>
                    </a:solidFill>
                  </a:rPr>
                  <a:t>gear</a:t>
                </a:r>
                <a:endParaRPr b="1">
                  <a:solidFill>
                    <a:srgbClr val="FF0000"/>
                  </a:solidFill>
                </a:endParaRPr>
              </a:p>
            </p:txBody>
          </p:sp>
        </p:grpSp>
        <p:grpSp>
          <p:nvGrpSpPr>
            <p:cNvPr id="452" name="Google Shape;452;g14b29b56ded_1_196"/>
            <p:cNvGrpSpPr/>
            <p:nvPr/>
          </p:nvGrpSpPr>
          <p:grpSpPr>
            <a:xfrm>
              <a:off x="419134" y="3501467"/>
              <a:ext cx="809674" cy="1040963"/>
              <a:chOff x="419156" y="3549100"/>
              <a:chExt cx="1233319" cy="1476125"/>
            </a:xfrm>
          </p:grpSpPr>
          <p:cxnSp>
            <p:nvCxnSpPr>
              <p:cNvPr id="453" name="Google Shape;453;g14b29b56ded_1_196"/>
              <p:cNvCxnSpPr/>
              <p:nvPr/>
            </p:nvCxnSpPr>
            <p:spPr>
              <a:xfrm flipH="1" rot="10800000">
                <a:off x="600075" y="3916125"/>
                <a:ext cx="9600" cy="741600"/>
              </a:xfrm>
              <a:prstGeom prst="straightConnector1">
                <a:avLst/>
              </a:prstGeom>
              <a:noFill/>
              <a:ln cap="flat" cmpd="sng" w="9525">
                <a:solidFill>
                  <a:schemeClr val="dk2"/>
                </a:solidFill>
                <a:prstDash val="solid"/>
                <a:round/>
                <a:headEnd len="med" w="med" type="none"/>
                <a:tailEnd len="med" w="med" type="triangle"/>
              </a:ln>
            </p:spPr>
          </p:cxnSp>
          <p:cxnSp>
            <p:nvCxnSpPr>
              <p:cNvPr id="454" name="Google Shape;454;g14b29b56ded_1_196"/>
              <p:cNvCxnSpPr/>
              <p:nvPr/>
            </p:nvCxnSpPr>
            <p:spPr>
              <a:xfrm>
                <a:off x="609675" y="4657725"/>
                <a:ext cx="671400" cy="0"/>
              </a:xfrm>
              <a:prstGeom prst="straightConnector1">
                <a:avLst/>
              </a:prstGeom>
              <a:noFill/>
              <a:ln cap="flat" cmpd="sng" w="9525">
                <a:solidFill>
                  <a:schemeClr val="dk2"/>
                </a:solidFill>
                <a:prstDash val="solid"/>
                <a:round/>
                <a:headEnd len="med" w="med" type="none"/>
                <a:tailEnd len="med" w="med" type="triangle"/>
              </a:ln>
            </p:spPr>
          </p:cxnSp>
          <p:sp>
            <p:nvSpPr>
              <p:cNvPr id="455" name="Google Shape;455;g14b29b56ded_1_196"/>
              <p:cNvSpPr txBox="1"/>
              <p:nvPr/>
            </p:nvSpPr>
            <p:spPr>
              <a:xfrm>
                <a:off x="419156" y="3549100"/>
                <a:ext cx="371400" cy="567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y</a:t>
                </a:r>
                <a:endParaRPr/>
              </a:p>
            </p:txBody>
          </p:sp>
          <p:sp>
            <p:nvSpPr>
              <p:cNvPr id="456" name="Google Shape;456;g14b29b56ded_1_196"/>
              <p:cNvSpPr txBox="1"/>
              <p:nvPr/>
            </p:nvSpPr>
            <p:spPr>
              <a:xfrm>
                <a:off x="1281075" y="4457625"/>
                <a:ext cx="371400" cy="567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x</a:t>
                </a:r>
                <a:endParaRPr/>
              </a:p>
            </p:txBody>
          </p:sp>
        </p:grpSp>
        <p:grpSp>
          <p:nvGrpSpPr>
            <p:cNvPr id="457" name="Google Shape;457;g14b29b56ded_1_196"/>
            <p:cNvGrpSpPr/>
            <p:nvPr/>
          </p:nvGrpSpPr>
          <p:grpSpPr>
            <a:xfrm>
              <a:off x="3548000" y="3494818"/>
              <a:ext cx="809661" cy="1039298"/>
              <a:chOff x="419175" y="3549100"/>
              <a:chExt cx="1233300" cy="1477325"/>
            </a:xfrm>
          </p:grpSpPr>
          <p:cxnSp>
            <p:nvCxnSpPr>
              <p:cNvPr id="458" name="Google Shape;458;g14b29b56ded_1_196"/>
              <p:cNvCxnSpPr/>
              <p:nvPr/>
            </p:nvCxnSpPr>
            <p:spPr>
              <a:xfrm flipH="1" rot="10800000">
                <a:off x="600075" y="3916125"/>
                <a:ext cx="9600" cy="741600"/>
              </a:xfrm>
              <a:prstGeom prst="straightConnector1">
                <a:avLst/>
              </a:prstGeom>
              <a:noFill/>
              <a:ln cap="flat" cmpd="sng" w="9525">
                <a:solidFill>
                  <a:schemeClr val="dk2"/>
                </a:solidFill>
                <a:prstDash val="solid"/>
                <a:round/>
                <a:headEnd len="med" w="med" type="none"/>
                <a:tailEnd len="med" w="med" type="triangle"/>
              </a:ln>
            </p:spPr>
          </p:cxnSp>
          <p:cxnSp>
            <p:nvCxnSpPr>
              <p:cNvPr id="459" name="Google Shape;459;g14b29b56ded_1_196"/>
              <p:cNvCxnSpPr/>
              <p:nvPr/>
            </p:nvCxnSpPr>
            <p:spPr>
              <a:xfrm>
                <a:off x="609675" y="4657725"/>
                <a:ext cx="671400" cy="0"/>
              </a:xfrm>
              <a:prstGeom prst="straightConnector1">
                <a:avLst/>
              </a:prstGeom>
              <a:noFill/>
              <a:ln cap="flat" cmpd="sng" w="9525">
                <a:solidFill>
                  <a:schemeClr val="dk2"/>
                </a:solidFill>
                <a:prstDash val="solid"/>
                <a:round/>
                <a:headEnd len="med" w="med" type="none"/>
                <a:tailEnd len="med" w="med" type="triangle"/>
              </a:ln>
            </p:spPr>
          </p:cxnSp>
          <p:sp>
            <p:nvSpPr>
              <p:cNvPr id="460" name="Google Shape;460;g14b29b56ded_1_196"/>
              <p:cNvSpPr txBox="1"/>
              <p:nvPr/>
            </p:nvSpPr>
            <p:spPr>
              <a:xfrm>
                <a:off x="419175" y="3549100"/>
                <a:ext cx="371400" cy="56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y</a:t>
                </a:r>
                <a:endParaRPr/>
              </a:p>
            </p:txBody>
          </p:sp>
          <p:sp>
            <p:nvSpPr>
              <p:cNvPr id="461" name="Google Shape;461;g14b29b56ded_1_196"/>
              <p:cNvSpPr txBox="1"/>
              <p:nvPr/>
            </p:nvSpPr>
            <p:spPr>
              <a:xfrm>
                <a:off x="1281075" y="4457625"/>
                <a:ext cx="371400" cy="56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a:t>z</a:t>
                </a:r>
                <a:endParaRPr/>
              </a:p>
            </p:txBody>
          </p:sp>
        </p:grpSp>
      </p:grpSp>
      <p:sp>
        <p:nvSpPr>
          <p:cNvPr id="462" name="Google Shape;462;g14b29b56ded_1_196"/>
          <p:cNvSpPr txBox="1"/>
          <p:nvPr/>
        </p:nvSpPr>
        <p:spPr>
          <a:xfrm>
            <a:off x="4596000" y="625500"/>
            <a:ext cx="3000000" cy="632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1300" u="sng">
                <a:solidFill>
                  <a:schemeClr val="dk1"/>
                </a:solidFill>
                <a:latin typeface="Arial Narrow"/>
                <a:ea typeface="Arial Narrow"/>
                <a:cs typeface="Arial Narrow"/>
                <a:sym typeface="Arial Narrow"/>
              </a:rPr>
              <a:t>Bending Stress:</a:t>
            </a:r>
            <a:endParaRPr b="1" sz="1300" u="sng">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M</a:t>
            </a:r>
            <a:r>
              <a:rPr baseline="-25000" lang="en-AU" sz="1300">
                <a:solidFill>
                  <a:schemeClr val="dk1"/>
                </a:solidFill>
                <a:latin typeface="Arial Narrow"/>
                <a:ea typeface="Arial Narrow"/>
                <a:cs typeface="Arial Narrow"/>
                <a:sym typeface="Arial Narrow"/>
              </a:rPr>
              <a:t>Max</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shear</a:t>
            </a:r>
            <a:r>
              <a:rPr lang="en-AU" sz="1300">
                <a:solidFill>
                  <a:schemeClr val="dk1"/>
                </a:solidFill>
                <a:latin typeface="Arial Narrow"/>
                <a:ea typeface="Arial Narrow"/>
                <a:cs typeface="Arial Narrow"/>
                <a:sym typeface="Arial Narrow"/>
              </a:rPr>
              <a:t>*Distance = 2276.72*0.145</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M</a:t>
            </a:r>
            <a:r>
              <a:rPr baseline="-25000" lang="en-AU" sz="1300">
                <a:solidFill>
                  <a:schemeClr val="dk1"/>
                </a:solidFill>
                <a:latin typeface="Arial Narrow"/>
                <a:ea typeface="Arial Narrow"/>
                <a:cs typeface="Arial Narrow"/>
                <a:sym typeface="Arial Narrow"/>
              </a:rPr>
              <a:t>Max</a:t>
            </a:r>
            <a:r>
              <a:rPr lang="en-AU" sz="1300">
                <a:solidFill>
                  <a:schemeClr val="dk1"/>
                </a:solidFill>
                <a:latin typeface="Arial Narrow"/>
                <a:ea typeface="Arial Narrow"/>
                <a:cs typeface="Arial Narrow"/>
                <a:sym typeface="Arial Narrow"/>
              </a:rPr>
              <a:t> = 330.124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M</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F</a:t>
            </a:r>
            <a:r>
              <a:rPr baseline="-25000" lang="en-AU" sz="1300">
                <a:solidFill>
                  <a:schemeClr val="dk1"/>
                </a:solidFill>
                <a:latin typeface="Arial Narrow"/>
                <a:ea typeface="Arial Narrow"/>
                <a:cs typeface="Arial Narrow"/>
                <a:sym typeface="Arial Narrow"/>
              </a:rPr>
              <a:t>shear</a:t>
            </a:r>
            <a:r>
              <a:rPr lang="en-AU" sz="1300">
                <a:solidFill>
                  <a:schemeClr val="dk1"/>
                </a:solidFill>
                <a:latin typeface="Arial Narrow"/>
                <a:ea typeface="Arial Narrow"/>
                <a:cs typeface="Arial Narrow"/>
                <a:sym typeface="Arial Narrow"/>
              </a:rPr>
              <a:t>*Distance = 2276.72*0.13</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M</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295.973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M max</a:t>
            </a:r>
            <a:r>
              <a:rPr lang="en-AU" sz="1300">
                <a:solidFill>
                  <a:schemeClr val="dk1"/>
                </a:solidFill>
                <a:latin typeface="Arial Narrow"/>
                <a:ea typeface="Arial Narrow"/>
                <a:cs typeface="Arial Narrow"/>
                <a:sym typeface="Arial Narrow"/>
              </a:rPr>
              <a:t> =  32*M</a:t>
            </a:r>
            <a:r>
              <a:rPr baseline="-25000" lang="en-AU" sz="1300">
                <a:solidFill>
                  <a:schemeClr val="dk1"/>
                </a:solidFill>
                <a:latin typeface="Arial Narrow"/>
                <a:ea typeface="Arial Narrow"/>
                <a:cs typeface="Arial Narrow"/>
                <a:sym typeface="Arial Narrow"/>
              </a:rPr>
              <a:t>max</a:t>
            </a:r>
            <a:r>
              <a:rPr lang="en-AU" sz="1300">
                <a:solidFill>
                  <a:schemeClr val="dk1"/>
                </a:solidFill>
                <a:latin typeface="Arial Narrow"/>
                <a:ea typeface="Arial Narrow"/>
                <a:cs typeface="Arial Narrow"/>
                <a:sym typeface="Arial Narrow"/>
              </a:rPr>
              <a:t>/π*d</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 = 32*330.124/</a:t>
            </a:r>
            <a:r>
              <a:rPr baseline="-25000" lang="en-AU" sz="1300">
                <a:solidFill>
                  <a:schemeClr val="dk1"/>
                </a:solidFill>
                <a:latin typeface="Arial Narrow"/>
                <a:ea typeface="Arial Narrow"/>
                <a:cs typeface="Arial Narrow"/>
                <a:sym typeface="Arial Narrow"/>
              </a:rPr>
              <a:t> </a:t>
            </a:r>
            <a:r>
              <a:rPr lang="en-AU" sz="1300">
                <a:solidFill>
                  <a:schemeClr val="dk1"/>
                </a:solidFill>
                <a:latin typeface="Arial Narrow"/>
                <a:ea typeface="Arial Narrow"/>
                <a:cs typeface="Arial Narrow"/>
                <a:sym typeface="Arial Narrow"/>
              </a:rPr>
              <a:t>π*(0.04</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M max</a:t>
            </a:r>
            <a:r>
              <a:rPr lang="en-AU" sz="1300">
                <a:solidFill>
                  <a:schemeClr val="dk1"/>
                </a:solidFill>
                <a:latin typeface="Arial Narrow"/>
                <a:ea typeface="Arial Narrow"/>
                <a:cs typeface="Arial Narrow"/>
                <a:sym typeface="Arial Narrow"/>
              </a:rPr>
              <a:t> = 52.541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(32*M</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/π*d</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)*Kf</a:t>
            </a:r>
            <a:r>
              <a:rPr baseline="-25000" lang="en-AU" sz="1300">
                <a:solidFill>
                  <a:schemeClr val="dk1"/>
                </a:solidFill>
                <a:latin typeface="Arial Narrow"/>
                <a:ea typeface="Arial Narrow"/>
                <a:cs typeface="Arial Narrow"/>
                <a:sym typeface="Arial Narrow"/>
              </a:rPr>
              <a:t>b</a:t>
            </a:r>
            <a:r>
              <a:rPr lang="en-AU" sz="1300">
                <a:solidFill>
                  <a:schemeClr val="dk1"/>
                </a:solidFill>
                <a:latin typeface="Arial Narrow"/>
                <a:ea typeface="Arial Narrow"/>
                <a:cs typeface="Arial Narrow"/>
                <a:sym typeface="Arial Narrow"/>
              </a:rPr>
              <a:t> = (32*295.973/π*(0.04</a:t>
            </a:r>
            <a:r>
              <a:rPr baseline="30000" lang="en-AU" sz="1300">
                <a:solidFill>
                  <a:schemeClr val="dk1"/>
                </a:solidFill>
                <a:latin typeface="Arial Narrow"/>
                <a:ea typeface="Arial Narrow"/>
                <a:cs typeface="Arial Narrow"/>
                <a:sym typeface="Arial Narrow"/>
              </a:rPr>
              <a:t>3</a:t>
            </a:r>
            <a:r>
              <a:rPr lang="en-AU" sz="1300">
                <a:solidFill>
                  <a:schemeClr val="dk1"/>
                </a:solidFill>
                <a:latin typeface="Arial Narrow"/>
                <a:ea typeface="Arial Narrow"/>
                <a:cs typeface="Arial Narrow"/>
                <a:sym typeface="Arial Narrow"/>
              </a:rPr>
              <a:t>))*1.22</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57.467 MPa</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ctr">
              <a:spcBef>
                <a:spcPts val="0"/>
              </a:spcBef>
              <a:spcAft>
                <a:spcPts val="0"/>
              </a:spcAft>
              <a:buNone/>
            </a:pPr>
            <a:r>
              <a:rPr lang="en-AU" sz="1300">
                <a:solidFill>
                  <a:schemeClr val="dk1"/>
                </a:solidFill>
                <a:latin typeface="Arial Narrow"/>
                <a:ea typeface="Arial Narrow"/>
                <a:cs typeface="Arial Narrow"/>
                <a:sym typeface="Arial Narrow"/>
              </a:rPr>
              <a:t>Maximum stress occurs at the fillet </a:t>
            </a:r>
            <a:endParaRPr sz="1300">
              <a:solidFill>
                <a:schemeClr val="dk1"/>
              </a:solidFill>
              <a:latin typeface="Arial Narrow"/>
              <a:ea typeface="Arial Narrow"/>
              <a:cs typeface="Arial Narrow"/>
              <a:sym typeface="Arial Narrow"/>
            </a:endParaRPr>
          </a:p>
          <a:p>
            <a:pPr indent="0" lvl="0" marL="0" rtl="0" algn="ctr">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ctr">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Shaft is machined from </a:t>
            </a:r>
            <a:r>
              <a:rPr b="1" lang="en-AU" sz="1300">
                <a:solidFill>
                  <a:schemeClr val="dk1"/>
                </a:solidFill>
                <a:latin typeface="Arial Narrow"/>
                <a:ea typeface="Arial Narrow"/>
                <a:cs typeface="Arial Narrow"/>
                <a:sym typeface="Arial Narrow"/>
              </a:rPr>
              <a:t>cast alloy steel</a:t>
            </a:r>
            <a:r>
              <a:rPr lang="en-AU" sz="1300">
                <a:solidFill>
                  <a:schemeClr val="dk1"/>
                </a:solidFill>
                <a:latin typeface="Arial Narrow"/>
                <a:ea typeface="Arial Narrow"/>
                <a:cs typeface="Arial Narrow"/>
                <a:sym typeface="Arial Narrow"/>
              </a:rPr>
              <a:t>:</a:t>
            </a:r>
            <a:endParaRPr sz="1300">
              <a:solidFill>
                <a:schemeClr val="dk1"/>
              </a:solidFill>
              <a:latin typeface="Arial Narrow"/>
              <a:ea typeface="Arial Narrow"/>
              <a:cs typeface="Arial Narrow"/>
              <a:sym typeface="Arial Narrow"/>
            </a:endParaRPr>
          </a:p>
          <a:p>
            <a:pPr indent="0" lvl="0" marL="0" rtl="0" algn="ctr">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S</a:t>
            </a:r>
            <a:r>
              <a:rPr baseline="-25000" lang="en-AU" sz="1300">
                <a:solidFill>
                  <a:schemeClr val="dk1"/>
                </a:solidFill>
                <a:latin typeface="Arial Narrow"/>
                <a:ea typeface="Arial Narrow"/>
                <a:cs typeface="Arial Narrow"/>
                <a:sym typeface="Arial Narrow"/>
              </a:rPr>
              <a:t>u</a:t>
            </a:r>
            <a:r>
              <a:rPr lang="en-AU" sz="1300">
                <a:solidFill>
                  <a:schemeClr val="dk1"/>
                </a:solidFill>
                <a:latin typeface="Arial Narrow"/>
                <a:ea typeface="Arial Narrow"/>
                <a:cs typeface="Arial Narrow"/>
                <a:sym typeface="Arial Narrow"/>
              </a:rPr>
              <a:t> = 448.08 MPa, S</a:t>
            </a:r>
            <a:r>
              <a:rPr baseline="-25000" lang="en-AU" sz="1300">
                <a:solidFill>
                  <a:schemeClr val="dk1"/>
                </a:solidFill>
                <a:latin typeface="Arial Narrow"/>
                <a:ea typeface="Arial Narrow"/>
                <a:cs typeface="Arial Narrow"/>
                <a:sym typeface="Arial Narrow"/>
              </a:rPr>
              <a:t>y</a:t>
            </a:r>
            <a:r>
              <a:rPr lang="en-AU" sz="1300">
                <a:solidFill>
                  <a:schemeClr val="dk1"/>
                </a:solidFill>
                <a:latin typeface="Arial Narrow"/>
                <a:ea typeface="Arial Narrow"/>
                <a:cs typeface="Arial Narrow"/>
                <a:sym typeface="Arial Narrow"/>
              </a:rPr>
              <a:t> = 241.28 MPa</a:t>
            </a:r>
            <a:endParaRPr sz="1300">
              <a:solidFill>
                <a:schemeClr val="dk1"/>
              </a:solidFill>
              <a:latin typeface="Arial Narrow"/>
              <a:ea typeface="Arial Narrow"/>
              <a:cs typeface="Arial Narrow"/>
              <a:sym typeface="Arial Narrow"/>
            </a:endParaRPr>
          </a:p>
          <a:p>
            <a:pPr indent="0" lvl="0" marL="0" rtl="0" algn="ctr">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S</a:t>
            </a:r>
            <a:r>
              <a:rPr baseline="-25000" lang="en-AU" sz="1300">
                <a:solidFill>
                  <a:schemeClr val="dk1"/>
                </a:solidFill>
                <a:latin typeface="Arial Narrow"/>
                <a:ea typeface="Arial Narrow"/>
                <a:cs typeface="Arial Narrow"/>
                <a:sym typeface="Arial Narrow"/>
              </a:rPr>
              <a:t>n</a:t>
            </a:r>
            <a:r>
              <a:rPr lang="en-AU" sz="1300">
                <a:solidFill>
                  <a:schemeClr val="dk1"/>
                </a:solidFill>
                <a:latin typeface="Arial Narrow"/>
                <a:ea typeface="Arial Narrow"/>
                <a:cs typeface="Arial Narrow"/>
                <a:sym typeface="Arial Narrow"/>
              </a:rPr>
              <a:t> = S</a:t>
            </a:r>
            <a:r>
              <a:rPr baseline="-25000" lang="en-AU" sz="1300">
                <a:solidFill>
                  <a:schemeClr val="dk1"/>
                </a:solidFill>
                <a:latin typeface="Arial Narrow"/>
                <a:ea typeface="Arial Narrow"/>
                <a:cs typeface="Arial Narrow"/>
                <a:sym typeface="Arial Narrow"/>
              </a:rPr>
              <a:t>n</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L</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G</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S</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T</a:t>
            </a: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R</a:t>
            </a:r>
            <a:endParaRPr baseline="-25000"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baseline="-25000"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S</a:t>
            </a:r>
            <a:r>
              <a:rPr baseline="-25000" lang="en-AU" sz="1300">
                <a:solidFill>
                  <a:schemeClr val="dk1"/>
                </a:solidFill>
                <a:latin typeface="Arial Narrow"/>
                <a:ea typeface="Arial Narrow"/>
                <a:cs typeface="Arial Narrow"/>
                <a:sym typeface="Arial Narrow"/>
              </a:rPr>
              <a:t>n</a:t>
            </a:r>
            <a:r>
              <a:rPr lang="en-AU" sz="1300">
                <a:solidFill>
                  <a:schemeClr val="dk1"/>
                </a:solidFill>
                <a:latin typeface="Arial Narrow"/>
                <a:ea typeface="Arial Narrow"/>
                <a:cs typeface="Arial Narrow"/>
                <a:sym typeface="Arial Narrow"/>
              </a:rPr>
              <a:t>’ = 0.5S</a:t>
            </a:r>
            <a:r>
              <a:rPr baseline="-25000" lang="en-AU" sz="1300">
                <a:solidFill>
                  <a:schemeClr val="dk1"/>
                </a:solidFill>
                <a:latin typeface="Arial Narrow"/>
                <a:ea typeface="Arial Narrow"/>
                <a:cs typeface="Arial Narrow"/>
                <a:sym typeface="Arial Narrow"/>
              </a:rPr>
              <a:t>u</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L</a:t>
            </a:r>
            <a:r>
              <a:rPr lang="en-AU" sz="1300">
                <a:solidFill>
                  <a:schemeClr val="dk1"/>
                </a:solidFill>
                <a:latin typeface="Arial Narrow"/>
                <a:ea typeface="Arial Narrow"/>
                <a:cs typeface="Arial Narrow"/>
                <a:sym typeface="Arial Narrow"/>
              </a:rPr>
              <a:t> = 1 - Bending</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G</a:t>
            </a:r>
            <a:r>
              <a:rPr lang="en-AU" sz="1300">
                <a:solidFill>
                  <a:schemeClr val="dk1"/>
                </a:solidFill>
                <a:latin typeface="Arial Narrow"/>
                <a:ea typeface="Arial Narrow"/>
                <a:cs typeface="Arial Narrow"/>
                <a:sym typeface="Arial Narrow"/>
              </a:rPr>
              <a:t> = 0.9 - 40mm</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C</a:t>
            </a:r>
            <a:r>
              <a:rPr baseline="-25000" lang="en-AU" sz="1300">
                <a:solidFill>
                  <a:schemeClr val="dk1"/>
                </a:solidFill>
                <a:latin typeface="Arial Narrow"/>
                <a:ea typeface="Arial Narrow"/>
                <a:cs typeface="Arial Narrow"/>
                <a:sym typeface="Arial Narrow"/>
              </a:rPr>
              <a:t>S</a:t>
            </a:r>
            <a:r>
              <a:rPr lang="en-AU" sz="1300">
                <a:solidFill>
                  <a:schemeClr val="dk1"/>
                </a:solidFill>
                <a:latin typeface="Arial Narrow"/>
                <a:ea typeface="Arial Narrow"/>
                <a:cs typeface="Arial Narrow"/>
                <a:sym typeface="Arial Narrow"/>
              </a:rPr>
              <a:t> = 0.9 - fine ground</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sz="1300">
                <a:solidFill>
                  <a:schemeClr val="dk1"/>
                </a:solidFill>
                <a:latin typeface="Arial Narrow"/>
                <a:ea typeface="Arial Narrow"/>
                <a:cs typeface="Arial Narrow"/>
                <a:sym typeface="Arial Narrow"/>
              </a:rPr>
              <a:t>S</a:t>
            </a:r>
            <a:r>
              <a:rPr baseline="-25000" lang="en-AU" sz="1300">
                <a:solidFill>
                  <a:schemeClr val="dk1"/>
                </a:solidFill>
                <a:latin typeface="Arial Narrow"/>
                <a:ea typeface="Arial Narrow"/>
                <a:cs typeface="Arial Narrow"/>
                <a:sym typeface="Arial Narrow"/>
              </a:rPr>
              <a:t>n</a:t>
            </a:r>
            <a:r>
              <a:rPr lang="en-AU" sz="1300">
                <a:solidFill>
                  <a:schemeClr val="dk1"/>
                </a:solidFill>
                <a:latin typeface="Arial Narrow"/>
                <a:ea typeface="Arial Narrow"/>
                <a:cs typeface="Arial Narrow"/>
                <a:sym typeface="Arial Narrow"/>
              </a:rPr>
              <a:t> = 0.5(448.08)(1)(0.9)(0.9)(1)(1)</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b="1" lang="en-AU" sz="1300">
                <a:solidFill>
                  <a:schemeClr val="dk1"/>
                </a:solidFill>
                <a:latin typeface="Arial Narrow"/>
                <a:ea typeface="Arial Narrow"/>
                <a:cs typeface="Arial Narrow"/>
                <a:sym typeface="Arial Narrow"/>
              </a:rPr>
              <a:t>S</a:t>
            </a:r>
            <a:r>
              <a:rPr b="1" baseline="-25000" lang="en-AU" sz="1300">
                <a:solidFill>
                  <a:schemeClr val="dk1"/>
                </a:solidFill>
                <a:latin typeface="Arial Narrow"/>
                <a:ea typeface="Arial Narrow"/>
                <a:cs typeface="Arial Narrow"/>
                <a:sym typeface="Arial Narrow"/>
              </a:rPr>
              <a:t>n</a:t>
            </a:r>
            <a:r>
              <a:rPr b="1" lang="en-AU" sz="1300">
                <a:solidFill>
                  <a:schemeClr val="dk1"/>
                </a:solidFill>
                <a:latin typeface="Arial Narrow"/>
                <a:ea typeface="Arial Narrow"/>
                <a:cs typeface="Arial Narrow"/>
                <a:sym typeface="Arial Narrow"/>
              </a:rPr>
              <a:t> = 181.47 MPa</a:t>
            </a:r>
            <a:endParaRPr b="1"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463" name="Google Shape;463;g14b29b56ded_1_196"/>
          <p:cNvSpPr txBox="1"/>
          <p:nvPr/>
        </p:nvSpPr>
        <p:spPr>
          <a:xfrm>
            <a:off x="7596000" y="625500"/>
            <a:ext cx="30000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1300" u="sng">
                <a:solidFill>
                  <a:schemeClr val="dk1"/>
                </a:solidFill>
                <a:latin typeface="Arial Narrow"/>
                <a:ea typeface="Arial Narrow"/>
                <a:cs typeface="Arial Narrow"/>
                <a:sym typeface="Arial Narrow"/>
              </a:rPr>
              <a:t>Stress concentration factor (due to fillet):</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Kf = 1 + (Kt - 1)q</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D/d = 200/40 = 5</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r/d = 20/40 = 0.5</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Since r is large, Kf ≅ Kt</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Kt</a:t>
            </a:r>
            <a:r>
              <a:rPr baseline="-25000" lang="en-AU" sz="1300">
                <a:solidFill>
                  <a:schemeClr val="dk1"/>
                </a:solidFill>
                <a:latin typeface="Arial Narrow"/>
                <a:ea typeface="Arial Narrow"/>
                <a:cs typeface="Arial Narrow"/>
                <a:sym typeface="Arial Narrow"/>
              </a:rPr>
              <a:t>b</a:t>
            </a:r>
            <a:r>
              <a:rPr lang="en-AU" sz="1300">
                <a:solidFill>
                  <a:schemeClr val="dk1"/>
                </a:solidFill>
                <a:latin typeface="Arial Narrow"/>
                <a:ea typeface="Arial Narrow"/>
                <a:cs typeface="Arial Narrow"/>
                <a:sym typeface="Arial Narrow"/>
              </a:rPr>
              <a:t> = 1.22</a:t>
            </a:r>
            <a:endParaRPr sz="1600">
              <a:latin typeface="Arial Narrow"/>
              <a:ea typeface="Arial Narrow"/>
              <a:cs typeface="Arial Narrow"/>
              <a:sym typeface="Arial Narrow"/>
            </a:endParaRPr>
          </a:p>
        </p:txBody>
      </p:sp>
      <p:sp>
        <p:nvSpPr>
          <p:cNvPr id="464" name="Google Shape;464;g14b29b56ded_1_196"/>
          <p:cNvSpPr txBox="1"/>
          <p:nvPr/>
        </p:nvSpPr>
        <p:spPr>
          <a:xfrm>
            <a:off x="7596000" y="2126850"/>
            <a:ext cx="3000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Safety Factor =  S</a:t>
            </a:r>
            <a:r>
              <a:rPr baseline="-25000" lang="en-AU" sz="1300">
                <a:solidFill>
                  <a:schemeClr val="dk1"/>
                </a:solidFill>
                <a:latin typeface="Arial Narrow"/>
                <a:ea typeface="Arial Narrow"/>
                <a:cs typeface="Arial Narrow"/>
                <a:sym typeface="Arial Narrow"/>
              </a:rPr>
              <a:t>y</a:t>
            </a:r>
            <a:r>
              <a:rPr lang="en-AU" sz="1300">
                <a:solidFill>
                  <a:schemeClr val="dk1"/>
                </a:solidFill>
                <a:latin typeface="Arial Narrow"/>
                <a:ea typeface="Arial Narrow"/>
                <a:cs typeface="Arial Narrow"/>
                <a:sym typeface="Arial Narrow"/>
              </a:rPr>
              <a:t>/σ</a:t>
            </a:r>
            <a:r>
              <a:rPr baseline="-25000" lang="en-AU" sz="1300">
                <a:solidFill>
                  <a:schemeClr val="dk1"/>
                </a:solidFill>
                <a:latin typeface="Arial Narrow"/>
                <a:ea typeface="Arial Narrow"/>
                <a:cs typeface="Arial Narrow"/>
                <a:sym typeface="Arial Narrow"/>
              </a:rPr>
              <a:t>fillet</a:t>
            </a:r>
            <a:r>
              <a:rPr lang="en-AU" sz="1300">
                <a:solidFill>
                  <a:schemeClr val="dk1"/>
                </a:solidFill>
                <a:latin typeface="Arial Narrow"/>
                <a:ea typeface="Arial Narrow"/>
                <a:cs typeface="Arial Narrow"/>
                <a:sym typeface="Arial Narrow"/>
              </a:rPr>
              <a:t> = 241.28/57.467</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b="1" lang="en-AU" sz="1300">
                <a:solidFill>
                  <a:schemeClr val="dk1"/>
                </a:solidFill>
                <a:latin typeface="Arial Narrow"/>
                <a:ea typeface="Arial Narrow"/>
                <a:cs typeface="Arial Narrow"/>
                <a:sym typeface="Arial Narrow"/>
              </a:rPr>
              <a:t>Safety Factor = 4.20</a:t>
            </a:r>
            <a:endParaRPr b="1" sz="1600">
              <a:latin typeface="Arial Narrow"/>
              <a:ea typeface="Arial Narrow"/>
              <a:cs typeface="Arial Narrow"/>
              <a:sym typeface="Arial Narrow"/>
            </a:endParaRPr>
          </a:p>
        </p:txBody>
      </p:sp>
      <p:sp>
        <p:nvSpPr>
          <p:cNvPr id="465" name="Google Shape;465;g14b29b56ded_1_196"/>
          <p:cNvSpPr txBox="1"/>
          <p:nvPr/>
        </p:nvSpPr>
        <p:spPr>
          <a:xfrm>
            <a:off x="7596000" y="2899325"/>
            <a:ext cx="44190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Upon analysis, this system requires a redesign. While having a single motor driving a single shaft reduces weight in comparison to having 2 motors, the torque is high, making shaft design and material selection difficult.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Deflection is also an issue with the current design , as even small deflections at the pinion can interfere with the interaction between the pinion and rack teeth. This can be addressed by having another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Decoupling of the gears is likely necessary, as having them interact leads to vastly different reaction forces in each shaft due to the unequal torsional loads present.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sz="13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sz="1300">
                <a:solidFill>
                  <a:schemeClr val="dk1"/>
                </a:solidFill>
                <a:latin typeface="Arial Narrow"/>
                <a:ea typeface="Arial Narrow"/>
                <a:cs typeface="Arial Narrow"/>
                <a:sym typeface="Arial Narrow"/>
              </a:rPr>
              <a:t>The weight saving </a:t>
            </a:r>
            <a:r>
              <a:rPr lang="en-AU" sz="1300">
                <a:solidFill>
                  <a:schemeClr val="dk1"/>
                </a:solidFill>
                <a:latin typeface="Arial Narrow"/>
                <a:ea typeface="Arial Narrow"/>
                <a:cs typeface="Arial Narrow"/>
                <a:sym typeface="Arial Narrow"/>
              </a:rPr>
              <a:t>benefits</a:t>
            </a:r>
            <a:r>
              <a:rPr lang="en-AU" sz="1300">
                <a:solidFill>
                  <a:schemeClr val="dk1"/>
                </a:solidFill>
                <a:latin typeface="Arial Narrow"/>
                <a:ea typeface="Arial Narrow"/>
                <a:cs typeface="Arial Narrow"/>
                <a:sym typeface="Arial Narrow"/>
              </a:rPr>
              <a:t> of the </a:t>
            </a:r>
            <a:r>
              <a:rPr lang="en-AU" sz="1300">
                <a:solidFill>
                  <a:schemeClr val="dk1"/>
                </a:solidFill>
                <a:latin typeface="Arial Narrow"/>
                <a:ea typeface="Arial Narrow"/>
                <a:cs typeface="Arial Narrow"/>
                <a:sym typeface="Arial Narrow"/>
              </a:rPr>
              <a:t>single</a:t>
            </a:r>
            <a:r>
              <a:rPr lang="en-AU" sz="1300">
                <a:solidFill>
                  <a:schemeClr val="dk1"/>
                </a:solidFill>
                <a:latin typeface="Arial Narrow"/>
                <a:ea typeface="Arial Narrow"/>
                <a:cs typeface="Arial Narrow"/>
                <a:sym typeface="Arial Narrow"/>
              </a:rPr>
              <a:t> motor and compact design of </a:t>
            </a:r>
            <a:r>
              <a:rPr lang="en-AU" sz="1300">
                <a:solidFill>
                  <a:schemeClr val="dk1"/>
                </a:solidFill>
                <a:latin typeface="Arial Narrow"/>
                <a:ea typeface="Arial Narrow"/>
                <a:cs typeface="Arial Narrow"/>
                <a:sym typeface="Arial Narrow"/>
              </a:rPr>
              <a:t>the interlacing</a:t>
            </a:r>
            <a:r>
              <a:rPr lang="en-AU" sz="1300">
                <a:solidFill>
                  <a:schemeClr val="dk1"/>
                </a:solidFill>
                <a:latin typeface="Arial Narrow"/>
                <a:ea typeface="Arial Narrow"/>
                <a:cs typeface="Arial Narrow"/>
                <a:sym typeface="Arial Narrow"/>
              </a:rPr>
              <a:t> pinions is appeared to be beinfical, however via the design analysis it appears that the system is ill-</a:t>
            </a:r>
            <a:r>
              <a:rPr lang="en-AU" sz="1300">
                <a:solidFill>
                  <a:schemeClr val="dk1"/>
                </a:solidFill>
                <a:latin typeface="Arial Narrow"/>
                <a:ea typeface="Arial Narrow"/>
                <a:cs typeface="Arial Narrow"/>
                <a:sym typeface="Arial Narrow"/>
              </a:rPr>
              <a:t>suited</a:t>
            </a:r>
            <a:r>
              <a:rPr lang="en-AU" sz="1300">
                <a:solidFill>
                  <a:schemeClr val="dk1"/>
                </a:solidFill>
                <a:latin typeface="Arial Narrow"/>
                <a:ea typeface="Arial Narrow"/>
                <a:cs typeface="Arial Narrow"/>
                <a:sym typeface="Arial Narrow"/>
              </a:rPr>
              <a:t> for the </a:t>
            </a:r>
            <a:r>
              <a:rPr lang="en-AU" sz="1300">
                <a:solidFill>
                  <a:schemeClr val="dk1"/>
                </a:solidFill>
                <a:latin typeface="Arial Narrow"/>
                <a:ea typeface="Arial Narrow"/>
                <a:cs typeface="Arial Narrow"/>
                <a:sym typeface="Arial Narrow"/>
              </a:rPr>
              <a:t>functionality</a:t>
            </a:r>
            <a:r>
              <a:rPr lang="en-AU" sz="1300">
                <a:solidFill>
                  <a:schemeClr val="dk1"/>
                </a:solidFill>
                <a:latin typeface="Arial Narrow"/>
                <a:ea typeface="Arial Narrow"/>
                <a:cs typeface="Arial Narrow"/>
                <a:sym typeface="Arial Narrow"/>
              </a:rPr>
              <a:t> that is required from it. A full </a:t>
            </a:r>
            <a:r>
              <a:rPr lang="en-AU" sz="1300">
                <a:solidFill>
                  <a:schemeClr val="dk1"/>
                </a:solidFill>
                <a:latin typeface="Arial Narrow"/>
                <a:ea typeface="Arial Narrow"/>
                <a:cs typeface="Arial Narrow"/>
                <a:sym typeface="Arial Narrow"/>
              </a:rPr>
              <a:t>redesign</a:t>
            </a:r>
            <a:r>
              <a:rPr lang="en-AU" sz="1300">
                <a:solidFill>
                  <a:schemeClr val="dk1"/>
                </a:solidFill>
                <a:latin typeface="Arial Narrow"/>
                <a:ea typeface="Arial Narrow"/>
                <a:cs typeface="Arial Narrow"/>
                <a:sym typeface="Arial Narrow"/>
              </a:rPr>
              <a:t> will be required for the final submission. </a:t>
            </a:r>
            <a:endParaRPr sz="1300">
              <a:solidFill>
                <a:schemeClr val="dk1"/>
              </a:solidFill>
              <a:latin typeface="Arial Narrow"/>
              <a:ea typeface="Arial Narrow"/>
              <a:cs typeface="Arial Narrow"/>
              <a:sym typeface="Arial Narro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14b29b56ded_1_221"/>
          <p:cNvSpPr txBox="1"/>
          <p:nvPr>
            <p:ph type="title"/>
          </p:nvPr>
        </p:nvSpPr>
        <p:spPr>
          <a:xfrm>
            <a:off x="355150" y="173372"/>
            <a:ext cx="109728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a:t>
            </a:r>
            <a:r>
              <a:rPr b="1" lang="en-AU" sz="3000"/>
              <a:t>4</a:t>
            </a:r>
            <a:r>
              <a:rPr b="1" lang="en-AU" sz="3000">
                <a:solidFill>
                  <a:srgbClr val="000000"/>
                </a:solidFill>
              </a:rPr>
              <a:t> Rack Mounting</a:t>
            </a:r>
            <a:endParaRPr/>
          </a:p>
        </p:txBody>
      </p:sp>
      <p:sp>
        <p:nvSpPr>
          <p:cNvPr id="471" name="Google Shape;471;g14b29b56ded_1_221"/>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16</a:t>
            </a:r>
            <a:endParaRPr sz="1800">
              <a:solidFill>
                <a:schemeClr val="dk1"/>
              </a:solidFill>
              <a:latin typeface="Arial Narrow"/>
              <a:ea typeface="Arial Narrow"/>
              <a:cs typeface="Arial Narrow"/>
              <a:sym typeface="Arial Narrow"/>
            </a:endParaRPr>
          </a:p>
        </p:txBody>
      </p:sp>
      <p:sp>
        <p:nvSpPr>
          <p:cNvPr id="472" name="Google Shape;472;g14b29b56ded_1_221"/>
          <p:cNvSpPr txBox="1"/>
          <p:nvPr/>
        </p:nvSpPr>
        <p:spPr>
          <a:xfrm>
            <a:off x="5483125" y="1289404"/>
            <a:ext cx="34728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Additional Assumptions</a:t>
            </a:r>
            <a:endParaRPr/>
          </a:p>
          <a:p>
            <a:pPr indent="-317500" lvl="0" marL="457200" rtl="0" algn="l">
              <a:spcBef>
                <a:spcPts val="0"/>
              </a:spcBef>
              <a:spcAft>
                <a:spcPts val="0"/>
              </a:spcAft>
              <a:buSzPts val="1400"/>
              <a:buChar char="●"/>
            </a:pPr>
            <a:r>
              <a:rPr lang="en-AU"/>
              <a:t>All reaction forces in the x-z plane are through the guiding wheels</a:t>
            </a:r>
            <a:endParaRPr/>
          </a:p>
          <a:p>
            <a:pPr indent="-317500" lvl="0" marL="457200" rtl="0" algn="l">
              <a:spcBef>
                <a:spcPts val="0"/>
              </a:spcBef>
              <a:spcAft>
                <a:spcPts val="0"/>
              </a:spcAft>
              <a:buSzPts val="1400"/>
              <a:buChar char="●"/>
            </a:pPr>
            <a:r>
              <a:rPr lang="en-AU"/>
              <a:t>Vertical force from pinions acts directly on the centre of the rack</a:t>
            </a:r>
            <a:endParaRPr/>
          </a:p>
          <a:p>
            <a:pPr indent="-317500" lvl="0" marL="457200" rtl="0" algn="l">
              <a:spcBef>
                <a:spcPts val="0"/>
              </a:spcBef>
              <a:spcAft>
                <a:spcPts val="0"/>
              </a:spcAft>
              <a:buSzPts val="1400"/>
              <a:buChar char="●"/>
            </a:pPr>
            <a:r>
              <a:rPr lang="en-AU"/>
              <a:t>The weight of the rack acts in line with the rivets, each rivets supports one third of each rack of 1506.45 mm</a:t>
            </a:r>
            <a:endParaRPr/>
          </a:p>
          <a:p>
            <a:pPr indent="-317500" lvl="0" marL="457200" rtl="0" algn="l">
              <a:spcBef>
                <a:spcPts val="0"/>
              </a:spcBef>
              <a:spcAft>
                <a:spcPts val="0"/>
              </a:spcAft>
              <a:buSzPts val="1400"/>
              <a:buChar char="●"/>
            </a:pPr>
            <a:r>
              <a:rPr lang="en-AU"/>
              <a:t>The maximum moment from the pinion force occurs when acting halfway between two rivets 100 mm apart, as pinion force can act at any vertical point</a:t>
            </a:r>
            <a:endParaRPr/>
          </a:p>
          <a:p>
            <a:pPr indent="-317500" lvl="0" marL="457200" rtl="0" algn="l">
              <a:spcBef>
                <a:spcPts val="0"/>
              </a:spcBef>
              <a:spcAft>
                <a:spcPts val="0"/>
              </a:spcAft>
              <a:buSzPts val="1400"/>
              <a:buChar char="●"/>
            </a:pPr>
            <a:r>
              <a:rPr lang="en-AU"/>
              <a:t>Failure due to shear load on rivets</a:t>
            </a:r>
            <a:endParaRPr/>
          </a:p>
          <a:p>
            <a:pPr indent="-317500" lvl="0" marL="457200" rtl="0" algn="l">
              <a:spcBef>
                <a:spcPts val="0"/>
              </a:spcBef>
              <a:spcAft>
                <a:spcPts val="0"/>
              </a:spcAft>
              <a:buSzPts val="1400"/>
              <a:buChar char="●"/>
            </a:pPr>
            <a:r>
              <a:rPr lang="en-AU"/>
              <a:t>Greater force from pinions exerted on right rack, therefore, we can analyse it on it’s own to ensure safety factor is met</a:t>
            </a:r>
            <a:endParaRPr/>
          </a:p>
        </p:txBody>
      </p:sp>
      <p:pic>
        <p:nvPicPr>
          <p:cNvPr id="473" name="Google Shape;473;g14b29b56ded_1_221"/>
          <p:cNvPicPr preferRelativeResize="0"/>
          <p:nvPr/>
        </p:nvPicPr>
        <p:blipFill>
          <a:blip r:embed="rId3">
            <a:alphaModFix/>
          </a:blip>
          <a:stretch>
            <a:fillRect/>
          </a:stretch>
        </p:blipFill>
        <p:spPr>
          <a:xfrm>
            <a:off x="321750" y="767575"/>
            <a:ext cx="4767650" cy="5400725"/>
          </a:xfrm>
          <a:prstGeom prst="rect">
            <a:avLst/>
          </a:prstGeom>
          <a:noFill/>
          <a:ln>
            <a:noFill/>
          </a:ln>
        </p:spPr>
      </p:pic>
      <p:pic>
        <p:nvPicPr>
          <p:cNvPr id="474" name="Google Shape;474;g14b29b56ded_1_221"/>
          <p:cNvPicPr preferRelativeResize="0"/>
          <p:nvPr/>
        </p:nvPicPr>
        <p:blipFill>
          <a:blip r:embed="rId4">
            <a:alphaModFix/>
          </a:blip>
          <a:stretch>
            <a:fillRect/>
          </a:stretch>
        </p:blipFill>
        <p:spPr>
          <a:xfrm>
            <a:off x="9059355" y="1270507"/>
            <a:ext cx="2723050" cy="4317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14b29b56ded_1_226"/>
          <p:cNvSpPr txBox="1"/>
          <p:nvPr>
            <p:ph type="title"/>
          </p:nvPr>
        </p:nvSpPr>
        <p:spPr>
          <a:xfrm>
            <a:off x="298450" y="322272"/>
            <a:ext cx="109728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a:t>
            </a:r>
            <a:r>
              <a:rPr b="1" lang="en-AU" sz="3000"/>
              <a:t>4.</a:t>
            </a:r>
            <a:r>
              <a:rPr b="1" lang="en-AU" sz="3000"/>
              <a:t>Rack Mounting</a:t>
            </a:r>
            <a:endParaRPr/>
          </a:p>
          <a:p>
            <a:pPr indent="0" lvl="0" marL="0" rtl="0" algn="l">
              <a:spcBef>
                <a:spcPts val="0"/>
              </a:spcBef>
              <a:spcAft>
                <a:spcPts val="0"/>
              </a:spcAft>
              <a:buNone/>
            </a:pPr>
            <a:r>
              <a:t/>
            </a:r>
            <a:endParaRPr b="1" sz="3000"/>
          </a:p>
        </p:txBody>
      </p:sp>
      <p:sp>
        <p:nvSpPr>
          <p:cNvPr id="480" name="Google Shape;480;g14b29b56ded_1_226"/>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17</a:t>
            </a:r>
            <a:endParaRPr sz="1800">
              <a:solidFill>
                <a:schemeClr val="dk1"/>
              </a:solidFill>
              <a:latin typeface="Arial Narrow"/>
              <a:ea typeface="Arial Narrow"/>
              <a:cs typeface="Arial Narrow"/>
              <a:sym typeface="Arial Narrow"/>
            </a:endParaRPr>
          </a:p>
        </p:txBody>
      </p:sp>
      <p:sp>
        <p:nvSpPr>
          <p:cNvPr id="481" name="Google Shape;481;g14b29b56ded_1_226"/>
          <p:cNvSpPr txBox="1"/>
          <p:nvPr/>
        </p:nvSpPr>
        <p:spPr>
          <a:xfrm>
            <a:off x="7149450" y="1052675"/>
            <a:ext cx="3885600" cy="4925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y </a:t>
            </a:r>
            <a:r>
              <a:rPr lang="en-AU">
                <a:latin typeface="Arial Narrow"/>
                <a:ea typeface="Arial Narrow"/>
                <a:cs typeface="Arial Narrow"/>
                <a:sym typeface="Arial Narrow"/>
              </a:rPr>
              <a:t>=0=3*R</a:t>
            </a:r>
            <a:r>
              <a:rPr baseline="-25000" lang="en-AU">
                <a:latin typeface="Arial Narrow"/>
                <a:ea typeface="Arial Narrow"/>
                <a:cs typeface="Arial Narrow"/>
                <a:sym typeface="Arial Narrow"/>
              </a:rPr>
              <a:t>y</a:t>
            </a:r>
            <a:r>
              <a:rPr lang="en-AU">
                <a:latin typeface="Arial Narrow"/>
                <a:ea typeface="Arial Narrow"/>
                <a:cs typeface="Arial Narrow"/>
                <a:sym typeface="Arial Narrow"/>
              </a:rPr>
              <a:t>-</a:t>
            </a:r>
            <a:r>
              <a:rPr lang="en-AU">
                <a:solidFill>
                  <a:schemeClr val="dk1"/>
                </a:solidFill>
                <a:latin typeface="Arial Narrow"/>
                <a:ea typeface="Arial Narrow"/>
                <a:cs typeface="Arial Narrow"/>
                <a:sym typeface="Arial Narrow"/>
              </a:rPr>
              <a:t>3*F</a:t>
            </a:r>
            <a:r>
              <a:rPr baseline="-25000" lang="en-AU">
                <a:solidFill>
                  <a:schemeClr val="dk1"/>
                </a:solidFill>
                <a:latin typeface="Arial Narrow"/>
                <a:ea typeface="Arial Narrow"/>
                <a:cs typeface="Arial Narrow"/>
                <a:sym typeface="Arial Narrow"/>
              </a:rPr>
              <a:t>w,⅓ rack</a:t>
            </a:r>
            <a:r>
              <a:rPr baseline="-25000" lang="en-AU">
                <a:latin typeface="Arial Narrow"/>
                <a:ea typeface="Arial Narrow"/>
                <a:cs typeface="Arial Narrow"/>
                <a:sym typeface="Arial Narrow"/>
              </a:rPr>
              <a:t>  </a:t>
            </a:r>
            <a:r>
              <a:rPr lang="en-AU">
                <a:latin typeface="Arial Narrow"/>
                <a:ea typeface="Arial Narrow"/>
                <a:cs typeface="Arial Narrow"/>
                <a:sym typeface="Arial Narrow"/>
              </a:rPr>
              <a:t>-P</a:t>
            </a:r>
            <a:r>
              <a:rPr baseline="-25000" lang="en-AU">
                <a:latin typeface="Arial Narrow"/>
                <a:ea typeface="Arial Narrow"/>
                <a:cs typeface="Arial Narrow"/>
                <a:sym typeface="Arial Narrow"/>
              </a:rPr>
              <a:t>RHS</a:t>
            </a:r>
            <a:endParaRPr>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w,⅓ rack</a:t>
            </a:r>
            <a:r>
              <a:rPr lang="en-AU">
                <a:latin typeface="Arial Narrow"/>
                <a:ea typeface="Arial Narrow"/>
                <a:cs typeface="Arial Narrow"/>
                <a:sym typeface="Arial Narrow"/>
              </a:rPr>
              <a:t>=44 kg/m *0.50215 m * 9.81 m/s</a:t>
            </a:r>
            <a:r>
              <a:rPr baseline="30000" lang="en-AU">
                <a:latin typeface="Arial Narrow"/>
                <a:ea typeface="Arial Narrow"/>
                <a:cs typeface="Arial Narrow"/>
                <a:sym typeface="Arial Narrow"/>
              </a:rPr>
              <a:t>2 </a:t>
            </a:r>
            <a:endParaRPr>
              <a:latin typeface="Arial Narrow"/>
              <a:ea typeface="Arial Narrow"/>
              <a:cs typeface="Arial Narrow"/>
              <a:sym typeface="Arial Narrow"/>
            </a:endParaRPr>
          </a:p>
          <a:p>
            <a:pPr indent="0" lvl="0" marL="0" rtl="0" algn="l">
              <a:lnSpc>
                <a:spcPct val="150000"/>
              </a:lnSpc>
              <a:spcBef>
                <a:spcPts val="0"/>
              </a:spcBef>
              <a:spcAft>
                <a:spcPts val="0"/>
              </a:spcAft>
              <a:buNone/>
            </a:pPr>
            <a:r>
              <a:rPr lang="en-AU">
                <a:latin typeface="Arial Narrow"/>
                <a:ea typeface="Arial Narrow"/>
                <a:cs typeface="Arial Narrow"/>
                <a:sym typeface="Arial Narrow"/>
              </a:rPr>
              <a:t>P</a:t>
            </a:r>
            <a:r>
              <a:rPr baseline="-25000" lang="en-AU">
                <a:latin typeface="Arial Narrow"/>
                <a:ea typeface="Arial Narrow"/>
                <a:cs typeface="Arial Narrow"/>
                <a:sym typeface="Arial Narrow"/>
              </a:rPr>
              <a:t>RHS</a:t>
            </a:r>
            <a:r>
              <a:rPr lang="en-AU">
                <a:latin typeface="Arial Narrow"/>
                <a:ea typeface="Arial Narrow"/>
                <a:cs typeface="Arial Narrow"/>
                <a:sym typeface="Arial Narrow"/>
              </a:rPr>
              <a:t>=1265.09 N</a:t>
            </a:r>
            <a:endParaRPr>
              <a:latin typeface="Arial Narrow"/>
              <a:ea typeface="Arial Narrow"/>
              <a:cs typeface="Arial Narrow"/>
              <a:sym typeface="Arial Narrow"/>
            </a:endParaRPr>
          </a:p>
          <a:p>
            <a:pPr indent="0" lvl="0" marL="0" rtl="0" algn="l">
              <a:lnSpc>
                <a:spcPct val="150000"/>
              </a:lnSpc>
              <a:spcBef>
                <a:spcPts val="0"/>
              </a:spcBef>
              <a:spcAft>
                <a:spcPts val="0"/>
              </a:spcAft>
              <a:buNone/>
            </a:pPr>
            <a:r>
              <a:rPr lang="en-AU">
                <a:latin typeface="Arial Narrow"/>
                <a:ea typeface="Arial Narrow"/>
                <a:cs typeface="Arial Narrow"/>
                <a:sym typeface="Arial Narrow"/>
              </a:rPr>
              <a:t>Thus </a:t>
            </a:r>
            <a:r>
              <a:rPr lang="en-AU">
                <a:solidFill>
                  <a:schemeClr val="dk1"/>
                </a:solidFill>
                <a:latin typeface="Arial Narrow"/>
                <a:ea typeface="Arial Narrow"/>
                <a:cs typeface="Arial Narrow"/>
                <a:sym typeface="Arial Narrow"/>
              </a:rPr>
              <a:t>R</a:t>
            </a:r>
            <a:r>
              <a:rPr baseline="-25000" lang="en-AU">
                <a:solidFill>
                  <a:schemeClr val="dk1"/>
                </a:solidFill>
                <a:latin typeface="Arial Narrow"/>
                <a:ea typeface="Arial Narrow"/>
                <a:cs typeface="Arial Narrow"/>
                <a:sym typeface="Arial Narrow"/>
              </a:rPr>
              <a:t>y</a:t>
            </a:r>
            <a:r>
              <a:rPr lang="en-AU">
                <a:solidFill>
                  <a:schemeClr val="dk1"/>
                </a:solidFill>
                <a:latin typeface="Arial Narrow"/>
                <a:ea typeface="Arial Narrow"/>
                <a:cs typeface="Arial Narrow"/>
                <a:sym typeface="Arial Narrow"/>
              </a:rPr>
              <a:t>=637.5167 N</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∑M</a:t>
            </a:r>
            <a:r>
              <a:rPr baseline="-25000" lang="en-AU">
                <a:solidFill>
                  <a:schemeClr val="dk1"/>
                </a:solidFill>
                <a:latin typeface="Arial Narrow"/>
                <a:ea typeface="Arial Narrow"/>
                <a:cs typeface="Arial Narrow"/>
                <a:sym typeface="Arial Narrow"/>
              </a:rPr>
              <a:t>@centre of rivets </a:t>
            </a:r>
            <a:r>
              <a:rPr lang="en-AU">
                <a:solidFill>
                  <a:schemeClr val="dk1"/>
                </a:solidFill>
                <a:latin typeface="Arial Narrow"/>
                <a:ea typeface="Arial Narrow"/>
                <a:cs typeface="Arial Narrow"/>
                <a:sym typeface="Arial Narrow"/>
              </a:rPr>
              <a:t>=0=(41*R</a:t>
            </a:r>
            <a:r>
              <a:rPr baseline="-25000" lang="en-AU">
                <a:solidFill>
                  <a:schemeClr val="dk1"/>
                </a:solidFill>
                <a:latin typeface="Arial Narrow"/>
                <a:ea typeface="Arial Narrow"/>
                <a:cs typeface="Arial Narrow"/>
                <a:sym typeface="Arial Narrow"/>
              </a:rPr>
              <a:t>y</a:t>
            </a:r>
            <a:r>
              <a:rPr lang="en-AU">
                <a:solidFill>
                  <a:schemeClr val="dk1"/>
                </a:solidFill>
                <a:latin typeface="Arial Narrow"/>
                <a:ea typeface="Arial Narrow"/>
                <a:cs typeface="Arial Narrow"/>
                <a:sym typeface="Arial Narrow"/>
              </a:rPr>
              <a:t>)-2*(50*R</a:t>
            </a:r>
            <a:r>
              <a:rPr baseline="-25000" lang="en-AU">
                <a:solidFill>
                  <a:schemeClr val="dk1"/>
                </a:solidFill>
                <a:latin typeface="Arial Narrow"/>
                <a:ea typeface="Arial Narrow"/>
                <a:cs typeface="Arial Narrow"/>
                <a:sym typeface="Arial Narrow"/>
              </a:rPr>
              <a:t>x</a:t>
            </a:r>
            <a:r>
              <a:rPr lang="en-AU">
                <a:latin typeface="Arial Narrow"/>
                <a:ea typeface="Arial Narrow"/>
                <a:cs typeface="Arial Narrow"/>
                <a:sym typeface="Arial Narrow"/>
              </a:rPr>
              <a:t>)</a:t>
            </a:r>
            <a:endParaRPr>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R</a:t>
            </a:r>
            <a:r>
              <a:rPr baseline="-25000" lang="en-AU">
                <a:solidFill>
                  <a:schemeClr val="dk1"/>
                </a:solidFill>
                <a:latin typeface="Arial Narrow"/>
                <a:ea typeface="Arial Narrow"/>
                <a:cs typeface="Arial Narrow"/>
                <a:sym typeface="Arial Narrow"/>
              </a:rPr>
              <a:t>x</a:t>
            </a:r>
            <a:r>
              <a:rPr lang="en-AU">
                <a:solidFill>
                  <a:schemeClr val="dk1"/>
                </a:solidFill>
                <a:latin typeface="Arial Narrow"/>
                <a:ea typeface="Arial Narrow"/>
                <a:cs typeface="Arial Narrow"/>
                <a:sym typeface="Arial Narrow"/>
              </a:rPr>
              <a:t>=518.6869 N</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R</a:t>
            </a:r>
            <a:r>
              <a:rPr baseline="-25000" lang="en-AU">
                <a:solidFill>
                  <a:schemeClr val="dk1"/>
                </a:solidFill>
                <a:latin typeface="Arial Narrow"/>
                <a:ea typeface="Arial Narrow"/>
                <a:cs typeface="Arial Narrow"/>
                <a:sym typeface="Arial Narrow"/>
              </a:rPr>
              <a:t>max</a:t>
            </a:r>
            <a:r>
              <a:rPr lang="en-AU">
                <a:solidFill>
                  <a:schemeClr val="dk1"/>
                </a:solidFill>
                <a:latin typeface="Arial Narrow"/>
                <a:ea typeface="Arial Narrow"/>
                <a:cs typeface="Arial Narrow"/>
                <a:sym typeface="Arial Narrow"/>
              </a:rPr>
              <a:t>=√R</a:t>
            </a:r>
            <a:r>
              <a:rPr baseline="-25000" lang="en-AU">
                <a:solidFill>
                  <a:schemeClr val="dk1"/>
                </a:solidFill>
                <a:latin typeface="Arial Narrow"/>
                <a:ea typeface="Arial Narrow"/>
                <a:cs typeface="Arial Narrow"/>
                <a:sym typeface="Arial Narrow"/>
              </a:rPr>
              <a:t>x</a:t>
            </a:r>
            <a:r>
              <a:rPr baseline="30000" lang="en-AU">
                <a:solidFill>
                  <a:schemeClr val="dk1"/>
                </a:solidFill>
                <a:latin typeface="Arial Narrow"/>
                <a:ea typeface="Arial Narrow"/>
                <a:cs typeface="Arial Narrow"/>
                <a:sym typeface="Arial Narrow"/>
              </a:rPr>
              <a:t>2 </a:t>
            </a:r>
            <a:r>
              <a:rPr lang="en-AU">
                <a:latin typeface="Arial Narrow"/>
                <a:ea typeface="Arial Narrow"/>
                <a:cs typeface="Arial Narrow"/>
                <a:sym typeface="Arial Narrow"/>
              </a:rPr>
              <a:t>+</a:t>
            </a:r>
            <a:r>
              <a:rPr lang="en-AU">
                <a:solidFill>
                  <a:schemeClr val="dk1"/>
                </a:solidFill>
                <a:latin typeface="Arial Narrow"/>
                <a:ea typeface="Arial Narrow"/>
                <a:cs typeface="Arial Narrow"/>
                <a:sym typeface="Arial Narrow"/>
              </a:rPr>
              <a:t>R</a:t>
            </a:r>
            <a:r>
              <a:rPr baseline="-25000" lang="en-AU">
                <a:solidFill>
                  <a:schemeClr val="dk1"/>
                </a:solidFill>
                <a:latin typeface="Arial Narrow"/>
                <a:ea typeface="Arial Narrow"/>
                <a:cs typeface="Arial Narrow"/>
                <a:sym typeface="Arial Narrow"/>
              </a:rPr>
              <a:t>y</a:t>
            </a:r>
            <a:r>
              <a:rPr baseline="30000" lang="en-AU">
                <a:solidFill>
                  <a:schemeClr val="dk1"/>
                </a:solidFill>
                <a:latin typeface="Arial Narrow"/>
                <a:ea typeface="Arial Narrow"/>
                <a:cs typeface="Arial Narrow"/>
                <a:sym typeface="Arial Narrow"/>
              </a:rPr>
              <a:t>2 </a:t>
            </a:r>
            <a:r>
              <a:rPr lang="en-AU">
                <a:latin typeface="Arial Narrow"/>
                <a:ea typeface="Arial Narrow"/>
                <a:cs typeface="Arial Narrow"/>
                <a:sym typeface="Arial Narrow"/>
              </a:rPr>
              <a:t>=821.8659 N</a:t>
            </a:r>
            <a:endParaRPr>
              <a:latin typeface="Arial Narrow"/>
              <a:ea typeface="Arial Narrow"/>
              <a:cs typeface="Arial Narrow"/>
              <a:sym typeface="Arial Narrow"/>
            </a:endParaRPr>
          </a:p>
          <a:p>
            <a:pPr indent="0" lvl="0" marL="0" rtl="0" algn="l">
              <a:lnSpc>
                <a:spcPct val="150000"/>
              </a:lnSpc>
              <a:spcBef>
                <a:spcPts val="0"/>
              </a:spcBef>
              <a:spcAft>
                <a:spcPts val="0"/>
              </a:spcAft>
              <a:buNone/>
            </a:pPr>
            <a:r>
              <a:rPr lang="en-AU">
                <a:latin typeface="Arial Narrow"/>
                <a:ea typeface="Arial Narrow"/>
                <a:cs typeface="Arial Narrow"/>
                <a:sym typeface="Arial Narrow"/>
              </a:rPr>
              <a:t>Given that failure will occur in the rivets due to shear stress first, with a diameter of 6 mm,</a:t>
            </a:r>
            <a:endParaRPr>
              <a:latin typeface="Arial Narrow"/>
              <a:ea typeface="Arial Narrow"/>
              <a:cs typeface="Arial Narrow"/>
              <a:sym typeface="Arial Narrow"/>
            </a:endParaRPr>
          </a:p>
          <a:p>
            <a:pPr indent="0" lvl="0" marL="0" rtl="0" algn="l">
              <a:lnSpc>
                <a:spcPct val="150000"/>
              </a:lnSpc>
              <a:spcBef>
                <a:spcPts val="0"/>
              </a:spcBef>
              <a:spcAft>
                <a:spcPts val="0"/>
              </a:spcAft>
              <a:buNone/>
            </a:pPr>
            <a:r>
              <a:rPr lang="en-AU">
                <a:latin typeface="Arial Narrow"/>
                <a:ea typeface="Arial Narrow"/>
                <a:cs typeface="Arial Narrow"/>
                <a:sym typeface="Arial Narrow"/>
              </a:rPr>
              <a:t>𝜏=</a:t>
            </a:r>
            <a:r>
              <a:rPr lang="en-AU">
                <a:solidFill>
                  <a:schemeClr val="dk1"/>
                </a:solidFill>
                <a:latin typeface="Arial Narrow"/>
                <a:ea typeface="Arial Narrow"/>
                <a:cs typeface="Arial Narrow"/>
                <a:sym typeface="Arial Narrow"/>
              </a:rPr>
              <a:t>R</a:t>
            </a:r>
            <a:r>
              <a:rPr baseline="-25000" lang="en-AU">
                <a:solidFill>
                  <a:schemeClr val="dk1"/>
                </a:solidFill>
                <a:latin typeface="Arial Narrow"/>
                <a:ea typeface="Arial Narrow"/>
                <a:cs typeface="Arial Narrow"/>
                <a:sym typeface="Arial Narrow"/>
              </a:rPr>
              <a:t>max</a:t>
            </a:r>
            <a:r>
              <a:rPr lang="en-AU">
                <a:solidFill>
                  <a:schemeClr val="dk1"/>
                </a:solidFill>
                <a:latin typeface="Arial Narrow"/>
                <a:ea typeface="Arial Narrow"/>
                <a:cs typeface="Arial Narrow"/>
                <a:sym typeface="Arial Narrow"/>
              </a:rPr>
              <a:t>/A</a:t>
            </a:r>
            <a:r>
              <a:rPr baseline="-25000" lang="en-AU">
                <a:solidFill>
                  <a:schemeClr val="dk1"/>
                </a:solidFill>
                <a:latin typeface="Arial Narrow"/>
                <a:ea typeface="Arial Narrow"/>
                <a:cs typeface="Arial Narrow"/>
                <a:sym typeface="Arial Narrow"/>
              </a:rPr>
              <a:t>rivet</a:t>
            </a:r>
            <a:r>
              <a:rPr lang="en-AU">
                <a:latin typeface="Arial Narrow"/>
                <a:ea typeface="Arial Narrow"/>
                <a:cs typeface="Arial Narrow"/>
                <a:sym typeface="Arial Narrow"/>
              </a:rPr>
              <a:t>=</a:t>
            </a:r>
            <a:r>
              <a:rPr lang="en-AU">
                <a:solidFill>
                  <a:schemeClr val="dk1"/>
                </a:solidFill>
                <a:latin typeface="Arial Narrow"/>
                <a:ea typeface="Arial Narrow"/>
                <a:cs typeface="Arial Narrow"/>
                <a:sym typeface="Arial Narrow"/>
              </a:rPr>
              <a:t>821.8659/𝜋*0.003</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=29.068 MPa</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Given the material is </a:t>
            </a:r>
            <a:r>
              <a:rPr b="1" lang="en-AU">
                <a:solidFill>
                  <a:schemeClr val="dk1"/>
                </a:solidFill>
                <a:latin typeface="Arial Narrow"/>
                <a:ea typeface="Arial Narrow"/>
                <a:cs typeface="Arial Narrow"/>
                <a:sym typeface="Arial Narrow"/>
              </a:rPr>
              <a:t>Alloy Steel</a:t>
            </a:r>
            <a:r>
              <a:rPr lang="en-AU">
                <a:solidFill>
                  <a:schemeClr val="dk1"/>
                </a:solidFill>
                <a:latin typeface="Arial Narrow"/>
                <a:ea typeface="Arial Narrow"/>
                <a:cs typeface="Arial Narrow"/>
                <a:sym typeface="Arial Narrow"/>
              </a:rPr>
              <a:t>, is has an Ultimate Shear Strength (USS) of 542.85 MPa, the resulting </a:t>
            </a:r>
            <a:r>
              <a:rPr b="1" lang="en-AU">
                <a:solidFill>
                  <a:schemeClr val="dk1"/>
                </a:solidFill>
                <a:latin typeface="Arial Narrow"/>
                <a:ea typeface="Arial Narrow"/>
                <a:cs typeface="Arial Narrow"/>
                <a:sym typeface="Arial Narrow"/>
              </a:rPr>
              <a:t>safety factor is 18.29</a:t>
            </a:r>
            <a:endParaRPr b="1">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Clr>
                <a:schemeClr val="dk1"/>
              </a:buClr>
              <a:buSzPts val="1100"/>
              <a:buFont typeface="Arial"/>
              <a:buNone/>
            </a:pPr>
            <a:r>
              <a:t/>
            </a:r>
            <a:endParaRPr/>
          </a:p>
        </p:txBody>
      </p:sp>
      <p:pic>
        <p:nvPicPr>
          <p:cNvPr id="482" name="Google Shape;482;g14b29b56ded_1_226"/>
          <p:cNvPicPr preferRelativeResize="0"/>
          <p:nvPr/>
        </p:nvPicPr>
        <p:blipFill>
          <a:blip r:embed="rId3">
            <a:alphaModFix/>
          </a:blip>
          <a:stretch>
            <a:fillRect/>
          </a:stretch>
        </p:blipFill>
        <p:spPr>
          <a:xfrm>
            <a:off x="1610575" y="880125"/>
            <a:ext cx="3996250" cy="58922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14b29b56ded_1_231"/>
          <p:cNvSpPr txBox="1"/>
          <p:nvPr>
            <p:ph type="title"/>
          </p:nvPr>
        </p:nvSpPr>
        <p:spPr>
          <a:xfrm>
            <a:off x="298450" y="322272"/>
            <a:ext cx="109728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a:t>
            </a:r>
            <a:r>
              <a:rPr b="1" lang="en-AU" sz="3000"/>
              <a:t>5 Vertical channel beam mounting</a:t>
            </a:r>
            <a:endParaRPr b="1" sz="3000"/>
          </a:p>
          <a:p>
            <a:pPr indent="0" lvl="0" marL="0" rtl="0" algn="l">
              <a:spcBef>
                <a:spcPts val="0"/>
              </a:spcBef>
              <a:spcAft>
                <a:spcPts val="0"/>
              </a:spcAft>
              <a:buClr>
                <a:schemeClr val="dk1"/>
              </a:buClr>
              <a:buSzPts val="1100"/>
              <a:buFont typeface="Arial"/>
              <a:buNone/>
            </a:pPr>
            <a:r>
              <a:t/>
            </a:r>
            <a:endParaRPr b="1" sz="3000"/>
          </a:p>
          <a:p>
            <a:pPr indent="0" lvl="0" marL="0" rtl="0" algn="l">
              <a:spcBef>
                <a:spcPts val="0"/>
              </a:spcBef>
              <a:spcAft>
                <a:spcPts val="0"/>
              </a:spcAft>
              <a:buNone/>
            </a:pPr>
            <a:r>
              <a:t/>
            </a:r>
            <a:endParaRPr b="1" sz="3000"/>
          </a:p>
        </p:txBody>
      </p:sp>
      <p:sp>
        <p:nvSpPr>
          <p:cNvPr id="488" name="Google Shape;488;g14b29b56ded_1_231"/>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18</a:t>
            </a:r>
            <a:endParaRPr sz="1800">
              <a:solidFill>
                <a:schemeClr val="dk1"/>
              </a:solidFill>
              <a:latin typeface="Arial Narrow"/>
              <a:ea typeface="Arial Narrow"/>
              <a:cs typeface="Arial Narrow"/>
              <a:sym typeface="Arial Narrow"/>
            </a:endParaRPr>
          </a:p>
        </p:txBody>
      </p:sp>
      <p:pic>
        <p:nvPicPr>
          <p:cNvPr id="489" name="Google Shape;489;g14b29b56ded_1_231"/>
          <p:cNvPicPr preferRelativeResize="0"/>
          <p:nvPr/>
        </p:nvPicPr>
        <p:blipFill>
          <a:blip r:embed="rId3">
            <a:alphaModFix/>
          </a:blip>
          <a:stretch>
            <a:fillRect/>
          </a:stretch>
        </p:blipFill>
        <p:spPr>
          <a:xfrm>
            <a:off x="496900" y="938547"/>
            <a:ext cx="2186358" cy="5720028"/>
          </a:xfrm>
          <a:prstGeom prst="rect">
            <a:avLst/>
          </a:prstGeom>
          <a:noFill/>
          <a:ln>
            <a:noFill/>
          </a:ln>
        </p:spPr>
      </p:pic>
      <p:sp>
        <p:nvSpPr>
          <p:cNvPr id="490" name="Google Shape;490;g14b29b56ded_1_231"/>
          <p:cNvSpPr txBox="1"/>
          <p:nvPr/>
        </p:nvSpPr>
        <p:spPr>
          <a:xfrm>
            <a:off x="7695250" y="2043750"/>
            <a:ext cx="40365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u="sng">
                <a:latin typeface="Arial Narrow"/>
                <a:ea typeface="Arial Narrow"/>
                <a:cs typeface="Arial Narrow"/>
                <a:sym typeface="Arial Narrow"/>
              </a:rPr>
              <a:t>Additional Assumptions</a:t>
            </a:r>
            <a:endParaRPr b="1" u="sng">
              <a:latin typeface="Arial Narrow"/>
              <a:ea typeface="Arial Narrow"/>
              <a:cs typeface="Arial Narrow"/>
              <a:sym typeface="Arial Narrow"/>
            </a:endParaRPr>
          </a:p>
          <a:p>
            <a:pPr indent="-317500" lvl="0" marL="457200" rtl="0" algn="l">
              <a:spcBef>
                <a:spcPts val="0"/>
              </a:spcBef>
              <a:spcAft>
                <a:spcPts val="0"/>
              </a:spcAft>
              <a:buSzPts val="1400"/>
              <a:buFont typeface="Arial Narrow"/>
              <a:buChar char="●"/>
            </a:pPr>
            <a:r>
              <a:rPr lang="en-AU">
                <a:latin typeface="Arial Narrow"/>
                <a:ea typeface="Arial Narrow"/>
                <a:cs typeface="Arial Narrow"/>
                <a:sym typeface="Arial Narrow"/>
              </a:rPr>
              <a:t>Fasteners from channel beam to wall spaced 1 m apart, analysis to be done on length to include guide wheel forces</a:t>
            </a:r>
            <a:endParaRPr>
              <a:latin typeface="Arial Narrow"/>
              <a:ea typeface="Arial Narrow"/>
              <a:cs typeface="Arial Narrow"/>
              <a:sym typeface="Arial Narrow"/>
            </a:endParaRPr>
          </a:p>
          <a:p>
            <a:pPr indent="-317500" lvl="0" marL="457200" rtl="0" algn="l">
              <a:spcBef>
                <a:spcPts val="0"/>
              </a:spcBef>
              <a:spcAft>
                <a:spcPts val="0"/>
              </a:spcAft>
              <a:buSzPts val="1400"/>
              <a:buFont typeface="Arial Narrow"/>
              <a:buChar char="●"/>
            </a:pPr>
            <a:r>
              <a:rPr lang="en-AU">
                <a:latin typeface="Arial Narrow"/>
                <a:ea typeface="Arial Narrow"/>
                <a:cs typeface="Arial Narrow"/>
                <a:sym typeface="Arial Narrow"/>
              </a:rPr>
              <a:t>A single metre of vertical channel beam may support entire forces of the platform, masses of mounting material and the cargo.</a:t>
            </a:r>
            <a:endParaRPr>
              <a:latin typeface="Arial Narrow"/>
              <a:ea typeface="Arial Narrow"/>
              <a:cs typeface="Arial Narrow"/>
              <a:sym typeface="Arial Narrow"/>
            </a:endParaRPr>
          </a:p>
          <a:p>
            <a:pPr indent="-317500" lvl="0" marL="457200" rtl="0" algn="l">
              <a:spcBef>
                <a:spcPts val="0"/>
              </a:spcBef>
              <a:spcAft>
                <a:spcPts val="0"/>
              </a:spcAft>
              <a:buSzPts val="1400"/>
              <a:buFont typeface="Arial Narrow"/>
              <a:buChar char="●"/>
            </a:pPr>
            <a:r>
              <a:rPr lang="en-AU">
                <a:latin typeface="Arial Narrow"/>
                <a:ea typeface="Arial Narrow"/>
                <a:cs typeface="Arial Narrow"/>
                <a:sym typeface="Arial Narrow"/>
              </a:rPr>
              <a:t>Failure due to shear load on fasteners</a:t>
            </a:r>
            <a:endParaRPr>
              <a:latin typeface="Arial Narrow"/>
              <a:ea typeface="Arial Narrow"/>
              <a:cs typeface="Arial Narrow"/>
              <a:sym typeface="Arial Narrow"/>
            </a:endParaRPr>
          </a:p>
          <a:p>
            <a:pPr indent="-317500" lvl="0" marL="457200" rtl="0" algn="l">
              <a:spcBef>
                <a:spcPts val="0"/>
              </a:spcBef>
              <a:spcAft>
                <a:spcPts val="0"/>
              </a:spcAft>
              <a:buSzPts val="1400"/>
              <a:buFont typeface="Arial Narrow"/>
              <a:buChar char="●"/>
            </a:pPr>
            <a:r>
              <a:rPr lang="en-AU">
                <a:latin typeface="Arial Narrow"/>
                <a:ea typeface="Arial Narrow"/>
                <a:cs typeface="Arial Narrow"/>
                <a:sym typeface="Arial Narrow"/>
              </a:rPr>
              <a:t>Greater force from pinions exerted on right rack, therefore, we can analyse right side alone to ensure safety factor is met</a:t>
            </a:r>
            <a:endParaRPr>
              <a:latin typeface="Arial Narrow"/>
              <a:ea typeface="Arial Narrow"/>
              <a:cs typeface="Arial Narrow"/>
              <a:sym typeface="Arial Narrow"/>
            </a:endParaRPr>
          </a:p>
        </p:txBody>
      </p:sp>
      <p:pic>
        <p:nvPicPr>
          <p:cNvPr id="491" name="Google Shape;491;g14b29b56ded_1_231"/>
          <p:cNvPicPr preferRelativeResize="0"/>
          <p:nvPr/>
        </p:nvPicPr>
        <p:blipFill>
          <a:blip r:embed="rId4">
            <a:alphaModFix/>
          </a:blip>
          <a:stretch>
            <a:fillRect/>
          </a:stretch>
        </p:blipFill>
        <p:spPr>
          <a:xfrm>
            <a:off x="3823850" y="1182675"/>
            <a:ext cx="3438674" cy="50716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g14b4e40a154_3_36"/>
          <p:cNvSpPr txBox="1"/>
          <p:nvPr>
            <p:ph type="title"/>
          </p:nvPr>
        </p:nvSpPr>
        <p:spPr>
          <a:xfrm>
            <a:off x="298450" y="322272"/>
            <a:ext cx="109728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a:t>
            </a:r>
            <a:r>
              <a:rPr b="1" lang="en-AU" sz="3000"/>
              <a:t>5 Vertical channel beam mounting</a:t>
            </a:r>
            <a:endParaRPr b="1" sz="3000"/>
          </a:p>
          <a:p>
            <a:pPr indent="0" lvl="0" marL="0" rtl="0" algn="l">
              <a:spcBef>
                <a:spcPts val="0"/>
              </a:spcBef>
              <a:spcAft>
                <a:spcPts val="0"/>
              </a:spcAft>
              <a:buNone/>
            </a:pPr>
            <a:r>
              <a:t/>
            </a:r>
            <a:endParaRPr b="1" sz="3000"/>
          </a:p>
          <a:p>
            <a:pPr indent="0" lvl="0" marL="0" rtl="0" algn="l">
              <a:spcBef>
                <a:spcPts val="0"/>
              </a:spcBef>
              <a:spcAft>
                <a:spcPts val="0"/>
              </a:spcAft>
              <a:buNone/>
            </a:pPr>
            <a:r>
              <a:t/>
            </a:r>
            <a:endParaRPr b="1" sz="3000"/>
          </a:p>
        </p:txBody>
      </p:sp>
      <p:sp>
        <p:nvSpPr>
          <p:cNvPr id="497" name="Google Shape;497;g14b4e40a154_3_36"/>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19</a:t>
            </a:r>
            <a:endParaRPr sz="1800">
              <a:solidFill>
                <a:schemeClr val="dk1"/>
              </a:solidFill>
              <a:latin typeface="Arial Narrow"/>
              <a:ea typeface="Arial Narrow"/>
              <a:cs typeface="Arial Narrow"/>
              <a:sym typeface="Arial Narrow"/>
            </a:endParaRPr>
          </a:p>
        </p:txBody>
      </p:sp>
      <p:sp>
        <p:nvSpPr>
          <p:cNvPr id="498" name="Google Shape;498;g14b4e40a154_3_36"/>
          <p:cNvSpPr txBox="1"/>
          <p:nvPr/>
        </p:nvSpPr>
        <p:spPr>
          <a:xfrm>
            <a:off x="6952075" y="1194750"/>
            <a:ext cx="4026300" cy="4602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AU">
                <a:solidFill>
                  <a:schemeClr val="dk1"/>
                </a:solidFill>
              </a:rPr>
              <a:t>A</a:t>
            </a:r>
            <a:r>
              <a:rPr lang="en-AU">
                <a:solidFill>
                  <a:schemeClr val="dk1"/>
                </a:solidFill>
                <a:latin typeface="Arial Narrow"/>
                <a:ea typeface="Arial Narrow"/>
                <a:cs typeface="Arial Narrow"/>
                <a:sym typeface="Arial Narrow"/>
              </a:rPr>
              <a:t>nalysis of 1 m RHS, as it experience most load</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y </a:t>
            </a:r>
            <a:r>
              <a:rPr lang="en-AU">
                <a:solidFill>
                  <a:schemeClr val="dk1"/>
                </a:solidFill>
                <a:latin typeface="Arial Narrow"/>
                <a:ea typeface="Arial Narrow"/>
                <a:cs typeface="Arial Narrow"/>
                <a:sym typeface="Arial Narrow"/>
              </a:rPr>
              <a:t>=0=R</a:t>
            </a:r>
            <a:r>
              <a:rPr baseline="-25000" lang="en-AU">
                <a:solidFill>
                  <a:schemeClr val="dk1"/>
                </a:solidFill>
                <a:latin typeface="Arial Narrow"/>
                <a:ea typeface="Arial Narrow"/>
                <a:cs typeface="Arial Narrow"/>
                <a:sym typeface="Arial Narrow"/>
              </a:rPr>
              <a:t>y</a:t>
            </a: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w, rack  </a:t>
            </a: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w, beam</a:t>
            </a: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 platform</a:t>
            </a: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person</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w,rack</a:t>
            </a:r>
            <a:r>
              <a:rPr lang="en-AU">
                <a:solidFill>
                  <a:schemeClr val="dk1"/>
                </a:solidFill>
                <a:latin typeface="Arial Narrow"/>
                <a:ea typeface="Arial Narrow"/>
                <a:cs typeface="Arial Narrow"/>
                <a:sym typeface="Arial Narrow"/>
              </a:rPr>
              <a:t>=44 kg/m *1 m * 9.81 m/s</a:t>
            </a:r>
            <a:r>
              <a:rPr baseline="30000" lang="en-AU">
                <a:solidFill>
                  <a:schemeClr val="dk1"/>
                </a:solidFill>
                <a:latin typeface="Arial Narrow"/>
                <a:ea typeface="Arial Narrow"/>
                <a:cs typeface="Arial Narrow"/>
                <a:sym typeface="Arial Narrow"/>
              </a:rPr>
              <a:t>2 </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w,beam</a:t>
            </a:r>
            <a:r>
              <a:rPr lang="en-AU">
                <a:solidFill>
                  <a:schemeClr val="dk1"/>
                </a:solidFill>
                <a:latin typeface="Arial Narrow"/>
                <a:ea typeface="Arial Narrow"/>
                <a:cs typeface="Arial Narrow"/>
                <a:sym typeface="Arial Narrow"/>
              </a:rPr>
              <a:t>=8.33 kg/m *1 m * 9.81 m/s</a:t>
            </a:r>
            <a:r>
              <a:rPr baseline="30000" lang="en-AU">
                <a:solidFill>
                  <a:schemeClr val="dk1"/>
                </a:solidFill>
                <a:latin typeface="Arial Narrow"/>
                <a:ea typeface="Arial Narrow"/>
                <a:cs typeface="Arial Narrow"/>
                <a:sym typeface="Arial Narrow"/>
              </a:rPr>
              <a:t>2 </a:t>
            </a:r>
            <a:endParaRPr baseline="30000">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platform</a:t>
            </a:r>
            <a:r>
              <a:rPr lang="en-AU">
                <a:solidFill>
                  <a:schemeClr val="dk1"/>
                </a:solidFill>
                <a:latin typeface="Arial Narrow"/>
                <a:ea typeface="Arial Narrow"/>
                <a:cs typeface="Arial Narrow"/>
                <a:sym typeface="Arial Narrow"/>
              </a:rPr>
              <a:t>=1265.09 N</a:t>
            </a:r>
            <a:r>
              <a:rPr baseline="30000" lang="en-AU">
                <a:solidFill>
                  <a:schemeClr val="dk1"/>
                </a:solidFill>
                <a:latin typeface="Arial Narrow"/>
                <a:ea typeface="Arial Narrow"/>
                <a:cs typeface="Arial Narrow"/>
                <a:sym typeface="Arial Narrow"/>
              </a:rPr>
              <a:t> </a:t>
            </a:r>
            <a:endParaRPr baseline="30000">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person</a:t>
            </a:r>
            <a:r>
              <a:rPr lang="en-AU">
                <a:solidFill>
                  <a:schemeClr val="dk1"/>
                </a:solidFill>
                <a:latin typeface="Arial Narrow"/>
                <a:ea typeface="Arial Narrow"/>
                <a:cs typeface="Arial Narrow"/>
                <a:sym typeface="Arial Narrow"/>
              </a:rPr>
              <a:t>=120 kg*0.5*9.81 m/s</a:t>
            </a:r>
            <a:r>
              <a:rPr baseline="30000" lang="en-AU">
                <a:solidFill>
                  <a:schemeClr val="dk1"/>
                </a:solidFill>
                <a:latin typeface="Arial Narrow"/>
                <a:ea typeface="Arial Narrow"/>
                <a:cs typeface="Arial Narrow"/>
                <a:sym typeface="Arial Narrow"/>
              </a:rPr>
              <a:t>2 </a:t>
            </a:r>
            <a:endParaRPr baseline="30000">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Thus R</a:t>
            </a:r>
            <a:r>
              <a:rPr baseline="-25000" lang="en-AU">
                <a:solidFill>
                  <a:schemeClr val="dk1"/>
                </a:solidFill>
                <a:latin typeface="Arial Narrow"/>
                <a:ea typeface="Arial Narrow"/>
                <a:cs typeface="Arial Narrow"/>
                <a:sym typeface="Arial Narrow"/>
              </a:rPr>
              <a:t>y</a:t>
            </a:r>
            <a:r>
              <a:rPr lang="en-AU">
                <a:solidFill>
                  <a:schemeClr val="dk1"/>
                </a:solidFill>
                <a:latin typeface="Arial Narrow"/>
                <a:ea typeface="Arial Narrow"/>
                <a:cs typeface="Arial Narrow"/>
                <a:sym typeface="Arial Narrow"/>
              </a:rPr>
              <a:t>=2367.0473 N</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Given that failure will occur in the rivets due to shear stress first, with a diameter of 10 mm,</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𝜏=R</a:t>
            </a:r>
            <a:r>
              <a:rPr baseline="-25000" lang="en-AU">
                <a:solidFill>
                  <a:schemeClr val="dk1"/>
                </a:solidFill>
                <a:latin typeface="Arial Narrow"/>
                <a:ea typeface="Arial Narrow"/>
                <a:cs typeface="Arial Narrow"/>
                <a:sym typeface="Arial Narrow"/>
              </a:rPr>
              <a:t>y</a:t>
            </a:r>
            <a:r>
              <a:rPr lang="en-AU">
                <a:solidFill>
                  <a:schemeClr val="dk1"/>
                </a:solidFill>
                <a:latin typeface="Arial Narrow"/>
                <a:ea typeface="Arial Narrow"/>
                <a:cs typeface="Arial Narrow"/>
                <a:sym typeface="Arial Narrow"/>
              </a:rPr>
              <a:t>/A</a:t>
            </a:r>
            <a:r>
              <a:rPr baseline="-25000" lang="en-AU">
                <a:solidFill>
                  <a:schemeClr val="dk1"/>
                </a:solidFill>
                <a:latin typeface="Arial Narrow"/>
                <a:ea typeface="Arial Narrow"/>
                <a:cs typeface="Arial Narrow"/>
                <a:sym typeface="Arial Narrow"/>
              </a:rPr>
              <a:t>rivet</a:t>
            </a:r>
            <a:r>
              <a:rPr lang="en-AU">
                <a:solidFill>
                  <a:schemeClr val="dk1"/>
                </a:solidFill>
                <a:latin typeface="Arial Narrow"/>
                <a:ea typeface="Arial Narrow"/>
                <a:cs typeface="Arial Narrow"/>
                <a:sym typeface="Arial Narrow"/>
              </a:rPr>
              <a:t>=2367.0473/𝜋*0.005</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=30.138 MPa</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lnSpc>
                <a:spcPct val="150000"/>
              </a:lnSpc>
              <a:spcBef>
                <a:spcPts val="0"/>
              </a:spcBef>
              <a:spcAft>
                <a:spcPts val="0"/>
              </a:spcAft>
              <a:buNone/>
            </a:pPr>
            <a:r>
              <a:rPr lang="en-AU">
                <a:solidFill>
                  <a:schemeClr val="dk1"/>
                </a:solidFill>
                <a:latin typeface="Arial Narrow"/>
                <a:ea typeface="Arial Narrow"/>
                <a:cs typeface="Arial Narrow"/>
                <a:sym typeface="Arial Narrow"/>
              </a:rPr>
              <a:t>Given the material is </a:t>
            </a:r>
            <a:r>
              <a:rPr b="1" lang="en-AU">
                <a:solidFill>
                  <a:schemeClr val="dk1"/>
                </a:solidFill>
                <a:latin typeface="Arial Narrow"/>
                <a:ea typeface="Arial Narrow"/>
                <a:cs typeface="Arial Narrow"/>
                <a:sym typeface="Arial Narrow"/>
              </a:rPr>
              <a:t>Alloy Steel</a:t>
            </a:r>
            <a:r>
              <a:rPr lang="en-AU">
                <a:solidFill>
                  <a:schemeClr val="dk1"/>
                </a:solidFill>
                <a:latin typeface="Arial Narrow"/>
                <a:ea typeface="Arial Narrow"/>
                <a:cs typeface="Arial Narrow"/>
                <a:sym typeface="Arial Narrow"/>
              </a:rPr>
              <a:t>, is has an Ultimate Shear Strength (USS) of 542.85 MPa, the resulting </a:t>
            </a:r>
            <a:r>
              <a:rPr b="1" lang="en-AU">
                <a:solidFill>
                  <a:schemeClr val="dk1"/>
                </a:solidFill>
                <a:latin typeface="Arial Narrow"/>
                <a:ea typeface="Arial Narrow"/>
                <a:cs typeface="Arial Narrow"/>
                <a:sym typeface="Arial Narrow"/>
              </a:rPr>
              <a:t>safety factor is 18.01</a:t>
            </a:r>
            <a:endParaRPr b="1">
              <a:solidFill>
                <a:schemeClr val="dk1"/>
              </a:solidFill>
              <a:latin typeface="Arial Narrow"/>
              <a:ea typeface="Arial Narrow"/>
              <a:cs typeface="Arial Narrow"/>
              <a:sym typeface="Arial Narrow"/>
            </a:endParaRPr>
          </a:p>
        </p:txBody>
      </p:sp>
      <p:pic>
        <p:nvPicPr>
          <p:cNvPr id="499" name="Google Shape;499;g14b4e40a154_3_36"/>
          <p:cNvPicPr preferRelativeResize="0"/>
          <p:nvPr/>
        </p:nvPicPr>
        <p:blipFill>
          <a:blip r:embed="rId3">
            <a:alphaModFix/>
          </a:blip>
          <a:stretch>
            <a:fillRect/>
          </a:stretch>
        </p:blipFill>
        <p:spPr>
          <a:xfrm>
            <a:off x="1206025" y="891497"/>
            <a:ext cx="4071757" cy="572002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g1499bbfa3bb_0_0"/>
          <p:cNvSpPr txBox="1"/>
          <p:nvPr>
            <p:ph type="title"/>
          </p:nvPr>
        </p:nvSpPr>
        <p:spPr>
          <a:xfrm>
            <a:off x="298450" y="207825"/>
            <a:ext cx="36963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a:t>
            </a:r>
            <a:r>
              <a:rPr b="1" lang="en-AU" sz="3000"/>
              <a:t>6</a:t>
            </a:r>
            <a:r>
              <a:rPr b="1" lang="en-AU" sz="3000"/>
              <a:t> Safety Brace Beam</a:t>
            </a:r>
            <a:endParaRPr b="1" sz="3000"/>
          </a:p>
          <a:p>
            <a:pPr indent="0" lvl="0" marL="0" rtl="0" algn="l">
              <a:spcBef>
                <a:spcPts val="0"/>
              </a:spcBef>
              <a:spcAft>
                <a:spcPts val="0"/>
              </a:spcAft>
              <a:buNone/>
            </a:pPr>
            <a:r>
              <a:t/>
            </a:r>
            <a:endParaRPr b="1" sz="3000"/>
          </a:p>
          <a:p>
            <a:pPr indent="0" lvl="0" marL="0" rtl="0" algn="l">
              <a:spcBef>
                <a:spcPts val="0"/>
              </a:spcBef>
              <a:spcAft>
                <a:spcPts val="0"/>
              </a:spcAft>
              <a:buNone/>
            </a:pPr>
            <a:r>
              <a:t/>
            </a:r>
            <a:endParaRPr b="1" sz="3000"/>
          </a:p>
        </p:txBody>
      </p:sp>
      <p:sp>
        <p:nvSpPr>
          <p:cNvPr id="505" name="Google Shape;505;g1499bbfa3bb_0_0"/>
          <p:cNvSpPr txBox="1"/>
          <p:nvPr/>
        </p:nvSpPr>
        <p:spPr>
          <a:xfrm>
            <a:off x="3820375" y="534225"/>
            <a:ext cx="43638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AU">
                <a:latin typeface="Arial Narrow"/>
                <a:ea typeface="Arial Narrow"/>
                <a:cs typeface="Arial Narrow"/>
                <a:sym typeface="Arial Narrow"/>
              </a:rPr>
              <a:t>In order to calculate the strength of the safety case, it is reasonable to choose the beam that supports the braking mechanism, since this component is most likely to fail. We assume that the entire load is transferred to this beam and that </a:t>
            </a:r>
            <a:r>
              <a:rPr lang="en-AU">
                <a:latin typeface="Arial Narrow"/>
                <a:ea typeface="Arial Narrow"/>
                <a:cs typeface="Arial Narrow"/>
                <a:sym typeface="Arial Narrow"/>
              </a:rPr>
              <a:t>the </a:t>
            </a:r>
            <a:r>
              <a:rPr lang="en-AU">
                <a:latin typeface="Arial Narrow"/>
                <a:ea typeface="Arial Narrow"/>
                <a:cs typeface="Arial Narrow"/>
                <a:sym typeface="Arial Narrow"/>
              </a:rPr>
              <a:t>mass of the beam and brake that rest on beam is negligible, due to their small size and thus, small weight.</a:t>
            </a:r>
            <a:endParaRPr>
              <a:latin typeface="Arial Narrow"/>
              <a:ea typeface="Arial Narrow"/>
              <a:cs typeface="Arial Narrow"/>
              <a:sym typeface="Arial Narrow"/>
            </a:endParaRPr>
          </a:p>
        </p:txBody>
      </p:sp>
      <p:sp>
        <p:nvSpPr>
          <p:cNvPr id="506" name="Google Shape;506;g1499bbfa3bb_0_0"/>
          <p:cNvSpPr txBox="1"/>
          <p:nvPr/>
        </p:nvSpPr>
        <p:spPr>
          <a:xfrm>
            <a:off x="4141500" y="2011725"/>
            <a:ext cx="36963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N </a:t>
            </a:r>
            <a:r>
              <a:rPr lang="en-AU">
                <a:latin typeface="Arial Narrow"/>
                <a:ea typeface="Arial Narrow"/>
                <a:cs typeface="Arial Narrow"/>
                <a:sym typeface="Arial Narrow"/>
              </a:rPr>
              <a:t>= m</a:t>
            </a:r>
            <a:r>
              <a:rPr baseline="-25000" lang="en-AU">
                <a:latin typeface="Arial Narrow"/>
                <a:ea typeface="Arial Narrow"/>
                <a:cs typeface="Arial Narrow"/>
                <a:sym typeface="Arial Narrow"/>
              </a:rPr>
              <a:t>load</a:t>
            </a:r>
            <a:r>
              <a:rPr lang="en-AU">
                <a:latin typeface="Arial Narrow"/>
                <a:ea typeface="Arial Narrow"/>
                <a:cs typeface="Arial Narrow"/>
                <a:sym typeface="Arial Narrow"/>
              </a:rPr>
              <a:t>*a</a:t>
            </a:r>
            <a:r>
              <a:rPr baseline="-25000" lang="en-AU">
                <a:latin typeface="Arial Narrow"/>
                <a:ea typeface="Arial Narrow"/>
                <a:cs typeface="Arial Narrow"/>
                <a:sym typeface="Arial Narrow"/>
              </a:rPr>
              <a:t>load</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 100kg*9.81m/s</a:t>
            </a:r>
            <a:r>
              <a:rPr baseline="30000" lang="en-AU">
                <a:latin typeface="Arial Narrow"/>
                <a:ea typeface="Arial Narrow"/>
                <a:cs typeface="Arial Narrow"/>
                <a:sym typeface="Arial Narrow"/>
              </a:rPr>
              <a:t>2</a:t>
            </a:r>
            <a:r>
              <a:rPr lang="en-AU">
                <a:latin typeface="Arial Narrow"/>
                <a:ea typeface="Arial Narrow"/>
                <a:cs typeface="Arial Narrow"/>
                <a:sym typeface="Arial Narrow"/>
              </a:rPr>
              <a:t> = 981N</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L</a:t>
            </a:r>
            <a:r>
              <a:rPr baseline="-25000" lang="en-AU">
                <a:latin typeface="Arial Narrow"/>
                <a:ea typeface="Arial Narrow"/>
                <a:cs typeface="Arial Narrow"/>
                <a:sym typeface="Arial Narrow"/>
              </a:rPr>
              <a:t>beam</a:t>
            </a:r>
            <a:r>
              <a:rPr lang="en-AU">
                <a:latin typeface="Arial Narrow"/>
                <a:ea typeface="Arial Narrow"/>
                <a:cs typeface="Arial Narrow"/>
                <a:sym typeface="Arial Narrow"/>
              </a:rPr>
              <a:t> = 14mm = 0.014m</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d = 8mm</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y</a:t>
            </a:r>
            <a:r>
              <a:rPr lang="en-AU">
                <a:latin typeface="Arial Narrow"/>
                <a:ea typeface="Arial Narrow"/>
                <a:cs typeface="Arial Narrow"/>
                <a:sym typeface="Arial Narrow"/>
              </a:rPr>
              <a:t> = 0:</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+½ F</a:t>
            </a:r>
            <a:r>
              <a:rPr baseline="-25000" lang="en-AU">
                <a:latin typeface="Arial Narrow"/>
                <a:ea typeface="Arial Narrow"/>
                <a:cs typeface="Arial Narrow"/>
                <a:sym typeface="Arial Narrow"/>
              </a:rPr>
              <a:t>R</a:t>
            </a:r>
            <a:r>
              <a:rPr lang="en-AU">
                <a:latin typeface="Arial Narrow"/>
                <a:ea typeface="Arial Narrow"/>
                <a:cs typeface="Arial Narrow"/>
                <a:sym typeface="Arial Narrow"/>
              </a:rPr>
              <a:t>+½ F</a:t>
            </a:r>
            <a:r>
              <a:rPr baseline="-25000" lang="en-AU">
                <a:latin typeface="Arial Narrow"/>
                <a:ea typeface="Arial Narrow"/>
                <a:cs typeface="Arial Narrow"/>
                <a:sym typeface="Arial Narrow"/>
              </a:rPr>
              <a:t>R</a:t>
            </a:r>
            <a:r>
              <a:rPr lang="en-AU">
                <a:latin typeface="Arial Narrow"/>
                <a:ea typeface="Arial Narrow"/>
                <a:cs typeface="Arial Narrow"/>
                <a:sym typeface="Arial Narrow"/>
              </a:rPr>
              <a:t>=0</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R</a:t>
            </a:r>
            <a:r>
              <a:rPr lang="en-AU">
                <a:latin typeface="Arial Narrow"/>
                <a:ea typeface="Arial Narrow"/>
                <a:cs typeface="Arial Narrow"/>
                <a:sym typeface="Arial Narrow"/>
              </a:rPr>
              <a:t>=F</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=981N</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M</a:t>
            </a:r>
            <a:r>
              <a:rPr baseline="-25000" lang="en-AU">
                <a:solidFill>
                  <a:schemeClr val="dk1"/>
                </a:solidFill>
                <a:latin typeface="Arial Narrow"/>
                <a:ea typeface="Arial Narrow"/>
                <a:cs typeface="Arial Narrow"/>
                <a:sym typeface="Arial Narrow"/>
              </a:rPr>
              <a:t> </a:t>
            </a: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*L/4 = 981*0.014/4 = 3.43Nm</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 F/A = 981/(𝛑*(8)</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/4) = 19.5 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Mc/I = 32M/(𝛑d</a:t>
            </a:r>
            <a:r>
              <a:rPr baseline="30000" lang="en-AU">
                <a:solidFill>
                  <a:schemeClr val="dk1"/>
                </a:solidFill>
                <a:latin typeface="Arial Narrow"/>
                <a:ea typeface="Arial Narrow"/>
                <a:cs typeface="Arial Narrow"/>
                <a:sym typeface="Arial Narrow"/>
              </a:rPr>
              <a:t>3</a:t>
            </a:r>
            <a:r>
              <a:rPr lang="en-AU">
                <a:solidFill>
                  <a:schemeClr val="dk1"/>
                </a:solidFill>
                <a:latin typeface="Arial Narrow"/>
                <a:ea typeface="Arial Narrow"/>
                <a:cs typeface="Arial Narrow"/>
                <a:sym typeface="Arial Narrow"/>
              </a:rPr>
              <a:t>), for small, solid cylindrical beam</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=32*3.43/(𝛑*0.008</a:t>
            </a:r>
            <a:r>
              <a:rPr baseline="30000" lang="en-AU">
                <a:solidFill>
                  <a:schemeClr val="dk1"/>
                </a:solidFill>
                <a:latin typeface="Arial Narrow"/>
                <a:ea typeface="Arial Narrow"/>
                <a:cs typeface="Arial Narrow"/>
                <a:sym typeface="Arial Narrow"/>
              </a:rPr>
              <a:t>3</a:t>
            </a:r>
            <a:r>
              <a:rPr lang="en-AU">
                <a:solidFill>
                  <a:schemeClr val="dk1"/>
                </a:solidFill>
                <a:latin typeface="Arial Narrow"/>
                <a:ea typeface="Arial Narrow"/>
                <a:cs typeface="Arial Narrow"/>
                <a:sym typeface="Arial Narrow"/>
              </a:rPr>
              <a:t>) = 68.3MPa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𝜏 = Tr/J = 0MPa, since no torque</a:t>
            </a:r>
            <a:endParaRPr>
              <a:solidFill>
                <a:schemeClr val="dk1"/>
              </a:solidFill>
              <a:latin typeface="Arial Narrow"/>
              <a:ea typeface="Arial Narrow"/>
              <a:cs typeface="Arial Narrow"/>
              <a:sym typeface="Arial Narrow"/>
            </a:endParaRPr>
          </a:p>
        </p:txBody>
      </p:sp>
      <p:sp>
        <p:nvSpPr>
          <p:cNvPr id="507" name="Google Shape;507;g1499bbfa3bb_0_0"/>
          <p:cNvSpPr txBox="1"/>
          <p:nvPr/>
        </p:nvSpPr>
        <p:spPr>
          <a:xfrm>
            <a:off x="8362025" y="652800"/>
            <a:ext cx="35706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a:latin typeface="Arial Narrow"/>
                <a:ea typeface="Arial Narrow"/>
                <a:cs typeface="Arial Narrow"/>
                <a:sym typeface="Arial Narrow"/>
              </a:rPr>
              <a:t>Selection of material is alloy steel:</a:t>
            </a:r>
            <a:endParaRPr b="1">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S</a:t>
            </a:r>
            <a:r>
              <a:rPr baseline="-25000" lang="en-AU">
                <a:latin typeface="Arial Narrow"/>
                <a:ea typeface="Arial Narrow"/>
                <a:cs typeface="Arial Narrow"/>
                <a:sym typeface="Arial Narrow"/>
              </a:rPr>
              <a:t>y</a:t>
            </a:r>
            <a:r>
              <a:rPr lang="en-AU">
                <a:latin typeface="Arial Narrow"/>
                <a:ea typeface="Arial Narrow"/>
                <a:cs typeface="Arial Narrow"/>
                <a:sym typeface="Arial Narrow"/>
              </a:rPr>
              <a:t>=620.4MPa, S</a:t>
            </a:r>
            <a:r>
              <a:rPr baseline="30000" lang="en-AU">
                <a:latin typeface="Arial Narrow"/>
                <a:ea typeface="Arial Narrow"/>
                <a:cs typeface="Arial Narrow"/>
                <a:sym typeface="Arial Narrow"/>
              </a:rPr>
              <a:t>’</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 = 0.5S</a:t>
            </a:r>
            <a:r>
              <a:rPr baseline="-25000" lang="en-AU">
                <a:latin typeface="Arial Narrow"/>
                <a:ea typeface="Arial Narrow"/>
                <a:cs typeface="Arial Narrow"/>
                <a:sym typeface="Arial Narrow"/>
              </a:rPr>
              <a:t>y</a:t>
            </a:r>
            <a:r>
              <a:rPr lang="en-AU">
                <a:latin typeface="Arial Narrow"/>
                <a:ea typeface="Arial Narrow"/>
                <a:cs typeface="Arial Narrow"/>
                <a:sym typeface="Arial Narrow"/>
              </a:rPr>
              <a:t>=310.2MPa</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S</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=S</a:t>
            </a:r>
            <a:r>
              <a:rPr baseline="30000" lang="en-AU">
                <a:latin typeface="Arial Narrow"/>
                <a:ea typeface="Arial Narrow"/>
                <a:cs typeface="Arial Narrow"/>
                <a:sym typeface="Arial Narrow"/>
              </a:rPr>
              <a:t>’</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L</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G</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S</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T</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R</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S</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=310.2*1*0.9*0.9*1*1 = 251.26MPa</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ea</a:t>
            </a:r>
            <a:r>
              <a:rPr lang="en-AU">
                <a:solidFill>
                  <a:schemeClr val="dk1"/>
                </a:solidFill>
                <a:latin typeface="Arial Narrow"/>
                <a:ea typeface="Arial Narrow"/>
                <a:cs typeface="Arial Narrow"/>
                <a:sym typeface="Arial Narrow"/>
              </a:rPr>
              <a:t>= 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 68.3MPa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em </a:t>
            </a:r>
            <a:r>
              <a:rPr lang="en-AU">
                <a:solidFill>
                  <a:schemeClr val="dk1"/>
                </a:solidFill>
                <a:latin typeface="Arial Narrow"/>
                <a:ea typeface="Arial Narrow"/>
                <a:cs typeface="Arial Narrow"/>
                <a:sym typeface="Arial Narrow"/>
              </a:rPr>
              <a:t>= 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/2 + sqrt(𝜏</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/2)</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 19.5MPa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Goodman Diagram lines:</a:t>
            </a:r>
            <a:endParaRPr>
              <a:solidFill>
                <a:schemeClr val="dk1"/>
              </a:solidFill>
              <a:latin typeface="Arial Narrow"/>
              <a:ea typeface="Arial Narrow"/>
              <a:cs typeface="Arial Narrow"/>
              <a:sym typeface="Arial Narrow"/>
            </a:endParaRPr>
          </a:p>
          <a:p>
            <a:pPr indent="-317500" lvl="0" marL="457200" rtl="0" algn="l">
              <a:spcBef>
                <a:spcPts val="0"/>
              </a:spcBef>
              <a:spcAft>
                <a:spcPts val="0"/>
              </a:spcAft>
              <a:buClr>
                <a:schemeClr val="dk1"/>
              </a:buClr>
              <a:buSzPts val="1400"/>
              <a:buFont typeface="Arial Narrow"/>
              <a:buAutoNum type="arabicPeriod"/>
            </a:pPr>
            <a:r>
              <a:rPr lang="en-AU">
                <a:solidFill>
                  <a:schemeClr val="dk1"/>
                </a:solidFill>
                <a:latin typeface="Arial Narrow"/>
                <a:ea typeface="Arial Narrow"/>
                <a:cs typeface="Arial Narrow"/>
                <a:sym typeface="Arial Narrow"/>
              </a:rPr>
              <a:t>y=68.3/19.5*n </a:t>
            </a:r>
            <a:endParaRPr>
              <a:solidFill>
                <a:schemeClr val="dk1"/>
              </a:solidFill>
              <a:latin typeface="Arial Narrow"/>
              <a:ea typeface="Arial Narrow"/>
              <a:cs typeface="Arial Narrow"/>
              <a:sym typeface="Arial Narrow"/>
            </a:endParaRPr>
          </a:p>
          <a:p>
            <a:pPr indent="-317500" lvl="0" marL="457200" rtl="0" algn="l">
              <a:spcBef>
                <a:spcPts val="0"/>
              </a:spcBef>
              <a:spcAft>
                <a:spcPts val="0"/>
              </a:spcAft>
              <a:buClr>
                <a:schemeClr val="dk1"/>
              </a:buClr>
              <a:buSzPts val="1400"/>
              <a:buFont typeface="Arial Narrow"/>
              <a:buAutoNum type="arabicPeriod"/>
            </a:pPr>
            <a:r>
              <a:rPr lang="en-AU">
                <a:solidFill>
                  <a:schemeClr val="dk1"/>
                </a:solidFill>
                <a:latin typeface="Arial Narrow"/>
                <a:ea typeface="Arial Narrow"/>
                <a:cs typeface="Arial Narrow"/>
                <a:sym typeface="Arial Narrow"/>
              </a:rPr>
              <a:t>y=-251.26/620.4*n + 251.26</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Solving for n and y:</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n=64.3MPa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y=225MPa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b="1" lang="en-AU">
                <a:solidFill>
                  <a:schemeClr val="dk1"/>
                </a:solidFill>
                <a:latin typeface="Arial Narrow"/>
                <a:ea typeface="Arial Narrow"/>
                <a:cs typeface="Arial Narrow"/>
                <a:sym typeface="Arial Narrow"/>
              </a:rPr>
              <a:t>SF = 64.3/19.5=225/68.3 = 3.3</a:t>
            </a:r>
            <a:endParaRPr b="1">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Thus the beam will not fail under the load.</a:t>
            </a:r>
            <a:endParaRPr>
              <a:solidFill>
                <a:schemeClr val="dk1"/>
              </a:solidFill>
              <a:latin typeface="Arial Narrow"/>
              <a:ea typeface="Arial Narrow"/>
              <a:cs typeface="Arial Narrow"/>
              <a:sym typeface="Arial Narrow"/>
            </a:endParaRPr>
          </a:p>
        </p:txBody>
      </p:sp>
      <p:cxnSp>
        <p:nvCxnSpPr>
          <p:cNvPr id="508" name="Google Shape;508;g1499bbfa3bb_0_0"/>
          <p:cNvCxnSpPr/>
          <p:nvPr/>
        </p:nvCxnSpPr>
        <p:spPr>
          <a:xfrm rot="10800000">
            <a:off x="71825" y="5846525"/>
            <a:ext cx="0" cy="534600"/>
          </a:xfrm>
          <a:prstGeom prst="straightConnector1">
            <a:avLst/>
          </a:prstGeom>
          <a:noFill/>
          <a:ln cap="flat" cmpd="sng" w="9525">
            <a:solidFill>
              <a:schemeClr val="dk2"/>
            </a:solidFill>
            <a:prstDash val="solid"/>
            <a:round/>
            <a:headEnd len="med" w="med" type="none"/>
            <a:tailEnd len="med" w="med" type="triangle"/>
          </a:ln>
        </p:spPr>
      </p:cxnSp>
      <p:cxnSp>
        <p:nvCxnSpPr>
          <p:cNvPr id="509" name="Google Shape;509;g1499bbfa3bb_0_0"/>
          <p:cNvCxnSpPr/>
          <p:nvPr/>
        </p:nvCxnSpPr>
        <p:spPr>
          <a:xfrm>
            <a:off x="71825" y="6381125"/>
            <a:ext cx="273000" cy="0"/>
          </a:xfrm>
          <a:prstGeom prst="straightConnector1">
            <a:avLst/>
          </a:prstGeom>
          <a:noFill/>
          <a:ln cap="flat" cmpd="sng" w="9525">
            <a:solidFill>
              <a:schemeClr val="dk2"/>
            </a:solidFill>
            <a:prstDash val="solid"/>
            <a:round/>
            <a:headEnd len="med" w="med" type="none"/>
            <a:tailEnd len="med" w="med" type="triangle"/>
          </a:ln>
        </p:spPr>
      </p:cxnSp>
      <p:sp>
        <p:nvSpPr>
          <p:cNvPr id="510" name="Google Shape;510;g1499bbfa3bb_0_0"/>
          <p:cNvSpPr txBox="1"/>
          <p:nvPr/>
        </p:nvSpPr>
        <p:spPr>
          <a:xfrm>
            <a:off x="-41875" y="5548675"/>
            <a:ext cx="22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y</a:t>
            </a:r>
            <a:endParaRPr/>
          </a:p>
        </p:txBody>
      </p:sp>
      <p:sp>
        <p:nvSpPr>
          <p:cNvPr id="511" name="Google Shape;511;g1499bbfa3bb_0_0"/>
          <p:cNvSpPr txBox="1"/>
          <p:nvPr/>
        </p:nvSpPr>
        <p:spPr>
          <a:xfrm>
            <a:off x="219538" y="6278775"/>
            <a:ext cx="22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x</a:t>
            </a:r>
            <a:endParaRPr/>
          </a:p>
        </p:txBody>
      </p:sp>
      <p:sp>
        <p:nvSpPr>
          <p:cNvPr id="512" name="Google Shape;512;g1499bbfa3bb_0_0"/>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20</a:t>
            </a:r>
            <a:endParaRPr sz="1800">
              <a:solidFill>
                <a:schemeClr val="dk1"/>
              </a:solidFill>
              <a:latin typeface="Arial Narrow"/>
              <a:ea typeface="Arial Narrow"/>
              <a:cs typeface="Arial Narrow"/>
              <a:sym typeface="Arial Narrow"/>
            </a:endParaRPr>
          </a:p>
        </p:txBody>
      </p:sp>
      <p:pic>
        <p:nvPicPr>
          <p:cNvPr id="513" name="Google Shape;513;g1499bbfa3bb_0_0"/>
          <p:cNvPicPr preferRelativeResize="0"/>
          <p:nvPr/>
        </p:nvPicPr>
        <p:blipFill rotWithShape="1">
          <a:blip r:embed="rId3">
            <a:alphaModFix/>
          </a:blip>
          <a:srcRect b="12586" l="23671" r="35594" t="13246"/>
          <a:stretch/>
        </p:blipFill>
        <p:spPr>
          <a:xfrm>
            <a:off x="71812" y="1825487"/>
            <a:ext cx="3570701" cy="3657175"/>
          </a:xfrm>
          <a:prstGeom prst="rect">
            <a:avLst/>
          </a:prstGeom>
          <a:noFill/>
          <a:ln>
            <a:noFill/>
          </a:ln>
        </p:spPr>
      </p:pic>
      <p:cxnSp>
        <p:nvCxnSpPr>
          <p:cNvPr id="514" name="Google Shape;514;g1499bbfa3bb_0_0"/>
          <p:cNvCxnSpPr/>
          <p:nvPr/>
        </p:nvCxnSpPr>
        <p:spPr>
          <a:xfrm flipH="1" rot="10800000">
            <a:off x="1929075" y="3127500"/>
            <a:ext cx="9900" cy="569100"/>
          </a:xfrm>
          <a:prstGeom prst="straightConnector1">
            <a:avLst/>
          </a:prstGeom>
          <a:noFill/>
          <a:ln cap="flat" cmpd="sng" w="28575">
            <a:solidFill>
              <a:srgbClr val="FF0000"/>
            </a:solidFill>
            <a:prstDash val="solid"/>
            <a:round/>
            <a:headEnd len="med" w="med" type="none"/>
            <a:tailEnd len="med" w="med" type="triangle"/>
          </a:ln>
        </p:spPr>
      </p:cxnSp>
      <p:sp>
        <p:nvSpPr>
          <p:cNvPr id="515" name="Google Shape;515;g1499bbfa3bb_0_0"/>
          <p:cNvSpPr txBox="1"/>
          <p:nvPr/>
        </p:nvSpPr>
        <p:spPr>
          <a:xfrm>
            <a:off x="1220775" y="2781450"/>
            <a:ext cx="475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000">
                <a:solidFill>
                  <a:schemeClr val="accent1"/>
                </a:solidFill>
              </a:rPr>
              <a:t>½ F</a:t>
            </a:r>
            <a:r>
              <a:rPr baseline="-25000" lang="en-AU" sz="1000">
                <a:solidFill>
                  <a:schemeClr val="accent1"/>
                </a:solidFill>
              </a:rPr>
              <a:t>R</a:t>
            </a:r>
            <a:endParaRPr baseline="-25000" sz="1000">
              <a:solidFill>
                <a:schemeClr val="accent1"/>
              </a:solidFill>
            </a:endParaRPr>
          </a:p>
        </p:txBody>
      </p:sp>
      <p:sp>
        <p:nvSpPr>
          <p:cNvPr id="516" name="Google Shape;516;g1499bbfa3bb_0_0"/>
          <p:cNvSpPr txBox="1"/>
          <p:nvPr/>
        </p:nvSpPr>
        <p:spPr>
          <a:xfrm>
            <a:off x="1929075" y="2781450"/>
            <a:ext cx="475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000">
                <a:solidFill>
                  <a:schemeClr val="accent1"/>
                </a:solidFill>
              </a:rPr>
              <a:t>½ F</a:t>
            </a:r>
            <a:r>
              <a:rPr baseline="-25000" lang="en-AU" sz="1000">
                <a:solidFill>
                  <a:schemeClr val="accent1"/>
                </a:solidFill>
              </a:rPr>
              <a:t>R</a:t>
            </a:r>
            <a:endParaRPr baseline="-25000" sz="1000">
              <a:solidFill>
                <a:schemeClr val="accent1"/>
              </a:solidFill>
            </a:endParaRPr>
          </a:p>
        </p:txBody>
      </p:sp>
      <p:cxnSp>
        <p:nvCxnSpPr>
          <p:cNvPr id="517" name="Google Shape;517;g1499bbfa3bb_0_0"/>
          <p:cNvCxnSpPr/>
          <p:nvPr/>
        </p:nvCxnSpPr>
        <p:spPr>
          <a:xfrm flipH="1" rot="10800000">
            <a:off x="1658988" y="3120150"/>
            <a:ext cx="17100" cy="583800"/>
          </a:xfrm>
          <a:prstGeom prst="straightConnector1">
            <a:avLst/>
          </a:prstGeom>
          <a:noFill/>
          <a:ln cap="flat" cmpd="sng" w="28575">
            <a:solidFill>
              <a:schemeClr val="accent1"/>
            </a:solidFill>
            <a:prstDash val="solid"/>
            <a:round/>
            <a:headEnd len="med" w="med" type="none"/>
            <a:tailEnd len="med" w="med" type="triangle"/>
          </a:ln>
        </p:spPr>
      </p:cxnSp>
      <p:cxnSp>
        <p:nvCxnSpPr>
          <p:cNvPr id="518" name="Google Shape;518;g1499bbfa3bb_0_0"/>
          <p:cNvCxnSpPr/>
          <p:nvPr/>
        </p:nvCxnSpPr>
        <p:spPr>
          <a:xfrm flipH="1">
            <a:off x="1797638" y="3696600"/>
            <a:ext cx="9900" cy="628800"/>
          </a:xfrm>
          <a:prstGeom prst="straightConnector1">
            <a:avLst/>
          </a:prstGeom>
          <a:noFill/>
          <a:ln cap="flat" cmpd="sng" w="28575">
            <a:solidFill>
              <a:schemeClr val="accent1"/>
            </a:solidFill>
            <a:prstDash val="solid"/>
            <a:round/>
            <a:headEnd len="med" w="med" type="none"/>
            <a:tailEnd len="med" w="med" type="triangle"/>
          </a:ln>
        </p:spPr>
      </p:cxnSp>
      <p:sp>
        <p:nvSpPr>
          <p:cNvPr id="519" name="Google Shape;519;g1499bbfa3bb_0_0"/>
          <p:cNvSpPr txBox="1"/>
          <p:nvPr/>
        </p:nvSpPr>
        <p:spPr>
          <a:xfrm>
            <a:off x="1626950" y="4393825"/>
            <a:ext cx="35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000">
                <a:solidFill>
                  <a:schemeClr val="accent1"/>
                </a:solidFill>
              </a:rPr>
              <a:t>F</a:t>
            </a:r>
            <a:r>
              <a:rPr baseline="-25000" lang="en-AU" sz="1000">
                <a:solidFill>
                  <a:schemeClr val="accent1"/>
                </a:solidFill>
              </a:rPr>
              <a:t>N</a:t>
            </a:r>
            <a:endParaRPr baseline="-25000" sz="1000">
              <a:solidFill>
                <a:schemeClr val="accen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g1499bbfa3bb_0_18"/>
          <p:cNvSpPr txBox="1"/>
          <p:nvPr/>
        </p:nvSpPr>
        <p:spPr>
          <a:xfrm>
            <a:off x="4208225" y="141900"/>
            <a:ext cx="3798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latin typeface="Arial Narrow"/>
                <a:ea typeface="Arial Narrow"/>
                <a:cs typeface="Arial Narrow"/>
                <a:sym typeface="Arial Narrow"/>
              </a:rPr>
              <a:t>In order to calculate the stress on the beam, assume the beam has a solid square cross-section and forces act through central line of beam. Also assume weight of brake is </a:t>
            </a:r>
            <a:r>
              <a:rPr lang="en-AU">
                <a:latin typeface="Arial Narrow"/>
                <a:ea typeface="Arial Narrow"/>
                <a:cs typeface="Arial Narrow"/>
                <a:sym typeface="Arial Narrow"/>
              </a:rPr>
              <a:t>negligible</a:t>
            </a:r>
            <a:r>
              <a:rPr lang="en-AU">
                <a:latin typeface="Arial Narrow"/>
                <a:ea typeface="Arial Narrow"/>
                <a:cs typeface="Arial Narrow"/>
                <a:sym typeface="Arial Narrow"/>
              </a:rPr>
              <a:t> due to small mass.</a:t>
            </a:r>
            <a:endParaRPr>
              <a:latin typeface="Arial Narrow"/>
              <a:ea typeface="Arial Narrow"/>
              <a:cs typeface="Arial Narrow"/>
              <a:sym typeface="Arial Narrow"/>
            </a:endParaRPr>
          </a:p>
        </p:txBody>
      </p:sp>
      <p:sp>
        <p:nvSpPr>
          <p:cNvPr id="525" name="Google Shape;525;g1499bbfa3bb_0_18"/>
          <p:cNvSpPr txBox="1"/>
          <p:nvPr/>
        </p:nvSpPr>
        <p:spPr>
          <a:xfrm>
            <a:off x="8029600" y="307875"/>
            <a:ext cx="3935100" cy="664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AU">
                <a:solidFill>
                  <a:schemeClr val="dk1"/>
                </a:solidFill>
                <a:latin typeface="Arial Narrow"/>
                <a:ea typeface="Arial Narrow"/>
                <a:cs typeface="Arial Narrow"/>
                <a:sym typeface="Arial Narrow"/>
              </a:rPr>
              <a:t>Selection of material is alloy steel:</a:t>
            </a:r>
            <a:endParaRPr b="1">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S</a:t>
            </a:r>
            <a:r>
              <a:rPr baseline="-25000" lang="en-AU">
                <a:solidFill>
                  <a:schemeClr val="dk1"/>
                </a:solidFill>
                <a:latin typeface="Arial Narrow"/>
                <a:ea typeface="Arial Narrow"/>
                <a:cs typeface="Arial Narrow"/>
                <a:sym typeface="Arial Narrow"/>
              </a:rPr>
              <a:t>y</a:t>
            </a:r>
            <a:r>
              <a:rPr lang="en-AU">
                <a:solidFill>
                  <a:schemeClr val="dk1"/>
                </a:solidFill>
                <a:latin typeface="Arial Narrow"/>
                <a:ea typeface="Arial Narrow"/>
                <a:cs typeface="Arial Narrow"/>
                <a:sym typeface="Arial Narrow"/>
              </a:rPr>
              <a:t>=620.4MPa, S</a:t>
            </a:r>
            <a:r>
              <a:rPr baseline="30000" lang="en-AU">
                <a:solidFill>
                  <a:schemeClr val="dk1"/>
                </a:solidFill>
                <a:latin typeface="Arial Narrow"/>
                <a:ea typeface="Arial Narrow"/>
                <a:cs typeface="Arial Narrow"/>
                <a:sym typeface="Arial Narrow"/>
              </a:rPr>
              <a:t>’</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 = 0.5S</a:t>
            </a:r>
            <a:r>
              <a:rPr baseline="-25000" lang="en-AU">
                <a:solidFill>
                  <a:schemeClr val="dk1"/>
                </a:solidFill>
                <a:latin typeface="Arial Narrow"/>
                <a:ea typeface="Arial Narrow"/>
                <a:cs typeface="Arial Narrow"/>
                <a:sym typeface="Arial Narrow"/>
              </a:rPr>
              <a:t>y</a:t>
            </a:r>
            <a:r>
              <a:rPr lang="en-AU">
                <a:solidFill>
                  <a:schemeClr val="dk1"/>
                </a:solidFill>
                <a:latin typeface="Arial Narrow"/>
                <a:ea typeface="Arial Narrow"/>
                <a:cs typeface="Arial Narrow"/>
                <a:sym typeface="Arial Narrow"/>
              </a:rPr>
              <a:t>=310.2MPa</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S</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=S</a:t>
            </a:r>
            <a:r>
              <a:rPr baseline="30000" lang="en-AU">
                <a:solidFill>
                  <a:schemeClr val="dk1"/>
                </a:solidFill>
                <a:latin typeface="Arial Narrow"/>
                <a:ea typeface="Arial Narrow"/>
                <a:cs typeface="Arial Narrow"/>
                <a:sym typeface="Arial Narrow"/>
              </a:rPr>
              <a:t>’</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C</a:t>
            </a:r>
            <a:r>
              <a:rPr baseline="-25000" lang="en-AU">
                <a:solidFill>
                  <a:schemeClr val="dk1"/>
                </a:solidFill>
                <a:latin typeface="Arial Narrow"/>
                <a:ea typeface="Arial Narrow"/>
                <a:cs typeface="Arial Narrow"/>
                <a:sym typeface="Arial Narrow"/>
              </a:rPr>
              <a:t>L</a:t>
            </a:r>
            <a:r>
              <a:rPr lang="en-AU">
                <a:solidFill>
                  <a:schemeClr val="dk1"/>
                </a:solidFill>
                <a:latin typeface="Arial Narrow"/>
                <a:ea typeface="Arial Narrow"/>
                <a:cs typeface="Arial Narrow"/>
                <a:sym typeface="Arial Narrow"/>
              </a:rPr>
              <a:t>C</a:t>
            </a:r>
            <a:r>
              <a:rPr baseline="-25000" lang="en-AU">
                <a:solidFill>
                  <a:schemeClr val="dk1"/>
                </a:solidFill>
                <a:latin typeface="Arial Narrow"/>
                <a:ea typeface="Arial Narrow"/>
                <a:cs typeface="Arial Narrow"/>
                <a:sym typeface="Arial Narrow"/>
              </a:rPr>
              <a:t>G</a:t>
            </a:r>
            <a:r>
              <a:rPr lang="en-AU">
                <a:solidFill>
                  <a:schemeClr val="dk1"/>
                </a:solidFill>
                <a:latin typeface="Arial Narrow"/>
                <a:ea typeface="Arial Narrow"/>
                <a:cs typeface="Arial Narrow"/>
                <a:sym typeface="Arial Narrow"/>
              </a:rPr>
              <a:t>C</a:t>
            </a:r>
            <a:r>
              <a:rPr baseline="-25000" lang="en-AU">
                <a:solidFill>
                  <a:schemeClr val="dk1"/>
                </a:solidFill>
                <a:latin typeface="Arial Narrow"/>
                <a:ea typeface="Arial Narrow"/>
                <a:cs typeface="Arial Narrow"/>
                <a:sym typeface="Arial Narrow"/>
              </a:rPr>
              <a:t>S</a:t>
            </a:r>
            <a:r>
              <a:rPr lang="en-AU">
                <a:solidFill>
                  <a:schemeClr val="dk1"/>
                </a:solidFill>
                <a:latin typeface="Arial Narrow"/>
                <a:ea typeface="Arial Narrow"/>
                <a:cs typeface="Arial Narrow"/>
                <a:sym typeface="Arial Narrow"/>
              </a:rPr>
              <a:t>C</a:t>
            </a:r>
            <a:r>
              <a:rPr baseline="-25000" lang="en-AU">
                <a:solidFill>
                  <a:schemeClr val="dk1"/>
                </a:solidFill>
                <a:latin typeface="Arial Narrow"/>
                <a:ea typeface="Arial Narrow"/>
                <a:cs typeface="Arial Narrow"/>
                <a:sym typeface="Arial Narrow"/>
              </a:rPr>
              <a:t>T</a:t>
            </a:r>
            <a:r>
              <a:rPr lang="en-AU">
                <a:solidFill>
                  <a:schemeClr val="dk1"/>
                </a:solidFill>
                <a:latin typeface="Arial Narrow"/>
                <a:ea typeface="Arial Narrow"/>
                <a:cs typeface="Arial Narrow"/>
                <a:sym typeface="Arial Narrow"/>
              </a:rPr>
              <a:t>C</a:t>
            </a:r>
            <a:r>
              <a:rPr baseline="-25000" lang="en-AU">
                <a:solidFill>
                  <a:schemeClr val="dk1"/>
                </a:solidFill>
                <a:latin typeface="Arial Narrow"/>
                <a:ea typeface="Arial Narrow"/>
                <a:cs typeface="Arial Narrow"/>
                <a:sym typeface="Arial Narrow"/>
              </a:rPr>
              <a:t>R</a:t>
            </a:r>
            <a:endParaRPr baseline="-25000">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baseline="-25000">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S</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=310.2*1*0.9*0.9*1*1 = 251.26MPa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Plate with central hole Axial Graph:</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d/b = 8/40 = 0.2, K</a:t>
            </a:r>
            <a:r>
              <a:rPr baseline="-25000" lang="en-AU">
                <a:solidFill>
                  <a:schemeClr val="dk1"/>
                </a:solidFill>
                <a:latin typeface="Arial Narrow"/>
                <a:ea typeface="Arial Narrow"/>
                <a:cs typeface="Arial Narrow"/>
                <a:sym typeface="Arial Narrow"/>
              </a:rPr>
              <a:t>t,a</a:t>
            </a:r>
            <a:r>
              <a:rPr lang="en-AU">
                <a:solidFill>
                  <a:schemeClr val="dk1"/>
                </a:solidFill>
                <a:latin typeface="Arial Narrow"/>
                <a:ea typeface="Arial Narrow"/>
                <a:cs typeface="Arial Narrow"/>
                <a:sym typeface="Arial Narrow"/>
              </a:rPr>
              <a:t>=2.45</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Bending Graph:</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d/b = 0.2, d/h = 10/10 =1, K</a:t>
            </a:r>
            <a:r>
              <a:rPr baseline="-25000" lang="en-AU">
                <a:solidFill>
                  <a:schemeClr val="dk1"/>
                </a:solidFill>
                <a:latin typeface="Arial Narrow"/>
                <a:ea typeface="Arial Narrow"/>
                <a:cs typeface="Arial Narrow"/>
                <a:sym typeface="Arial Narrow"/>
              </a:rPr>
              <a:t>t,b</a:t>
            </a:r>
            <a:r>
              <a:rPr lang="en-AU">
                <a:solidFill>
                  <a:schemeClr val="dk1"/>
                </a:solidFill>
                <a:latin typeface="Arial Narrow"/>
                <a:ea typeface="Arial Narrow"/>
                <a:cs typeface="Arial Narrow"/>
                <a:sym typeface="Arial Narrow"/>
              </a:rPr>
              <a:t>=1.9</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ea</a:t>
            </a:r>
            <a:r>
              <a:rPr lang="en-AU">
                <a:solidFill>
                  <a:schemeClr val="dk1"/>
                </a:solidFill>
                <a:latin typeface="Arial Narrow"/>
                <a:ea typeface="Arial Narrow"/>
                <a:cs typeface="Arial Narrow"/>
                <a:sym typeface="Arial Narrow"/>
              </a:rPr>
              <a:t>= 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*K</a:t>
            </a:r>
            <a:r>
              <a:rPr baseline="-25000" lang="en-AU">
                <a:solidFill>
                  <a:schemeClr val="dk1"/>
                </a:solidFill>
                <a:latin typeface="Arial Narrow"/>
                <a:ea typeface="Arial Narrow"/>
                <a:cs typeface="Arial Narrow"/>
                <a:sym typeface="Arial Narrow"/>
              </a:rPr>
              <a:t>t,b</a:t>
            </a:r>
            <a:r>
              <a:rPr lang="en-AU">
                <a:solidFill>
                  <a:schemeClr val="dk1"/>
                </a:solidFill>
                <a:latin typeface="Arial Narrow"/>
                <a:ea typeface="Arial Narrow"/>
                <a:cs typeface="Arial Narrow"/>
                <a:sym typeface="Arial Narrow"/>
              </a:rPr>
              <a:t>= 69.9MPa</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em </a:t>
            </a:r>
            <a:r>
              <a:rPr lang="en-AU">
                <a:solidFill>
                  <a:schemeClr val="dk1"/>
                </a:solidFill>
                <a:latin typeface="Arial Narrow"/>
                <a:ea typeface="Arial Narrow"/>
                <a:cs typeface="Arial Narrow"/>
                <a:sym typeface="Arial Narrow"/>
              </a:rPr>
              <a:t>= (σ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/2 + sqrt(𝜏</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/2)</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))*K</a:t>
            </a:r>
            <a:r>
              <a:rPr baseline="-25000" lang="en-AU">
                <a:solidFill>
                  <a:schemeClr val="dk1"/>
                </a:solidFill>
                <a:latin typeface="Arial Narrow"/>
                <a:ea typeface="Arial Narrow"/>
                <a:cs typeface="Arial Narrow"/>
                <a:sym typeface="Arial Narrow"/>
              </a:rPr>
              <a:t>t,a</a:t>
            </a:r>
            <a:r>
              <a:rPr lang="en-AU">
                <a:solidFill>
                  <a:schemeClr val="dk1"/>
                </a:solidFill>
                <a:latin typeface="Arial Narrow"/>
                <a:ea typeface="Arial Narrow"/>
                <a:cs typeface="Arial Narrow"/>
                <a:sym typeface="Arial Narrow"/>
              </a:rPr>
              <a:t> = 7.52MPa</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Goodman Diagram lines:</a:t>
            </a:r>
            <a:endParaRPr>
              <a:solidFill>
                <a:schemeClr val="dk1"/>
              </a:solidFill>
              <a:latin typeface="Arial Narrow"/>
              <a:ea typeface="Arial Narrow"/>
              <a:cs typeface="Arial Narrow"/>
              <a:sym typeface="Arial Narrow"/>
            </a:endParaRPr>
          </a:p>
          <a:p>
            <a:pPr indent="-317500" lvl="0" marL="457200" rtl="0" algn="l">
              <a:spcBef>
                <a:spcPts val="0"/>
              </a:spcBef>
              <a:spcAft>
                <a:spcPts val="0"/>
              </a:spcAft>
              <a:buClr>
                <a:schemeClr val="dk1"/>
              </a:buClr>
              <a:buSzPts val="1400"/>
              <a:buFont typeface="Arial Narrow"/>
              <a:buAutoNum type="arabicPeriod"/>
            </a:pPr>
            <a:r>
              <a:rPr lang="en-AU">
                <a:solidFill>
                  <a:schemeClr val="dk1"/>
                </a:solidFill>
                <a:latin typeface="Arial Narrow"/>
                <a:ea typeface="Arial Narrow"/>
                <a:cs typeface="Arial Narrow"/>
                <a:sym typeface="Arial Narrow"/>
              </a:rPr>
              <a:t>y=69.9/7.52*n </a:t>
            </a:r>
            <a:endParaRPr>
              <a:solidFill>
                <a:schemeClr val="dk1"/>
              </a:solidFill>
              <a:latin typeface="Arial Narrow"/>
              <a:ea typeface="Arial Narrow"/>
              <a:cs typeface="Arial Narrow"/>
              <a:sym typeface="Arial Narrow"/>
            </a:endParaRPr>
          </a:p>
          <a:p>
            <a:pPr indent="-317500" lvl="0" marL="457200" rtl="0" algn="l">
              <a:spcBef>
                <a:spcPts val="0"/>
              </a:spcBef>
              <a:spcAft>
                <a:spcPts val="0"/>
              </a:spcAft>
              <a:buClr>
                <a:schemeClr val="dk1"/>
              </a:buClr>
              <a:buSzPts val="1400"/>
              <a:buFont typeface="Arial Narrow"/>
              <a:buAutoNum type="arabicPeriod"/>
            </a:pPr>
            <a:r>
              <a:rPr lang="en-AU">
                <a:solidFill>
                  <a:schemeClr val="dk1"/>
                </a:solidFill>
                <a:latin typeface="Arial Narrow"/>
                <a:ea typeface="Arial Narrow"/>
                <a:cs typeface="Arial Narrow"/>
                <a:sym typeface="Arial Narrow"/>
              </a:rPr>
              <a:t>y=-251.26/620.4*n + 251.26</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Solving for n and y:</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n=25.8MPa</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y=240MPa</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b="1" lang="en-AU">
                <a:solidFill>
                  <a:schemeClr val="dk1"/>
                </a:solidFill>
                <a:latin typeface="Arial Narrow"/>
                <a:ea typeface="Arial Narrow"/>
                <a:cs typeface="Arial Narrow"/>
                <a:sym typeface="Arial Narrow"/>
              </a:rPr>
              <a:t>SF = 25.8/7.52=240/69.9 = 3.43</a:t>
            </a:r>
            <a:endParaRPr b="1">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Thus the brake will not fail under the load.</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p:txBody>
      </p:sp>
      <p:sp>
        <p:nvSpPr>
          <p:cNvPr id="526" name="Google Shape;526;g1499bbfa3bb_0_18"/>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21</a:t>
            </a:r>
            <a:endParaRPr sz="1800">
              <a:solidFill>
                <a:schemeClr val="dk1"/>
              </a:solidFill>
              <a:latin typeface="Arial Narrow"/>
              <a:ea typeface="Arial Narrow"/>
              <a:cs typeface="Arial Narrow"/>
              <a:sym typeface="Arial Narrow"/>
            </a:endParaRPr>
          </a:p>
        </p:txBody>
      </p:sp>
      <p:sp>
        <p:nvSpPr>
          <p:cNvPr id="527" name="Google Shape;527;g1499bbfa3bb_0_18"/>
          <p:cNvSpPr txBox="1"/>
          <p:nvPr>
            <p:ph type="title"/>
          </p:nvPr>
        </p:nvSpPr>
        <p:spPr>
          <a:xfrm>
            <a:off x="250350" y="208750"/>
            <a:ext cx="36963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a:t>
            </a:r>
            <a:r>
              <a:rPr b="1" lang="en-AU" sz="3000"/>
              <a:t>8</a:t>
            </a:r>
            <a:r>
              <a:rPr b="1" lang="en-AU" sz="3000"/>
              <a:t> Safety Brace Brake</a:t>
            </a:r>
            <a:endParaRPr b="1" sz="3000"/>
          </a:p>
          <a:p>
            <a:pPr indent="0" lvl="0" marL="0" rtl="0" algn="l">
              <a:spcBef>
                <a:spcPts val="0"/>
              </a:spcBef>
              <a:spcAft>
                <a:spcPts val="0"/>
              </a:spcAft>
              <a:buNone/>
            </a:pPr>
            <a:r>
              <a:t/>
            </a:r>
            <a:endParaRPr b="1" sz="3000"/>
          </a:p>
          <a:p>
            <a:pPr indent="0" lvl="0" marL="0" rtl="0" algn="l">
              <a:spcBef>
                <a:spcPts val="0"/>
              </a:spcBef>
              <a:spcAft>
                <a:spcPts val="0"/>
              </a:spcAft>
              <a:buNone/>
            </a:pPr>
            <a:r>
              <a:t/>
            </a:r>
            <a:endParaRPr b="1" sz="3000"/>
          </a:p>
        </p:txBody>
      </p:sp>
      <p:sp>
        <p:nvSpPr>
          <p:cNvPr id="528" name="Google Shape;528;g1499bbfa3bb_0_18"/>
          <p:cNvSpPr txBox="1"/>
          <p:nvPr/>
        </p:nvSpPr>
        <p:spPr>
          <a:xfrm>
            <a:off x="4310575" y="1229100"/>
            <a:ext cx="3696300" cy="492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N </a:t>
            </a:r>
            <a:r>
              <a:rPr lang="en-AU">
                <a:solidFill>
                  <a:schemeClr val="dk1"/>
                </a:solidFill>
                <a:latin typeface="Arial Narrow"/>
                <a:ea typeface="Arial Narrow"/>
                <a:cs typeface="Arial Narrow"/>
                <a:sym typeface="Arial Narrow"/>
              </a:rPr>
              <a:t>= m</a:t>
            </a:r>
            <a:r>
              <a:rPr baseline="-25000" lang="en-AU">
                <a:solidFill>
                  <a:schemeClr val="dk1"/>
                </a:solidFill>
                <a:latin typeface="Arial Narrow"/>
                <a:ea typeface="Arial Narrow"/>
                <a:cs typeface="Arial Narrow"/>
                <a:sym typeface="Arial Narrow"/>
              </a:rPr>
              <a:t>load</a:t>
            </a:r>
            <a:r>
              <a:rPr lang="en-AU">
                <a:solidFill>
                  <a:schemeClr val="dk1"/>
                </a:solidFill>
                <a:latin typeface="Arial Narrow"/>
                <a:ea typeface="Arial Narrow"/>
                <a:cs typeface="Arial Narrow"/>
                <a:sym typeface="Arial Narrow"/>
              </a:rPr>
              <a:t>*a</a:t>
            </a:r>
            <a:r>
              <a:rPr baseline="-25000" lang="en-AU">
                <a:solidFill>
                  <a:schemeClr val="dk1"/>
                </a:solidFill>
                <a:latin typeface="Arial Narrow"/>
                <a:ea typeface="Arial Narrow"/>
                <a:cs typeface="Arial Narrow"/>
                <a:sym typeface="Arial Narrow"/>
              </a:rPr>
              <a:t>load</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 100kg*9.81m/s</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 981N</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L</a:t>
            </a:r>
            <a:r>
              <a:rPr baseline="-25000" lang="en-AU">
                <a:solidFill>
                  <a:schemeClr val="dk1"/>
                </a:solidFill>
                <a:latin typeface="Arial Narrow"/>
                <a:ea typeface="Arial Narrow"/>
                <a:cs typeface="Arial Narrow"/>
                <a:sym typeface="Arial Narrow"/>
              </a:rPr>
              <a:t>beam</a:t>
            </a:r>
            <a:r>
              <a:rPr lang="en-AU">
                <a:solidFill>
                  <a:schemeClr val="dk1"/>
                </a:solidFill>
                <a:latin typeface="Arial Narrow"/>
                <a:ea typeface="Arial Narrow"/>
                <a:cs typeface="Arial Narrow"/>
                <a:sym typeface="Arial Narrow"/>
              </a:rPr>
              <a:t> = 80mm = 0.080m</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br>
              <a:rPr lang="en-AU">
                <a:solidFill>
                  <a:schemeClr val="dk1"/>
                </a:solidFill>
                <a:latin typeface="Arial Narrow"/>
                <a:ea typeface="Arial Narrow"/>
                <a:cs typeface="Arial Narrow"/>
                <a:sym typeface="Arial Narrow"/>
              </a:rPr>
            </a:br>
            <a:r>
              <a:rPr lang="en-AU">
                <a:solidFill>
                  <a:schemeClr val="dk1"/>
                </a:solidFill>
                <a:latin typeface="Arial Narrow"/>
                <a:ea typeface="Arial Narrow"/>
                <a:cs typeface="Arial Narrow"/>
                <a:sym typeface="Arial Narrow"/>
              </a:rPr>
              <a:t>To utilise the stress concentration table:</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b=40mm</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h=10mm</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d= 8mm</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y</a:t>
            </a:r>
            <a:r>
              <a:rPr lang="en-AU">
                <a:solidFill>
                  <a:schemeClr val="dk1"/>
                </a:solidFill>
                <a:latin typeface="Arial Narrow"/>
                <a:ea typeface="Arial Narrow"/>
                <a:cs typeface="Arial Narrow"/>
                <a:sym typeface="Arial Narrow"/>
              </a:rPr>
              <a:t> = 0:</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+½ F</a:t>
            </a:r>
            <a:r>
              <a:rPr baseline="-25000" lang="en-AU">
                <a:solidFill>
                  <a:schemeClr val="dk1"/>
                </a:solidFill>
                <a:latin typeface="Arial Narrow"/>
                <a:ea typeface="Arial Narrow"/>
                <a:cs typeface="Arial Narrow"/>
                <a:sym typeface="Arial Narrow"/>
              </a:rPr>
              <a:t>R</a:t>
            </a:r>
            <a:r>
              <a:rPr lang="en-AU">
                <a:solidFill>
                  <a:schemeClr val="dk1"/>
                </a:solidFill>
                <a:latin typeface="Arial Narrow"/>
                <a:ea typeface="Arial Narrow"/>
                <a:cs typeface="Arial Narrow"/>
                <a:sym typeface="Arial Narrow"/>
              </a:rPr>
              <a:t>+½ F</a:t>
            </a:r>
            <a:r>
              <a:rPr baseline="-25000" lang="en-AU">
                <a:solidFill>
                  <a:schemeClr val="dk1"/>
                </a:solidFill>
                <a:latin typeface="Arial Narrow"/>
                <a:ea typeface="Arial Narrow"/>
                <a:cs typeface="Arial Narrow"/>
                <a:sym typeface="Arial Narrow"/>
              </a:rPr>
              <a:t>R</a:t>
            </a:r>
            <a:r>
              <a:rPr lang="en-AU">
                <a:solidFill>
                  <a:schemeClr val="dk1"/>
                </a:solidFill>
                <a:latin typeface="Arial Narrow"/>
                <a:ea typeface="Arial Narrow"/>
                <a:cs typeface="Arial Narrow"/>
                <a:sym typeface="Arial Narrow"/>
              </a:rPr>
              <a:t>=0</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R</a:t>
            </a: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=981N</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M</a:t>
            </a:r>
            <a:r>
              <a:rPr baseline="-25000" lang="en-AU">
                <a:solidFill>
                  <a:schemeClr val="dk1"/>
                </a:solidFill>
                <a:latin typeface="Arial Narrow"/>
                <a:ea typeface="Arial Narrow"/>
                <a:cs typeface="Arial Narrow"/>
                <a:sym typeface="Arial Narrow"/>
              </a:rPr>
              <a:t> </a:t>
            </a:r>
            <a:r>
              <a:rPr lang="en-AU">
                <a:solidFill>
                  <a:schemeClr val="dk1"/>
                </a:solidFill>
                <a:latin typeface="Arial Narrow"/>
                <a:ea typeface="Arial Narrow"/>
                <a:cs typeface="Arial Narrow"/>
                <a:sym typeface="Arial Narrow"/>
              </a:rPr>
              <a:t>=F</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*L/4 = 981*80/4 = 19620Nmm</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 F/((b-d)h) = 981/((40-8)*10) = 3.07MPa</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Mc/I = 6M/((b-d)h</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=19260*6/((0.04-0.008)*0.01</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 36.8MPa</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AU">
                <a:solidFill>
                  <a:schemeClr val="dk1"/>
                </a:solidFill>
                <a:latin typeface="Arial Narrow"/>
                <a:ea typeface="Arial Narrow"/>
                <a:cs typeface="Arial Narrow"/>
                <a:sym typeface="Arial Narrow"/>
              </a:rPr>
              <a:t>𝜏 = Tr/J = 0MPa, since no torque</a:t>
            </a:r>
            <a:endParaRPr>
              <a:latin typeface="Arial Narrow"/>
              <a:ea typeface="Arial Narrow"/>
              <a:cs typeface="Arial Narrow"/>
              <a:sym typeface="Arial Narrow"/>
            </a:endParaRPr>
          </a:p>
        </p:txBody>
      </p:sp>
      <p:cxnSp>
        <p:nvCxnSpPr>
          <p:cNvPr id="529" name="Google Shape;529;g1499bbfa3bb_0_18"/>
          <p:cNvCxnSpPr/>
          <p:nvPr/>
        </p:nvCxnSpPr>
        <p:spPr>
          <a:xfrm rot="10800000">
            <a:off x="1171600" y="5528150"/>
            <a:ext cx="0" cy="636900"/>
          </a:xfrm>
          <a:prstGeom prst="straightConnector1">
            <a:avLst/>
          </a:prstGeom>
          <a:noFill/>
          <a:ln cap="flat" cmpd="sng" w="9525">
            <a:solidFill>
              <a:schemeClr val="dk2"/>
            </a:solidFill>
            <a:prstDash val="solid"/>
            <a:round/>
            <a:headEnd len="med" w="med" type="none"/>
            <a:tailEnd len="med" w="med" type="triangle"/>
          </a:ln>
        </p:spPr>
      </p:cxnSp>
      <p:cxnSp>
        <p:nvCxnSpPr>
          <p:cNvPr id="530" name="Google Shape;530;g1499bbfa3bb_0_18"/>
          <p:cNvCxnSpPr/>
          <p:nvPr/>
        </p:nvCxnSpPr>
        <p:spPr>
          <a:xfrm rot="10800000">
            <a:off x="591700" y="6165050"/>
            <a:ext cx="579900" cy="0"/>
          </a:xfrm>
          <a:prstGeom prst="straightConnector1">
            <a:avLst/>
          </a:prstGeom>
          <a:noFill/>
          <a:ln cap="flat" cmpd="sng" w="9525">
            <a:solidFill>
              <a:schemeClr val="dk2"/>
            </a:solidFill>
            <a:prstDash val="solid"/>
            <a:round/>
            <a:headEnd len="med" w="med" type="none"/>
            <a:tailEnd len="med" w="med" type="triangle"/>
          </a:ln>
        </p:spPr>
      </p:cxnSp>
      <p:sp>
        <p:nvSpPr>
          <p:cNvPr id="531" name="Google Shape;531;g1499bbfa3bb_0_18"/>
          <p:cNvSpPr txBox="1"/>
          <p:nvPr/>
        </p:nvSpPr>
        <p:spPr>
          <a:xfrm>
            <a:off x="347050" y="5964950"/>
            <a:ext cx="26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z</a:t>
            </a:r>
            <a:endParaRPr/>
          </a:p>
        </p:txBody>
      </p:sp>
      <p:sp>
        <p:nvSpPr>
          <p:cNvPr id="532" name="Google Shape;532;g1499bbfa3bb_0_18"/>
          <p:cNvSpPr txBox="1"/>
          <p:nvPr/>
        </p:nvSpPr>
        <p:spPr>
          <a:xfrm>
            <a:off x="1040788" y="5205125"/>
            <a:ext cx="26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y</a:t>
            </a:r>
            <a:endParaRPr/>
          </a:p>
        </p:txBody>
      </p:sp>
      <p:pic>
        <p:nvPicPr>
          <p:cNvPr id="533" name="Google Shape;533;g1499bbfa3bb_0_18"/>
          <p:cNvPicPr preferRelativeResize="0"/>
          <p:nvPr/>
        </p:nvPicPr>
        <p:blipFill rotWithShape="1">
          <a:blip r:embed="rId3">
            <a:alphaModFix/>
          </a:blip>
          <a:srcRect b="14659" l="36816" r="24241" t="10813"/>
          <a:stretch/>
        </p:blipFill>
        <p:spPr>
          <a:xfrm>
            <a:off x="250350" y="1947575"/>
            <a:ext cx="3026045" cy="3257550"/>
          </a:xfrm>
          <a:prstGeom prst="rect">
            <a:avLst/>
          </a:prstGeom>
          <a:noFill/>
          <a:ln>
            <a:noFill/>
          </a:ln>
        </p:spPr>
      </p:pic>
      <p:cxnSp>
        <p:nvCxnSpPr>
          <p:cNvPr id="534" name="Google Shape;534;g1499bbfa3bb_0_18"/>
          <p:cNvCxnSpPr/>
          <p:nvPr/>
        </p:nvCxnSpPr>
        <p:spPr>
          <a:xfrm rot="10800000">
            <a:off x="2747275" y="2534650"/>
            <a:ext cx="15300" cy="975900"/>
          </a:xfrm>
          <a:prstGeom prst="straightConnector1">
            <a:avLst/>
          </a:prstGeom>
          <a:noFill/>
          <a:ln cap="flat" cmpd="sng" w="28575">
            <a:solidFill>
              <a:schemeClr val="accent1"/>
            </a:solidFill>
            <a:prstDash val="solid"/>
            <a:round/>
            <a:headEnd len="med" w="med" type="none"/>
            <a:tailEnd len="med" w="med" type="triangle"/>
          </a:ln>
        </p:spPr>
      </p:cxnSp>
      <p:cxnSp>
        <p:nvCxnSpPr>
          <p:cNvPr id="535" name="Google Shape;535;g1499bbfa3bb_0_18"/>
          <p:cNvCxnSpPr/>
          <p:nvPr/>
        </p:nvCxnSpPr>
        <p:spPr>
          <a:xfrm rot="10800000">
            <a:off x="489250" y="2534650"/>
            <a:ext cx="15300" cy="975900"/>
          </a:xfrm>
          <a:prstGeom prst="straightConnector1">
            <a:avLst/>
          </a:prstGeom>
          <a:noFill/>
          <a:ln cap="flat" cmpd="sng" w="28575">
            <a:solidFill>
              <a:schemeClr val="accent1"/>
            </a:solidFill>
            <a:prstDash val="solid"/>
            <a:round/>
            <a:headEnd len="med" w="med" type="none"/>
            <a:tailEnd len="med" w="med" type="triangle"/>
          </a:ln>
        </p:spPr>
      </p:cxnSp>
      <p:sp>
        <p:nvSpPr>
          <p:cNvPr id="536" name="Google Shape;536;g1499bbfa3bb_0_18"/>
          <p:cNvSpPr txBox="1"/>
          <p:nvPr/>
        </p:nvSpPr>
        <p:spPr>
          <a:xfrm>
            <a:off x="2517163" y="2250000"/>
            <a:ext cx="475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000">
                <a:solidFill>
                  <a:schemeClr val="accent1"/>
                </a:solidFill>
              </a:rPr>
              <a:t>½ F</a:t>
            </a:r>
            <a:r>
              <a:rPr baseline="-25000" lang="en-AU" sz="1000">
                <a:solidFill>
                  <a:schemeClr val="accent1"/>
                </a:solidFill>
              </a:rPr>
              <a:t>R</a:t>
            </a:r>
            <a:endParaRPr baseline="-25000" sz="1000">
              <a:solidFill>
                <a:schemeClr val="accent1"/>
              </a:solidFill>
            </a:endParaRPr>
          </a:p>
        </p:txBody>
      </p:sp>
      <p:sp>
        <p:nvSpPr>
          <p:cNvPr id="537" name="Google Shape;537;g1499bbfa3bb_0_18"/>
          <p:cNvSpPr txBox="1"/>
          <p:nvPr/>
        </p:nvSpPr>
        <p:spPr>
          <a:xfrm>
            <a:off x="240088" y="2256350"/>
            <a:ext cx="475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000">
                <a:solidFill>
                  <a:schemeClr val="accent1"/>
                </a:solidFill>
              </a:rPr>
              <a:t>½ F</a:t>
            </a:r>
            <a:r>
              <a:rPr baseline="-25000" lang="en-AU" sz="1000">
                <a:solidFill>
                  <a:schemeClr val="accent1"/>
                </a:solidFill>
              </a:rPr>
              <a:t>R</a:t>
            </a:r>
            <a:endParaRPr baseline="-25000" sz="1000">
              <a:solidFill>
                <a:schemeClr val="accent1"/>
              </a:solidFill>
            </a:endParaRPr>
          </a:p>
        </p:txBody>
      </p:sp>
      <p:cxnSp>
        <p:nvCxnSpPr>
          <p:cNvPr id="538" name="Google Shape;538;g1499bbfa3bb_0_18"/>
          <p:cNvCxnSpPr/>
          <p:nvPr/>
        </p:nvCxnSpPr>
        <p:spPr>
          <a:xfrm>
            <a:off x="1539000" y="3510550"/>
            <a:ext cx="0" cy="819000"/>
          </a:xfrm>
          <a:prstGeom prst="straightConnector1">
            <a:avLst/>
          </a:prstGeom>
          <a:noFill/>
          <a:ln cap="flat" cmpd="sng" w="28575">
            <a:solidFill>
              <a:schemeClr val="accent1"/>
            </a:solidFill>
            <a:prstDash val="solid"/>
            <a:round/>
            <a:headEnd len="med" w="med" type="none"/>
            <a:tailEnd len="med" w="med" type="triangle"/>
          </a:ln>
        </p:spPr>
      </p:cxnSp>
      <p:sp>
        <p:nvSpPr>
          <p:cNvPr id="539" name="Google Shape;539;g1499bbfa3bb_0_18"/>
          <p:cNvSpPr txBox="1"/>
          <p:nvPr/>
        </p:nvSpPr>
        <p:spPr>
          <a:xfrm>
            <a:off x="1363338" y="4329550"/>
            <a:ext cx="35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000">
                <a:solidFill>
                  <a:schemeClr val="accent1"/>
                </a:solidFill>
              </a:rPr>
              <a:t>F</a:t>
            </a:r>
            <a:r>
              <a:rPr baseline="-25000" lang="en-AU" sz="1000">
                <a:solidFill>
                  <a:schemeClr val="accent1"/>
                </a:solidFill>
              </a:rPr>
              <a:t>N</a:t>
            </a:r>
            <a:endParaRPr baseline="-25000" sz="1000">
              <a:solidFill>
                <a:schemeClr val="accen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cxnSp>
        <p:nvCxnSpPr>
          <p:cNvPr id="544" name="Google Shape;544;g1499bbfa3bb_0_32"/>
          <p:cNvCxnSpPr/>
          <p:nvPr/>
        </p:nvCxnSpPr>
        <p:spPr>
          <a:xfrm flipH="1" rot="10800000">
            <a:off x="534700" y="4572700"/>
            <a:ext cx="11400" cy="682500"/>
          </a:xfrm>
          <a:prstGeom prst="straightConnector1">
            <a:avLst/>
          </a:prstGeom>
          <a:noFill/>
          <a:ln cap="flat" cmpd="sng" w="9525">
            <a:solidFill>
              <a:schemeClr val="dk2"/>
            </a:solidFill>
            <a:prstDash val="solid"/>
            <a:round/>
            <a:headEnd len="med" w="med" type="none"/>
            <a:tailEnd len="med" w="med" type="triangle"/>
          </a:ln>
        </p:spPr>
      </p:cxnSp>
      <p:cxnSp>
        <p:nvCxnSpPr>
          <p:cNvPr id="545" name="Google Shape;545;g1499bbfa3bb_0_32"/>
          <p:cNvCxnSpPr/>
          <p:nvPr/>
        </p:nvCxnSpPr>
        <p:spPr>
          <a:xfrm rot="10800000">
            <a:off x="113800" y="5255200"/>
            <a:ext cx="420900" cy="0"/>
          </a:xfrm>
          <a:prstGeom prst="straightConnector1">
            <a:avLst/>
          </a:prstGeom>
          <a:noFill/>
          <a:ln cap="flat" cmpd="sng" w="9525">
            <a:solidFill>
              <a:schemeClr val="dk2"/>
            </a:solidFill>
            <a:prstDash val="solid"/>
            <a:round/>
            <a:headEnd len="med" w="med" type="none"/>
            <a:tailEnd len="med" w="med" type="triangle"/>
          </a:ln>
        </p:spPr>
      </p:cxnSp>
      <p:sp>
        <p:nvSpPr>
          <p:cNvPr id="546" name="Google Shape;546;g1499bbfa3bb_0_32"/>
          <p:cNvSpPr txBox="1"/>
          <p:nvPr/>
        </p:nvSpPr>
        <p:spPr>
          <a:xfrm>
            <a:off x="403900" y="4172500"/>
            <a:ext cx="27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y</a:t>
            </a:r>
            <a:endParaRPr/>
          </a:p>
        </p:txBody>
      </p:sp>
      <p:sp>
        <p:nvSpPr>
          <p:cNvPr id="547" name="Google Shape;547;g1499bbfa3bb_0_32"/>
          <p:cNvSpPr txBox="1"/>
          <p:nvPr/>
        </p:nvSpPr>
        <p:spPr>
          <a:xfrm>
            <a:off x="0" y="5130100"/>
            <a:ext cx="27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t>z</a:t>
            </a:r>
            <a:endParaRPr/>
          </a:p>
        </p:txBody>
      </p:sp>
      <p:sp>
        <p:nvSpPr>
          <p:cNvPr id="548" name="Google Shape;548;g1499bbfa3bb_0_32"/>
          <p:cNvSpPr txBox="1"/>
          <p:nvPr/>
        </p:nvSpPr>
        <p:spPr>
          <a:xfrm>
            <a:off x="2225375" y="515125"/>
            <a:ext cx="7844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latin typeface="Arial Narrow"/>
                <a:ea typeface="Arial Narrow"/>
                <a:cs typeface="Arial Narrow"/>
                <a:sym typeface="Arial Narrow"/>
              </a:rPr>
              <a:t>Assume for analysis that all of the load is transferred to the smaller areas of the bracket, since these parts are likely to fail first. Also, neglect weight of bracket due to minimal mass.</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Note, that there are 2 mounting brackets, thus, assume each bracket shares load equally.</a:t>
            </a:r>
            <a:endParaRPr>
              <a:latin typeface="Arial Narrow"/>
              <a:ea typeface="Arial Narrow"/>
              <a:cs typeface="Arial Narrow"/>
              <a:sym typeface="Arial Narrow"/>
            </a:endParaRPr>
          </a:p>
        </p:txBody>
      </p:sp>
      <p:sp>
        <p:nvSpPr>
          <p:cNvPr id="549" name="Google Shape;549;g1499bbfa3bb_0_32"/>
          <p:cNvSpPr txBox="1"/>
          <p:nvPr/>
        </p:nvSpPr>
        <p:spPr>
          <a:xfrm>
            <a:off x="7847675" y="1694600"/>
            <a:ext cx="42081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a:latin typeface="Arial Narrow"/>
                <a:ea typeface="Arial Narrow"/>
                <a:cs typeface="Arial Narrow"/>
                <a:sym typeface="Arial Narrow"/>
              </a:rPr>
              <a:t>Selection of material is alloy steel:</a:t>
            </a:r>
            <a:endParaRPr b="1">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S</a:t>
            </a:r>
            <a:r>
              <a:rPr baseline="-25000" lang="en-AU">
                <a:latin typeface="Arial Narrow"/>
                <a:ea typeface="Arial Narrow"/>
                <a:cs typeface="Arial Narrow"/>
                <a:sym typeface="Arial Narrow"/>
              </a:rPr>
              <a:t>y</a:t>
            </a:r>
            <a:r>
              <a:rPr lang="en-AU">
                <a:latin typeface="Arial Narrow"/>
                <a:ea typeface="Arial Narrow"/>
                <a:cs typeface="Arial Narrow"/>
                <a:sym typeface="Arial Narrow"/>
              </a:rPr>
              <a:t>=620.4MPa, S</a:t>
            </a:r>
            <a:r>
              <a:rPr baseline="30000" lang="en-AU">
                <a:latin typeface="Arial Narrow"/>
                <a:ea typeface="Arial Narrow"/>
                <a:cs typeface="Arial Narrow"/>
                <a:sym typeface="Arial Narrow"/>
              </a:rPr>
              <a:t>’</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 = 0.5S</a:t>
            </a:r>
            <a:r>
              <a:rPr baseline="-25000" lang="en-AU">
                <a:latin typeface="Arial Narrow"/>
                <a:ea typeface="Arial Narrow"/>
                <a:cs typeface="Arial Narrow"/>
                <a:sym typeface="Arial Narrow"/>
              </a:rPr>
              <a:t>y</a:t>
            </a:r>
            <a:r>
              <a:rPr lang="en-AU">
                <a:latin typeface="Arial Narrow"/>
                <a:ea typeface="Arial Narrow"/>
                <a:cs typeface="Arial Narrow"/>
                <a:sym typeface="Arial Narrow"/>
              </a:rPr>
              <a:t>=310.2MPa</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S</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=S</a:t>
            </a:r>
            <a:r>
              <a:rPr baseline="30000" lang="en-AU">
                <a:latin typeface="Arial Narrow"/>
                <a:ea typeface="Arial Narrow"/>
                <a:cs typeface="Arial Narrow"/>
                <a:sym typeface="Arial Narrow"/>
              </a:rPr>
              <a:t>’</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L</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G</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S</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T</a:t>
            </a:r>
            <a:r>
              <a:rPr lang="en-AU">
                <a:latin typeface="Arial Narrow"/>
                <a:ea typeface="Arial Narrow"/>
                <a:cs typeface="Arial Narrow"/>
                <a:sym typeface="Arial Narrow"/>
              </a:rPr>
              <a:t>C</a:t>
            </a:r>
            <a:r>
              <a:rPr baseline="-25000" lang="en-AU">
                <a:latin typeface="Arial Narrow"/>
                <a:ea typeface="Arial Narrow"/>
                <a:cs typeface="Arial Narrow"/>
                <a:sym typeface="Arial Narrow"/>
              </a:rPr>
              <a:t>R</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S</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=310.2*1*0.9*0.9*1*1 = 251.26MPa</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ea</a:t>
            </a:r>
            <a:r>
              <a:rPr lang="en-AU">
                <a:solidFill>
                  <a:schemeClr val="dk1"/>
                </a:solidFill>
                <a:latin typeface="Arial Narrow"/>
                <a:ea typeface="Arial Narrow"/>
                <a:cs typeface="Arial Narrow"/>
                <a:sym typeface="Arial Narrow"/>
              </a:rPr>
              <a:t>= 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 30.66MPa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em </a:t>
            </a:r>
            <a:r>
              <a:rPr lang="en-AU">
                <a:solidFill>
                  <a:schemeClr val="dk1"/>
                </a:solidFill>
                <a:latin typeface="Arial Narrow"/>
                <a:ea typeface="Arial Narrow"/>
                <a:cs typeface="Arial Narrow"/>
                <a:sym typeface="Arial Narrow"/>
              </a:rPr>
              <a:t>= 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/2 + sqrt(𝜏</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/2)</a:t>
            </a:r>
            <a:r>
              <a:rPr baseline="30000" lang="en-AU">
                <a:solidFill>
                  <a:schemeClr val="dk1"/>
                </a:solidFill>
                <a:latin typeface="Arial Narrow"/>
                <a:ea typeface="Arial Narrow"/>
                <a:cs typeface="Arial Narrow"/>
                <a:sym typeface="Arial Narrow"/>
              </a:rPr>
              <a:t>2</a:t>
            </a:r>
            <a:r>
              <a:rPr lang="en-AU">
                <a:solidFill>
                  <a:schemeClr val="dk1"/>
                </a:solidFill>
                <a:latin typeface="Arial Narrow"/>
                <a:ea typeface="Arial Narrow"/>
                <a:cs typeface="Arial Narrow"/>
                <a:sym typeface="Arial Narrow"/>
              </a:rPr>
              <a:t>) = 19.62MPa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Goodman Diagram lines:</a:t>
            </a:r>
            <a:endParaRPr>
              <a:solidFill>
                <a:schemeClr val="dk1"/>
              </a:solidFill>
              <a:latin typeface="Arial Narrow"/>
              <a:ea typeface="Arial Narrow"/>
              <a:cs typeface="Arial Narrow"/>
              <a:sym typeface="Arial Narrow"/>
            </a:endParaRPr>
          </a:p>
          <a:p>
            <a:pPr indent="-317500" lvl="0" marL="457200" rtl="0" algn="l">
              <a:spcBef>
                <a:spcPts val="0"/>
              </a:spcBef>
              <a:spcAft>
                <a:spcPts val="0"/>
              </a:spcAft>
              <a:buClr>
                <a:schemeClr val="dk1"/>
              </a:buClr>
              <a:buSzPts val="1400"/>
              <a:buFont typeface="Arial Narrow"/>
              <a:buAutoNum type="arabicPeriod"/>
            </a:pPr>
            <a:r>
              <a:rPr lang="en-AU">
                <a:solidFill>
                  <a:schemeClr val="dk1"/>
                </a:solidFill>
                <a:latin typeface="Arial Narrow"/>
                <a:ea typeface="Arial Narrow"/>
                <a:cs typeface="Arial Narrow"/>
                <a:sym typeface="Arial Narrow"/>
              </a:rPr>
              <a:t>y=30.66/19.62*n </a:t>
            </a:r>
            <a:endParaRPr>
              <a:solidFill>
                <a:schemeClr val="dk1"/>
              </a:solidFill>
              <a:latin typeface="Arial Narrow"/>
              <a:ea typeface="Arial Narrow"/>
              <a:cs typeface="Arial Narrow"/>
              <a:sym typeface="Arial Narrow"/>
            </a:endParaRPr>
          </a:p>
          <a:p>
            <a:pPr indent="-317500" lvl="0" marL="457200" rtl="0" algn="l">
              <a:spcBef>
                <a:spcPts val="0"/>
              </a:spcBef>
              <a:spcAft>
                <a:spcPts val="0"/>
              </a:spcAft>
              <a:buClr>
                <a:schemeClr val="dk1"/>
              </a:buClr>
              <a:buSzPts val="1400"/>
              <a:buFont typeface="Arial Narrow"/>
              <a:buAutoNum type="arabicPeriod"/>
            </a:pPr>
            <a:r>
              <a:rPr lang="en-AU">
                <a:solidFill>
                  <a:schemeClr val="dk1"/>
                </a:solidFill>
                <a:latin typeface="Arial Narrow"/>
                <a:ea typeface="Arial Narrow"/>
                <a:cs typeface="Arial Narrow"/>
                <a:sym typeface="Arial Narrow"/>
              </a:rPr>
              <a:t>y=-251.26/620.4*n + 251.26</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Solving for n and y:</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n=127.7MPa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y=199.5MPa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b="1" lang="en-AU">
                <a:solidFill>
                  <a:schemeClr val="dk1"/>
                </a:solidFill>
                <a:latin typeface="Arial Narrow"/>
                <a:ea typeface="Arial Narrow"/>
                <a:cs typeface="Arial Narrow"/>
                <a:sym typeface="Arial Narrow"/>
              </a:rPr>
              <a:t>SF = 127.7/19.62=199.5/30.66 = 6.5</a:t>
            </a:r>
            <a:endParaRPr b="1">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Thus the bracket will not fail under the load.</a:t>
            </a:r>
            <a:endParaRPr>
              <a:solidFill>
                <a:schemeClr val="dk1"/>
              </a:solidFill>
              <a:latin typeface="Arial Narrow"/>
              <a:ea typeface="Arial Narrow"/>
              <a:cs typeface="Arial Narrow"/>
              <a:sym typeface="Arial Narrow"/>
            </a:endParaRPr>
          </a:p>
        </p:txBody>
      </p:sp>
      <p:sp>
        <p:nvSpPr>
          <p:cNvPr id="550" name="Google Shape;550;g1499bbfa3bb_0_32"/>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22</a:t>
            </a:r>
            <a:endParaRPr sz="1800">
              <a:solidFill>
                <a:schemeClr val="dk1"/>
              </a:solidFill>
              <a:latin typeface="Arial Narrow"/>
              <a:ea typeface="Arial Narrow"/>
              <a:cs typeface="Arial Narrow"/>
              <a:sym typeface="Arial Narrow"/>
            </a:endParaRPr>
          </a:p>
        </p:txBody>
      </p:sp>
      <p:pic>
        <p:nvPicPr>
          <p:cNvPr id="551" name="Google Shape;551;g1499bbfa3bb_0_32"/>
          <p:cNvPicPr preferRelativeResize="0"/>
          <p:nvPr/>
        </p:nvPicPr>
        <p:blipFill rotWithShape="1">
          <a:blip r:embed="rId3">
            <a:alphaModFix/>
          </a:blip>
          <a:srcRect b="25061" l="45638" r="35794" t="29513"/>
          <a:stretch/>
        </p:blipFill>
        <p:spPr>
          <a:xfrm>
            <a:off x="990350" y="1917050"/>
            <a:ext cx="2858198" cy="3933450"/>
          </a:xfrm>
          <a:prstGeom prst="rect">
            <a:avLst/>
          </a:prstGeom>
          <a:noFill/>
          <a:ln>
            <a:noFill/>
          </a:ln>
        </p:spPr>
      </p:pic>
      <p:cxnSp>
        <p:nvCxnSpPr>
          <p:cNvPr id="552" name="Google Shape;552;g1499bbfa3bb_0_32"/>
          <p:cNvCxnSpPr/>
          <p:nvPr/>
        </p:nvCxnSpPr>
        <p:spPr>
          <a:xfrm rot="10800000">
            <a:off x="1819825" y="2408175"/>
            <a:ext cx="0" cy="628800"/>
          </a:xfrm>
          <a:prstGeom prst="straightConnector1">
            <a:avLst/>
          </a:prstGeom>
          <a:noFill/>
          <a:ln cap="flat" cmpd="sng" w="28575">
            <a:solidFill>
              <a:schemeClr val="accent1"/>
            </a:solidFill>
            <a:prstDash val="solid"/>
            <a:round/>
            <a:headEnd len="med" w="med" type="none"/>
            <a:tailEnd len="med" w="med" type="triangle"/>
          </a:ln>
        </p:spPr>
      </p:cxnSp>
      <p:sp>
        <p:nvSpPr>
          <p:cNvPr id="553" name="Google Shape;553;g1499bbfa3bb_0_32"/>
          <p:cNvSpPr txBox="1"/>
          <p:nvPr/>
        </p:nvSpPr>
        <p:spPr>
          <a:xfrm>
            <a:off x="1609375" y="3036963"/>
            <a:ext cx="42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200">
                <a:solidFill>
                  <a:schemeClr val="accent1"/>
                </a:solidFill>
              </a:rPr>
              <a:t>F</a:t>
            </a:r>
            <a:r>
              <a:rPr baseline="-25000" lang="en-AU" sz="1200">
                <a:solidFill>
                  <a:schemeClr val="accent1"/>
                </a:solidFill>
              </a:rPr>
              <a:t>R</a:t>
            </a:r>
            <a:endParaRPr baseline="-25000" sz="1200">
              <a:solidFill>
                <a:schemeClr val="accent1"/>
              </a:solidFill>
            </a:endParaRPr>
          </a:p>
        </p:txBody>
      </p:sp>
      <p:cxnSp>
        <p:nvCxnSpPr>
          <p:cNvPr id="554" name="Google Shape;554;g1499bbfa3bb_0_32"/>
          <p:cNvCxnSpPr/>
          <p:nvPr/>
        </p:nvCxnSpPr>
        <p:spPr>
          <a:xfrm>
            <a:off x="1398925" y="2187625"/>
            <a:ext cx="0" cy="784800"/>
          </a:xfrm>
          <a:prstGeom prst="straightConnector1">
            <a:avLst/>
          </a:prstGeom>
          <a:noFill/>
          <a:ln cap="flat" cmpd="sng" w="28575">
            <a:solidFill>
              <a:schemeClr val="accent1"/>
            </a:solidFill>
            <a:prstDash val="solid"/>
            <a:round/>
            <a:headEnd len="med" w="med" type="none"/>
            <a:tailEnd len="med" w="med" type="triangle"/>
          </a:ln>
        </p:spPr>
      </p:cxnSp>
      <p:sp>
        <p:nvSpPr>
          <p:cNvPr id="555" name="Google Shape;555;g1499bbfa3bb_0_32"/>
          <p:cNvSpPr txBox="1"/>
          <p:nvPr/>
        </p:nvSpPr>
        <p:spPr>
          <a:xfrm>
            <a:off x="1070425" y="1917050"/>
            <a:ext cx="328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000">
                <a:solidFill>
                  <a:schemeClr val="accent1"/>
                </a:solidFill>
              </a:rPr>
              <a:t>F</a:t>
            </a:r>
            <a:r>
              <a:rPr baseline="-25000" lang="en-AU" sz="1000">
                <a:solidFill>
                  <a:schemeClr val="accent1"/>
                </a:solidFill>
              </a:rPr>
              <a:t>N</a:t>
            </a:r>
            <a:endParaRPr baseline="-25000" sz="1000">
              <a:solidFill>
                <a:schemeClr val="accent1"/>
              </a:solidFill>
            </a:endParaRPr>
          </a:p>
        </p:txBody>
      </p:sp>
      <p:sp>
        <p:nvSpPr>
          <p:cNvPr id="556" name="Google Shape;556;g1499bbfa3bb_0_32"/>
          <p:cNvSpPr txBox="1"/>
          <p:nvPr>
            <p:ph type="title"/>
          </p:nvPr>
        </p:nvSpPr>
        <p:spPr>
          <a:xfrm>
            <a:off x="337450" y="235625"/>
            <a:ext cx="4315500" cy="51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AU" sz="3000">
                <a:solidFill>
                  <a:srgbClr val="000000"/>
                </a:solidFill>
              </a:rPr>
              <a:t>3.</a:t>
            </a:r>
            <a:r>
              <a:rPr b="1" lang="en-AU" sz="3000"/>
              <a:t>9</a:t>
            </a:r>
            <a:r>
              <a:rPr b="1" lang="en-AU" sz="3000"/>
              <a:t> Cable Mounting Bracket</a:t>
            </a:r>
            <a:endParaRPr b="1" sz="3000"/>
          </a:p>
          <a:p>
            <a:pPr indent="0" lvl="0" marL="0" rtl="0" algn="l">
              <a:spcBef>
                <a:spcPts val="0"/>
              </a:spcBef>
              <a:spcAft>
                <a:spcPts val="0"/>
              </a:spcAft>
              <a:buNone/>
            </a:pPr>
            <a:r>
              <a:t/>
            </a:r>
            <a:endParaRPr b="1" sz="3000"/>
          </a:p>
          <a:p>
            <a:pPr indent="0" lvl="0" marL="0" rtl="0" algn="l">
              <a:spcBef>
                <a:spcPts val="0"/>
              </a:spcBef>
              <a:spcAft>
                <a:spcPts val="0"/>
              </a:spcAft>
              <a:buNone/>
            </a:pPr>
            <a:r>
              <a:t/>
            </a:r>
            <a:endParaRPr b="1" sz="3000"/>
          </a:p>
        </p:txBody>
      </p:sp>
      <p:sp>
        <p:nvSpPr>
          <p:cNvPr id="557" name="Google Shape;557;g1499bbfa3bb_0_32"/>
          <p:cNvSpPr txBox="1"/>
          <p:nvPr/>
        </p:nvSpPr>
        <p:spPr>
          <a:xfrm>
            <a:off x="3936700" y="1615800"/>
            <a:ext cx="40359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N </a:t>
            </a:r>
            <a:r>
              <a:rPr lang="en-AU">
                <a:latin typeface="Arial Narrow"/>
                <a:ea typeface="Arial Narrow"/>
                <a:cs typeface="Arial Narrow"/>
                <a:sym typeface="Arial Narrow"/>
              </a:rPr>
              <a:t>= ½ *m</a:t>
            </a:r>
            <a:r>
              <a:rPr baseline="-25000" lang="en-AU">
                <a:latin typeface="Arial Narrow"/>
                <a:ea typeface="Arial Narrow"/>
                <a:cs typeface="Arial Narrow"/>
                <a:sym typeface="Arial Narrow"/>
              </a:rPr>
              <a:t>load</a:t>
            </a:r>
            <a:r>
              <a:rPr lang="en-AU">
                <a:latin typeface="Arial Narrow"/>
                <a:ea typeface="Arial Narrow"/>
                <a:cs typeface="Arial Narrow"/>
                <a:sym typeface="Arial Narrow"/>
              </a:rPr>
              <a:t>*a</a:t>
            </a:r>
            <a:r>
              <a:rPr baseline="-25000" lang="en-AU">
                <a:latin typeface="Arial Narrow"/>
                <a:ea typeface="Arial Narrow"/>
                <a:cs typeface="Arial Narrow"/>
                <a:sym typeface="Arial Narrow"/>
              </a:rPr>
              <a:t>load</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 ½ *100kg*9.81m/s</a:t>
            </a:r>
            <a:r>
              <a:rPr baseline="30000" lang="en-AU">
                <a:latin typeface="Arial Narrow"/>
                <a:ea typeface="Arial Narrow"/>
                <a:cs typeface="Arial Narrow"/>
                <a:sym typeface="Arial Narrow"/>
              </a:rPr>
              <a:t>2</a:t>
            </a:r>
            <a:r>
              <a:rPr lang="en-AU">
                <a:latin typeface="Arial Narrow"/>
                <a:ea typeface="Arial Narrow"/>
                <a:cs typeface="Arial Narrow"/>
                <a:sym typeface="Arial Narrow"/>
              </a:rPr>
              <a:t> = 490.5N</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L</a:t>
            </a:r>
            <a:r>
              <a:rPr baseline="-25000" lang="en-AU">
                <a:latin typeface="Arial Narrow"/>
                <a:ea typeface="Arial Narrow"/>
                <a:cs typeface="Arial Narrow"/>
                <a:sym typeface="Arial Narrow"/>
              </a:rPr>
              <a:t>beam</a:t>
            </a:r>
            <a:r>
              <a:rPr lang="en-AU">
                <a:latin typeface="Arial Narrow"/>
                <a:ea typeface="Arial Narrow"/>
                <a:cs typeface="Arial Narrow"/>
                <a:sym typeface="Arial Narrow"/>
              </a:rPr>
              <a:t> = 5mm = 0.005m</a:t>
            </a:r>
            <a:endParaRPr>
              <a:latin typeface="Arial Narrow"/>
              <a:ea typeface="Arial Narrow"/>
              <a:cs typeface="Arial Narrow"/>
              <a:sym typeface="Arial Narrow"/>
            </a:endParaRPr>
          </a:p>
          <a:p>
            <a:pPr indent="0" lvl="0" marL="0" rtl="0" algn="l">
              <a:spcBef>
                <a:spcPts val="0"/>
              </a:spcBef>
              <a:spcAft>
                <a:spcPts val="0"/>
              </a:spcAft>
              <a:buNone/>
            </a:pPr>
            <a:r>
              <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y</a:t>
            </a:r>
            <a:r>
              <a:rPr lang="en-AU">
                <a:latin typeface="Arial Narrow"/>
                <a:ea typeface="Arial Narrow"/>
                <a:cs typeface="Arial Narrow"/>
                <a:sym typeface="Arial Narrow"/>
              </a:rPr>
              <a:t> = 0:</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 F</a:t>
            </a:r>
            <a:r>
              <a:rPr baseline="-25000" lang="en-AU">
                <a:latin typeface="Arial Narrow"/>
                <a:ea typeface="Arial Narrow"/>
                <a:cs typeface="Arial Narrow"/>
                <a:sym typeface="Arial Narrow"/>
              </a:rPr>
              <a:t>R</a:t>
            </a:r>
            <a:r>
              <a:rPr lang="en-AU">
                <a:latin typeface="Arial Narrow"/>
                <a:ea typeface="Arial Narrow"/>
                <a:cs typeface="Arial Narrow"/>
                <a:sym typeface="Arial Narrow"/>
              </a:rPr>
              <a:t>= 0</a:t>
            </a:r>
            <a:endParaRPr>
              <a:latin typeface="Arial Narrow"/>
              <a:ea typeface="Arial Narrow"/>
              <a:cs typeface="Arial Narrow"/>
              <a:sym typeface="Arial Narrow"/>
            </a:endParaRPr>
          </a:p>
          <a:p>
            <a:pPr indent="0" lvl="0" marL="0" rtl="0" algn="l">
              <a:spcBef>
                <a:spcPts val="0"/>
              </a:spcBef>
              <a:spcAft>
                <a:spcPts val="0"/>
              </a:spcAft>
              <a:buNone/>
            </a:pPr>
            <a:r>
              <a:rPr lang="en-AU">
                <a:latin typeface="Arial Narrow"/>
                <a:ea typeface="Arial Narrow"/>
                <a:cs typeface="Arial Narrow"/>
                <a:sym typeface="Arial Narrow"/>
              </a:rPr>
              <a:t>F</a:t>
            </a:r>
            <a:r>
              <a:rPr baseline="-25000" lang="en-AU">
                <a:latin typeface="Arial Narrow"/>
                <a:ea typeface="Arial Narrow"/>
                <a:cs typeface="Arial Narrow"/>
                <a:sym typeface="Arial Narrow"/>
              </a:rPr>
              <a:t>R</a:t>
            </a:r>
            <a:r>
              <a:rPr lang="en-AU">
                <a:latin typeface="Arial Narrow"/>
                <a:ea typeface="Arial Narrow"/>
                <a:cs typeface="Arial Narrow"/>
                <a:sym typeface="Arial Narrow"/>
              </a:rPr>
              <a:t>= F</a:t>
            </a:r>
            <a:r>
              <a:rPr baseline="-25000" lang="en-AU">
                <a:latin typeface="Arial Narrow"/>
                <a:ea typeface="Arial Narrow"/>
                <a:cs typeface="Arial Narrow"/>
                <a:sym typeface="Arial Narrow"/>
              </a:rPr>
              <a:t>N</a:t>
            </a:r>
            <a:r>
              <a:rPr lang="en-AU">
                <a:latin typeface="Arial Narrow"/>
                <a:ea typeface="Arial Narrow"/>
                <a:cs typeface="Arial Narrow"/>
                <a:sym typeface="Arial Narrow"/>
              </a:rPr>
              <a:t>= 490.5N</a:t>
            </a:r>
            <a:endParaRPr>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∑M</a:t>
            </a:r>
            <a:r>
              <a:rPr baseline="-25000" lang="en-AU">
                <a:solidFill>
                  <a:schemeClr val="dk1"/>
                </a:solidFill>
                <a:latin typeface="Arial Narrow"/>
                <a:ea typeface="Arial Narrow"/>
                <a:cs typeface="Arial Narrow"/>
                <a:sym typeface="Arial Narrow"/>
              </a:rPr>
              <a:t> </a:t>
            </a:r>
            <a:r>
              <a:rPr lang="en-AU">
                <a:solidFill>
                  <a:schemeClr val="dk1"/>
                </a:solidFill>
                <a:latin typeface="Arial Narrow"/>
                <a:ea typeface="Arial Narrow"/>
                <a:cs typeface="Arial Narrow"/>
                <a:sym typeface="Arial Narrow"/>
              </a:rPr>
              <a:t>= 0: M - F</a:t>
            </a:r>
            <a:r>
              <a:rPr baseline="-25000" lang="en-AU">
                <a:solidFill>
                  <a:schemeClr val="dk1"/>
                </a:solidFill>
                <a:latin typeface="Arial Narrow"/>
                <a:ea typeface="Arial Narrow"/>
                <a:cs typeface="Arial Narrow"/>
                <a:sym typeface="Arial Narrow"/>
              </a:rPr>
              <a:t>N</a:t>
            </a:r>
            <a:r>
              <a:rPr lang="en-AU">
                <a:solidFill>
                  <a:schemeClr val="dk1"/>
                </a:solidFill>
                <a:latin typeface="Arial Narrow"/>
                <a:ea typeface="Arial Narrow"/>
                <a:cs typeface="Arial Narrow"/>
                <a:sym typeface="Arial Narrow"/>
              </a:rPr>
              <a:t>*0.005 = 0</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M = 2.4525Nm</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a</a:t>
            </a:r>
            <a:r>
              <a:rPr lang="en-AU">
                <a:solidFill>
                  <a:schemeClr val="dk1"/>
                </a:solidFill>
                <a:latin typeface="Arial Narrow"/>
                <a:ea typeface="Arial Narrow"/>
                <a:cs typeface="Arial Narrow"/>
                <a:sym typeface="Arial Narrow"/>
              </a:rPr>
              <a:t>= F/A = 490.5/(1*25) = 19.62MPa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 Mc/I, I = hb</a:t>
            </a:r>
            <a:r>
              <a:rPr baseline="30000" lang="en-AU">
                <a:solidFill>
                  <a:schemeClr val="dk1"/>
                </a:solidFill>
                <a:latin typeface="Arial Narrow"/>
                <a:ea typeface="Arial Narrow"/>
                <a:cs typeface="Arial Narrow"/>
                <a:sym typeface="Arial Narrow"/>
              </a:rPr>
              <a:t>3</a:t>
            </a:r>
            <a:r>
              <a:rPr lang="en-AU">
                <a:solidFill>
                  <a:schemeClr val="dk1"/>
                </a:solidFill>
                <a:latin typeface="Arial Narrow"/>
                <a:ea typeface="Arial Narrow"/>
                <a:cs typeface="Arial Narrow"/>
                <a:sym typeface="Arial Narrow"/>
              </a:rPr>
              <a:t>/12 and c = ½</a:t>
            </a:r>
            <a:r>
              <a:rPr lang="en-AU">
                <a:solidFill>
                  <a:schemeClr val="dk1"/>
                </a:solidFill>
                <a:latin typeface="Arial Narrow"/>
                <a:ea typeface="Arial Narrow"/>
                <a:cs typeface="Arial Narrow"/>
                <a:sym typeface="Arial Narrow"/>
              </a:rPr>
              <a:t> b, where b=25mm, h=1mm</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σ</a:t>
            </a:r>
            <a:r>
              <a:rPr baseline="-25000" lang="en-AU">
                <a:solidFill>
                  <a:schemeClr val="dk1"/>
                </a:solidFill>
                <a:latin typeface="Arial Narrow"/>
                <a:ea typeface="Arial Narrow"/>
                <a:cs typeface="Arial Narrow"/>
                <a:sym typeface="Arial Narrow"/>
              </a:rPr>
              <a:t>b</a:t>
            </a:r>
            <a:r>
              <a:rPr lang="en-AU">
                <a:solidFill>
                  <a:schemeClr val="dk1"/>
                </a:solidFill>
                <a:latin typeface="Arial Narrow"/>
                <a:ea typeface="Arial Narrow"/>
                <a:cs typeface="Arial Narrow"/>
                <a:sym typeface="Arial Narrow"/>
              </a:rPr>
              <a:t>=2.4525*0.0125/(1.3*10</a:t>
            </a:r>
            <a:r>
              <a:rPr baseline="30000" lang="en-AU">
                <a:solidFill>
                  <a:schemeClr val="dk1"/>
                </a:solidFill>
                <a:latin typeface="Arial Narrow"/>
                <a:ea typeface="Arial Narrow"/>
                <a:cs typeface="Arial Narrow"/>
                <a:sym typeface="Arial Narrow"/>
              </a:rPr>
              <a:t>-9</a:t>
            </a:r>
            <a:r>
              <a:rPr lang="en-AU">
                <a:solidFill>
                  <a:schemeClr val="dk1"/>
                </a:solidFill>
                <a:latin typeface="Arial Narrow"/>
                <a:ea typeface="Arial Narrow"/>
                <a:cs typeface="Arial Narrow"/>
                <a:sym typeface="Arial Narrow"/>
              </a:rPr>
              <a:t>) = 30.66MPa</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lang="en-AU">
                <a:solidFill>
                  <a:schemeClr val="dk1"/>
                </a:solidFill>
                <a:latin typeface="Arial Narrow"/>
                <a:ea typeface="Arial Narrow"/>
                <a:cs typeface="Arial Narrow"/>
                <a:sym typeface="Arial Narrow"/>
              </a:rPr>
              <a:t>𝜏 = Tr/J = 0MPa, since no torque</a:t>
            </a:r>
            <a:endParaRPr>
              <a:solidFill>
                <a:schemeClr val="dk1"/>
              </a:solidFill>
              <a:latin typeface="Arial Narrow"/>
              <a:ea typeface="Arial Narrow"/>
              <a:cs typeface="Arial Narrow"/>
              <a:sym typeface="Arial Narro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10"/>
          <p:cNvSpPr txBox="1"/>
          <p:nvPr/>
        </p:nvSpPr>
        <p:spPr>
          <a:xfrm>
            <a:off x="5733300" y="6396300"/>
            <a:ext cx="725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800">
                <a:solidFill>
                  <a:schemeClr val="dk1"/>
                </a:solidFill>
                <a:latin typeface="Arial Narrow"/>
                <a:ea typeface="Arial Narrow"/>
                <a:cs typeface="Arial Narrow"/>
                <a:sym typeface="Arial Narrow"/>
              </a:rPr>
              <a:t>23</a:t>
            </a:r>
            <a:endParaRPr sz="1800">
              <a:solidFill>
                <a:schemeClr val="dk1"/>
              </a:solidFill>
              <a:latin typeface="Arial Narrow"/>
              <a:ea typeface="Arial Narrow"/>
              <a:cs typeface="Arial Narrow"/>
              <a:sym typeface="Arial Narrow"/>
            </a:endParaRPr>
          </a:p>
        </p:txBody>
      </p:sp>
      <p:graphicFrame>
        <p:nvGraphicFramePr>
          <p:cNvPr id="563" name="Google Shape;563;p10"/>
          <p:cNvGraphicFramePr/>
          <p:nvPr/>
        </p:nvGraphicFramePr>
        <p:xfrm>
          <a:off x="952500" y="944013"/>
          <a:ext cx="3000000" cy="3000000"/>
        </p:xfrm>
        <a:graphic>
          <a:graphicData uri="http://schemas.openxmlformats.org/drawingml/2006/table">
            <a:tbl>
              <a:tblPr>
                <a:noFill/>
                <a:tableStyleId>{FF13AE4E-E06C-40B6-8191-772D5B3F1EAE}</a:tableStyleId>
              </a:tblPr>
              <a:tblGrid>
                <a:gridCol w="2057400"/>
                <a:gridCol w="2057400"/>
                <a:gridCol w="2057400"/>
                <a:gridCol w="2057400"/>
                <a:gridCol w="2057400"/>
              </a:tblGrid>
              <a:tr h="381000">
                <a:tc>
                  <a:txBody>
                    <a:bodyPr/>
                    <a:lstStyle/>
                    <a:p>
                      <a:pPr indent="0" lvl="0" marL="0" marR="0" rtl="0" algn="ctr">
                        <a:lnSpc>
                          <a:spcPct val="100000"/>
                        </a:lnSpc>
                        <a:spcBef>
                          <a:spcPts val="0"/>
                        </a:spcBef>
                        <a:spcAft>
                          <a:spcPts val="0"/>
                        </a:spcAft>
                        <a:buClr>
                          <a:srgbClr val="000000"/>
                        </a:buClr>
                        <a:buSzPts val="1200"/>
                        <a:buFont typeface="Arial"/>
                        <a:buNone/>
                      </a:pPr>
                      <a:r>
                        <a:rPr b="1" lang="en-AU" sz="1200" u="none" cap="none" strike="noStrike">
                          <a:solidFill>
                            <a:schemeClr val="lt1"/>
                          </a:solidFill>
                          <a:latin typeface="Arial Narrow"/>
                          <a:ea typeface="Arial Narrow"/>
                          <a:cs typeface="Arial Narrow"/>
                          <a:sym typeface="Arial Narrow"/>
                        </a:rPr>
                        <a:t>Analysis</a:t>
                      </a:r>
                      <a:endParaRPr sz="1200" u="none" cap="none" strike="noStrike">
                        <a:solidFill>
                          <a:schemeClr val="lt1"/>
                        </a:solidFill>
                        <a:latin typeface="Arial Narrow"/>
                        <a:ea typeface="Arial Narrow"/>
                        <a:cs typeface="Arial Narrow"/>
                        <a:sym typeface="Arial Narrow"/>
                      </a:endParaRPr>
                    </a:p>
                  </a:txBody>
                  <a:tcPr marT="0" marB="0" marR="48450" marL="48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AU" sz="1200" u="none" cap="none" strike="noStrike">
                          <a:solidFill>
                            <a:schemeClr val="lt1"/>
                          </a:solidFill>
                          <a:latin typeface="Arial Narrow"/>
                          <a:ea typeface="Arial Narrow"/>
                          <a:cs typeface="Arial Narrow"/>
                          <a:sym typeface="Arial Narrow"/>
                        </a:rPr>
                        <a:t>Major component</a:t>
                      </a:r>
                      <a:endParaRPr b="1" sz="1200" u="none" cap="none" strike="noStrike">
                        <a:solidFill>
                          <a:schemeClr val="lt1"/>
                        </a:solidFill>
                        <a:latin typeface="Arial Narrow"/>
                        <a:ea typeface="Arial Narrow"/>
                        <a:cs typeface="Arial Narrow"/>
                        <a:sym typeface="Arial Narrow"/>
                      </a:endParaRPr>
                    </a:p>
                  </a:txBody>
                  <a:tcPr marT="0" marB="0" marR="48450" marL="48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AU" sz="1200" u="none" cap="none" strike="noStrike">
                          <a:solidFill>
                            <a:schemeClr val="lt1"/>
                          </a:solidFill>
                          <a:latin typeface="Arial Narrow"/>
                          <a:ea typeface="Arial Narrow"/>
                          <a:cs typeface="Arial Narrow"/>
                          <a:sym typeface="Arial Narrow"/>
                        </a:rPr>
                        <a:t>Type of failure</a:t>
                      </a:r>
                      <a:endParaRPr sz="1200" u="none" cap="none" strike="noStrike">
                        <a:solidFill>
                          <a:schemeClr val="lt1"/>
                        </a:solidFill>
                        <a:latin typeface="Arial Narrow"/>
                        <a:ea typeface="Arial Narrow"/>
                        <a:cs typeface="Arial Narrow"/>
                        <a:sym typeface="Arial Narrow"/>
                      </a:endParaRPr>
                    </a:p>
                  </a:txBody>
                  <a:tcPr marT="0" marB="0" marR="48450" marL="48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AU" sz="1200" u="none" cap="none" strike="noStrike">
                          <a:solidFill>
                            <a:schemeClr val="lt1"/>
                          </a:solidFill>
                          <a:latin typeface="Arial Narrow"/>
                          <a:ea typeface="Arial Narrow"/>
                          <a:cs typeface="Arial Narrow"/>
                          <a:sym typeface="Arial Narrow"/>
                        </a:rPr>
                        <a:t>Subject to total force in N (estimated for worst case)</a:t>
                      </a:r>
                      <a:endParaRPr sz="1200" u="none" cap="none" strike="noStrike">
                        <a:solidFill>
                          <a:schemeClr val="lt1"/>
                        </a:solidFill>
                        <a:latin typeface="Arial Narrow"/>
                        <a:ea typeface="Arial Narrow"/>
                        <a:cs typeface="Arial Narrow"/>
                        <a:sym typeface="Arial Narrow"/>
                      </a:endParaRPr>
                    </a:p>
                  </a:txBody>
                  <a:tcPr marT="0" marB="0" marR="48450" marL="48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AU" sz="1200" u="none" cap="none" strike="noStrike">
                          <a:solidFill>
                            <a:schemeClr val="lt1"/>
                          </a:solidFill>
                          <a:latin typeface="Arial Narrow"/>
                          <a:ea typeface="Arial Narrow"/>
                          <a:cs typeface="Arial Narrow"/>
                          <a:sym typeface="Arial Narrow"/>
                        </a:rPr>
                        <a:t>Memo (candidate material, estimated safety factor…)</a:t>
                      </a:r>
                      <a:endParaRPr sz="1200" u="none" cap="none" strike="noStrike">
                        <a:solidFill>
                          <a:schemeClr val="lt1"/>
                        </a:solidFill>
                        <a:latin typeface="Arial Narrow"/>
                        <a:ea typeface="Arial Narrow"/>
                        <a:cs typeface="Arial Narrow"/>
                        <a:sym typeface="Arial Narrow"/>
                      </a:endParaRPr>
                    </a:p>
                  </a:txBody>
                  <a:tcPr marT="0" marB="0" marR="48450" marL="48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r>
              <a:tr h="381000">
                <a:tc>
                  <a:txBody>
                    <a:bodyPr/>
                    <a:lstStyle/>
                    <a:p>
                      <a:pPr indent="0" lvl="0" marL="0" rtl="0" algn="ctr">
                        <a:spcBef>
                          <a:spcPts val="0"/>
                        </a:spcBef>
                        <a:spcAft>
                          <a:spcPts val="0"/>
                        </a:spcAft>
                        <a:buNone/>
                      </a:pPr>
                      <a:r>
                        <a:rPr lang="en-AU" sz="1200">
                          <a:latin typeface="Arial Narrow"/>
                          <a:ea typeface="Arial Narrow"/>
                          <a:cs typeface="Arial Narrow"/>
                          <a:sym typeface="Arial Narrow"/>
                        </a:rPr>
                        <a:t>1</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AU" sz="1200">
                          <a:solidFill>
                            <a:schemeClr val="dk1"/>
                          </a:solidFill>
                          <a:latin typeface="Arial Narrow"/>
                          <a:ea typeface="Arial Narrow"/>
                          <a:cs typeface="Arial Narrow"/>
                          <a:sym typeface="Arial Narrow"/>
                        </a:rPr>
                        <a:t>Base </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200"/>
                        <a:buFont typeface="Arial"/>
                        <a:buNone/>
                      </a:pPr>
                      <a:r>
                        <a:rPr lang="en-AU" sz="1200">
                          <a:solidFill>
                            <a:schemeClr val="dk1"/>
                          </a:solidFill>
                          <a:latin typeface="Arial Narrow"/>
                          <a:ea typeface="Arial Narrow"/>
                          <a:cs typeface="Arial Narrow"/>
                          <a:sym typeface="Arial Narrow"/>
                        </a:rPr>
                        <a:t>B</a:t>
                      </a:r>
                      <a:r>
                        <a:rPr lang="en-AU" sz="1200">
                          <a:solidFill>
                            <a:schemeClr val="dk1"/>
                          </a:solidFill>
                          <a:latin typeface="Arial Narrow"/>
                          <a:ea typeface="Arial Narrow"/>
                          <a:cs typeface="Arial Narrow"/>
                          <a:sym typeface="Arial Narrow"/>
                        </a:rPr>
                        <a:t>ending </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Clr>
                          <a:schemeClr val="dk1"/>
                        </a:buClr>
                        <a:buSzPts val="1200"/>
                        <a:buFont typeface="Arial"/>
                        <a:buNone/>
                      </a:pPr>
                      <a:r>
                        <a:rPr lang="en-AU" sz="1200">
                          <a:solidFill>
                            <a:schemeClr val="dk1"/>
                          </a:solidFill>
                          <a:latin typeface="Arial Narrow"/>
                          <a:ea typeface="Arial Narrow"/>
                          <a:cs typeface="Arial Narrow"/>
                          <a:sym typeface="Arial Narrow"/>
                        </a:rPr>
                        <a:t>       1402.83 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Clr>
                          <a:schemeClr val="dk1"/>
                        </a:buClr>
                        <a:buSzPts val="1200"/>
                        <a:buFont typeface="Arial"/>
                        <a:buNone/>
                      </a:pPr>
                      <a:r>
                        <a:rPr lang="en-AU" sz="1200">
                          <a:solidFill>
                            <a:schemeClr val="dk1"/>
                          </a:solidFill>
                          <a:latin typeface="Arial Narrow"/>
                          <a:ea typeface="Arial Narrow"/>
                          <a:cs typeface="Arial Narrow"/>
                          <a:sym typeface="Arial Narrow"/>
                        </a:rPr>
                        <a:t>1060 Alloy Steel SF=7.97</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AU" sz="1200">
                          <a:latin typeface="Arial Narrow"/>
                          <a:ea typeface="Arial Narrow"/>
                          <a:cs typeface="Arial Narrow"/>
                          <a:sym typeface="Arial Narrow"/>
                        </a:rPr>
                        <a:t>2</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Guide Arms</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Yielding and buckling</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Clr>
                          <a:schemeClr val="dk1"/>
                        </a:buClr>
                        <a:buSzPts val="1200"/>
                        <a:buFont typeface="Arial"/>
                        <a:buNone/>
                      </a:pPr>
                      <a:r>
                        <a:rPr lang="en-AU" sz="1200">
                          <a:solidFill>
                            <a:schemeClr val="dk1"/>
                          </a:solidFill>
                          <a:latin typeface="Arial Narrow"/>
                          <a:ea typeface="Arial Narrow"/>
                          <a:cs typeface="Arial Narrow"/>
                          <a:sym typeface="Arial Narrow"/>
                        </a:rPr>
                        <a:t> 1255.98 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None/>
                      </a:pPr>
                      <a:r>
                        <a:rPr lang="en-AU" sz="1200">
                          <a:solidFill>
                            <a:schemeClr val="dk1"/>
                          </a:solidFill>
                          <a:latin typeface="Arial Narrow"/>
                          <a:ea typeface="Arial Narrow"/>
                          <a:cs typeface="Arial Narrow"/>
                          <a:sym typeface="Arial Narrow"/>
                        </a:rPr>
                        <a:t> 1060 Alloy Aluminum, </a:t>
                      </a:r>
                      <a:br>
                        <a:rPr lang="en-AU" sz="1200">
                          <a:solidFill>
                            <a:schemeClr val="dk1"/>
                          </a:solidFill>
                          <a:latin typeface="Arial Narrow"/>
                          <a:ea typeface="Arial Narrow"/>
                          <a:cs typeface="Arial Narrow"/>
                          <a:sym typeface="Arial Narrow"/>
                        </a:rPr>
                      </a:br>
                      <a:r>
                        <a:rPr lang="en-AU" sz="1200">
                          <a:solidFill>
                            <a:schemeClr val="dk1"/>
                          </a:solidFill>
                          <a:latin typeface="Arial Narrow"/>
                          <a:ea typeface="Arial Narrow"/>
                          <a:cs typeface="Arial Narrow"/>
                          <a:sym typeface="Arial Narrow"/>
                        </a:rPr>
                        <a:t>SF</a:t>
                      </a:r>
                      <a:r>
                        <a:rPr baseline="-25000" lang="en-AU" sz="1200">
                          <a:solidFill>
                            <a:schemeClr val="dk1"/>
                          </a:solidFill>
                          <a:latin typeface="Arial Narrow"/>
                          <a:ea typeface="Arial Narrow"/>
                          <a:cs typeface="Arial Narrow"/>
                          <a:sym typeface="Arial Narrow"/>
                        </a:rPr>
                        <a:t>1</a:t>
                      </a:r>
                      <a:r>
                        <a:rPr lang="en-AU" sz="1200">
                          <a:solidFill>
                            <a:schemeClr val="dk1"/>
                          </a:solidFill>
                          <a:latin typeface="Arial Narrow"/>
                          <a:ea typeface="Arial Narrow"/>
                          <a:cs typeface="Arial Narrow"/>
                          <a:sym typeface="Arial Narrow"/>
                        </a:rPr>
                        <a:t>= 15.796, SF</a:t>
                      </a:r>
                      <a:r>
                        <a:rPr baseline="-25000" lang="en-AU" sz="1200">
                          <a:solidFill>
                            <a:schemeClr val="dk1"/>
                          </a:solidFill>
                          <a:latin typeface="Arial Narrow"/>
                          <a:ea typeface="Arial Narrow"/>
                          <a:cs typeface="Arial Narrow"/>
                          <a:sym typeface="Arial Narrow"/>
                        </a:rPr>
                        <a:t>2</a:t>
                      </a:r>
                      <a:r>
                        <a:rPr lang="en-AU" sz="1200">
                          <a:solidFill>
                            <a:schemeClr val="dk1"/>
                          </a:solidFill>
                          <a:latin typeface="Arial Narrow"/>
                          <a:ea typeface="Arial Narrow"/>
                          <a:cs typeface="Arial Narrow"/>
                          <a:sym typeface="Arial Narrow"/>
                        </a:rPr>
                        <a:t>=4.3</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accent1"/>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AU" sz="1200">
                          <a:latin typeface="Arial Narrow"/>
                          <a:ea typeface="Arial Narrow"/>
                          <a:cs typeface="Arial Narrow"/>
                          <a:sym typeface="Arial Narrow"/>
                        </a:rPr>
                        <a:t>3</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Shaft A</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Bending at fillet </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126.73 N </a:t>
                      </a:r>
                      <a:endParaRPr sz="1200">
                        <a:latin typeface="Arial Narrow"/>
                        <a:ea typeface="Arial Narrow"/>
                        <a:cs typeface="Arial Narrow"/>
                        <a:sym typeface="Arial Narrow"/>
                      </a:endParaRPr>
                    </a:p>
                    <a:p>
                      <a:pPr indent="0" lvl="0" marL="0" rtl="0" algn="ctr">
                        <a:spcBef>
                          <a:spcPts val="0"/>
                        </a:spcBef>
                        <a:spcAft>
                          <a:spcPts val="0"/>
                        </a:spcAft>
                        <a:buNone/>
                      </a:pPr>
                      <a:r>
                        <a:rPr lang="en-AU" sz="1200">
                          <a:latin typeface="Arial Narrow"/>
                          <a:ea typeface="Arial Narrow"/>
                          <a:cs typeface="Arial Narrow"/>
                          <a:sym typeface="Arial Narrow"/>
                        </a:rPr>
                        <a:t>240.345 Nm</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Pure tungsten </a:t>
                      </a:r>
                      <a:endParaRPr sz="1200">
                        <a:latin typeface="Arial Narrow"/>
                        <a:ea typeface="Arial Narrow"/>
                        <a:cs typeface="Arial Narrow"/>
                        <a:sym typeface="Arial Narrow"/>
                      </a:endParaRPr>
                    </a:p>
                    <a:p>
                      <a:pPr indent="0" lvl="0" marL="0" rtl="0" algn="ctr">
                        <a:spcBef>
                          <a:spcPts val="0"/>
                        </a:spcBef>
                        <a:spcAft>
                          <a:spcPts val="0"/>
                        </a:spcAft>
                        <a:buNone/>
                      </a:pPr>
                      <a:r>
                        <a:rPr b="1" lang="en-AU" sz="1200">
                          <a:solidFill>
                            <a:schemeClr val="accent1"/>
                          </a:solidFill>
                          <a:latin typeface="Arial Narrow"/>
                          <a:ea typeface="Arial Narrow"/>
                          <a:cs typeface="Arial Narrow"/>
                          <a:sym typeface="Arial Narrow"/>
                        </a:rPr>
                        <a:t>SF = 1.91</a:t>
                      </a:r>
                      <a:endParaRPr b="1" sz="1200">
                        <a:solidFill>
                          <a:schemeClr val="accent1"/>
                        </a:solidFill>
                        <a:latin typeface="Arial Narrow"/>
                        <a:ea typeface="Arial Narrow"/>
                        <a:cs typeface="Arial Narrow"/>
                        <a:sym typeface="Arial Narrow"/>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AU" sz="1200">
                          <a:latin typeface="Arial Narrow"/>
                          <a:ea typeface="Arial Narrow"/>
                          <a:cs typeface="Arial Narrow"/>
                          <a:sym typeface="Arial Narrow"/>
                        </a:rPr>
                        <a:t>4</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Shaft B</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Bending at fillet</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2276.72 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Cast Alloy Steel, SF = 4.20</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AU" sz="1200">
                          <a:latin typeface="Arial Narrow"/>
                          <a:ea typeface="Arial Narrow"/>
                          <a:cs typeface="Arial Narrow"/>
                          <a:sym typeface="Arial Narrow"/>
                        </a:rPr>
                        <a:t>5</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Rack mounting</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Shear failure in fasteners</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AU" sz="1200">
                          <a:latin typeface="Arial Narrow"/>
                          <a:ea typeface="Arial Narrow"/>
                          <a:cs typeface="Arial Narrow"/>
                          <a:sym typeface="Arial Narrow"/>
                        </a:rPr>
                        <a:t>821.8659 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Alloy steel SF&gt;18</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AU" sz="1200">
                          <a:latin typeface="Arial Narrow"/>
                          <a:ea typeface="Arial Narrow"/>
                          <a:cs typeface="Arial Narrow"/>
                          <a:sym typeface="Arial Narrow"/>
                        </a:rPr>
                        <a:t>6</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Vertical channel beam mounting</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Shear failure in fasteners</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200"/>
                        <a:buFont typeface="Arial"/>
                        <a:buNone/>
                      </a:pPr>
                      <a:r>
                        <a:rPr lang="en-AU" sz="1200">
                          <a:latin typeface="Arial Narrow"/>
                          <a:ea typeface="Arial Narrow"/>
                          <a:cs typeface="Arial Narrow"/>
                          <a:sym typeface="Arial Narrow"/>
                        </a:rPr>
                        <a:t>2367.0473 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AU" sz="1200">
                          <a:latin typeface="Arial Narrow"/>
                          <a:ea typeface="Arial Narrow"/>
                          <a:cs typeface="Arial Narrow"/>
                          <a:sym typeface="Arial Narrow"/>
                        </a:rPr>
                        <a:t>Alloy steel, SF&gt;18</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AU" sz="1200">
                          <a:latin typeface="Arial Narrow"/>
                          <a:ea typeface="Arial Narrow"/>
                          <a:cs typeface="Arial Narrow"/>
                          <a:sym typeface="Arial Narrow"/>
                        </a:rPr>
                        <a:t>7</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Safety Mechanism Beam</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Yielding due to compression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Clr>
                          <a:schemeClr val="dk1"/>
                        </a:buClr>
                        <a:buSzPts val="1200"/>
                        <a:buFont typeface="Arial"/>
                        <a:buNone/>
                      </a:pPr>
                      <a:r>
                        <a:rPr lang="en-AU" sz="1200">
                          <a:solidFill>
                            <a:schemeClr val="dk1"/>
                          </a:solidFill>
                          <a:latin typeface="Arial Narrow"/>
                          <a:ea typeface="Arial Narrow"/>
                          <a:cs typeface="Arial Narrow"/>
                          <a:sym typeface="Arial Narrow"/>
                        </a:rPr>
                        <a:t>981 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None/>
                      </a:pPr>
                      <a:r>
                        <a:rPr lang="en-AU" sz="1200">
                          <a:solidFill>
                            <a:schemeClr val="dk1"/>
                          </a:solidFill>
                          <a:latin typeface="Arial Narrow"/>
                          <a:ea typeface="Arial Narrow"/>
                          <a:cs typeface="Arial Narrow"/>
                          <a:sym typeface="Arial Narrow"/>
                        </a:rPr>
                        <a:t> Alloy Steel, SF = 3.3</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AU" sz="1200">
                          <a:latin typeface="Arial Narrow"/>
                          <a:ea typeface="Arial Narrow"/>
                          <a:cs typeface="Arial Narrow"/>
                          <a:sym typeface="Arial Narrow"/>
                        </a:rPr>
                        <a:t>8</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Safety Mechanism </a:t>
                      </a:r>
                      <a:r>
                        <a:rPr lang="en-AU" sz="1200">
                          <a:solidFill>
                            <a:schemeClr val="dk1"/>
                          </a:solidFill>
                          <a:latin typeface="Arial Narrow"/>
                          <a:ea typeface="Arial Narrow"/>
                          <a:cs typeface="Arial Narrow"/>
                          <a:sym typeface="Arial Narrow"/>
                        </a:rPr>
                        <a:t>Brake</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None/>
                      </a:pPr>
                      <a:r>
                        <a:rPr lang="en-AU" sz="1200">
                          <a:solidFill>
                            <a:schemeClr val="dk1"/>
                          </a:solidFill>
                          <a:latin typeface="Arial Narrow"/>
                          <a:ea typeface="Arial Narrow"/>
                          <a:cs typeface="Arial Narrow"/>
                          <a:sym typeface="Arial Narrow"/>
                        </a:rPr>
                        <a:t>Yielding due to compression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Clr>
                          <a:schemeClr val="dk1"/>
                        </a:buClr>
                        <a:buSzPts val="1100"/>
                        <a:buFont typeface="Arial"/>
                        <a:buNone/>
                      </a:pPr>
                      <a:r>
                        <a:rPr lang="en-AU" sz="1200">
                          <a:solidFill>
                            <a:schemeClr val="dk1"/>
                          </a:solidFill>
                          <a:latin typeface="Arial Narrow"/>
                          <a:ea typeface="Arial Narrow"/>
                          <a:cs typeface="Arial Narrow"/>
                          <a:sym typeface="Arial Narrow"/>
                        </a:rPr>
                        <a:t>981 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None/>
                      </a:pPr>
                      <a:r>
                        <a:t/>
                      </a:r>
                      <a:endParaRPr sz="1200">
                        <a:solidFill>
                          <a:schemeClr val="dk1"/>
                        </a:solidFill>
                        <a:latin typeface="Arial Narrow"/>
                        <a:ea typeface="Arial Narrow"/>
                        <a:cs typeface="Arial Narrow"/>
                        <a:sym typeface="Arial Narrow"/>
                      </a:endParaRPr>
                    </a:p>
                    <a:p>
                      <a:pPr indent="0" lvl="0" marL="0" rtl="0" algn="ctr">
                        <a:lnSpc>
                          <a:spcPct val="115000"/>
                        </a:lnSpc>
                        <a:spcBef>
                          <a:spcPts val="1000"/>
                        </a:spcBef>
                        <a:spcAft>
                          <a:spcPts val="0"/>
                        </a:spcAft>
                        <a:buNone/>
                      </a:pPr>
                      <a:r>
                        <a:rPr lang="en-AU" sz="1200">
                          <a:solidFill>
                            <a:schemeClr val="dk1"/>
                          </a:solidFill>
                          <a:latin typeface="Arial Narrow"/>
                          <a:ea typeface="Arial Narrow"/>
                          <a:cs typeface="Arial Narrow"/>
                          <a:sym typeface="Arial Narrow"/>
                        </a:rPr>
                        <a:t> Alloy Steel, SF = 3.43</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AU" sz="1200">
                          <a:latin typeface="Arial Narrow"/>
                          <a:ea typeface="Arial Narrow"/>
                          <a:cs typeface="Arial Narrow"/>
                          <a:sym typeface="Arial Narrow"/>
                        </a:rPr>
                        <a:t>9</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AU" sz="1200">
                          <a:solidFill>
                            <a:schemeClr val="dk1"/>
                          </a:solidFill>
                          <a:latin typeface="Arial Narrow"/>
                          <a:ea typeface="Arial Narrow"/>
                          <a:cs typeface="Arial Narrow"/>
                          <a:sym typeface="Arial Narrow"/>
                        </a:rPr>
                        <a:t>Cable Mounting Bracket</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None/>
                      </a:pPr>
                      <a:r>
                        <a:rPr lang="en-AU" sz="1200">
                          <a:solidFill>
                            <a:schemeClr val="dk1"/>
                          </a:solidFill>
                          <a:latin typeface="Arial Narrow"/>
                          <a:ea typeface="Arial Narrow"/>
                          <a:cs typeface="Arial Narrow"/>
                          <a:sym typeface="Arial Narrow"/>
                        </a:rPr>
                        <a:t> Shear failure due to compression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Clr>
                          <a:schemeClr val="dk1"/>
                        </a:buClr>
                        <a:buSzPts val="1100"/>
                        <a:buFont typeface="Arial"/>
                        <a:buNone/>
                      </a:pPr>
                      <a:r>
                        <a:rPr lang="en-AU" sz="1200">
                          <a:solidFill>
                            <a:schemeClr val="dk1"/>
                          </a:solidFill>
                          <a:latin typeface="Arial Narrow"/>
                          <a:ea typeface="Arial Narrow"/>
                          <a:cs typeface="Arial Narrow"/>
                          <a:sym typeface="Arial Narrow"/>
                        </a:rPr>
                        <a:t>490.5 N</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000"/>
                        </a:spcBef>
                        <a:spcAft>
                          <a:spcPts val="0"/>
                        </a:spcAft>
                        <a:buNone/>
                      </a:pPr>
                      <a:r>
                        <a:t/>
                      </a:r>
                      <a:endParaRPr sz="1200">
                        <a:solidFill>
                          <a:schemeClr val="dk1"/>
                        </a:solidFill>
                        <a:latin typeface="Arial Narrow"/>
                        <a:ea typeface="Arial Narrow"/>
                        <a:cs typeface="Arial Narrow"/>
                        <a:sym typeface="Arial Narrow"/>
                      </a:endParaRPr>
                    </a:p>
                    <a:p>
                      <a:pPr indent="0" lvl="0" marL="0" rtl="0" algn="ctr">
                        <a:lnSpc>
                          <a:spcPct val="115000"/>
                        </a:lnSpc>
                        <a:spcBef>
                          <a:spcPts val="1000"/>
                        </a:spcBef>
                        <a:spcAft>
                          <a:spcPts val="0"/>
                        </a:spcAft>
                        <a:buNone/>
                      </a:pPr>
                      <a:r>
                        <a:rPr lang="en-AU" sz="1200">
                          <a:solidFill>
                            <a:schemeClr val="dk1"/>
                          </a:solidFill>
                          <a:latin typeface="Arial Narrow"/>
                          <a:ea typeface="Arial Narrow"/>
                          <a:cs typeface="Arial Narrow"/>
                          <a:sym typeface="Arial Narrow"/>
                        </a:rPr>
                        <a:t>Alloy Steel, SF = 6.5</a:t>
                      </a:r>
                      <a:endParaRPr sz="1200">
                        <a:latin typeface="Arial Narrow"/>
                        <a:ea typeface="Arial Narrow"/>
                        <a:cs typeface="Arial Narrow"/>
                        <a:sym typeface="Arial Narr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64" name="Google Shape;564;p10"/>
          <p:cNvSpPr txBox="1"/>
          <p:nvPr>
            <p:ph type="title"/>
          </p:nvPr>
        </p:nvSpPr>
        <p:spPr>
          <a:xfrm>
            <a:off x="609600" y="141897"/>
            <a:ext cx="10972800" cy="51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Narrow"/>
              <a:buNone/>
            </a:pPr>
            <a:r>
              <a:rPr b="1" lang="en-AU" sz="3000"/>
              <a:t>4</a:t>
            </a:r>
            <a:r>
              <a:rPr b="1" lang="en-AU" sz="3000"/>
              <a:t> Design Analysis Framework</a:t>
            </a:r>
            <a:endParaRPr b="1" sz="3000"/>
          </a:p>
        </p:txBody>
      </p:sp>
    </p:spTree>
  </p:cSld>
  <p:clrMapOvr>
    <a:masterClrMapping/>
  </p:clrMapOvr>
</p:sld>
</file>

<file path=ppt/theme/theme1.xml><?xml version="1.0" encoding="utf-8"?>
<a:theme xmlns:a="http://schemas.openxmlformats.org/drawingml/2006/main" xmlns:r="http://schemas.openxmlformats.org/officeDocument/2006/relationships" name="Title slide_2">
  <a:themeElements>
    <a:clrScheme name="Monash Black">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Standard slide">
  <a:themeElements>
    <a:clrScheme name="Monash University">
      <a:dk1>
        <a:srgbClr val="000000"/>
      </a:dk1>
      <a:lt1>
        <a:srgbClr val="FFFFFF"/>
      </a:lt1>
      <a:dk2>
        <a:srgbClr val="006DAE"/>
      </a:dk2>
      <a:lt2>
        <a:srgbClr val="CCCCCC"/>
      </a:lt2>
      <a:accent1>
        <a:srgbClr val="FF002B"/>
      </a:accent1>
      <a:accent2>
        <a:srgbClr val="FC622E"/>
      </a:accent2>
      <a:accent3>
        <a:srgbClr val="829356"/>
      </a:accent3>
      <a:accent4>
        <a:srgbClr val="00AC3E"/>
      </a:accent4>
      <a:accent5>
        <a:srgbClr val="009FDA"/>
      </a:accent5>
      <a:accent6>
        <a:srgbClr val="8177E7"/>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2015-12-11T00:28:24Z</dcterms:created>
  <dc:creator>Microsoft Office User</dc:creator>
</cp:coreProperties>
</file>