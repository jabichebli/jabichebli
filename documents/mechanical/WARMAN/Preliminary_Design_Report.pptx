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8288000" cy="100584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57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6DC45DD-F23F-474C-AD18-9CBBB8028203}">
  <a:tblStyle styleId="{56DC45DD-F23F-474C-AD18-9CBBB802820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68" y="108"/>
      </p:cViewPr>
      <p:guideLst>
        <p:guide orient="horz" pos="3168"/>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dc2fd9286_0_146:notes"/>
          <p:cNvSpPr>
            <a:spLocks noGrp="1" noRot="1" noChangeAspect="1"/>
          </p:cNvSpPr>
          <p:nvPr>
            <p:ph type="sldImg" idx="2"/>
          </p:nvPr>
        </p:nvSpPr>
        <p:spPr>
          <a:xfrm>
            <a:off x="312021"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dc2fd928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1dc2fd9286_0_150:notes"/>
          <p:cNvSpPr>
            <a:spLocks noGrp="1" noRot="1" noChangeAspect="1"/>
          </p:cNvSpPr>
          <p:nvPr>
            <p:ph type="sldImg" idx="2"/>
          </p:nvPr>
        </p:nvSpPr>
        <p:spPr>
          <a:xfrm>
            <a:off x="312021"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1dc2fd9286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1dc2fd9286_0_158:notes"/>
          <p:cNvSpPr>
            <a:spLocks noGrp="1" noRot="1" noChangeAspect="1"/>
          </p:cNvSpPr>
          <p:nvPr>
            <p:ph type="sldImg" idx="2"/>
          </p:nvPr>
        </p:nvSpPr>
        <p:spPr>
          <a:xfrm>
            <a:off x="312021"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1dc2fd9286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11dc2fd9286_0_163:notes"/>
          <p:cNvSpPr>
            <a:spLocks noGrp="1" noRot="1" noChangeAspect="1"/>
          </p:cNvSpPr>
          <p:nvPr>
            <p:ph type="sldImg" idx="2"/>
          </p:nvPr>
        </p:nvSpPr>
        <p:spPr>
          <a:xfrm>
            <a:off x="312021"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11dc2fd9286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1f9a3d8523_1_3: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1f9a3d8523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11f9a3d8523_1_1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11f9a3d8523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cbb88d9ed5_0_1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cbb88d9ed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cbb88d9ed5_0_69: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cbb88d9ed5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1aa2cab64b_2_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1aa2cab64b_2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cbb88d9ed5_0_79: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cbb88d9ed5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11aa2cab64b_2_1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11aa2cab64b_2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cbb88d9ed5_0_88: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cbb88d9ed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cbb88d9ed5_0_9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cbb88d9ed5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11ecc0254cc_3_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11ecc0254cc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cbb88d9ed5_0_337: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cbb88d9ed5_0_3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82600" lvl="0" indent="-342900" algn="just" rtl="0">
              <a:lnSpc>
                <a:spcPct val="115000"/>
              </a:lnSpc>
              <a:spcBef>
                <a:spcPts val="0"/>
              </a:spcBef>
              <a:spcAft>
                <a:spcPts val="0"/>
              </a:spcAft>
              <a:buClr>
                <a:schemeClr val="dk1"/>
              </a:buClr>
              <a:buSzPts val="1600"/>
              <a:buFont typeface="Calibri"/>
              <a:buChar char="●"/>
            </a:pPr>
            <a:endParaRPr sz="1600">
              <a:solidFill>
                <a:schemeClr val="dk1"/>
              </a:solidFill>
              <a:highlight>
                <a:schemeClr val="lt1"/>
              </a:highlight>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cbb88d9ed5_0_110: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cbb88d9ed5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cbb88d9ed5_0_18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cbb88d9ed5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cbb88d9ed5_0_215: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cbb88d9ed5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cbb88d9ed5_0_24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cbb88d9ed5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cbb88d9ed5_0_27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cbb88d9ed5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cbb88d9ed5_0_26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cbb88d9ed5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cbb88d9ed5_0_26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cbb88d9ed5_0_2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cbb88d9ed5_0_28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cbb88d9ed5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120d11be878_0_2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120d11be878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120d11be878_0_19: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120d11be878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120d11be878_0_1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120d11be87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120d11be878_0_9: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120d11be878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cbb88d9ed5_0_329: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cbb88d9ed5_0_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cbb88d9ed5_0_35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cbb88d9ed5_0_3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11dc2fd9286_0_30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11dc2fd9286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11dc2fd9286_0_307: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11dc2fd9286_0_3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1dc2fd9286_0_31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1dc2fd9286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11dc2fd9286_0_24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11dc2fd9286_0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11dc2fd9286_0_26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11dc2fd9286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1dc2fd9286_0_26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11dc2fd9286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11dc2fd9286_0_24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11dc2fd9286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1dc2fd9286_0_27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1dc2fd9286_0_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11f5cea77a4_0_2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11f5cea77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11dc2fd9286_0_250: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11dc2fd9286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11f5cea77a4_0_9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11f5cea77a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11f5cea77a4_0_69: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11f5cea77a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11f5cea77a4_0_100: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3" name="Google Shape;553;g11f5cea77a4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11dc2fd9286_0_282: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11dc2fd9286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g11dc2fd9286_0_25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8" name="Google Shape;578;g11dc2fd9286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11dc2fd9286_0_286: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 name="Google Shape;591;g11dc2fd9286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11dc2fd9286_0_290: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11dc2fd9286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11dc2fd9286_0_258: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11dc2fd9286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11dc2fd9286_0_294: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11dc2fd9286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1dc2fd9286_0_298: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1dc2fd9286_0_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11dc2fd9286_0_221: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11dc2fd9286_0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11f9a3d8523_2_223: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0" name="Google Shape;670;g11f9a3d8523_2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11aa2cab64b_3_5:notes"/>
          <p:cNvSpPr>
            <a:spLocks noGrp="1" noRot="1" noChangeAspect="1"/>
          </p:cNvSpPr>
          <p:nvPr>
            <p:ph type="sldImg" idx="2"/>
          </p:nvPr>
        </p:nvSpPr>
        <p:spPr>
          <a:xfrm>
            <a:off x="312026" y="685800"/>
            <a:ext cx="623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11aa2cab64b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623417" y="1456058"/>
            <a:ext cx="17041200" cy="4014000"/>
          </a:xfrm>
          <a:prstGeom prst="rect">
            <a:avLst/>
          </a:prstGeom>
        </p:spPr>
        <p:txBody>
          <a:bodyPr spcFirstLastPara="1" wrap="square" lIns="186925" tIns="186925" rIns="186925" bIns="186925" anchor="b" anchorCtr="0">
            <a:normAutofit/>
          </a:bodyPr>
          <a:lstStyle>
            <a:lvl1pPr lvl="0" algn="ctr">
              <a:spcBef>
                <a:spcPts val="0"/>
              </a:spcBef>
              <a:spcAft>
                <a:spcPts val="0"/>
              </a:spcAft>
              <a:buSzPts val="10600"/>
              <a:buNone/>
              <a:defRPr sz="10600"/>
            </a:lvl1pPr>
            <a:lvl2pPr lvl="1" algn="ctr">
              <a:spcBef>
                <a:spcPts val="0"/>
              </a:spcBef>
              <a:spcAft>
                <a:spcPts val="0"/>
              </a:spcAft>
              <a:buSzPts val="10600"/>
              <a:buNone/>
              <a:defRPr sz="10600"/>
            </a:lvl2pPr>
            <a:lvl3pPr lvl="2" algn="ctr">
              <a:spcBef>
                <a:spcPts val="0"/>
              </a:spcBef>
              <a:spcAft>
                <a:spcPts val="0"/>
              </a:spcAft>
              <a:buSzPts val="10600"/>
              <a:buNone/>
              <a:defRPr sz="10600"/>
            </a:lvl3pPr>
            <a:lvl4pPr lvl="3" algn="ctr">
              <a:spcBef>
                <a:spcPts val="0"/>
              </a:spcBef>
              <a:spcAft>
                <a:spcPts val="0"/>
              </a:spcAft>
              <a:buSzPts val="10600"/>
              <a:buNone/>
              <a:defRPr sz="10600"/>
            </a:lvl4pPr>
            <a:lvl5pPr lvl="4" algn="ctr">
              <a:spcBef>
                <a:spcPts val="0"/>
              </a:spcBef>
              <a:spcAft>
                <a:spcPts val="0"/>
              </a:spcAft>
              <a:buSzPts val="10600"/>
              <a:buNone/>
              <a:defRPr sz="10600"/>
            </a:lvl5pPr>
            <a:lvl6pPr lvl="5" algn="ctr">
              <a:spcBef>
                <a:spcPts val="0"/>
              </a:spcBef>
              <a:spcAft>
                <a:spcPts val="0"/>
              </a:spcAft>
              <a:buSzPts val="10600"/>
              <a:buNone/>
              <a:defRPr sz="10600"/>
            </a:lvl6pPr>
            <a:lvl7pPr lvl="6" algn="ctr">
              <a:spcBef>
                <a:spcPts val="0"/>
              </a:spcBef>
              <a:spcAft>
                <a:spcPts val="0"/>
              </a:spcAft>
              <a:buSzPts val="10600"/>
              <a:buNone/>
              <a:defRPr sz="10600"/>
            </a:lvl7pPr>
            <a:lvl8pPr lvl="7" algn="ctr">
              <a:spcBef>
                <a:spcPts val="0"/>
              </a:spcBef>
              <a:spcAft>
                <a:spcPts val="0"/>
              </a:spcAft>
              <a:buSzPts val="10600"/>
              <a:buNone/>
              <a:defRPr sz="10600"/>
            </a:lvl8pPr>
            <a:lvl9pPr lvl="8" algn="ctr">
              <a:spcBef>
                <a:spcPts val="0"/>
              </a:spcBef>
              <a:spcAft>
                <a:spcPts val="0"/>
              </a:spcAft>
              <a:buSzPts val="10600"/>
              <a:buNone/>
              <a:defRPr sz="10600"/>
            </a:lvl9pPr>
          </a:lstStyle>
          <a:p>
            <a:endParaRPr/>
          </a:p>
        </p:txBody>
      </p:sp>
      <p:sp>
        <p:nvSpPr>
          <p:cNvPr id="11" name="Google Shape;11;p2"/>
          <p:cNvSpPr txBox="1">
            <a:spLocks noGrp="1"/>
          </p:cNvSpPr>
          <p:nvPr>
            <p:ph type="subTitle" idx="1"/>
          </p:nvPr>
        </p:nvSpPr>
        <p:spPr>
          <a:xfrm>
            <a:off x="623400" y="5542289"/>
            <a:ext cx="17041200" cy="1549800"/>
          </a:xfrm>
          <a:prstGeom prst="rect">
            <a:avLst/>
          </a:prstGeom>
        </p:spPr>
        <p:txBody>
          <a:bodyPr spcFirstLastPara="1" wrap="square" lIns="186925" tIns="186925" rIns="186925" bIns="186925" anchor="t" anchorCtr="0">
            <a:normAutofit/>
          </a:bodyPr>
          <a:lstStyle>
            <a:lvl1pPr lvl="0" algn="ctr">
              <a:lnSpc>
                <a:spcPct val="100000"/>
              </a:lnSpc>
              <a:spcBef>
                <a:spcPts val="0"/>
              </a:spcBef>
              <a:spcAft>
                <a:spcPts val="0"/>
              </a:spcAft>
              <a:buSzPts val="5700"/>
              <a:buNone/>
              <a:defRPr sz="5700"/>
            </a:lvl1pPr>
            <a:lvl2pPr lvl="1" algn="ctr">
              <a:lnSpc>
                <a:spcPct val="100000"/>
              </a:lnSpc>
              <a:spcBef>
                <a:spcPts val="0"/>
              </a:spcBef>
              <a:spcAft>
                <a:spcPts val="0"/>
              </a:spcAft>
              <a:buSzPts val="5700"/>
              <a:buNone/>
              <a:defRPr sz="5700"/>
            </a:lvl2pPr>
            <a:lvl3pPr lvl="2" algn="ctr">
              <a:lnSpc>
                <a:spcPct val="100000"/>
              </a:lnSpc>
              <a:spcBef>
                <a:spcPts val="0"/>
              </a:spcBef>
              <a:spcAft>
                <a:spcPts val="0"/>
              </a:spcAft>
              <a:buSzPts val="5700"/>
              <a:buNone/>
              <a:defRPr sz="5700"/>
            </a:lvl3pPr>
            <a:lvl4pPr lvl="3" algn="ctr">
              <a:lnSpc>
                <a:spcPct val="100000"/>
              </a:lnSpc>
              <a:spcBef>
                <a:spcPts val="0"/>
              </a:spcBef>
              <a:spcAft>
                <a:spcPts val="0"/>
              </a:spcAft>
              <a:buSzPts val="5700"/>
              <a:buNone/>
              <a:defRPr sz="5700"/>
            </a:lvl4pPr>
            <a:lvl5pPr lvl="4" algn="ctr">
              <a:lnSpc>
                <a:spcPct val="100000"/>
              </a:lnSpc>
              <a:spcBef>
                <a:spcPts val="0"/>
              </a:spcBef>
              <a:spcAft>
                <a:spcPts val="0"/>
              </a:spcAft>
              <a:buSzPts val="5700"/>
              <a:buNone/>
              <a:defRPr sz="5700"/>
            </a:lvl5pPr>
            <a:lvl6pPr lvl="5" algn="ctr">
              <a:lnSpc>
                <a:spcPct val="100000"/>
              </a:lnSpc>
              <a:spcBef>
                <a:spcPts val="0"/>
              </a:spcBef>
              <a:spcAft>
                <a:spcPts val="0"/>
              </a:spcAft>
              <a:buSzPts val="5700"/>
              <a:buNone/>
              <a:defRPr sz="5700"/>
            </a:lvl6pPr>
            <a:lvl7pPr lvl="6" algn="ctr">
              <a:lnSpc>
                <a:spcPct val="100000"/>
              </a:lnSpc>
              <a:spcBef>
                <a:spcPts val="0"/>
              </a:spcBef>
              <a:spcAft>
                <a:spcPts val="0"/>
              </a:spcAft>
              <a:buSzPts val="5700"/>
              <a:buNone/>
              <a:defRPr sz="5700"/>
            </a:lvl7pPr>
            <a:lvl8pPr lvl="7" algn="ctr">
              <a:lnSpc>
                <a:spcPct val="100000"/>
              </a:lnSpc>
              <a:spcBef>
                <a:spcPts val="0"/>
              </a:spcBef>
              <a:spcAft>
                <a:spcPts val="0"/>
              </a:spcAft>
              <a:buSzPts val="5700"/>
              <a:buNone/>
              <a:defRPr sz="5700"/>
            </a:lvl8pPr>
            <a:lvl9pPr lvl="8" algn="ctr">
              <a:lnSpc>
                <a:spcPct val="100000"/>
              </a:lnSpc>
              <a:spcBef>
                <a:spcPts val="0"/>
              </a:spcBef>
              <a:spcAft>
                <a:spcPts val="0"/>
              </a:spcAft>
              <a:buSzPts val="5700"/>
              <a:buNone/>
              <a:defRPr sz="5700"/>
            </a:lvl9pPr>
          </a:lstStyle>
          <a:p>
            <a:endParaRPr/>
          </a:p>
        </p:txBody>
      </p:sp>
      <p:sp>
        <p:nvSpPr>
          <p:cNvPr id="12" name="Google Shape;12;p2"/>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23400" y="4206107"/>
            <a:ext cx="17041200" cy="1646100"/>
          </a:xfrm>
          <a:prstGeom prst="rect">
            <a:avLst/>
          </a:prstGeom>
        </p:spPr>
        <p:txBody>
          <a:bodyPr spcFirstLastPara="1" wrap="square" lIns="186925" tIns="186925" rIns="186925" bIns="186925" anchor="ctr" anchorCtr="0">
            <a:normAutofit/>
          </a:bodyPr>
          <a:lstStyle>
            <a:lvl1pPr lvl="0" algn="ctr">
              <a:spcBef>
                <a:spcPts val="0"/>
              </a:spcBef>
              <a:spcAft>
                <a:spcPts val="0"/>
              </a:spcAft>
              <a:buSzPts val="7400"/>
              <a:buNone/>
              <a:defRPr sz="7400"/>
            </a:lvl1pPr>
            <a:lvl2pPr lvl="1" algn="ctr">
              <a:spcBef>
                <a:spcPts val="0"/>
              </a:spcBef>
              <a:spcAft>
                <a:spcPts val="0"/>
              </a:spcAft>
              <a:buSzPts val="7400"/>
              <a:buNone/>
              <a:defRPr sz="7400"/>
            </a:lvl2pPr>
            <a:lvl3pPr lvl="2" algn="ctr">
              <a:spcBef>
                <a:spcPts val="0"/>
              </a:spcBef>
              <a:spcAft>
                <a:spcPts val="0"/>
              </a:spcAft>
              <a:buSzPts val="7400"/>
              <a:buNone/>
              <a:defRPr sz="7400"/>
            </a:lvl3pPr>
            <a:lvl4pPr lvl="3" algn="ctr">
              <a:spcBef>
                <a:spcPts val="0"/>
              </a:spcBef>
              <a:spcAft>
                <a:spcPts val="0"/>
              </a:spcAft>
              <a:buSzPts val="7400"/>
              <a:buNone/>
              <a:defRPr sz="7400"/>
            </a:lvl4pPr>
            <a:lvl5pPr lvl="4" algn="ctr">
              <a:spcBef>
                <a:spcPts val="0"/>
              </a:spcBef>
              <a:spcAft>
                <a:spcPts val="0"/>
              </a:spcAft>
              <a:buSzPts val="7400"/>
              <a:buNone/>
              <a:defRPr sz="7400"/>
            </a:lvl5pPr>
            <a:lvl6pPr lvl="5" algn="ctr">
              <a:spcBef>
                <a:spcPts val="0"/>
              </a:spcBef>
              <a:spcAft>
                <a:spcPts val="0"/>
              </a:spcAft>
              <a:buSzPts val="7400"/>
              <a:buNone/>
              <a:defRPr sz="7400"/>
            </a:lvl6pPr>
            <a:lvl7pPr lvl="6" algn="ctr">
              <a:spcBef>
                <a:spcPts val="0"/>
              </a:spcBef>
              <a:spcAft>
                <a:spcPts val="0"/>
              </a:spcAft>
              <a:buSzPts val="7400"/>
              <a:buNone/>
              <a:defRPr sz="7400"/>
            </a:lvl7pPr>
            <a:lvl8pPr lvl="7" algn="ctr">
              <a:spcBef>
                <a:spcPts val="0"/>
              </a:spcBef>
              <a:spcAft>
                <a:spcPts val="0"/>
              </a:spcAft>
              <a:buSzPts val="7400"/>
              <a:buNone/>
              <a:defRPr sz="7400"/>
            </a:lvl8pPr>
            <a:lvl9pPr lvl="8" algn="ctr">
              <a:spcBef>
                <a:spcPts val="0"/>
              </a:spcBef>
              <a:spcAft>
                <a:spcPts val="0"/>
              </a:spcAft>
              <a:buSzPts val="7400"/>
              <a:buNone/>
              <a:defRPr sz="7400"/>
            </a:lvl9pPr>
          </a:lstStyle>
          <a:p>
            <a:endParaRPr/>
          </a:p>
        </p:txBody>
      </p:sp>
      <p:sp>
        <p:nvSpPr>
          <p:cNvPr id="15" name="Google Shape;15;p3"/>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623400" y="870271"/>
            <a:ext cx="17041200" cy="1120200"/>
          </a:xfrm>
          <a:prstGeom prst="rect">
            <a:avLst/>
          </a:prstGeom>
        </p:spPr>
        <p:txBody>
          <a:bodyPr spcFirstLastPara="1" wrap="square" lIns="186925" tIns="186925" rIns="186925" bIns="186925" anchor="t" anchorCtr="0">
            <a:normAutofit/>
          </a:bodyPr>
          <a:lstStyle>
            <a:lvl1pPr lvl="0">
              <a:spcBef>
                <a:spcPts val="0"/>
              </a:spcBef>
              <a:spcAft>
                <a:spcPts val="0"/>
              </a:spcAft>
              <a:buSzPts val="5700"/>
              <a:buNone/>
              <a:defRPr/>
            </a:lvl1pPr>
            <a:lvl2pPr lvl="1">
              <a:spcBef>
                <a:spcPts val="0"/>
              </a:spcBef>
              <a:spcAft>
                <a:spcPts val="0"/>
              </a:spcAft>
              <a:buSzPts val="5700"/>
              <a:buNone/>
              <a:defRPr/>
            </a:lvl2pPr>
            <a:lvl3pPr lvl="2">
              <a:spcBef>
                <a:spcPts val="0"/>
              </a:spcBef>
              <a:spcAft>
                <a:spcPts val="0"/>
              </a:spcAft>
              <a:buSzPts val="5700"/>
              <a:buNone/>
              <a:defRPr/>
            </a:lvl3pPr>
            <a:lvl4pPr lvl="3">
              <a:spcBef>
                <a:spcPts val="0"/>
              </a:spcBef>
              <a:spcAft>
                <a:spcPts val="0"/>
              </a:spcAft>
              <a:buSzPts val="5700"/>
              <a:buNone/>
              <a:defRPr/>
            </a:lvl4pPr>
            <a:lvl5pPr lvl="4">
              <a:spcBef>
                <a:spcPts val="0"/>
              </a:spcBef>
              <a:spcAft>
                <a:spcPts val="0"/>
              </a:spcAft>
              <a:buSzPts val="5700"/>
              <a:buNone/>
              <a:defRPr/>
            </a:lvl5pPr>
            <a:lvl6pPr lvl="5">
              <a:spcBef>
                <a:spcPts val="0"/>
              </a:spcBef>
              <a:spcAft>
                <a:spcPts val="0"/>
              </a:spcAft>
              <a:buSzPts val="5700"/>
              <a:buNone/>
              <a:defRPr/>
            </a:lvl6pPr>
            <a:lvl7pPr lvl="6">
              <a:spcBef>
                <a:spcPts val="0"/>
              </a:spcBef>
              <a:spcAft>
                <a:spcPts val="0"/>
              </a:spcAft>
              <a:buSzPts val="5700"/>
              <a:buNone/>
              <a:defRPr/>
            </a:lvl7pPr>
            <a:lvl8pPr lvl="7">
              <a:spcBef>
                <a:spcPts val="0"/>
              </a:spcBef>
              <a:spcAft>
                <a:spcPts val="0"/>
              </a:spcAft>
              <a:buSzPts val="5700"/>
              <a:buNone/>
              <a:defRPr/>
            </a:lvl8pPr>
            <a:lvl9pPr lvl="8">
              <a:spcBef>
                <a:spcPts val="0"/>
              </a:spcBef>
              <a:spcAft>
                <a:spcPts val="0"/>
              </a:spcAft>
              <a:buSzPts val="5700"/>
              <a:buNone/>
              <a:defRPr/>
            </a:lvl9pPr>
          </a:lstStyle>
          <a:p>
            <a:endParaRPr/>
          </a:p>
        </p:txBody>
      </p:sp>
      <p:sp>
        <p:nvSpPr>
          <p:cNvPr id="18" name="Google Shape;18;p4"/>
          <p:cNvSpPr txBox="1">
            <a:spLocks noGrp="1"/>
          </p:cNvSpPr>
          <p:nvPr>
            <p:ph type="body" idx="1"/>
          </p:nvPr>
        </p:nvSpPr>
        <p:spPr>
          <a:xfrm>
            <a:off x="623400" y="2253729"/>
            <a:ext cx="17041200" cy="6680700"/>
          </a:xfrm>
          <a:prstGeom prst="rect">
            <a:avLst/>
          </a:prstGeom>
        </p:spPr>
        <p:txBody>
          <a:bodyPr spcFirstLastPara="1" wrap="square" lIns="186925" tIns="186925" rIns="186925" bIns="186925" anchor="t" anchorCtr="0">
            <a:normAutofit/>
          </a:bodyPr>
          <a:lstStyle>
            <a:lvl1pPr marL="457200" lvl="0" indent="-463550">
              <a:spcBef>
                <a:spcPts val="0"/>
              </a:spcBef>
              <a:spcAft>
                <a:spcPts val="0"/>
              </a:spcAft>
              <a:buSzPts val="3700"/>
              <a:buChar char="●"/>
              <a:defRPr/>
            </a:lvl1pPr>
            <a:lvl2pPr marL="914400" lvl="1" indent="-412750">
              <a:spcBef>
                <a:spcPts val="0"/>
              </a:spcBef>
              <a:spcAft>
                <a:spcPts val="0"/>
              </a:spcAft>
              <a:buSzPts val="2900"/>
              <a:buChar char="○"/>
              <a:defRPr/>
            </a:lvl2pPr>
            <a:lvl3pPr marL="1371600" lvl="2" indent="-412750">
              <a:spcBef>
                <a:spcPts val="0"/>
              </a:spcBef>
              <a:spcAft>
                <a:spcPts val="0"/>
              </a:spcAft>
              <a:buSzPts val="2900"/>
              <a:buChar char="■"/>
              <a:defRPr/>
            </a:lvl3pPr>
            <a:lvl4pPr marL="1828800" lvl="3" indent="-412750">
              <a:spcBef>
                <a:spcPts val="0"/>
              </a:spcBef>
              <a:spcAft>
                <a:spcPts val="0"/>
              </a:spcAft>
              <a:buSzPts val="2900"/>
              <a:buChar char="●"/>
              <a:defRPr/>
            </a:lvl4pPr>
            <a:lvl5pPr marL="2286000" lvl="4" indent="-412750">
              <a:spcBef>
                <a:spcPts val="0"/>
              </a:spcBef>
              <a:spcAft>
                <a:spcPts val="0"/>
              </a:spcAft>
              <a:buSzPts val="2900"/>
              <a:buChar char="○"/>
              <a:defRPr/>
            </a:lvl5pPr>
            <a:lvl6pPr marL="2743200" lvl="5" indent="-412750">
              <a:spcBef>
                <a:spcPts val="0"/>
              </a:spcBef>
              <a:spcAft>
                <a:spcPts val="0"/>
              </a:spcAft>
              <a:buSzPts val="2900"/>
              <a:buChar char="■"/>
              <a:defRPr/>
            </a:lvl6pPr>
            <a:lvl7pPr marL="3200400" lvl="6" indent="-412750">
              <a:spcBef>
                <a:spcPts val="0"/>
              </a:spcBef>
              <a:spcAft>
                <a:spcPts val="0"/>
              </a:spcAft>
              <a:buSzPts val="2900"/>
              <a:buChar char="●"/>
              <a:defRPr/>
            </a:lvl7pPr>
            <a:lvl8pPr marL="3657600" lvl="7" indent="-412750">
              <a:spcBef>
                <a:spcPts val="0"/>
              </a:spcBef>
              <a:spcAft>
                <a:spcPts val="0"/>
              </a:spcAft>
              <a:buSzPts val="2900"/>
              <a:buChar char="○"/>
              <a:defRPr/>
            </a:lvl8pPr>
            <a:lvl9pPr marL="4114800" lvl="8" indent="-412750">
              <a:spcBef>
                <a:spcPts val="0"/>
              </a:spcBef>
              <a:spcAft>
                <a:spcPts val="0"/>
              </a:spcAft>
              <a:buSzPts val="2900"/>
              <a:buChar char="■"/>
              <a:defRPr/>
            </a:lvl9pPr>
          </a:lstStyle>
          <a:p>
            <a:endParaRPr/>
          </a:p>
        </p:txBody>
      </p:sp>
      <p:sp>
        <p:nvSpPr>
          <p:cNvPr id="19" name="Google Shape;19;p4"/>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623400" y="870271"/>
            <a:ext cx="17041200" cy="1120200"/>
          </a:xfrm>
          <a:prstGeom prst="rect">
            <a:avLst/>
          </a:prstGeom>
        </p:spPr>
        <p:txBody>
          <a:bodyPr spcFirstLastPara="1" wrap="square" lIns="186925" tIns="186925" rIns="186925" bIns="186925" anchor="t" anchorCtr="0">
            <a:normAutofit/>
          </a:bodyPr>
          <a:lstStyle>
            <a:lvl1pPr lvl="0">
              <a:spcBef>
                <a:spcPts val="0"/>
              </a:spcBef>
              <a:spcAft>
                <a:spcPts val="0"/>
              </a:spcAft>
              <a:buSzPts val="5700"/>
              <a:buNone/>
              <a:defRPr/>
            </a:lvl1pPr>
            <a:lvl2pPr lvl="1">
              <a:spcBef>
                <a:spcPts val="0"/>
              </a:spcBef>
              <a:spcAft>
                <a:spcPts val="0"/>
              </a:spcAft>
              <a:buSzPts val="5700"/>
              <a:buNone/>
              <a:defRPr/>
            </a:lvl2pPr>
            <a:lvl3pPr lvl="2">
              <a:spcBef>
                <a:spcPts val="0"/>
              </a:spcBef>
              <a:spcAft>
                <a:spcPts val="0"/>
              </a:spcAft>
              <a:buSzPts val="5700"/>
              <a:buNone/>
              <a:defRPr/>
            </a:lvl3pPr>
            <a:lvl4pPr lvl="3">
              <a:spcBef>
                <a:spcPts val="0"/>
              </a:spcBef>
              <a:spcAft>
                <a:spcPts val="0"/>
              </a:spcAft>
              <a:buSzPts val="5700"/>
              <a:buNone/>
              <a:defRPr/>
            </a:lvl4pPr>
            <a:lvl5pPr lvl="4">
              <a:spcBef>
                <a:spcPts val="0"/>
              </a:spcBef>
              <a:spcAft>
                <a:spcPts val="0"/>
              </a:spcAft>
              <a:buSzPts val="5700"/>
              <a:buNone/>
              <a:defRPr/>
            </a:lvl5pPr>
            <a:lvl6pPr lvl="5">
              <a:spcBef>
                <a:spcPts val="0"/>
              </a:spcBef>
              <a:spcAft>
                <a:spcPts val="0"/>
              </a:spcAft>
              <a:buSzPts val="5700"/>
              <a:buNone/>
              <a:defRPr/>
            </a:lvl6pPr>
            <a:lvl7pPr lvl="6">
              <a:spcBef>
                <a:spcPts val="0"/>
              </a:spcBef>
              <a:spcAft>
                <a:spcPts val="0"/>
              </a:spcAft>
              <a:buSzPts val="5700"/>
              <a:buNone/>
              <a:defRPr/>
            </a:lvl7pPr>
            <a:lvl8pPr lvl="7">
              <a:spcBef>
                <a:spcPts val="0"/>
              </a:spcBef>
              <a:spcAft>
                <a:spcPts val="0"/>
              </a:spcAft>
              <a:buSzPts val="5700"/>
              <a:buNone/>
              <a:defRPr/>
            </a:lvl8pPr>
            <a:lvl9pPr lvl="8">
              <a:spcBef>
                <a:spcPts val="0"/>
              </a:spcBef>
              <a:spcAft>
                <a:spcPts val="0"/>
              </a:spcAft>
              <a:buSzPts val="5700"/>
              <a:buNone/>
              <a:defRPr/>
            </a:lvl9pPr>
          </a:lstStyle>
          <a:p>
            <a:endParaRPr/>
          </a:p>
        </p:txBody>
      </p:sp>
      <p:sp>
        <p:nvSpPr>
          <p:cNvPr id="22" name="Google Shape;22;p5"/>
          <p:cNvSpPr txBox="1">
            <a:spLocks noGrp="1"/>
          </p:cNvSpPr>
          <p:nvPr>
            <p:ph type="body" idx="1"/>
          </p:nvPr>
        </p:nvSpPr>
        <p:spPr>
          <a:xfrm>
            <a:off x="623400" y="2253729"/>
            <a:ext cx="7999800" cy="6680700"/>
          </a:xfrm>
          <a:prstGeom prst="rect">
            <a:avLst/>
          </a:prstGeom>
        </p:spPr>
        <p:txBody>
          <a:bodyPr spcFirstLastPara="1" wrap="square" lIns="186925" tIns="186925" rIns="186925" bIns="186925" anchor="t" anchorCtr="0">
            <a:normAutofit/>
          </a:bodyPr>
          <a:lstStyle>
            <a:lvl1pPr marL="457200" lvl="0" indent="-412750">
              <a:spcBef>
                <a:spcPts val="0"/>
              </a:spcBef>
              <a:spcAft>
                <a:spcPts val="0"/>
              </a:spcAft>
              <a:buSzPts val="2900"/>
              <a:buChar char="●"/>
              <a:defRPr sz="2900"/>
            </a:lvl1pPr>
            <a:lvl2pPr marL="914400" lvl="1" indent="-387350">
              <a:spcBef>
                <a:spcPts val="0"/>
              </a:spcBef>
              <a:spcAft>
                <a:spcPts val="0"/>
              </a:spcAft>
              <a:buSzPts val="2500"/>
              <a:buChar char="○"/>
              <a:defRPr sz="2500"/>
            </a:lvl2pPr>
            <a:lvl3pPr marL="1371600" lvl="2" indent="-387350">
              <a:spcBef>
                <a:spcPts val="0"/>
              </a:spcBef>
              <a:spcAft>
                <a:spcPts val="0"/>
              </a:spcAft>
              <a:buSzPts val="2500"/>
              <a:buChar char="■"/>
              <a:defRPr sz="2500"/>
            </a:lvl3pPr>
            <a:lvl4pPr marL="1828800" lvl="3" indent="-387350">
              <a:spcBef>
                <a:spcPts val="0"/>
              </a:spcBef>
              <a:spcAft>
                <a:spcPts val="0"/>
              </a:spcAft>
              <a:buSzPts val="2500"/>
              <a:buChar char="●"/>
              <a:defRPr sz="2500"/>
            </a:lvl4pPr>
            <a:lvl5pPr marL="2286000" lvl="4" indent="-387350">
              <a:spcBef>
                <a:spcPts val="0"/>
              </a:spcBef>
              <a:spcAft>
                <a:spcPts val="0"/>
              </a:spcAft>
              <a:buSzPts val="2500"/>
              <a:buChar char="○"/>
              <a:defRPr sz="2500"/>
            </a:lvl5pPr>
            <a:lvl6pPr marL="2743200" lvl="5" indent="-387350">
              <a:spcBef>
                <a:spcPts val="0"/>
              </a:spcBef>
              <a:spcAft>
                <a:spcPts val="0"/>
              </a:spcAft>
              <a:buSzPts val="2500"/>
              <a:buChar char="■"/>
              <a:defRPr sz="2500"/>
            </a:lvl6pPr>
            <a:lvl7pPr marL="3200400" lvl="6" indent="-387350">
              <a:spcBef>
                <a:spcPts val="0"/>
              </a:spcBef>
              <a:spcAft>
                <a:spcPts val="0"/>
              </a:spcAft>
              <a:buSzPts val="2500"/>
              <a:buChar char="●"/>
              <a:defRPr sz="2500"/>
            </a:lvl7pPr>
            <a:lvl8pPr marL="3657600" lvl="7" indent="-387350">
              <a:spcBef>
                <a:spcPts val="0"/>
              </a:spcBef>
              <a:spcAft>
                <a:spcPts val="0"/>
              </a:spcAft>
              <a:buSzPts val="2500"/>
              <a:buChar char="○"/>
              <a:defRPr sz="2500"/>
            </a:lvl8pPr>
            <a:lvl9pPr marL="4114800" lvl="8" indent="-387350">
              <a:spcBef>
                <a:spcPts val="0"/>
              </a:spcBef>
              <a:spcAft>
                <a:spcPts val="0"/>
              </a:spcAft>
              <a:buSzPts val="2500"/>
              <a:buChar char="■"/>
              <a:defRPr sz="2500"/>
            </a:lvl9pPr>
          </a:lstStyle>
          <a:p>
            <a:endParaRPr/>
          </a:p>
        </p:txBody>
      </p:sp>
      <p:sp>
        <p:nvSpPr>
          <p:cNvPr id="23" name="Google Shape;23;p5"/>
          <p:cNvSpPr txBox="1">
            <a:spLocks noGrp="1"/>
          </p:cNvSpPr>
          <p:nvPr>
            <p:ph type="body" idx="2"/>
          </p:nvPr>
        </p:nvSpPr>
        <p:spPr>
          <a:xfrm>
            <a:off x="9664800" y="2253729"/>
            <a:ext cx="7999800" cy="6680700"/>
          </a:xfrm>
          <a:prstGeom prst="rect">
            <a:avLst/>
          </a:prstGeom>
        </p:spPr>
        <p:txBody>
          <a:bodyPr spcFirstLastPara="1" wrap="square" lIns="186925" tIns="186925" rIns="186925" bIns="186925" anchor="t" anchorCtr="0">
            <a:normAutofit/>
          </a:bodyPr>
          <a:lstStyle>
            <a:lvl1pPr marL="457200" lvl="0" indent="-412750">
              <a:spcBef>
                <a:spcPts val="0"/>
              </a:spcBef>
              <a:spcAft>
                <a:spcPts val="0"/>
              </a:spcAft>
              <a:buSzPts val="2900"/>
              <a:buChar char="●"/>
              <a:defRPr sz="2900"/>
            </a:lvl1pPr>
            <a:lvl2pPr marL="914400" lvl="1" indent="-387350">
              <a:spcBef>
                <a:spcPts val="0"/>
              </a:spcBef>
              <a:spcAft>
                <a:spcPts val="0"/>
              </a:spcAft>
              <a:buSzPts val="2500"/>
              <a:buChar char="○"/>
              <a:defRPr sz="2500"/>
            </a:lvl2pPr>
            <a:lvl3pPr marL="1371600" lvl="2" indent="-387350">
              <a:spcBef>
                <a:spcPts val="0"/>
              </a:spcBef>
              <a:spcAft>
                <a:spcPts val="0"/>
              </a:spcAft>
              <a:buSzPts val="2500"/>
              <a:buChar char="■"/>
              <a:defRPr sz="2500"/>
            </a:lvl3pPr>
            <a:lvl4pPr marL="1828800" lvl="3" indent="-387350">
              <a:spcBef>
                <a:spcPts val="0"/>
              </a:spcBef>
              <a:spcAft>
                <a:spcPts val="0"/>
              </a:spcAft>
              <a:buSzPts val="2500"/>
              <a:buChar char="●"/>
              <a:defRPr sz="2500"/>
            </a:lvl4pPr>
            <a:lvl5pPr marL="2286000" lvl="4" indent="-387350">
              <a:spcBef>
                <a:spcPts val="0"/>
              </a:spcBef>
              <a:spcAft>
                <a:spcPts val="0"/>
              </a:spcAft>
              <a:buSzPts val="2500"/>
              <a:buChar char="○"/>
              <a:defRPr sz="2500"/>
            </a:lvl5pPr>
            <a:lvl6pPr marL="2743200" lvl="5" indent="-387350">
              <a:spcBef>
                <a:spcPts val="0"/>
              </a:spcBef>
              <a:spcAft>
                <a:spcPts val="0"/>
              </a:spcAft>
              <a:buSzPts val="2500"/>
              <a:buChar char="■"/>
              <a:defRPr sz="2500"/>
            </a:lvl6pPr>
            <a:lvl7pPr marL="3200400" lvl="6" indent="-387350">
              <a:spcBef>
                <a:spcPts val="0"/>
              </a:spcBef>
              <a:spcAft>
                <a:spcPts val="0"/>
              </a:spcAft>
              <a:buSzPts val="2500"/>
              <a:buChar char="●"/>
              <a:defRPr sz="2500"/>
            </a:lvl7pPr>
            <a:lvl8pPr marL="3657600" lvl="7" indent="-387350">
              <a:spcBef>
                <a:spcPts val="0"/>
              </a:spcBef>
              <a:spcAft>
                <a:spcPts val="0"/>
              </a:spcAft>
              <a:buSzPts val="2500"/>
              <a:buChar char="○"/>
              <a:defRPr sz="2500"/>
            </a:lvl8pPr>
            <a:lvl9pPr marL="4114800" lvl="8" indent="-387350">
              <a:spcBef>
                <a:spcPts val="0"/>
              </a:spcBef>
              <a:spcAft>
                <a:spcPts val="0"/>
              </a:spcAft>
              <a:buSzPts val="2500"/>
              <a:buChar char="■"/>
              <a:defRPr sz="2500"/>
            </a:lvl9pPr>
          </a:lstStyle>
          <a:p>
            <a:endParaRPr/>
          </a:p>
        </p:txBody>
      </p:sp>
      <p:sp>
        <p:nvSpPr>
          <p:cNvPr id="24" name="Google Shape;24;p5"/>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623400" y="870271"/>
            <a:ext cx="17041200" cy="1120200"/>
          </a:xfrm>
          <a:prstGeom prst="rect">
            <a:avLst/>
          </a:prstGeom>
        </p:spPr>
        <p:txBody>
          <a:bodyPr spcFirstLastPara="1" wrap="square" lIns="186925" tIns="186925" rIns="186925" bIns="186925" anchor="t" anchorCtr="0">
            <a:normAutofit/>
          </a:bodyPr>
          <a:lstStyle>
            <a:lvl1pPr lvl="0">
              <a:spcBef>
                <a:spcPts val="0"/>
              </a:spcBef>
              <a:spcAft>
                <a:spcPts val="0"/>
              </a:spcAft>
              <a:buSzPts val="5700"/>
              <a:buNone/>
              <a:defRPr/>
            </a:lvl1pPr>
            <a:lvl2pPr lvl="1">
              <a:spcBef>
                <a:spcPts val="0"/>
              </a:spcBef>
              <a:spcAft>
                <a:spcPts val="0"/>
              </a:spcAft>
              <a:buSzPts val="5700"/>
              <a:buNone/>
              <a:defRPr/>
            </a:lvl2pPr>
            <a:lvl3pPr lvl="2">
              <a:spcBef>
                <a:spcPts val="0"/>
              </a:spcBef>
              <a:spcAft>
                <a:spcPts val="0"/>
              </a:spcAft>
              <a:buSzPts val="5700"/>
              <a:buNone/>
              <a:defRPr/>
            </a:lvl3pPr>
            <a:lvl4pPr lvl="3">
              <a:spcBef>
                <a:spcPts val="0"/>
              </a:spcBef>
              <a:spcAft>
                <a:spcPts val="0"/>
              </a:spcAft>
              <a:buSzPts val="5700"/>
              <a:buNone/>
              <a:defRPr/>
            </a:lvl4pPr>
            <a:lvl5pPr lvl="4">
              <a:spcBef>
                <a:spcPts val="0"/>
              </a:spcBef>
              <a:spcAft>
                <a:spcPts val="0"/>
              </a:spcAft>
              <a:buSzPts val="5700"/>
              <a:buNone/>
              <a:defRPr/>
            </a:lvl5pPr>
            <a:lvl6pPr lvl="5">
              <a:spcBef>
                <a:spcPts val="0"/>
              </a:spcBef>
              <a:spcAft>
                <a:spcPts val="0"/>
              </a:spcAft>
              <a:buSzPts val="5700"/>
              <a:buNone/>
              <a:defRPr/>
            </a:lvl6pPr>
            <a:lvl7pPr lvl="6">
              <a:spcBef>
                <a:spcPts val="0"/>
              </a:spcBef>
              <a:spcAft>
                <a:spcPts val="0"/>
              </a:spcAft>
              <a:buSzPts val="5700"/>
              <a:buNone/>
              <a:defRPr/>
            </a:lvl7pPr>
            <a:lvl8pPr lvl="7">
              <a:spcBef>
                <a:spcPts val="0"/>
              </a:spcBef>
              <a:spcAft>
                <a:spcPts val="0"/>
              </a:spcAft>
              <a:buSzPts val="5700"/>
              <a:buNone/>
              <a:defRPr/>
            </a:lvl8pPr>
            <a:lvl9pPr lvl="8">
              <a:spcBef>
                <a:spcPts val="0"/>
              </a:spcBef>
              <a:spcAft>
                <a:spcPts val="0"/>
              </a:spcAft>
              <a:buSzPts val="5700"/>
              <a:buNone/>
              <a:defRPr/>
            </a:lvl9pPr>
          </a:lstStyle>
          <a:p>
            <a:endParaRPr/>
          </a:p>
        </p:txBody>
      </p:sp>
      <p:sp>
        <p:nvSpPr>
          <p:cNvPr id="27" name="Google Shape;27;p6"/>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623400" y="1086507"/>
            <a:ext cx="5616000" cy="1477800"/>
          </a:xfrm>
          <a:prstGeom prst="rect">
            <a:avLst/>
          </a:prstGeom>
        </p:spPr>
        <p:txBody>
          <a:bodyPr spcFirstLastPara="1" wrap="square" lIns="186925" tIns="186925" rIns="186925" bIns="186925" anchor="b" anchorCtr="0">
            <a:normAutofit/>
          </a:bodyPr>
          <a:lstStyle>
            <a:lvl1pPr lvl="0">
              <a:spcBef>
                <a:spcPts val="0"/>
              </a:spcBef>
              <a:spcAft>
                <a:spcPts val="0"/>
              </a:spcAft>
              <a:buSzPts val="4900"/>
              <a:buNone/>
              <a:defRPr sz="4900"/>
            </a:lvl1pPr>
            <a:lvl2pPr lvl="1">
              <a:spcBef>
                <a:spcPts val="0"/>
              </a:spcBef>
              <a:spcAft>
                <a:spcPts val="0"/>
              </a:spcAft>
              <a:buSzPts val="4900"/>
              <a:buNone/>
              <a:defRPr sz="4900"/>
            </a:lvl2pPr>
            <a:lvl3pPr lvl="2">
              <a:spcBef>
                <a:spcPts val="0"/>
              </a:spcBef>
              <a:spcAft>
                <a:spcPts val="0"/>
              </a:spcAft>
              <a:buSzPts val="4900"/>
              <a:buNone/>
              <a:defRPr sz="4900"/>
            </a:lvl3pPr>
            <a:lvl4pPr lvl="3">
              <a:spcBef>
                <a:spcPts val="0"/>
              </a:spcBef>
              <a:spcAft>
                <a:spcPts val="0"/>
              </a:spcAft>
              <a:buSzPts val="4900"/>
              <a:buNone/>
              <a:defRPr sz="4900"/>
            </a:lvl4pPr>
            <a:lvl5pPr lvl="4">
              <a:spcBef>
                <a:spcPts val="0"/>
              </a:spcBef>
              <a:spcAft>
                <a:spcPts val="0"/>
              </a:spcAft>
              <a:buSzPts val="4900"/>
              <a:buNone/>
              <a:defRPr sz="4900"/>
            </a:lvl5pPr>
            <a:lvl6pPr lvl="5">
              <a:spcBef>
                <a:spcPts val="0"/>
              </a:spcBef>
              <a:spcAft>
                <a:spcPts val="0"/>
              </a:spcAft>
              <a:buSzPts val="4900"/>
              <a:buNone/>
              <a:defRPr sz="4900"/>
            </a:lvl6pPr>
            <a:lvl7pPr lvl="6">
              <a:spcBef>
                <a:spcPts val="0"/>
              </a:spcBef>
              <a:spcAft>
                <a:spcPts val="0"/>
              </a:spcAft>
              <a:buSzPts val="4900"/>
              <a:buNone/>
              <a:defRPr sz="4900"/>
            </a:lvl7pPr>
            <a:lvl8pPr lvl="7">
              <a:spcBef>
                <a:spcPts val="0"/>
              </a:spcBef>
              <a:spcAft>
                <a:spcPts val="0"/>
              </a:spcAft>
              <a:buSzPts val="4900"/>
              <a:buNone/>
              <a:defRPr sz="4900"/>
            </a:lvl8pPr>
            <a:lvl9pPr lvl="8">
              <a:spcBef>
                <a:spcPts val="0"/>
              </a:spcBef>
              <a:spcAft>
                <a:spcPts val="0"/>
              </a:spcAft>
              <a:buSzPts val="4900"/>
              <a:buNone/>
              <a:defRPr sz="4900"/>
            </a:lvl9pPr>
          </a:lstStyle>
          <a:p>
            <a:endParaRPr/>
          </a:p>
        </p:txBody>
      </p:sp>
      <p:sp>
        <p:nvSpPr>
          <p:cNvPr id="30" name="Google Shape;30;p7"/>
          <p:cNvSpPr txBox="1">
            <a:spLocks noGrp="1"/>
          </p:cNvSpPr>
          <p:nvPr>
            <p:ph type="body" idx="1"/>
          </p:nvPr>
        </p:nvSpPr>
        <p:spPr>
          <a:xfrm>
            <a:off x="623400" y="2717440"/>
            <a:ext cx="5616000" cy="6217500"/>
          </a:xfrm>
          <a:prstGeom prst="rect">
            <a:avLst/>
          </a:prstGeom>
        </p:spPr>
        <p:txBody>
          <a:bodyPr spcFirstLastPara="1" wrap="square" lIns="186925" tIns="186925" rIns="186925" bIns="186925" anchor="t" anchorCtr="0">
            <a:normAutofit/>
          </a:bodyPr>
          <a:lstStyle>
            <a:lvl1pPr marL="457200" lvl="0" indent="-387350">
              <a:spcBef>
                <a:spcPts val="0"/>
              </a:spcBef>
              <a:spcAft>
                <a:spcPts val="0"/>
              </a:spcAft>
              <a:buSzPts val="2500"/>
              <a:buChar char="●"/>
              <a:defRPr sz="2500"/>
            </a:lvl1pPr>
            <a:lvl2pPr marL="914400" lvl="1" indent="-387350">
              <a:spcBef>
                <a:spcPts val="0"/>
              </a:spcBef>
              <a:spcAft>
                <a:spcPts val="0"/>
              </a:spcAft>
              <a:buSzPts val="2500"/>
              <a:buChar char="○"/>
              <a:defRPr sz="2500"/>
            </a:lvl2pPr>
            <a:lvl3pPr marL="1371600" lvl="2" indent="-387350">
              <a:spcBef>
                <a:spcPts val="0"/>
              </a:spcBef>
              <a:spcAft>
                <a:spcPts val="0"/>
              </a:spcAft>
              <a:buSzPts val="2500"/>
              <a:buChar char="■"/>
              <a:defRPr sz="2500"/>
            </a:lvl3pPr>
            <a:lvl4pPr marL="1828800" lvl="3" indent="-387350">
              <a:spcBef>
                <a:spcPts val="0"/>
              </a:spcBef>
              <a:spcAft>
                <a:spcPts val="0"/>
              </a:spcAft>
              <a:buSzPts val="2500"/>
              <a:buChar char="●"/>
              <a:defRPr sz="2500"/>
            </a:lvl4pPr>
            <a:lvl5pPr marL="2286000" lvl="4" indent="-387350">
              <a:spcBef>
                <a:spcPts val="0"/>
              </a:spcBef>
              <a:spcAft>
                <a:spcPts val="0"/>
              </a:spcAft>
              <a:buSzPts val="2500"/>
              <a:buChar char="○"/>
              <a:defRPr sz="2500"/>
            </a:lvl5pPr>
            <a:lvl6pPr marL="2743200" lvl="5" indent="-387350">
              <a:spcBef>
                <a:spcPts val="0"/>
              </a:spcBef>
              <a:spcAft>
                <a:spcPts val="0"/>
              </a:spcAft>
              <a:buSzPts val="2500"/>
              <a:buChar char="■"/>
              <a:defRPr sz="2500"/>
            </a:lvl6pPr>
            <a:lvl7pPr marL="3200400" lvl="6" indent="-387350">
              <a:spcBef>
                <a:spcPts val="0"/>
              </a:spcBef>
              <a:spcAft>
                <a:spcPts val="0"/>
              </a:spcAft>
              <a:buSzPts val="2500"/>
              <a:buChar char="●"/>
              <a:defRPr sz="2500"/>
            </a:lvl7pPr>
            <a:lvl8pPr marL="3657600" lvl="7" indent="-387350">
              <a:spcBef>
                <a:spcPts val="0"/>
              </a:spcBef>
              <a:spcAft>
                <a:spcPts val="0"/>
              </a:spcAft>
              <a:buSzPts val="2500"/>
              <a:buChar char="○"/>
              <a:defRPr sz="2500"/>
            </a:lvl8pPr>
            <a:lvl9pPr marL="4114800" lvl="8" indent="-387350">
              <a:spcBef>
                <a:spcPts val="0"/>
              </a:spcBef>
              <a:spcAft>
                <a:spcPts val="0"/>
              </a:spcAft>
              <a:buSzPts val="2500"/>
              <a:buChar char="■"/>
              <a:defRPr sz="2500"/>
            </a:lvl9pPr>
          </a:lstStyle>
          <a:p>
            <a:endParaRPr/>
          </a:p>
        </p:txBody>
      </p:sp>
      <p:sp>
        <p:nvSpPr>
          <p:cNvPr id="31" name="Google Shape;31;p7"/>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980500" y="880293"/>
            <a:ext cx="12735600" cy="7999800"/>
          </a:xfrm>
          <a:prstGeom prst="rect">
            <a:avLst/>
          </a:prstGeom>
        </p:spPr>
        <p:txBody>
          <a:bodyPr spcFirstLastPara="1" wrap="square" lIns="186925" tIns="186925" rIns="186925" bIns="186925" anchor="ctr" anchorCtr="0">
            <a:normAutofit/>
          </a:bodyPr>
          <a:lstStyle>
            <a:lvl1pPr lvl="0">
              <a:spcBef>
                <a:spcPts val="0"/>
              </a:spcBef>
              <a:spcAft>
                <a:spcPts val="0"/>
              </a:spcAft>
              <a:buSzPts val="9800"/>
              <a:buNone/>
              <a:defRPr sz="9800"/>
            </a:lvl1pPr>
            <a:lvl2pPr lvl="1">
              <a:spcBef>
                <a:spcPts val="0"/>
              </a:spcBef>
              <a:spcAft>
                <a:spcPts val="0"/>
              </a:spcAft>
              <a:buSzPts val="9800"/>
              <a:buNone/>
              <a:defRPr sz="9800"/>
            </a:lvl2pPr>
            <a:lvl3pPr lvl="2">
              <a:spcBef>
                <a:spcPts val="0"/>
              </a:spcBef>
              <a:spcAft>
                <a:spcPts val="0"/>
              </a:spcAft>
              <a:buSzPts val="9800"/>
              <a:buNone/>
              <a:defRPr sz="9800"/>
            </a:lvl3pPr>
            <a:lvl4pPr lvl="3">
              <a:spcBef>
                <a:spcPts val="0"/>
              </a:spcBef>
              <a:spcAft>
                <a:spcPts val="0"/>
              </a:spcAft>
              <a:buSzPts val="9800"/>
              <a:buNone/>
              <a:defRPr sz="9800"/>
            </a:lvl4pPr>
            <a:lvl5pPr lvl="4">
              <a:spcBef>
                <a:spcPts val="0"/>
              </a:spcBef>
              <a:spcAft>
                <a:spcPts val="0"/>
              </a:spcAft>
              <a:buSzPts val="9800"/>
              <a:buNone/>
              <a:defRPr sz="9800"/>
            </a:lvl5pPr>
            <a:lvl6pPr lvl="5">
              <a:spcBef>
                <a:spcPts val="0"/>
              </a:spcBef>
              <a:spcAft>
                <a:spcPts val="0"/>
              </a:spcAft>
              <a:buSzPts val="9800"/>
              <a:buNone/>
              <a:defRPr sz="9800"/>
            </a:lvl6pPr>
            <a:lvl7pPr lvl="6">
              <a:spcBef>
                <a:spcPts val="0"/>
              </a:spcBef>
              <a:spcAft>
                <a:spcPts val="0"/>
              </a:spcAft>
              <a:buSzPts val="9800"/>
              <a:buNone/>
              <a:defRPr sz="9800"/>
            </a:lvl7pPr>
            <a:lvl8pPr lvl="7">
              <a:spcBef>
                <a:spcPts val="0"/>
              </a:spcBef>
              <a:spcAft>
                <a:spcPts val="0"/>
              </a:spcAft>
              <a:buSzPts val="9800"/>
              <a:buNone/>
              <a:defRPr sz="9800"/>
            </a:lvl8pPr>
            <a:lvl9pPr lvl="8">
              <a:spcBef>
                <a:spcPts val="0"/>
              </a:spcBef>
              <a:spcAft>
                <a:spcPts val="0"/>
              </a:spcAft>
              <a:buSzPts val="9800"/>
              <a:buNone/>
              <a:defRPr sz="9800"/>
            </a:lvl9pPr>
          </a:lstStyle>
          <a:p>
            <a:endParaRPr/>
          </a:p>
        </p:txBody>
      </p:sp>
      <p:sp>
        <p:nvSpPr>
          <p:cNvPr id="34" name="Google Shape;34;p8"/>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9144000" y="-244"/>
            <a:ext cx="9144000" cy="10058400"/>
          </a:xfrm>
          <a:prstGeom prst="rect">
            <a:avLst/>
          </a:prstGeom>
          <a:solidFill>
            <a:schemeClr val="lt2"/>
          </a:solidFill>
          <a:ln>
            <a:noFill/>
          </a:ln>
        </p:spPr>
        <p:txBody>
          <a:bodyPr spcFirstLastPara="1" wrap="square" lIns="186925" tIns="186925" rIns="186925" bIns="1869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531000" y="2411542"/>
            <a:ext cx="8090400" cy="2898900"/>
          </a:xfrm>
          <a:prstGeom prst="rect">
            <a:avLst/>
          </a:prstGeom>
        </p:spPr>
        <p:txBody>
          <a:bodyPr spcFirstLastPara="1" wrap="square" lIns="186925" tIns="186925" rIns="186925" bIns="186925" anchor="b" anchorCtr="0">
            <a:normAutofit/>
          </a:bodyPr>
          <a:lstStyle>
            <a:lvl1pPr lvl="0" algn="ctr">
              <a:spcBef>
                <a:spcPts val="0"/>
              </a:spcBef>
              <a:spcAft>
                <a:spcPts val="0"/>
              </a:spcAft>
              <a:buSzPts val="8600"/>
              <a:buNone/>
              <a:defRPr sz="8600"/>
            </a:lvl1pPr>
            <a:lvl2pPr lvl="1" algn="ctr">
              <a:spcBef>
                <a:spcPts val="0"/>
              </a:spcBef>
              <a:spcAft>
                <a:spcPts val="0"/>
              </a:spcAft>
              <a:buSzPts val="8600"/>
              <a:buNone/>
              <a:defRPr sz="8600"/>
            </a:lvl2pPr>
            <a:lvl3pPr lvl="2" algn="ctr">
              <a:spcBef>
                <a:spcPts val="0"/>
              </a:spcBef>
              <a:spcAft>
                <a:spcPts val="0"/>
              </a:spcAft>
              <a:buSzPts val="8600"/>
              <a:buNone/>
              <a:defRPr sz="8600"/>
            </a:lvl3pPr>
            <a:lvl4pPr lvl="3" algn="ctr">
              <a:spcBef>
                <a:spcPts val="0"/>
              </a:spcBef>
              <a:spcAft>
                <a:spcPts val="0"/>
              </a:spcAft>
              <a:buSzPts val="8600"/>
              <a:buNone/>
              <a:defRPr sz="8600"/>
            </a:lvl4pPr>
            <a:lvl5pPr lvl="4" algn="ctr">
              <a:spcBef>
                <a:spcPts val="0"/>
              </a:spcBef>
              <a:spcAft>
                <a:spcPts val="0"/>
              </a:spcAft>
              <a:buSzPts val="8600"/>
              <a:buNone/>
              <a:defRPr sz="8600"/>
            </a:lvl5pPr>
            <a:lvl6pPr lvl="5" algn="ctr">
              <a:spcBef>
                <a:spcPts val="0"/>
              </a:spcBef>
              <a:spcAft>
                <a:spcPts val="0"/>
              </a:spcAft>
              <a:buSzPts val="8600"/>
              <a:buNone/>
              <a:defRPr sz="8600"/>
            </a:lvl6pPr>
            <a:lvl7pPr lvl="6" algn="ctr">
              <a:spcBef>
                <a:spcPts val="0"/>
              </a:spcBef>
              <a:spcAft>
                <a:spcPts val="0"/>
              </a:spcAft>
              <a:buSzPts val="8600"/>
              <a:buNone/>
              <a:defRPr sz="8600"/>
            </a:lvl7pPr>
            <a:lvl8pPr lvl="7" algn="ctr">
              <a:spcBef>
                <a:spcPts val="0"/>
              </a:spcBef>
              <a:spcAft>
                <a:spcPts val="0"/>
              </a:spcAft>
              <a:buSzPts val="8600"/>
              <a:buNone/>
              <a:defRPr sz="8600"/>
            </a:lvl8pPr>
            <a:lvl9pPr lvl="8" algn="ctr">
              <a:spcBef>
                <a:spcPts val="0"/>
              </a:spcBef>
              <a:spcAft>
                <a:spcPts val="0"/>
              </a:spcAft>
              <a:buSzPts val="8600"/>
              <a:buNone/>
              <a:defRPr sz="8600"/>
            </a:lvl9pPr>
          </a:lstStyle>
          <a:p>
            <a:endParaRPr/>
          </a:p>
        </p:txBody>
      </p:sp>
      <p:sp>
        <p:nvSpPr>
          <p:cNvPr id="38" name="Google Shape;38;p9"/>
          <p:cNvSpPr txBox="1">
            <a:spLocks noGrp="1"/>
          </p:cNvSpPr>
          <p:nvPr>
            <p:ph type="subTitle" idx="1"/>
          </p:nvPr>
        </p:nvSpPr>
        <p:spPr>
          <a:xfrm>
            <a:off x="531000" y="5481569"/>
            <a:ext cx="8090400" cy="2415300"/>
          </a:xfrm>
          <a:prstGeom prst="rect">
            <a:avLst/>
          </a:prstGeom>
        </p:spPr>
        <p:txBody>
          <a:bodyPr spcFirstLastPara="1" wrap="square" lIns="186925" tIns="186925" rIns="186925" bIns="186925" anchor="t" anchorCtr="0">
            <a:normAutofit/>
          </a:bodyPr>
          <a:lstStyle>
            <a:lvl1pPr lvl="0" algn="ctr">
              <a:lnSpc>
                <a:spcPct val="100000"/>
              </a:lnSpc>
              <a:spcBef>
                <a:spcPts val="0"/>
              </a:spcBef>
              <a:spcAft>
                <a:spcPts val="0"/>
              </a:spcAft>
              <a:buSzPts val="4300"/>
              <a:buNone/>
              <a:defRPr sz="4300"/>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a:endParaRPr/>
          </a:p>
        </p:txBody>
      </p:sp>
      <p:sp>
        <p:nvSpPr>
          <p:cNvPr id="39" name="Google Shape;39;p9"/>
          <p:cNvSpPr txBox="1">
            <a:spLocks noGrp="1"/>
          </p:cNvSpPr>
          <p:nvPr>
            <p:ph type="body" idx="2"/>
          </p:nvPr>
        </p:nvSpPr>
        <p:spPr>
          <a:xfrm>
            <a:off x="9879000" y="1415969"/>
            <a:ext cx="7674000" cy="7225800"/>
          </a:xfrm>
          <a:prstGeom prst="rect">
            <a:avLst/>
          </a:prstGeom>
        </p:spPr>
        <p:txBody>
          <a:bodyPr spcFirstLastPara="1" wrap="square" lIns="186925" tIns="186925" rIns="186925" bIns="186925" anchor="ctr" anchorCtr="0">
            <a:normAutofit/>
          </a:bodyPr>
          <a:lstStyle>
            <a:lvl1pPr marL="457200" lvl="0" indent="-463550">
              <a:spcBef>
                <a:spcPts val="0"/>
              </a:spcBef>
              <a:spcAft>
                <a:spcPts val="0"/>
              </a:spcAft>
              <a:buSzPts val="3700"/>
              <a:buChar char="●"/>
              <a:defRPr/>
            </a:lvl1pPr>
            <a:lvl2pPr marL="914400" lvl="1" indent="-412750">
              <a:spcBef>
                <a:spcPts val="0"/>
              </a:spcBef>
              <a:spcAft>
                <a:spcPts val="0"/>
              </a:spcAft>
              <a:buSzPts val="2900"/>
              <a:buChar char="○"/>
              <a:defRPr/>
            </a:lvl2pPr>
            <a:lvl3pPr marL="1371600" lvl="2" indent="-412750">
              <a:spcBef>
                <a:spcPts val="0"/>
              </a:spcBef>
              <a:spcAft>
                <a:spcPts val="0"/>
              </a:spcAft>
              <a:buSzPts val="2900"/>
              <a:buChar char="■"/>
              <a:defRPr/>
            </a:lvl3pPr>
            <a:lvl4pPr marL="1828800" lvl="3" indent="-412750">
              <a:spcBef>
                <a:spcPts val="0"/>
              </a:spcBef>
              <a:spcAft>
                <a:spcPts val="0"/>
              </a:spcAft>
              <a:buSzPts val="2900"/>
              <a:buChar char="●"/>
              <a:defRPr/>
            </a:lvl4pPr>
            <a:lvl5pPr marL="2286000" lvl="4" indent="-412750">
              <a:spcBef>
                <a:spcPts val="0"/>
              </a:spcBef>
              <a:spcAft>
                <a:spcPts val="0"/>
              </a:spcAft>
              <a:buSzPts val="2900"/>
              <a:buChar char="○"/>
              <a:defRPr/>
            </a:lvl5pPr>
            <a:lvl6pPr marL="2743200" lvl="5" indent="-412750">
              <a:spcBef>
                <a:spcPts val="0"/>
              </a:spcBef>
              <a:spcAft>
                <a:spcPts val="0"/>
              </a:spcAft>
              <a:buSzPts val="2900"/>
              <a:buChar char="■"/>
              <a:defRPr/>
            </a:lvl6pPr>
            <a:lvl7pPr marL="3200400" lvl="6" indent="-412750">
              <a:spcBef>
                <a:spcPts val="0"/>
              </a:spcBef>
              <a:spcAft>
                <a:spcPts val="0"/>
              </a:spcAft>
              <a:buSzPts val="2900"/>
              <a:buChar char="●"/>
              <a:defRPr/>
            </a:lvl7pPr>
            <a:lvl8pPr marL="3657600" lvl="7" indent="-412750">
              <a:spcBef>
                <a:spcPts val="0"/>
              </a:spcBef>
              <a:spcAft>
                <a:spcPts val="0"/>
              </a:spcAft>
              <a:buSzPts val="2900"/>
              <a:buChar char="○"/>
              <a:defRPr/>
            </a:lvl8pPr>
            <a:lvl9pPr marL="4114800" lvl="8" indent="-412750">
              <a:spcBef>
                <a:spcPts val="0"/>
              </a:spcBef>
              <a:spcAft>
                <a:spcPts val="0"/>
              </a:spcAft>
              <a:buSzPts val="2900"/>
              <a:buChar char="■"/>
              <a:defRPr/>
            </a:lvl9pPr>
          </a:lstStyle>
          <a:p>
            <a:endParaRPr/>
          </a:p>
        </p:txBody>
      </p:sp>
      <p:sp>
        <p:nvSpPr>
          <p:cNvPr id="40" name="Google Shape;40;p9"/>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623400" y="8273124"/>
            <a:ext cx="11997600" cy="1183200"/>
          </a:xfrm>
          <a:prstGeom prst="rect">
            <a:avLst/>
          </a:prstGeom>
        </p:spPr>
        <p:txBody>
          <a:bodyPr spcFirstLastPara="1" wrap="square" lIns="186925" tIns="186925" rIns="186925" bIns="186925" anchor="ctr" anchorCtr="0">
            <a:normAutofit/>
          </a:bodyPr>
          <a:lstStyle>
            <a:lvl1pPr marL="457200" lvl="0" indent="-228600">
              <a:lnSpc>
                <a:spcPct val="100000"/>
              </a:lnSpc>
              <a:spcBef>
                <a:spcPts val="0"/>
              </a:spcBef>
              <a:spcAft>
                <a:spcPts val="0"/>
              </a:spcAft>
              <a:buSzPts val="3700"/>
              <a:buNone/>
              <a:defRPr/>
            </a:lvl1pPr>
          </a:lstStyle>
          <a:p>
            <a:endParaRPr/>
          </a:p>
        </p:txBody>
      </p:sp>
      <p:sp>
        <p:nvSpPr>
          <p:cNvPr id="43" name="Google Shape;43;p10"/>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623400" y="2163089"/>
            <a:ext cx="17041200" cy="3839700"/>
          </a:xfrm>
          <a:prstGeom prst="rect">
            <a:avLst/>
          </a:prstGeom>
        </p:spPr>
        <p:txBody>
          <a:bodyPr spcFirstLastPara="1" wrap="square" lIns="186925" tIns="186925" rIns="186925" bIns="186925" anchor="b" anchorCtr="0">
            <a:normAutofit/>
          </a:bodyPr>
          <a:lstStyle>
            <a:lvl1pPr lvl="0" algn="ctr">
              <a:spcBef>
                <a:spcPts val="0"/>
              </a:spcBef>
              <a:spcAft>
                <a:spcPts val="0"/>
              </a:spcAft>
              <a:buSzPts val="24500"/>
              <a:buNone/>
              <a:defRPr sz="24500"/>
            </a:lvl1pPr>
            <a:lvl2pPr lvl="1" algn="ctr">
              <a:spcBef>
                <a:spcPts val="0"/>
              </a:spcBef>
              <a:spcAft>
                <a:spcPts val="0"/>
              </a:spcAft>
              <a:buSzPts val="24500"/>
              <a:buNone/>
              <a:defRPr sz="24500"/>
            </a:lvl2pPr>
            <a:lvl3pPr lvl="2" algn="ctr">
              <a:spcBef>
                <a:spcPts val="0"/>
              </a:spcBef>
              <a:spcAft>
                <a:spcPts val="0"/>
              </a:spcAft>
              <a:buSzPts val="24500"/>
              <a:buNone/>
              <a:defRPr sz="24500"/>
            </a:lvl3pPr>
            <a:lvl4pPr lvl="3" algn="ctr">
              <a:spcBef>
                <a:spcPts val="0"/>
              </a:spcBef>
              <a:spcAft>
                <a:spcPts val="0"/>
              </a:spcAft>
              <a:buSzPts val="24500"/>
              <a:buNone/>
              <a:defRPr sz="24500"/>
            </a:lvl4pPr>
            <a:lvl5pPr lvl="4" algn="ctr">
              <a:spcBef>
                <a:spcPts val="0"/>
              </a:spcBef>
              <a:spcAft>
                <a:spcPts val="0"/>
              </a:spcAft>
              <a:buSzPts val="24500"/>
              <a:buNone/>
              <a:defRPr sz="24500"/>
            </a:lvl5pPr>
            <a:lvl6pPr lvl="5" algn="ctr">
              <a:spcBef>
                <a:spcPts val="0"/>
              </a:spcBef>
              <a:spcAft>
                <a:spcPts val="0"/>
              </a:spcAft>
              <a:buSzPts val="24500"/>
              <a:buNone/>
              <a:defRPr sz="24500"/>
            </a:lvl6pPr>
            <a:lvl7pPr lvl="6" algn="ctr">
              <a:spcBef>
                <a:spcPts val="0"/>
              </a:spcBef>
              <a:spcAft>
                <a:spcPts val="0"/>
              </a:spcAft>
              <a:buSzPts val="24500"/>
              <a:buNone/>
              <a:defRPr sz="24500"/>
            </a:lvl7pPr>
            <a:lvl8pPr lvl="7" algn="ctr">
              <a:spcBef>
                <a:spcPts val="0"/>
              </a:spcBef>
              <a:spcAft>
                <a:spcPts val="0"/>
              </a:spcAft>
              <a:buSzPts val="24500"/>
              <a:buNone/>
              <a:defRPr sz="24500"/>
            </a:lvl8pPr>
            <a:lvl9pPr lvl="8" algn="ctr">
              <a:spcBef>
                <a:spcPts val="0"/>
              </a:spcBef>
              <a:spcAft>
                <a:spcPts val="0"/>
              </a:spcAft>
              <a:buSzPts val="24500"/>
              <a:buNone/>
              <a:defRPr sz="24500"/>
            </a:lvl9pPr>
          </a:lstStyle>
          <a:p>
            <a:r>
              <a:t>xx%</a:t>
            </a:r>
          </a:p>
        </p:txBody>
      </p:sp>
      <p:sp>
        <p:nvSpPr>
          <p:cNvPr id="46" name="Google Shape;46;p11"/>
          <p:cNvSpPr txBox="1">
            <a:spLocks noGrp="1"/>
          </p:cNvSpPr>
          <p:nvPr>
            <p:ph type="body" idx="1"/>
          </p:nvPr>
        </p:nvSpPr>
        <p:spPr>
          <a:xfrm>
            <a:off x="623400" y="6164351"/>
            <a:ext cx="17041200" cy="2543700"/>
          </a:xfrm>
          <a:prstGeom prst="rect">
            <a:avLst/>
          </a:prstGeom>
        </p:spPr>
        <p:txBody>
          <a:bodyPr spcFirstLastPara="1" wrap="square" lIns="186925" tIns="186925" rIns="186925" bIns="186925" anchor="t" anchorCtr="0">
            <a:normAutofit/>
          </a:bodyPr>
          <a:lstStyle>
            <a:lvl1pPr marL="457200" lvl="0" indent="-463550" algn="ctr">
              <a:spcBef>
                <a:spcPts val="0"/>
              </a:spcBef>
              <a:spcAft>
                <a:spcPts val="0"/>
              </a:spcAft>
              <a:buSzPts val="3700"/>
              <a:buChar char="●"/>
              <a:defRPr/>
            </a:lvl1pPr>
            <a:lvl2pPr marL="914400" lvl="1" indent="-412750" algn="ctr">
              <a:spcBef>
                <a:spcPts val="0"/>
              </a:spcBef>
              <a:spcAft>
                <a:spcPts val="0"/>
              </a:spcAft>
              <a:buSzPts val="2900"/>
              <a:buChar char="○"/>
              <a:defRPr/>
            </a:lvl2pPr>
            <a:lvl3pPr marL="1371600" lvl="2" indent="-412750" algn="ctr">
              <a:spcBef>
                <a:spcPts val="0"/>
              </a:spcBef>
              <a:spcAft>
                <a:spcPts val="0"/>
              </a:spcAft>
              <a:buSzPts val="2900"/>
              <a:buChar char="■"/>
              <a:defRPr/>
            </a:lvl3pPr>
            <a:lvl4pPr marL="1828800" lvl="3" indent="-412750" algn="ctr">
              <a:spcBef>
                <a:spcPts val="0"/>
              </a:spcBef>
              <a:spcAft>
                <a:spcPts val="0"/>
              </a:spcAft>
              <a:buSzPts val="2900"/>
              <a:buChar char="●"/>
              <a:defRPr/>
            </a:lvl4pPr>
            <a:lvl5pPr marL="2286000" lvl="4" indent="-412750" algn="ctr">
              <a:spcBef>
                <a:spcPts val="0"/>
              </a:spcBef>
              <a:spcAft>
                <a:spcPts val="0"/>
              </a:spcAft>
              <a:buSzPts val="2900"/>
              <a:buChar char="○"/>
              <a:defRPr/>
            </a:lvl5pPr>
            <a:lvl6pPr marL="2743200" lvl="5" indent="-412750" algn="ctr">
              <a:spcBef>
                <a:spcPts val="0"/>
              </a:spcBef>
              <a:spcAft>
                <a:spcPts val="0"/>
              </a:spcAft>
              <a:buSzPts val="2900"/>
              <a:buChar char="■"/>
              <a:defRPr/>
            </a:lvl6pPr>
            <a:lvl7pPr marL="3200400" lvl="6" indent="-412750" algn="ctr">
              <a:spcBef>
                <a:spcPts val="0"/>
              </a:spcBef>
              <a:spcAft>
                <a:spcPts val="0"/>
              </a:spcAft>
              <a:buSzPts val="2900"/>
              <a:buChar char="●"/>
              <a:defRPr/>
            </a:lvl7pPr>
            <a:lvl8pPr marL="3657600" lvl="7" indent="-412750" algn="ctr">
              <a:spcBef>
                <a:spcPts val="0"/>
              </a:spcBef>
              <a:spcAft>
                <a:spcPts val="0"/>
              </a:spcAft>
              <a:buSzPts val="2900"/>
              <a:buChar char="○"/>
              <a:defRPr/>
            </a:lvl8pPr>
            <a:lvl9pPr marL="4114800" lvl="8" indent="-412750" algn="ctr">
              <a:spcBef>
                <a:spcPts val="0"/>
              </a:spcBef>
              <a:spcAft>
                <a:spcPts val="0"/>
              </a:spcAft>
              <a:buSzPts val="2900"/>
              <a:buChar char="■"/>
              <a:defRPr/>
            </a:lvl9pPr>
          </a:lstStyle>
          <a:p>
            <a:endParaRPr/>
          </a:p>
        </p:txBody>
      </p:sp>
      <p:sp>
        <p:nvSpPr>
          <p:cNvPr id="47" name="Google Shape;47;p11"/>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6944916" y="9119180"/>
            <a:ext cx="1097400" cy="769800"/>
          </a:xfrm>
          <a:prstGeom prst="rect">
            <a:avLst/>
          </a:prstGeom>
        </p:spPr>
        <p:txBody>
          <a:bodyPr spcFirstLastPara="1" wrap="square" lIns="186925" tIns="186925" rIns="186925" bIns="1869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3400" y="870271"/>
            <a:ext cx="17041200" cy="1120200"/>
          </a:xfrm>
          <a:prstGeom prst="rect">
            <a:avLst/>
          </a:prstGeom>
          <a:noFill/>
          <a:ln>
            <a:noFill/>
          </a:ln>
        </p:spPr>
        <p:txBody>
          <a:bodyPr spcFirstLastPara="1" wrap="square" lIns="186925" tIns="186925" rIns="186925" bIns="186925" anchor="t" anchorCtr="0">
            <a:normAutofit/>
          </a:bodyPr>
          <a:lstStyle>
            <a:lvl1pPr lvl="0">
              <a:spcBef>
                <a:spcPts val="0"/>
              </a:spcBef>
              <a:spcAft>
                <a:spcPts val="0"/>
              </a:spcAft>
              <a:buClr>
                <a:schemeClr val="dk1"/>
              </a:buClr>
              <a:buSzPts val="5700"/>
              <a:buNone/>
              <a:defRPr sz="5700">
                <a:solidFill>
                  <a:schemeClr val="dk1"/>
                </a:solidFill>
              </a:defRPr>
            </a:lvl1pPr>
            <a:lvl2pPr lvl="1">
              <a:spcBef>
                <a:spcPts val="0"/>
              </a:spcBef>
              <a:spcAft>
                <a:spcPts val="0"/>
              </a:spcAft>
              <a:buClr>
                <a:schemeClr val="dk1"/>
              </a:buClr>
              <a:buSzPts val="5700"/>
              <a:buNone/>
              <a:defRPr sz="5700">
                <a:solidFill>
                  <a:schemeClr val="dk1"/>
                </a:solidFill>
              </a:defRPr>
            </a:lvl2pPr>
            <a:lvl3pPr lvl="2">
              <a:spcBef>
                <a:spcPts val="0"/>
              </a:spcBef>
              <a:spcAft>
                <a:spcPts val="0"/>
              </a:spcAft>
              <a:buClr>
                <a:schemeClr val="dk1"/>
              </a:buClr>
              <a:buSzPts val="5700"/>
              <a:buNone/>
              <a:defRPr sz="5700">
                <a:solidFill>
                  <a:schemeClr val="dk1"/>
                </a:solidFill>
              </a:defRPr>
            </a:lvl3pPr>
            <a:lvl4pPr lvl="3">
              <a:spcBef>
                <a:spcPts val="0"/>
              </a:spcBef>
              <a:spcAft>
                <a:spcPts val="0"/>
              </a:spcAft>
              <a:buClr>
                <a:schemeClr val="dk1"/>
              </a:buClr>
              <a:buSzPts val="5700"/>
              <a:buNone/>
              <a:defRPr sz="5700">
                <a:solidFill>
                  <a:schemeClr val="dk1"/>
                </a:solidFill>
              </a:defRPr>
            </a:lvl4pPr>
            <a:lvl5pPr lvl="4">
              <a:spcBef>
                <a:spcPts val="0"/>
              </a:spcBef>
              <a:spcAft>
                <a:spcPts val="0"/>
              </a:spcAft>
              <a:buClr>
                <a:schemeClr val="dk1"/>
              </a:buClr>
              <a:buSzPts val="5700"/>
              <a:buNone/>
              <a:defRPr sz="5700">
                <a:solidFill>
                  <a:schemeClr val="dk1"/>
                </a:solidFill>
              </a:defRPr>
            </a:lvl5pPr>
            <a:lvl6pPr lvl="5">
              <a:spcBef>
                <a:spcPts val="0"/>
              </a:spcBef>
              <a:spcAft>
                <a:spcPts val="0"/>
              </a:spcAft>
              <a:buClr>
                <a:schemeClr val="dk1"/>
              </a:buClr>
              <a:buSzPts val="5700"/>
              <a:buNone/>
              <a:defRPr sz="5700">
                <a:solidFill>
                  <a:schemeClr val="dk1"/>
                </a:solidFill>
              </a:defRPr>
            </a:lvl6pPr>
            <a:lvl7pPr lvl="6">
              <a:spcBef>
                <a:spcPts val="0"/>
              </a:spcBef>
              <a:spcAft>
                <a:spcPts val="0"/>
              </a:spcAft>
              <a:buClr>
                <a:schemeClr val="dk1"/>
              </a:buClr>
              <a:buSzPts val="5700"/>
              <a:buNone/>
              <a:defRPr sz="5700">
                <a:solidFill>
                  <a:schemeClr val="dk1"/>
                </a:solidFill>
              </a:defRPr>
            </a:lvl7pPr>
            <a:lvl8pPr lvl="7">
              <a:spcBef>
                <a:spcPts val="0"/>
              </a:spcBef>
              <a:spcAft>
                <a:spcPts val="0"/>
              </a:spcAft>
              <a:buClr>
                <a:schemeClr val="dk1"/>
              </a:buClr>
              <a:buSzPts val="5700"/>
              <a:buNone/>
              <a:defRPr sz="5700">
                <a:solidFill>
                  <a:schemeClr val="dk1"/>
                </a:solidFill>
              </a:defRPr>
            </a:lvl8pPr>
            <a:lvl9pPr lvl="8">
              <a:spcBef>
                <a:spcPts val="0"/>
              </a:spcBef>
              <a:spcAft>
                <a:spcPts val="0"/>
              </a:spcAft>
              <a:buClr>
                <a:schemeClr val="dk1"/>
              </a:buClr>
              <a:buSzPts val="5700"/>
              <a:buNone/>
              <a:defRPr sz="5700">
                <a:solidFill>
                  <a:schemeClr val="dk1"/>
                </a:solidFill>
              </a:defRPr>
            </a:lvl9pPr>
          </a:lstStyle>
          <a:p>
            <a:endParaRPr/>
          </a:p>
        </p:txBody>
      </p:sp>
      <p:sp>
        <p:nvSpPr>
          <p:cNvPr id="7" name="Google Shape;7;p1"/>
          <p:cNvSpPr txBox="1">
            <a:spLocks noGrp="1"/>
          </p:cNvSpPr>
          <p:nvPr>
            <p:ph type="body" idx="1"/>
          </p:nvPr>
        </p:nvSpPr>
        <p:spPr>
          <a:xfrm>
            <a:off x="623400" y="2253729"/>
            <a:ext cx="17041200" cy="6680700"/>
          </a:xfrm>
          <a:prstGeom prst="rect">
            <a:avLst/>
          </a:prstGeom>
          <a:noFill/>
          <a:ln>
            <a:noFill/>
          </a:ln>
        </p:spPr>
        <p:txBody>
          <a:bodyPr spcFirstLastPara="1" wrap="square" lIns="186925" tIns="186925" rIns="186925" bIns="186925" anchor="t" anchorCtr="0">
            <a:normAutofit/>
          </a:bodyPr>
          <a:lstStyle>
            <a:lvl1pPr marL="457200" lvl="0" indent="-463550">
              <a:lnSpc>
                <a:spcPct val="115000"/>
              </a:lnSpc>
              <a:spcBef>
                <a:spcPts val="0"/>
              </a:spcBef>
              <a:spcAft>
                <a:spcPts val="0"/>
              </a:spcAft>
              <a:buClr>
                <a:schemeClr val="dk2"/>
              </a:buClr>
              <a:buSzPts val="3700"/>
              <a:buChar char="●"/>
              <a:defRPr sz="3700">
                <a:solidFill>
                  <a:schemeClr val="dk2"/>
                </a:solidFill>
              </a:defRPr>
            </a:lvl1pPr>
            <a:lvl2pPr marL="914400" lvl="1" indent="-412750">
              <a:lnSpc>
                <a:spcPct val="115000"/>
              </a:lnSpc>
              <a:spcBef>
                <a:spcPts val="0"/>
              </a:spcBef>
              <a:spcAft>
                <a:spcPts val="0"/>
              </a:spcAft>
              <a:buClr>
                <a:schemeClr val="dk2"/>
              </a:buClr>
              <a:buSzPts val="2900"/>
              <a:buChar char="○"/>
              <a:defRPr sz="2900">
                <a:solidFill>
                  <a:schemeClr val="dk2"/>
                </a:solidFill>
              </a:defRPr>
            </a:lvl2pPr>
            <a:lvl3pPr marL="1371600" lvl="2" indent="-412750">
              <a:lnSpc>
                <a:spcPct val="115000"/>
              </a:lnSpc>
              <a:spcBef>
                <a:spcPts val="0"/>
              </a:spcBef>
              <a:spcAft>
                <a:spcPts val="0"/>
              </a:spcAft>
              <a:buClr>
                <a:schemeClr val="dk2"/>
              </a:buClr>
              <a:buSzPts val="2900"/>
              <a:buChar char="■"/>
              <a:defRPr sz="2900">
                <a:solidFill>
                  <a:schemeClr val="dk2"/>
                </a:solidFill>
              </a:defRPr>
            </a:lvl3pPr>
            <a:lvl4pPr marL="1828800" lvl="3" indent="-412750">
              <a:lnSpc>
                <a:spcPct val="115000"/>
              </a:lnSpc>
              <a:spcBef>
                <a:spcPts val="0"/>
              </a:spcBef>
              <a:spcAft>
                <a:spcPts val="0"/>
              </a:spcAft>
              <a:buClr>
                <a:schemeClr val="dk2"/>
              </a:buClr>
              <a:buSzPts val="2900"/>
              <a:buChar char="●"/>
              <a:defRPr sz="2900">
                <a:solidFill>
                  <a:schemeClr val="dk2"/>
                </a:solidFill>
              </a:defRPr>
            </a:lvl4pPr>
            <a:lvl5pPr marL="2286000" lvl="4" indent="-412750">
              <a:lnSpc>
                <a:spcPct val="115000"/>
              </a:lnSpc>
              <a:spcBef>
                <a:spcPts val="0"/>
              </a:spcBef>
              <a:spcAft>
                <a:spcPts val="0"/>
              </a:spcAft>
              <a:buClr>
                <a:schemeClr val="dk2"/>
              </a:buClr>
              <a:buSzPts val="2900"/>
              <a:buChar char="○"/>
              <a:defRPr sz="2900">
                <a:solidFill>
                  <a:schemeClr val="dk2"/>
                </a:solidFill>
              </a:defRPr>
            </a:lvl5pPr>
            <a:lvl6pPr marL="2743200" lvl="5" indent="-412750">
              <a:lnSpc>
                <a:spcPct val="115000"/>
              </a:lnSpc>
              <a:spcBef>
                <a:spcPts val="0"/>
              </a:spcBef>
              <a:spcAft>
                <a:spcPts val="0"/>
              </a:spcAft>
              <a:buClr>
                <a:schemeClr val="dk2"/>
              </a:buClr>
              <a:buSzPts val="2900"/>
              <a:buChar char="■"/>
              <a:defRPr sz="2900">
                <a:solidFill>
                  <a:schemeClr val="dk2"/>
                </a:solidFill>
              </a:defRPr>
            </a:lvl6pPr>
            <a:lvl7pPr marL="3200400" lvl="6" indent="-412750">
              <a:lnSpc>
                <a:spcPct val="115000"/>
              </a:lnSpc>
              <a:spcBef>
                <a:spcPts val="0"/>
              </a:spcBef>
              <a:spcAft>
                <a:spcPts val="0"/>
              </a:spcAft>
              <a:buClr>
                <a:schemeClr val="dk2"/>
              </a:buClr>
              <a:buSzPts val="2900"/>
              <a:buChar char="●"/>
              <a:defRPr sz="2900">
                <a:solidFill>
                  <a:schemeClr val="dk2"/>
                </a:solidFill>
              </a:defRPr>
            </a:lvl7pPr>
            <a:lvl8pPr marL="3657600" lvl="7" indent="-412750">
              <a:lnSpc>
                <a:spcPct val="115000"/>
              </a:lnSpc>
              <a:spcBef>
                <a:spcPts val="0"/>
              </a:spcBef>
              <a:spcAft>
                <a:spcPts val="0"/>
              </a:spcAft>
              <a:buClr>
                <a:schemeClr val="dk2"/>
              </a:buClr>
              <a:buSzPts val="2900"/>
              <a:buChar char="○"/>
              <a:defRPr sz="2900">
                <a:solidFill>
                  <a:schemeClr val="dk2"/>
                </a:solidFill>
              </a:defRPr>
            </a:lvl8pPr>
            <a:lvl9pPr marL="4114800" lvl="8" indent="-412750">
              <a:lnSpc>
                <a:spcPct val="115000"/>
              </a:lnSpc>
              <a:spcBef>
                <a:spcPts val="0"/>
              </a:spcBef>
              <a:spcAft>
                <a:spcPts val="0"/>
              </a:spcAft>
              <a:buClr>
                <a:schemeClr val="dk2"/>
              </a:buClr>
              <a:buSzPts val="2900"/>
              <a:buChar char="■"/>
              <a:defRPr sz="2900">
                <a:solidFill>
                  <a:schemeClr val="dk2"/>
                </a:solidFill>
              </a:defRPr>
            </a:lvl9pPr>
          </a:lstStyle>
          <a:p>
            <a:endParaRPr/>
          </a:p>
        </p:txBody>
      </p:sp>
      <p:sp>
        <p:nvSpPr>
          <p:cNvPr id="8" name="Google Shape;8;p1"/>
          <p:cNvSpPr txBox="1">
            <a:spLocks noGrp="1"/>
          </p:cNvSpPr>
          <p:nvPr>
            <p:ph type="sldNum" idx="12"/>
          </p:nvPr>
        </p:nvSpPr>
        <p:spPr>
          <a:xfrm>
            <a:off x="16944916" y="9119180"/>
            <a:ext cx="1097400" cy="769800"/>
          </a:xfrm>
          <a:prstGeom prst="rect">
            <a:avLst/>
          </a:prstGeom>
          <a:noFill/>
          <a:ln>
            <a:noFill/>
          </a:ln>
        </p:spPr>
        <p:txBody>
          <a:bodyPr spcFirstLastPara="1" wrap="square" lIns="186925" tIns="186925" rIns="186925" bIns="186925" anchor="ctr" anchorCtr="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5.png"/><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52.png"/><Relationship Id="rId4" Type="http://schemas.openxmlformats.org/officeDocument/2006/relationships/image" Target="../media/image51.png"/></Relationships>
</file>

<file path=ppt/slides/_rels/slide4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60.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67.png"/></Relationships>
</file>

<file path=ppt/slides/_rels/slide4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69.png"/></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0" y="2981575"/>
            <a:ext cx="18171000" cy="1197300"/>
          </a:xfrm>
          <a:prstGeom prst="rect">
            <a:avLst/>
          </a:prstGeom>
          <a:noFill/>
          <a:ln>
            <a:noFill/>
          </a:ln>
        </p:spPr>
        <p:txBody>
          <a:bodyPr spcFirstLastPara="1" wrap="square" lIns="181250" tIns="181250" rIns="181250" bIns="181250" anchor="t" anchorCtr="0">
            <a:spAutoFit/>
          </a:bodyPr>
          <a:lstStyle/>
          <a:p>
            <a:pPr marL="0" lvl="0" indent="0" algn="ctr" rtl="0">
              <a:lnSpc>
                <a:spcPct val="115000"/>
              </a:lnSpc>
              <a:spcBef>
                <a:spcPts val="0"/>
              </a:spcBef>
              <a:spcAft>
                <a:spcPts val="0"/>
              </a:spcAft>
              <a:buNone/>
            </a:pPr>
            <a:r>
              <a:rPr lang="en" sz="5400" b="1">
                <a:solidFill>
                  <a:schemeClr val="dk1"/>
                </a:solidFill>
                <a:highlight>
                  <a:srgbClr val="FFFFFF"/>
                </a:highlight>
                <a:latin typeface="Calibri"/>
                <a:ea typeface="Calibri"/>
                <a:cs typeface="Calibri"/>
                <a:sym typeface="Calibri"/>
              </a:rPr>
              <a:t>TEAM 21 - Preliminary Submission 2022</a:t>
            </a:r>
            <a:endParaRPr sz="2600" b="1">
              <a:solidFill>
                <a:schemeClr val="dk1"/>
              </a:solidFill>
              <a:highlight>
                <a:srgbClr val="FFFFFF"/>
              </a:highlight>
              <a:latin typeface="Calibri"/>
              <a:ea typeface="Calibri"/>
              <a:cs typeface="Calibri"/>
              <a:sym typeface="Calibri"/>
            </a:endParaRPr>
          </a:p>
        </p:txBody>
      </p:sp>
      <p:sp>
        <p:nvSpPr>
          <p:cNvPr id="55" name="Google Shape;55;p13"/>
          <p:cNvSpPr txBox="1"/>
          <p:nvPr/>
        </p:nvSpPr>
        <p:spPr>
          <a:xfrm>
            <a:off x="6127850" y="8379021"/>
            <a:ext cx="2848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Faisal Ibrahim M Almaslukh	</a:t>
            </a:r>
            <a:endParaRPr sz="1500"/>
          </a:p>
        </p:txBody>
      </p:sp>
      <p:sp>
        <p:nvSpPr>
          <p:cNvPr id="56" name="Google Shape;56;p13"/>
          <p:cNvSpPr txBox="1"/>
          <p:nvPr/>
        </p:nvSpPr>
        <p:spPr>
          <a:xfrm>
            <a:off x="9832225" y="8379021"/>
            <a:ext cx="2848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Ryan Hartshorne	</a:t>
            </a:r>
            <a:endParaRPr sz="1500"/>
          </a:p>
        </p:txBody>
      </p:sp>
      <p:sp>
        <p:nvSpPr>
          <p:cNvPr id="57" name="Google Shape;57;p13"/>
          <p:cNvSpPr txBox="1"/>
          <p:nvPr/>
        </p:nvSpPr>
        <p:spPr>
          <a:xfrm>
            <a:off x="2995900" y="8379021"/>
            <a:ext cx="1658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Jason Abi Chebli	</a:t>
            </a:r>
            <a:endParaRPr sz="1500"/>
          </a:p>
        </p:txBody>
      </p:sp>
      <p:sp>
        <p:nvSpPr>
          <p:cNvPr id="58" name="Google Shape;58;p13"/>
          <p:cNvSpPr txBox="1"/>
          <p:nvPr/>
        </p:nvSpPr>
        <p:spPr>
          <a:xfrm>
            <a:off x="12403163" y="8379021"/>
            <a:ext cx="33588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a:t>Mahdir Shafin Hasan	</a:t>
            </a:r>
            <a:endParaRPr sz="1500"/>
          </a:p>
        </p:txBody>
      </p:sp>
      <p:sp>
        <p:nvSpPr>
          <p:cNvPr id="59" name="Google Shape;59;p13"/>
          <p:cNvSpPr txBox="1"/>
          <p:nvPr/>
        </p:nvSpPr>
        <p:spPr>
          <a:xfrm>
            <a:off x="14313875" y="8321408"/>
            <a:ext cx="34992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500"/>
          </a:p>
        </p:txBody>
      </p:sp>
      <p:pic>
        <p:nvPicPr>
          <p:cNvPr id="60" name="Google Shape;60;p13"/>
          <p:cNvPicPr preferRelativeResize="0"/>
          <p:nvPr/>
        </p:nvPicPr>
        <p:blipFill>
          <a:blip r:embed="rId3">
            <a:alphaModFix/>
          </a:blip>
          <a:stretch>
            <a:fillRect/>
          </a:stretch>
        </p:blipFill>
        <p:spPr>
          <a:xfrm>
            <a:off x="2400550" y="4248182"/>
            <a:ext cx="2611398" cy="3906611"/>
          </a:xfrm>
          <a:prstGeom prst="rect">
            <a:avLst/>
          </a:prstGeom>
          <a:noFill/>
          <a:ln>
            <a:noFill/>
          </a:ln>
        </p:spPr>
      </p:pic>
      <p:pic>
        <p:nvPicPr>
          <p:cNvPr id="61" name="Google Shape;61;p13"/>
          <p:cNvPicPr preferRelativeResize="0"/>
          <p:nvPr/>
        </p:nvPicPr>
        <p:blipFill>
          <a:blip r:embed="rId4">
            <a:alphaModFix/>
          </a:blip>
          <a:stretch>
            <a:fillRect/>
          </a:stretch>
        </p:blipFill>
        <p:spPr>
          <a:xfrm>
            <a:off x="12401325" y="4247606"/>
            <a:ext cx="3082261" cy="3962907"/>
          </a:xfrm>
          <a:prstGeom prst="rect">
            <a:avLst/>
          </a:prstGeom>
          <a:noFill/>
          <a:ln>
            <a:noFill/>
          </a:ln>
        </p:spPr>
      </p:pic>
      <p:pic>
        <p:nvPicPr>
          <p:cNvPr id="62" name="Google Shape;62;p13"/>
          <p:cNvPicPr preferRelativeResize="0"/>
          <p:nvPr/>
        </p:nvPicPr>
        <p:blipFill>
          <a:blip r:embed="rId5">
            <a:alphaModFix/>
          </a:blip>
          <a:stretch>
            <a:fillRect/>
          </a:stretch>
        </p:blipFill>
        <p:spPr>
          <a:xfrm>
            <a:off x="6005950" y="4276413"/>
            <a:ext cx="2834890" cy="3962909"/>
          </a:xfrm>
          <a:prstGeom prst="rect">
            <a:avLst/>
          </a:prstGeom>
          <a:noFill/>
          <a:ln>
            <a:noFill/>
          </a:ln>
        </p:spPr>
      </p:pic>
      <p:pic>
        <p:nvPicPr>
          <p:cNvPr id="63" name="Google Shape;63;p13"/>
          <p:cNvPicPr preferRelativeResize="0"/>
          <p:nvPr/>
        </p:nvPicPr>
        <p:blipFill>
          <a:blip r:embed="rId6">
            <a:alphaModFix/>
          </a:blip>
          <a:stretch>
            <a:fillRect/>
          </a:stretch>
        </p:blipFill>
        <p:spPr>
          <a:xfrm>
            <a:off x="9372592" y="4518985"/>
            <a:ext cx="2519444" cy="37203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p:nvPr/>
        </p:nvSpPr>
        <p:spPr>
          <a:xfrm>
            <a:off x="0" y="1607975"/>
            <a:ext cx="10221300" cy="60597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800">
                <a:solidFill>
                  <a:schemeClr val="dk1"/>
                </a:solidFill>
                <a:highlight>
                  <a:srgbClr val="FFFFFF"/>
                </a:highlight>
                <a:latin typeface="Calibri"/>
                <a:ea typeface="Calibri"/>
                <a:cs typeface="Calibri"/>
                <a:sym typeface="Calibri"/>
              </a:rPr>
              <a:t>Through partnering with like-minded engineers, the team is able to design and build a prototype of a transporter system for the client. The project has a timeline of 7 weeks to design, prototype and build and is budgeted to cost between $200 and $240.</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800">
                <a:solidFill>
                  <a:schemeClr val="dk1"/>
                </a:solidFill>
                <a:highlight>
                  <a:srgbClr val="FFFFFF"/>
                </a:highlight>
                <a:latin typeface="Calibri"/>
                <a:ea typeface="Calibri"/>
                <a:cs typeface="Calibri"/>
                <a:sym typeface="Calibri"/>
              </a:rPr>
              <a:t>This report presents and analyses the conceptualisation, design and development of a feasible system that is able to successfully collect and deposit a package across a chasm using a wire. The team was able to break down and define the problem using the OFFERS methodology. Potential sub-problems were then identified. Afterwards, a diverging solution generation process was adopted to generate potential alternatives to functions. </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800">
                <a:solidFill>
                  <a:schemeClr val="dk1"/>
                </a:solidFill>
                <a:highlight>
                  <a:srgbClr val="FFFFFF"/>
                </a:highlight>
                <a:latin typeface="Calibri"/>
                <a:ea typeface="Calibri"/>
                <a:cs typeface="Calibri"/>
                <a:sym typeface="Calibri"/>
              </a:rPr>
              <a:t>From that, members were able to choose a unique set of alternatives to generate their own unique design - depicted with an isometric drawing. The composite criterion method was used to decide on one final design, with Concept 1 (illustrated in Figure 1) being the winner. The ideas in concept 1 were further illustrated and enhanced using both isometric and orthogonal concept drawings. From this, a final Solidworks CAD of the whole system at the different phases of the task was completed.</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b="1">
              <a:solidFill>
                <a:schemeClr val="dk1"/>
              </a:solidFill>
              <a:highlight>
                <a:srgbClr val="FFFFFF"/>
              </a:highlight>
              <a:latin typeface="Calibri"/>
              <a:ea typeface="Calibri"/>
              <a:cs typeface="Calibri"/>
              <a:sym typeface="Calibri"/>
            </a:endParaRPr>
          </a:p>
        </p:txBody>
      </p:sp>
      <p:sp>
        <p:nvSpPr>
          <p:cNvPr id="69" name="Google Shape;69;p14"/>
          <p:cNvSpPr txBox="1"/>
          <p:nvPr/>
        </p:nvSpPr>
        <p:spPr>
          <a:xfrm>
            <a:off x="0" y="180051"/>
            <a:ext cx="11550000" cy="10125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Executive Summary </a:t>
            </a:r>
            <a:endParaRPr sz="4200" b="1">
              <a:latin typeface="Calibri"/>
              <a:ea typeface="Calibri"/>
              <a:cs typeface="Calibri"/>
              <a:sym typeface="Calibri"/>
            </a:endParaRPr>
          </a:p>
        </p:txBody>
      </p:sp>
      <p:pic>
        <p:nvPicPr>
          <p:cNvPr id="70" name="Google Shape;70;p14"/>
          <p:cNvPicPr preferRelativeResize="0"/>
          <p:nvPr/>
        </p:nvPicPr>
        <p:blipFill>
          <a:blip r:embed="rId3">
            <a:alphaModFix/>
          </a:blip>
          <a:stretch>
            <a:fillRect/>
          </a:stretch>
        </p:blipFill>
        <p:spPr>
          <a:xfrm>
            <a:off x="11483938" y="1248535"/>
            <a:ext cx="5240881" cy="6245229"/>
          </a:xfrm>
          <a:prstGeom prst="rect">
            <a:avLst/>
          </a:prstGeom>
          <a:noFill/>
          <a:ln>
            <a:noFill/>
          </a:ln>
        </p:spPr>
      </p:pic>
      <p:sp>
        <p:nvSpPr>
          <p:cNvPr id="71" name="Google Shape;71;p14"/>
          <p:cNvSpPr txBox="1"/>
          <p:nvPr/>
        </p:nvSpPr>
        <p:spPr>
          <a:xfrm>
            <a:off x="10662488" y="7549740"/>
            <a:ext cx="6883800" cy="561300"/>
          </a:xfrm>
          <a:prstGeom prst="rect">
            <a:avLst/>
          </a:prstGeom>
          <a:noFill/>
          <a:ln>
            <a:noFill/>
          </a:ln>
        </p:spPr>
        <p:txBody>
          <a:bodyPr spcFirstLastPara="1" wrap="square" lIns="181250" tIns="181250" rIns="181250" bIns="181250"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600" b="1">
                <a:solidFill>
                  <a:schemeClr val="dk1"/>
                </a:solidFill>
                <a:highlight>
                  <a:schemeClr val="lt1"/>
                </a:highlight>
                <a:latin typeface="Calibri"/>
                <a:ea typeface="Calibri"/>
                <a:cs typeface="Calibri"/>
                <a:sym typeface="Calibri"/>
              </a:rPr>
              <a:t>Figure 1. Final Recommended Concept CAD Design.</a:t>
            </a:r>
            <a:endParaRPr sz="1600" b="1">
              <a:solidFill>
                <a:schemeClr val="dk1"/>
              </a:solidFill>
              <a:highlight>
                <a:srgbClr val="FFFFFF"/>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p:nvPr/>
        </p:nvSpPr>
        <p:spPr>
          <a:xfrm>
            <a:off x="6770050" y="137638"/>
            <a:ext cx="4906200" cy="10743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0"/>
              </a:spcBef>
              <a:spcAft>
                <a:spcPts val="0"/>
              </a:spcAft>
              <a:buNone/>
            </a:pPr>
            <a:r>
              <a:rPr lang="en" sz="4600" b="1">
                <a:solidFill>
                  <a:schemeClr val="dk1"/>
                </a:solidFill>
                <a:highlight>
                  <a:srgbClr val="FFFFFF"/>
                </a:highlight>
                <a:latin typeface="Calibri"/>
                <a:ea typeface="Calibri"/>
                <a:cs typeface="Calibri"/>
                <a:sym typeface="Calibri"/>
              </a:rPr>
              <a:t>Table of Contents</a:t>
            </a:r>
            <a:endParaRPr sz="4600" b="1">
              <a:latin typeface="Calibri"/>
              <a:ea typeface="Calibri"/>
              <a:cs typeface="Calibri"/>
              <a:sym typeface="Calibri"/>
            </a:endParaRPr>
          </a:p>
        </p:txBody>
      </p:sp>
      <p:sp>
        <p:nvSpPr>
          <p:cNvPr id="77" name="Google Shape;77;p15"/>
          <p:cNvSpPr txBox="1"/>
          <p:nvPr/>
        </p:nvSpPr>
        <p:spPr>
          <a:xfrm>
            <a:off x="957025" y="1267177"/>
            <a:ext cx="7549500" cy="94422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2500">
                <a:solidFill>
                  <a:schemeClr val="dk1"/>
                </a:solidFill>
                <a:highlight>
                  <a:srgbClr val="FFFFFF"/>
                </a:highlight>
                <a:latin typeface="Calibri"/>
                <a:ea typeface="Calibri"/>
                <a:cs typeface="Calibri"/>
                <a:sym typeface="Calibri"/>
              </a:rPr>
              <a:t>i.    Executive Summary                                                        2</a:t>
            </a:r>
            <a:endParaRPr sz="2500">
              <a:solidFill>
                <a:schemeClr val="dk1"/>
              </a:solidFill>
              <a:highlight>
                <a:srgbClr val="FFFFFF"/>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Introduction                                                                     4</a:t>
            </a:r>
            <a:endParaRPr sz="2500">
              <a:solidFill>
                <a:schemeClr val="dk1"/>
              </a:solidFill>
              <a:highlight>
                <a:srgbClr val="FFFFFF"/>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Problem Definition</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Objectives                                                                  5</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Functions                                                                   7</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Factors                                                                     </a:t>
            </a:r>
            <a:r>
              <a:rPr lang="en"/>
              <a:t>    </a:t>
            </a:r>
            <a:r>
              <a:rPr lang="en" sz="2500">
                <a:solidFill>
                  <a:schemeClr val="dk1"/>
                </a:solidFill>
                <a:highlight>
                  <a:srgbClr val="FFFFFF"/>
                </a:highlight>
                <a:latin typeface="Calibri"/>
                <a:ea typeface="Calibri"/>
                <a:cs typeface="Calibri"/>
                <a:sym typeface="Calibri"/>
              </a:rPr>
              <a:t>8</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Effects                                                                       13</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Requirements and Specifications                        14</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Sub-problems                                                         16</a:t>
            </a:r>
            <a:endParaRPr sz="2500">
              <a:solidFill>
                <a:schemeClr val="dk1"/>
              </a:solidFill>
              <a:highlight>
                <a:srgbClr val="FFFFFF"/>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Creative Solution Generation                                     17</a:t>
            </a:r>
            <a:endParaRPr sz="2500">
              <a:solidFill>
                <a:schemeClr val="dk1"/>
              </a:solidFill>
              <a:highlight>
                <a:srgbClr val="FFFFFF"/>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Isometric Concept Sketches</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Isometric Concept Sketch 1</a:t>
            </a:r>
            <a:r>
              <a:rPr lang="en" sz="2500">
                <a:solidFill>
                  <a:schemeClr val="dk1"/>
                </a:solidFill>
                <a:highlight>
                  <a:schemeClr val="lt1"/>
                </a:highlight>
                <a:latin typeface="Calibri"/>
                <a:ea typeface="Calibri"/>
                <a:cs typeface="Calibri"/>
                <a:sym typeface="Calibri"/>
              </a:rPr>
              <a:t>                                 19</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Isometric Concept Sketch 2                                 20</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Isometric Concept Sketch 3                                 21</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Isometric Concept Sketch 4                                 22</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Isometric Concept Sketch 5                                 23</a:t>
            </a:r>
            <a:endParaRPr sz="2500">
              <a:solidFill>
                <a:schemeClr val="dk1"/>
              </a:solidFill>
              <a:highlight>
                <a:schemeClr val="lt1"/>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Decision Making							</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Composite Criterion Method                              24</a:t>
            </a:r>
            <a:endParaRPr sz="2500">
              <a:solidFill>
                <a:schemeClr val="dk1"/>
              </a:solidFill>
              <a:highlight>
                <a:srgbClr val="FFFFFF"/>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rgbClr val="FFFFFF"/>
                </a:highlight>
                <a:latin typeface="Calibri"/>
                <a:ea typeface="Calibri"/>
                <a:cs typeface="Calibri"/>
                <a:sym typeface="Calibri"/>
              </a:rPr>
              <a:t>Statistical Significance                                          29</a:t>
            </a:r>
            <a:endParaRPr sz="25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2500">
                <a:solidFill>
                  <a:schemeClr val="dk1"/>
                </a:solidFill>
                <a:highlight>
                  <a:srgbClr val="FFFFFF"/>
                </a:highlight>
                <a:latin typeface="Calibri"/>
                <a:ea typeface="Calibri"/>
                <a:cs typeface="Calibri"/>
                <a:sym typeface="Calibri"/>
              </a:rPr>
              <a:t>                    </a:t>
            </a:r>
            <a:endParaRPr sz="1600">
              <a:solidFill>
                <a:schemeClr val="dk1"/>
              </a:solidFill>
              <a:highlight>
                <a:srgbClr val="FFFFFF"/>
              </a:highlight>
              <a:latin typeface="Calibri"/>
              <a:ea typeface="Calibri"/>
              <a:cs typeface="Calibri"/>
              <a:sym typeface="Calibri"/>
            </a:endParaRPr>
          </a:p>
        </p:txBody>
      </p:sp>
      <p:sp>
        <p:nvSpPr>
          <p:cNvPr id="78" name="Google Shape;78;p15"/>
          <p:cNvSpPr txBox="1"/>
          <p:nvPr/>
        </p:nvSpPr>
        <p:spPr>
          <a:xfrm>
            <a:off x="9804850" y="1267177"/>
            <a:ext cx="7549500" cy="50169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startAt="6"/>
            </a:pPr>
            <a:r>
              <a:rPr lang="en" sz="2500">
                <a:solidFill>
                  <a:schemeClr val="dk1"/>
                </a:solidFill>
                <a:highlight>
                  <a:schemeClr val="lt1"/>
                </a:highlight>
                <a:latin typeface="Calibri"/>
                <a:ea typeface="Calibri"/>
                <a:cs typeface="Calibri"/>
                <a:sym typeface="Calibri"/>
              </a:rPr>
              <a:t>Recommended Concept Sketches                            30</a:t>
            </a:r>
            <a:endParaRPr sz="2500">
              <a:solidFill>
                <a:schemeClr val="dk1"/>
              </a:solidFill>
              <a:highlight>
                <a:schemeClr val="lt1"/>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startAt="6"/>
            </a:pPr>
            <a:r>
              <a:rPr lang="en" sz="2500">
                <a:solidFill>
                  <a:schemeClr val="dk1"/>
                </a:solidFill>
                <a:highlight>
                  <a:schemeClr val="lt1"/>
                </a:highlight>
                <a:latin typeface="Calibri"/>
                <a:ea typeface="Calibri"/>
                <a:cs typeface="Calibri"/>
                <a:sym typeface="Calibri"/>
              </a:rPr>
              <a:t>CAD Images</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Phase 1                                                                    34</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Phase 2                                                                    37</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Phase 3                                                                    40</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Phase 4                                                                    45</a:t>
            </a:r>
            <a:endParaRPr sz="2500">
              <a:solidFill>
                <a:schemeClr val="dk1"/>
              </a:solidFill>
              <a:highlight>
                <a:schemeClr val="lt1"/>
              </a:highlight>
              <a:latin typeface="Calibri"/>
              <a:ea typeface="Calibri"/>
              <a:cs typeface="Calibri"/>
              <a:sym typeface="Calibri"/>
            </a:endParaRPr>
          </a:p>
          <a:p>
            <a:pPr marL="914400" lvl="1" indent="-387350" algn="just" rtl="0">
              <a:lnSpc>
                <a:spcPct val="115000"/>
              </a:lnSpc>
              <a:spcBef>
                <a:spcPts val="0"/>
              </a:spcBef>
              <a:spcAft>
                <a:spcPts val="0"/>
              </a:spcAft>
              <a:buClr>
                <a:schemeClr val="dk1"/>
              </a:buClr>
              <a:buSzPts val="2500"/>
              <a:buFont typeface="Calibri"/>
              <a:buAutoNum type="arabicPeriod"/>
            </a:pPr>
            <a:r>
              <a:rPr lang="en" sz="2500">
                <a:solidFill>
                  <a:schemeClr val="dk1"/>
                </a:solidFill>
                <a:highlight>
                  <a:schemeClr val="lt1"/>
                </a:highlight>
                <a:latin typeface="Calibri"/>
                <a:ea typeface="Calibri"/>
                <a:cs typeface="Calibri"/>
                <a:sym typeface="Calibri"/>
              </a:rPr>
              <a:t>Phase 5                                                                    48</a:t>
            </a:r>
            <a:endParaRPr sz="2500">
              <a:solidFill>
                <a:schemeClr val="dk1"/>
              </a:solidFill>
              <a:highlight>
                <a:schemeClr val="lt1"/>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startAt="6"/>
            </a:pPr>
            <a:r>
              <a:rPr lang="en" sz="2500">
                <a:solidFill>
                  <a:schemeClr val="dk1"/>
                </a:solidFill>
                <a:highlight>
                  <a:schemeClr val="lt1"/>
                </a:highlight>
                <a:latin typeface="Calibri"/>
                <a:ea typeface="Calibri"/>
                <a:cs typeface="Calibri"/>
                <a:sym typeface="Calibri"/>
              </a:rPr>
              <a:t>Conclusion                                                                     51</a:t>
            </a:r>
            <a:endParaRPr sz="2500">
              <a:solidFill>
                <a:schemeClr val="dk1"/>
              </a:solidFill>
              <a:highlight>
                <a:schemeClr val="lt1"/>
              </a:highlight>
              <a:latin typeface="Calibri"/>
              <a:ea typeface="Calibri"/>
              <a:cs typeface="Calibri"/>
              <a:sym typeface="Calibri"/>
            </a:endParaRPr>
          </a:p>
          <a:p>
            <a:pPr marL="457200" lvl="0" indent="-387350" algn="just" rtl="0">
              <a:lnSpc>
                <a:spcPct val="115000"/>
              </a:lnSpc>
              <a:spcBef>
                <a:spcPts val="0"/>
              </a:spcBef>
              <a:spcAft>
                <a:spcPts val="0"/>
              </a:spcAft>
              <a:buClr>
                <a:schemeClr val="dk1"/>
              </a:buClr>
              <a:buSzPts val="2500"/>
              <a:buFont typeface="Calibri"/>
              <a:buAutoNum type="arabicPeriod" startAt="6"/>
            </a:pPr>
            <a:r>
              <a:rPr lang="en" sz="2500">
                <a:solidFill>
                  <a:schemeClr val="dk1"/>
                </a:solidFill>
                <a:highlight>
                  <a:schemeClr val="lt1"/>
                </a:highlight>
                <a:latin typeface="Calibri"/>
                <a:ea typeface="Calibri"/>
                <a:cs typeface="Calibri"/>
                <a:sym typeface="Calibri"/>
              </a:rPr>
              <a:t>References                                                                     52</a:t>
            </a:r>
            <a:endParaRPr sz="2500">
              <a:solidFill>
                <a:schemeClr val="dk1"/>
              </a:solidFill>
              <a:highlight>
                <a:schemeClr val="lt1"/>
              </a:highlight>
              <a:latin typeface="Calibri"/>
              <a:ea typeface="Calibri"/>
              <a:cs typeface="Calibri"/>
              <a:sym typeface="Calibri"/>
            </a:endParaRPr>
          </a:p>
          <a:p>
            <a:pPr marL="457200" lvl="0" indent="0" algn="just" rtl="0">
              <a:lnSpc>
                <a:spcPct val="115000"/>
              </a:lnSpc>
              <a:spcBef>
                <a:spcPts val="0"/>
              </a:spcBef>
              <a:spcAft>
                <a:spcPts val="0"/>
              </a:spcAft>
              <a:buNone/>
            </a:pPr>
            <a:r>
              <a:rPr lang="en" sz="2500">
                <a:solidFill>
                  <a:schemeClr val="dk1"/>
                </a:solidFill>
                <a:highlight>
                  <a:srgbClr val="FFFFFF"/>
                </a:highlight>
                <a:latin typeface="Calibri"/>
                <a:ea typeface="Calibri"/>
                <a:cs typeface="Calibri"/>
                <a:sym typeface="Calibri"/>
              </a:rPr>
              <a:t>                          </a:t>
            </a:r>
            <a:endParaRPr sz="1600">
              <a:solidFill>
                <a:schemeClr val="dk1"/>
              </a:solidFill>
              <a:highlight>
                <a:srgbClr val="FFFFFF"/>
              </a:highlight>
              <a:latin typeface="Calibri"/>
              <a:ea typeface="Calibri"/>
              <a:cs typeface="Calibri"/>
              <a:sym typeface="Calibri"/>
            </a:endParaRPr>
          </a:p>
        </p:txBody>
      </p:sp>
      <p:sp>
        <p:nvSpPr>
          <p:cNvPr id="79" name="Google Shape;79;p15"/>
          <p:cNvSpPr txBox="1"/>
          <p:nvPr/>
        </p:nvSpPr>
        <p:spPr>
          <a:xfrm>
            <a:off x="957025" y="1122413"/>
            <a:ext cx="1386000" cy="569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2500">
                <a:solidFill>
                  <a:schemeClr val="dk1"/>
                </a:solidFill>
                <a:highlight>
                  <a:schemeClr val="lt1"/>
                </a:highlight>
                <a:latin typeface="Calibri"/>
                <a:ea typeface="Calibri"/>
                <a:cs typeface="Calibri"/>
                <a:sym typeface="Calibri"/>
              </a:rPr>
              <a:t>Content</a:t>
            </a:r>
            <a:endParaRPr/>
          </a:p>
        </p:txBody>
      </p:sp>
      <p:sp>
        <p:nvSpPr>
          <p:cNvPr id="80" name="Google Shape;80;p15"/>
          <p:cNvSpPr txBox="1"/>
          <p:nvPr/>
        </p:nvSpPr>
        <p:spPr>
          <a:xfrm>
            <a:off x="9804850" y="1267177"/>
            <a:ext cx="1386000" cy="569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2500">
                <a:solidFill>
                  <a:schemeClr val="dk1"/>
                </a:solidFill>
                <a:highlight>
                  <a:schemeClr val="lt1"/>
                </a:highlight>
                <a:latin typeface="Calibri"/>
                <a:ea typeface="Calibri"/>
                <a:cs typeface="Calibri"/>
                <a:sym typeface="Calibri"/>
              </a:rPr>
              <a:t>Content</a:t>
            </a:r>
            <a:endParaRPr/>
          </a:p>
        </p:txBody>
      </p:sp>
      <p:sp>
        <p:nvSpPr>
          <p:cNvPr id="81" name="Google Shape;81;p15"/>
          <p:cNvSpPr txBox="1"/>
          <p:nvPr/>
        </p:nvSpPr>
        <p:spPr>
          <a:xfrm>
            <a:off x="7120525" y="1122413"/>
            <a:ext cx="1386000" cy="569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2500">
                <a:solidFill>
                  <a:schemeClr val="dk1"/>
                </a:solidFill>
                <a:highlight>
                  <a:schemeClr val="lt1"/>
                </a:highlight>
                <a:latin typeface="Calibri"/>
                <a:ea typeface="Calibri"/>
                <a:cs typeface="Calibri"/>
                <a:sym typeface="Calibri"/>
              </a:rPr>
              <a:t>Slide No.</a:t>
            </a:r>
            <a:endParaRPr/>
          </a:p>
        </p:txBody>
      </p:sp>
      <p:sp>
        <p:nvSpPr>
          <p:cNvPr id="82" name="Google Shape;82;p15"/>
          <p:cNvSpPr txBox="1"/>
          <p:nvPr/>
        </p:nvSpPr>
        <p:spPr>
          <a:xfrm>
            <a:off x="15968350" y="1267177"/>
            <a:ext cx="1386000" cy="5694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2500">
                <a:solidFill>
                  <a:schemeClr val="dk1"/>
                </a:solidFill>
                <a:highlight>
                  <a:schemeClr val="lt1"/>
                </a:highlight>
                <a:latin typeface="Calibri"/>
                <a:ea typeface="Calibri"/>
                <a:cs typeface="Calibri"/>
                <a:sym typeface="Calibri"/>
              </a:rPr>
              <a:t>Slide No.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p:nvPr/>
        </p:nvSpPr>
        <p:spPr>
          <a:xfrm>
            <a:off x="0" y="1763267"/>
            <a:ext cx="11171400" cy="68601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1200"/>
              </a:spcBef>
              <a:spcAft>
                <a:spcPts val="0"/>
              </a:spcAft>
              <a:buNone/>
            </a:pPr>
            <a:r>
              <a:rPr lang="en" sz="1800">
                <a:solidFill>
                  <a:schemeClr val="dk1"/>
                </a:solidFill>
                <a:highlight>
                  <a:srgbClr val="FFFFFF"/>
                </a:highlight>
                <a:latin typeface="Calibri"/>
                <a:ea typeface="Calibri"/>
                <a:cs typeface="Calibri"/>
                <a:sym typeface="Calibri"/>
              </a:rPr>
              <a:t>The Warman Competition has been known for more than 3 decades. It has provided fabulous learning experiences among undergraduate engineering students within Australia and New Zealand. The competition is undertaken in two levels where students can compete among other students at the same university. Once there is a team winner in that university, the team is able to compete nationally amongst different universities. While this competition is centered in mechanical engineering, students from various streams and disciplines will undertake the same competition in order to refine their engineering skills.</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1200"/>
              </a:spcBef>
              <a:spcAft>
                <a:spcPts val="0"/>
              </a:spcAft>
              <a:buNone/>
            </a:pPr>
            <a:r>
              <a:rPr lang="en" sz="1800">
                <a:solidFill>
                  <a:schemeClr val="dk1"/>
                </a:solidFill>
                <a:highlight>
                  <a:srgbClr val="FFFFFF"/>
                </a:highlight>
                <a:latin typeface="Calibri"/>
                <a:ea typeface="Calibri"/>
                <a:cs typeface="Calibri"/>
                <a:sym typeface="Calibri"/>
              </a:rPr>
              <a:t>The main focus of this competition is to encourage engineers to design a prototype that will solve a problem outlined by the Weir-Warman Competition [1]. Projects have been posed and varied over the past 30 years. However, the intention is to challenge engineering students who are in their second year to be able to build not only their technical skills, but also their communication skills as they work collaboratively as a team.</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highlight>
                  <a:srgbClr val="FFFFFF"/>
                </a:highlight>
                <a:latin typeface="Calibri"/>
                <a:ea typeface="Calibri"/>
                <a:cs typeface="Calibri"/>
                <a:sym typeface="Calibri"/>
              </a:rPr>
              <a:t>Students will collaborate in order to address an open problem with limited resources to create and deliver an innovative solution to meet what the client wants. They will come up with a scaled-down prototype of a transporter system that can be built, designed and implemented in order to pick up a package and move it from a warehouse to the deposit zone without coming in contact with the chasm zone. Once that is done, the autonomous system must return to the start zone within 120 seconds [2].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1200"/>
              </a:spcBef>
              <a:spcAft>
                <a:spcPts val="0"/>
              </a:spcAft>
              <a:buNone/>
            </a:pPr>
            <a:endParaRPr sz="2000">
              <a:solidFill>
                <a:schemeClr val="dk1"/>
              </a:solidFill>
              <a:highlight>
                <a:srgbClr val="FFFFFF"/>
              </a:highlight>
              <a:latin typeface="Calibri"/>
              <a:ea typeface="Calibri"/>
              <a:cs typeface="Calibri"/>
              <a:sym typeface="Calibri"/>
            </a:endParaRPr>
          </a:p>
        </p:txBody>
      </p:sp>
      <p:sp>
        <p:nvSpPr>
          <p:cNvPr id="88" name="Google Shape;88;p16"/>
          <p:cNvSpPr txBox="1"/>
          <p:nvPr/>
        </p:nvSpPr>
        <p:spPr>
          <a:xfrm>
            <a:off x="0" y="1"/>
            <a:ext cx="11550000" cy="1012500"/>
          </a:xfrm>
          <a:prstGeom prst="rect">
            <a:avLst/>
          </a:prstGeom>
          <a:noFill/>
          <a:ln>
            <a:noFill/>
          </a:ln>
        </p:spPr>
        <p:txBody>
          <a:bodyPr spcFirstLastPara="1" wrap="square" lIns="181250" tIns="181250" rIns="181250" bIns="181250"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Introduction </a:t>
            </a:r>
            <a:endParaRPr sz="4200" b="1">
              <a:latin typeface="Calibri"/>
              <a:ea typeface="Calibri"/>
              <a:cs typeface="Calibri"/>
              <a:sym typeface="Calibri"/>
            </a:endParaRPr>
          </a:p>
        </p:txBody>
      </p:sp>
      <p:pic>
        <p:nvPicPr>
          <p:cNvPr id="89" name="Google Shape;89;p16"/>
          <p:cNvPicPr preferRelativeResize="0"/>
          <p:nvPr/>
        </p:nvPicPr>
        <p:blipFill rotWithShape="1">
          <a:blip r:embed="rId3">
            <a:alphaModFix/>
          </a:blip>
          <a:srcRect/>
          <a:stretch/>
        </p:blipFill>
        <p:spPr>
          <a:xfrm>
            <a:off x="13534775" y="5029202"/>
            <a:ext cx="2381250" cy="3439585"/>
          </a:xfrm>
          <a:prstGeom prst="rect">
            <a:avLst/>
          </a:prstGeom>
          <a:noFill/>
          <a:ln>
            <a:noFill/>
          </a:ln>
        </p:spPr>
      </p:pic>
      <p:pic>
        <p:nvPicPr>
          <p:cNvPr id="90" name="Google Shape;90;p16"/>
          <p:cNvPicPr preferRelativeResize="0"/>
          <p:nvPr/>
        </p:nvPicPr>
        <p:blipFill>
          <a:blip r:embed="rId4">
            <a:alphaModFix/>
          </a:blip>
          <a:stretch>
            <a:fillRect/>
          </a:stretch>
        </p:blipFill>
        <p:spPr>
          <a:xfrm>
            <a:off x="12145700" y="720745"/>
            <a:ext cx="5159411" cy="3439608"/>
          </a:xfrm>
          <a:prstGeom prst="rect">
            <a:avLst/>
          </a:prstGeom>
          <a:noFill/>
          <a:ln>
            <a:noFill/>
          </a:ln>
        </p:spPr>
      </p:pic>
      <p:sp>
        <p:nvSpPr>
          <p:cNvPr id="91" name="Google Shape;91;p16"/>
          <p:cNvSpPr txBox="1"/>
          <p:nvPr/>
        </p:nvSpPr>
        <p:spPr>
          <a:xfrm>
            <a:off x="13534700" y="8623363"/>
            <a:ext cx="2381400" cy="714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3. The Warman Trophy [4].</a:t>
            </a:r>
            <a:endParaRPr sz="1600" b="1">
              <a:solidFill>
                <a:schemeClr val="dk1"/>
              </a:solidFill>
              <a:highlight>
                <a:schemeClr val="lt1"/>
              </a:highlight>
              <a:latin typeface="Calibri"/>
              <a:ea typeface="Calibri"/>
              <a:cs typeface="Calibri"/>
              <a:sym typeface="Calibri"/>
            </a:endParaRPr>
          </a:p>
        </p:txBody>
      </p:sp>
      <p:sp>
        <p:nvSpPr>
          <p:cNvPr id="92" name="Google Shape;92;p16"/>
          <p:cNvSpPr txBox="1"/>
          <p:nvPr/>
        </p:nvSpPr>
        <p:spPr>
          <a:xfrm>
            <a:off x="11911100" y="4160342"/>
            <a:ext cx="562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2. Warman Design and Building Competition 2018 [3].</a:t>
            </a:r>
            <a:endParaRPr sz="1600" b="1">
              <a:solidFill>
                <a:schemeClr val="dk1"/>
              </a:solidFill>
              <a:highlight>
                <a:schemeClr val="lt1"/>
              </a:highlight>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p:nvPr/>
        </p:nvSpPr>
        <p:spPr>
          <a:xfrm>
            <a:off x="3014075" y="1037460"/>
            <a:ext cx="11550000" cy="8305200"/>
          </a:xfrm>
          <a:prstGeom prst="rect">
            <a:avLst/>
          </a:prstGeom>
          <a:noFill/>
          <a:ln>
            <a:noFill/>
          </a:ln>
        </p:spPr>
        <p:txBody>
          <a:bodyPr spcFirstLastPara="1" wrap="square" lIns="168825" tIns="168825" rIns="168825" bIns="168825" anchor="t" anchorCtr="0">
            <a:spAutoFit/>
          </a:bodyPr>
          <a:lstStyle/>
          <a:p>
            <a:pPr marL="0" lvl="0" indent="0" algn="ctr" rtl="0">
              <a:lnSpc>
                <a:spcPct val="115000"/>
              </a:lnSpc>
              <a:spcBef>
                <a:spcPts val="0"/>
              </a:spcBef>
              <a:spcAft>
                <a:spcPts val="0"/>
              </a:spcAft>
              <a:buClr>
                <a:schemeClr val="dk1"/>
              </a:buClr>
              <a:buSzPts val="1100"/>
              <a:buFont typeface="Arial"/>
              <a:buNone/>
            </a:pPr>
            <a:r>
              <a:rPr lang="en" sz="2800" i="1">
                <a:solidFill>
                  <a:schemeClr val="dk1"/>
                </a:solidFill>
                <a:highlight>
                  <a:schemeClr val="lt1"/>
                </a:highlight>
                <a:latin typeface="Calibri"/>
                <a:ea typeface="Calibri"/>
                <a:cs typeface="Calibri"/>
                <a:sym typeface="Calibri"/>
              </a:rPr>
              <a:t>“Build a scaled prototype system capable of transporting a package over a chasm zone to the designated delivery region in the fastest time possible, whilst achieving the team’s personal learning goals.”</a:t>
            </a:r>
            <a:endParaRPr sz="2800" i="1">
              <a:solidFill>
                <a:schemeClr val="dk1"/>
              </a:solidFill>
              <a:highlight>
                <a:schemeClr val="lt1"/>
              </a:highlight>
              <a:latin typeface="Calibri"/>
              <a:ea typeface="Calibri"/>
              <a:cs typeface="Calibri"/>
              <a:sym typeface="Calibri"/>
            </a:endParaRPr>
          </a:p>
          <a:p>
            <a:pPr marL="0" lvl="0" indent="0" algn="ctr"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l"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p:txBody>
      </p:sp>
      <p:sp>
        <p:nvSpPr>
          <p:cNvPr id="98" name="Google Shape;98;p17"/>
          <p:cNvSpPr txBox="1"/>
          <p:nvPr/>
        </p:nvSpPr>
        <p:spPr>
          <a:xfrm>
            <a:off x="0" y="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Objectives</a:t>
            </a:r>
            <a:endParaRPr sz="4200" b="1">
              <a:latin typeface="Calibri"/>
              <a:ea typeface="Calibri"/>
              <a:cs typeface="Calibri"/>
              <a:sym typeface="Calibri"/>
            </a:endParaRPr>
          </a:p>
        </p:txBody>
      </p:sp>
      <p:pic>
        <p:nvPicPr>
          <p:cNvPr id="99" name="Google Shape;99;p17"/>
          <p:cNvPicPr preferRelativeResize="0"/>
          <p:nvPr/>
        </p:nvPicPr>
        <p:blipFill rotWithShape="1">
          <a:blip r:embed="rId3">
            <a:alphaModFix/>
          </a:blip>
          <a:srcRect b="12907"/>
          <a:stretch/>
        </p:blipFill>
        <p:spPr>
          <a:xfrm>
            <a:off x="5103150" y="2696627"/>
            <a:ext cx="8081700" cy="5270376"/>
          </a:xfrm>
          <a:prstGeom prst="rect">
            <a:avLst/>
          </a:prstGeom>
          <a:noFill/>
          <a:ln>
            <a:noFill/>
          </a:ln>
        </p:spPr>
      </p:pic>
      <p:sp>
        <p:nvSpPr>
          <p:cNvPr id="100" name="Google Shape;100;p17"/>
          <p:cNvSpPr txBox="1"/>
          <p:nvPr/>
        </p:nvSpPr>
        <p:spPr>
          <a:xfrm>
            <a:off x="5405550" y="8309904"/>
            <a:ext cx="7476900" cy="997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4. Schematic view of the Competition Track showing the Start Zone, the Warehouse with the package, the wire rope across the Chasm Zone and the Deposit Zone. The boundary planes are shown for clarity [2].</a:t>
            </a:r>
            <a:endParaRPr sz="1600" b="1">
              <a:solidFill>
                <a:schemeClr val="dk1"/>
              </a:solidFill>
              <a:highlight>
                <a:schemeClr val="lt1"/>
              </a:highlight>
              <a:latin typeface="Calibri"/>
              <a:ea typeface="Calibri"/>
              <a:cs typeface="Calibri"/>
              <a:sym typeface="Calibri"/>
            </a:endParaRPr>
          </a:p>
        </p:txBody>
      </p:sp>
      <p:sp>
        <p:nvSpPr>
          <p:cNvPr id="101" name="Google Shape;101;p17"/>
          <p:cNvSpPr txBox="1"/>
          <p:nvPr/>
        </p:nvSpPr>
        <p:spPr>
          <a:xfrm>
            <a:off x="216700" y="2618435"/>
            <a:ext cx="4511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txBox="1"/>
          <p:nvPr/>
        </p:nvSpPr>
        <p:spPr>
          <a:xfrm>
            <a:off x="0" y="1"/>
            <a:ext cx="11550000" cy="987900"/>
          </a:xfrm>
          <a:prstGeom prst="rect">
            <a:avLst/>
          </a:prstGeom>
          <a:noFill/>
          <a:ln>
            <a:noFill/>
          </a:ln>
        </p:spPr>
        <p:txBody>
          <a:bodyPr spcFirstLastPara="1" wrap="square" lIns="168975" tIns="168975" rIns="168975" bIns="16897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Objectives</a:t>
            </a:r>
            <a:endParaRPr sz="4200" b="1">
              <a:latin typeface="Calibri"/>
              <a:ea typeface="Calibri"/>
              <a:cs typeface="Calibri"/>
              <a:sym typeface="Calibri"/>
            </a:endParaRPr>
          </a:p>
        </p:txBody>
      </p:sp>
      <p:sp>
        <p:nvSpPr>
          <p:cNvPr id="107" name="Google Shape;107;p18"/>
          <p:cNvSpPr txBox="1"/>
          <p:nvPr/>
        </p:nvSpPr>
        <p:spPr>
          <a:xfrm>
            <a:off x="216700" y="2618435"/>
            <a:ext cx="4511400" cy="400200"/>
          </a:xfrm>
          <a:prstGeom prst="rect">
            <a:avLst/>
          </a:prstGeom>
          <a:noFill/>
          <a:ln>
            <a:noFill/>
          </a:ln>
        </p:spPr>
        <p:txBody>
          <a:bodyPr spcFirstLastPara="1" wrap="square" lIns="91500" tIns="91500" rIns="91500" bIns="91500" anchor="t" anchorCtr="0">
            <a:spAutoFit/>
          </a:bodyPr>
          <a:lstStyle/>
          <a:p>
            <a:pPr marL="0" lvl="0" indent="0" algn="l" rtl="0">
              <a:spcBef>
                <a:spcPts val="0"/>
              </a:spcBef>
              <a:spcAft>
                <a:spcPts val="0"/>
              </a:spcAft>
              <a:buNone/>
            </a:pPr>
            <a:endParaRPr sz="1400"/>
          </a:p>
        </p:txBody>
      </p:sp>
      <p:sp>
        <p:nvSpPr>
          <p:cNvPr id="108" name="Google Shape;108;p18"/>
          <p:cNvSpPr txBox="1"/>
          <p:nvPr/>
        </p:nvSpPr>
        <p:spPr>
          <a:xfrm>
            <a:off x="216700" y="4003441"/>
            <a:ext cx="7683000" cy="2871300"/>
          </a:xfrm>
          <a:prstGeom prst="rect">
            <a:avLst/>
          </a:prstGeom>
          <a:noFill/>
          <a:ln>
            <a:noFill/>
          </a:ln>
        </p:spPr>
        <p:txBody>
          <a:bodyPr spcFirstLastPara="1" wrap="square" lIns="186925" tIns="186925" rIns="186925" bIns="186925" anchor="t" anchorCtr="0">
            <a:spAutoFit/>
          </a:bodyPr>
          <a:lstStyle/>
          <a:p>
            <a:pPr marL="0" lvl="0" indent="0" algn="just" rtl="0">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Whilst going through the engineering process to create our solution, we aim to learn design and manufacturing techniques such as CAD and 3D printing, become familiar with different mechanisms hands on like a rack and pinion system, and learn more about electrical systems through Arduino programming and circuitry setup. </a:t>
            </a:r>
            <a:endParaRPr sz="1800">
              <a:latin typeface="Calibri"/>
              <a:ea typeface="Calibri"/>
              <a:cs typeface="Calibri"/>
              <a:sym typeface="Calibri"/>
            </a:endParaRPr>
          </a:p>
          <a:p>
            <a:pPr marL="0" lvl="0" indent="0" algn="l" rtl="0">
              <a:spcBef>
                <a:spcPts val="0"/>
              </a:spcBef>
              <a:spcAft>
                <a:spcPts val="0"/>
              </a:spcAft>
              <a:buNone/>
            </a:pPr>
            <a:endParaRPr sz="1800" b="1">
              <a:latin typeface="Calibri"/>
              <a:ea typeface="Calibri"/>
              <a:cs typeface="Calibri"/>
              <a:sym typeface="Calibri"/>
            </a:endParaRPr>
          </a:p>
          <a:p>
            <a:pPr marL="0" lvl="0" indent="0" algn="l" rtl="0">
              <a:spcBef>
                <a:spcPts val="0"/>
              </a:spcBef>
              <a:spcAft>
                <a:spcPts val="0"/>
              </a:spcAft>
              <a:buNone/>
            </a:pPr>
            <a:endParaRPr sz="1800" b="1">
              <a:latin typeface="Calibri"/>
              <a:ea typeface="Calibri"/>
              <a:cs typeface="Calibri"/>
              <a:sym typeface="Calibri"/>
            </a:endParaRPr>
          </a:p>
          <a:p>
            <a:pPr marL="0" lvl="0" indent="0" algn="l" rtl="0">
              <a:spcBef>
                <a:spcPts val="0"/>
              </a:spcBef>
              <a:spcAft>
                <a:spcPts val="0"/>
              </a:spcAft>
              <a:buNone/>
            </a:pPr>
            <a:endParaRPr sz="1800" b="1">
              <a:latin typeface="Calibri"/>
              <a:ea typeface="Calibri"/>
              <a:cs typeface="Calibri"/>
              <a:sym typeface="Calibri"/>
            </a:endParaRPr>
          </a:p>
          <a:p>
            <a:pPr marL="0" lvl="0" indent="0" algn="l" rtl="0">
              <a:spcBef>
                <a:spcPts val="0"/>
              </a:spcBef>
              <a:spcAft>
                <a:spcPts val="0"/>
              </a:spcAft>
              <a:buNone/>
            </a:pPr>
            <a:endParaRPr sz="1800" b="1">
              <a:latin typeface="Calibri"/>
              <a:ea typeface="Calibri"/>
              <a:cs typeface="Calibri"/>
              <a:sym typeface="Calibri"/>
            </a:endParaRPr>
          </a:p>
        </p:txBody>
      </p:sp>
      <p:sp>
        <p:nvSpPr>
          <p:cNvPr id="109" name="Google Shape;109;p18"/>
          <p:cNvSpPr txBox="1"/>
          <p:nvPr/>
        </p:nvSpPr>
        <p:spPr>
          <a:xfrm>
            <a:off x="6965775" y="1267350"/>
            <a:ext cx="10241700" cy="1762800"/>
          </a:xfrm>
          <a:prstGeom prst="rect">
            <a:avLst/>
          </a:prstGeom>
          <a:noFill/>
          <a:ln>
            <a:noFill/>
          </a:ln>
        </p:spPr>
        <p:txBody>
          <a:bodyPr spcFirstLastPara="1" wrap="square" lIns="186925" tIns="186925" rIns="186925" bIns="1869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team’s main objective is to win the 2022 Warman Competition. The team aims to build the fastest system to deliver the package from the warehouse to the delivery zone and return to the start zone whilst achieving the highest score possible. </a:t>
            </a:r>
            <a:endParaRPr sz="1800">
              <a:latin typeface="Calibri"/>
              <a:ea typeface="Calibri"/>
              <a:cs typeface="Calibri"/>
              <a:sym typeface="Calibri"/>
            </a:endParaRPr>
          </a:p>
          <a:p>
            <a:pPr marL="0" lvl="0" indent="0" algn="just" rtl="0">
              <a:spcBef>
                <a:spcPts val="0"/>
              </a:spcBef>
              <a:spcAft>
                <a:spcPts val="0"/>
              </a:spcAft>
              <a:buNone/>
            </a:pPr>
            <a:endParaRPr sz="1800" b="1">
              <a:latin typeface="Calibri"/>
              <a:ea typeface="Calibri"/>
              <a:cs typeface="Calibri"/>
              <a:sym typeface="Calibri"/>
            </a:endParaRPr>
          </a:p>
          <a:p>
            <a:pPr marL="0" lvl="0" indent="0" algn="just" rtl="0">
              <a:spcBef>
                <a:spcPts val="0"/>
              </a:spcBef>
              <a:spcAft>
                <a:spcPts val="0"/>
              </a:spcAft>
              <a:buNone/>
            </a:pPr>
            <a:endParaRPr sz="1800" b="1">
              <a:latin typeface="Calibri"/>
              <a:ea typeface="Calibri"/>
              <a:cs typeface="Calibri"/>
              <a:sym typeface="Calibri"/>
            </a:endParaRPr>
          </a:p>
        </p:txBody>
      </p:sp>
      <p:pic>
        <p:nvPicPr>
          <p:cNvPr id="110" name="Google Shape;110;p18"/>
          <p:cNvPicPr preferRelativeResize="0"/>
          <p:nvPr/>
        </p:nvPicPr>
        <p:blipFill>
          <a:blip r:embed="rId3">
            <a:alphaModFix/>
          </a:blip>
          <a:stretch>
            <a:fillRect/>
          </a:stretch>
        </p:blipFill>
        <p:spPr>
          <a:xfrm>
            <a:off x="1702298" y="1051760"/>
            <a:ext cx="3470681" cy="2313782"/>
          </a:xfrm>
          <a:prstGeom prst="rect">
            <a:avLst/>
          </a:prstGeom>
          <a:noFill/>
          <a:ln>
            <a:noFill/>
          </a:ln>
        </p:spPr>
      </p:pic>
      <p:sp>
        <p:nvSpPr>
          <p:cNvPr id="111" name="Google Shape;111;p18"/>
          <p:cNvSpPr txBox="1"/>
          <p:nvPr/>
        </p:nvSpPr>
        <p:spPr>
          <a:xfrm>
            <a:off x="224900" y="3486908"/>
            <a:ext cx="67410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5. Warman Design and Building Competition 2019 Winners [5].</a:t>
            </a:r>
            <a:endParaRPr sz="1600" b="1">
              <a:solidFill>
                <a:schemeClr val="dk1"/>
              </a:solidFill>
              <a:highlight>
                <a:schemeClr val="lt1"/>
              </a:highlight>
              <a:latin typeface="Calibri"/>
              <a:ea typeface="Calibri"/>
              <a:cs typeface="Calibri"/>
              <a:sym typeface="Calibri"/>
            </a:endParaRPr>
          </a:p>
        </p:txBody>
      </p:sp>
      <p:pic>
        <p:nvPicPr>
          <p:cNvPr id="112" name="Google Shape;112;p18"/>
          <p:cNvPicPr preferRelativeResize="0"/>
          <p:nvPr/>
        </p:nvPicPr>
        <p:blipFill>
          <a:blip r:embed="rId4">
            <a:alphaModFix/>
          </a:blip>
          <a:stretch>
            <a:fillRect/>
          </a:stretch>
        </p:blipFill>
        <p:spPr>
          <a:xfrm>
            <a:off x="8630675" y="3309599"/>
            <a:ext cx="4676664" cy="2508835"/>
          </a:xfrm>
          <a:prstGeom prst="rect">
            <a:avLst/>
          </a:prstGeom>
          <a:noFill/>
          <a:ln>
            <a:noFill/>
          </a:ln>
        </p:spPr>
      </p:pic>
      <p:sp>
        <p:nvSpPr>
          <p:cNvPr id="113" name="Google Shape;113;p18"/>
          <p:cNvSpPr txBox="1"/>
          <p:nvPr/>
        </p:nvSpPr>
        <p:spPr>
          <a:xfrm>
            <a:off x="8058938" y="5836360"/>
            <a:ext cx="562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6. Solidworks (CAD) Part Design [6].</a:t>
            </a:r>
            <a:endParaRPr sz="1600" b="1">
              <a:solidFill>
                <a:schemeClr val="dk1"/>
              </a:solidFill>
              <a:highlight>
                <a:schemeClr val="lt1"/>
              </a:highlight>
              <a:latin typeface="Calibri"/>
              <a:ea typeface="Calibri"/>
              <a:cs typeface="Calibri"/>
              <a:sym typeface="Calibri"/>
            </a:endParaRPr>
          </a:p>
        </p:txBody>
      </p:sp>
      <p:pic>
        <p:nvPicPr>
          <p:cNvPr id="114" name="Google Shape;114;p18"/>
          <p:cNvPicPr preferRelativeResize="0"/>
          <p:nvPr/>
        </p:nvPicPr>
        <p:blipFill>
          <a:blip r:embed="rId5">
            <a:alphaModFix/>
          </a:blip>
          <a:stretch>
            <a:fillRect/>
          </a:stretch>
        </p:blipFill>
        <p:spPr>
          <a:xfrm>
            <a:off x="13770350" y="3309599"/>
            <a:ext cx="3343919" cy="2508835"/>
          </a:xfrm>
          <a:prstGeom prst="rect">
            <a:avLst/>
          </a:prstGeom>
          <a:noFill/>
          <a:ln>
            <a:noFill/>
          </a:ln>
        </p:spPr>
      </p:pic>
      <p:sp>
        <p:nvSpPr>
          <p:cNvPr id="115" name="Google Shape;115;p18"/>
          <p:cNvSpPr txBox="1"/>
          <p:nvPr/>
        </p:nvSpPr>
        <p:spPr>
          <a:xfrm>
            <a:off x="12573150" y="5818431"/>
            <a:ext cx="56286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7. Arduino Uno Rev3 [7].</a:t>
            </a:r>
            <a:endParaRPr sz="1600" b="1">
              <a:solidFill>
                <a:schemeClr val="dk1"/>
              </a:solidFill>
              <a:highlight>
                <a:schemeClr val="lt1"/>
              </a:highlight>
              <a:latin typeface="Calibri"/>
              <a:ea typeface="Calibri"/>
              <a:cs typeface="Calibri"/>
              <a:sym typeface="Calibri"/>
            </a:endParaRPr>
          </a:p>
        </p:txBody>
      </p:sp>
      <p:pic>
        <p:nvPicPr>
          <p:cNvPr id="116" name="Google Shape;116;p18"/>
          <p:cNvPicPr preferRelativeResize="0"/>
          <p:nvPr/>
        </p:nvPicPr>
        <p:blipFill>
          <a:blip r:embed="rId6">
            <a:alphaModFix/>
          </a:blip>
          <a:stretch>
            <a:fillRect/>
          </a:stretch>
        </p:blipFill>
        <p:spPr>
          <a:xfrm>
            <a:off x="1702300" y="6179699"/>
            <a:ext cx="4178917" cy="2508835"/>
          </a:xfrm>
          <a:prstGeom prst="rect">
            <a:avLst/>
          </a:prstGeom>
          <a:noFill/>
          <a:ln>
            <a:noFill/>
          </a:ln>
        </p:spPr>
      </p:pic>
      <p:sp>
        <p:nvSpPr>
          <p:cNvPr id="117" name="Google Shape;117;p18"/>
          <p:cNvSpPr txBox="1"/>
          <p:nvPr/>
        </p:nvSpPr>
        <p:spPr>
          <a:xfrm>
            <a:off x="1372100" y="8551983"/>
            <a:ext cx="48393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8. Orthographic Projection [8].</a:t>
            </a:r>
            <a:endParaRPr sz="1600" b="1">
              <a:solidFill>
                <a:schemeClr val="dk1"/>
              </a:solidFill>
              <a:highlight>
                <a:schemeClr val="lt1"/>
              </a:highlight>
              <a:latin typeface="Calibri"/>
              <a:ea typeface="Calibri"/>
              <a:cs typeface="Calibri"/>
              <a:sym typeface="Calibri"/>
            </a:endParaRPr>
          </a:p>
        </p:txBody>
      </p:sp>
      <p:sp>
        <p:nvSpPr>
          <p:cNvPr id="118" name="Google Shape;118;p18"/>
          <p:cNvSpPr txBox="1"/>
          <p:nvPr/>
        </p:nvSpPr>
        <p:spPr>
          <a:xfrm>
            <a:off x="6965775" y="6874750"/>
            <a:ext cx="10241700" cy="15084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The team would also like to learn more about the creative solution generation and the engineering design process. This could also include improving our communication skills through the practice of isometric and orthogonal drawings to convey our solutions. Most importantly, the team would like to improve their collaboration skills by working together to complete these ambitious objectives.</a:t>
            </a:r>
            <a:endParaRPr sz="18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9"/>
          <p:cNvSpPr txBox="1"/>
          <p:nvPr/>
        </p:nvSpPr>
        <p:spPr>
          <a:xfrm>
            <a:off x="114600" y="7110263"/>
            <a:ext cx="4182600" cy="2986200"/>
          </a:xfrm>
          <a:prstGeom prst="rect">
            <a:avLst/>
          </a:prstGeom>
          <a:solidFill>
            <a:srgbClr val="9FC5E8"/>
          </a:solidFill>
          <a:ln w="3810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24" name="Google Shape;124;p19"/>
          <p:cNvSpPr txBox="1"/>
          <p:nvPr/>
        </p:nvSpPr>
        <p:spPr>
          <a:xfrm>
            <a:off x="0" y="11"/>
            <a:ext cx="41109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Functions</a:t>
            </a:r>
            <a:endParaRPr sz="4200" b="1">
              <a:latin typeface="Calibri"/>
              <a:ea typeface="Calibri"/>
              <a:cs typeface="Calibri"/>
              <a:sym typeface="Calibri"/>
            </a:endParaRPr>
          </a:p>
        </p:txBody>
      </p:sp>
      <p:sp>
        <p:nvSpPr>
          <p:cNvPr id="125" name="Google Shape;125;p19"/>
          <p:cNvSpPr/>
          <p:nvPr/>
        </p:nvSpPr>
        <p:spPr>
          <a:xfrm>
            <a:off x="4726263" y="7161710"/>
            <a:ext cx="1675800" cy="949800"/>
          </a:xfrm>
          <a:prstGeom prst="rect">
            <a:avLst/>
          </a:prstGeom>
          <a:solidFill>
            <a:srgbClr val="CCCCCC"/>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Store Energy</a:t>
            </a:r>
            <a:endParaRPr sz="1600" i="0" u="none" strike="noStrike" cap="none">
              <a:solidFill>
                <a:srgbClr val="000000"/>
              </a:solidFill>
              <a:latin typeface="Calibri"/>
              <a:ea typeface="Calibri"/>
              <a:cs typeface="Calibri"/>
              <a:sym typeface="Calibri"/>
            </a:endParaRPr>
          </a:p>
        </p:txBody>
      </p:sp>
      <p:sp>
        <p:nvSpPr>
          <p:cNvPr id="126" name="Google Shape;126;p19"/>
          <p:cNvSpPr/>
          <p:nvPr/>
        </p:nvSpPr>
        <p:spPr>
          <a:xfrm>
            <a:off x="8050613" y="7161733"/>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Input </a:t>
            </a:r>
            <a:endParaRPr sz="1600">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Energy</a:t>
            </a:r>
            <a:endParaRPr sz="1600">
              <a:latin typeface="Calibri"/>
              <a:ea typeface="Calibri"/>
              <a:cs typeface="Calibri"/>
              <a:sym typeface="Calibri"/>
            </a:endParaRPr>
          </a:p>
        </p:txBody>
      </p:sp>
      <p:cxnSp>
        <p:nvCxnSpPr>
          <p:cNvPr id="127" name="Google Shape;127;p19"/>
          <p:cNvCxnSpPr>
            <a:stCxn id="128" idx="2"/>
            <a:endCxn id="129" idx="2"/>
          </p:cNvCxnSpPr>
          <p:nvPr/>
        </p:nvCxnSpPr>
        <p:spPr>
          <a:xfrm rot="10800000">
            <a:off x="1100700" y="4045388"/>
            <a:ext cx="0" cy="1329300"/>
          </a:xfrm>
          <a:prstGeom prst="straightConnector1">
            <a:avLst/>
          </a:prstGeom>
          <a:noFill/>
          <a:ln w="19050" cap="flat" cmpd="sng">
            <a:solidFill>
              <a:schemeClr val="dk1"/>
            </a:solidFill>
            <a:prstDash val="dash"/>
            <a:round/>
            <a:headEnd type="none" w="sm" len="sm"/>
            <a:tailEnd type="triangle" w="med" len="med"/>
          </a:ln>
        </p:spPr>
      </p:cxnSp>
      <p:cxnSp>
        <p:nvCxnSpPr>
          <p:cNvPr id="130" name="Google Shape;130;p19"/>
          <p:cNvCxnSpPr>
            <a:stCxn id="125" idx="3"/>
            <a:endCxn id="126" idx="1"/>
          </p:cNvCxnSpPr>
          <p:nvPr/>
        </p:nvCxnSpPr>
        <p:spPr>
          <a:xfrm>
            <a:off x="6402063" y="7636610"/>
            <a:ext cx="1648500" cy="0"/>
          </a:xfrm>
          <a:prstGeom prst="straightConnector1">
            <a:avLst/>
          </a:prstGeom>
          <a:noFill/>
          <a:ln w="19050" cap="flat" cmpd="sng">
            <a:solidFill>
              <a:schemeClr val="dk1"/>
            </a:solidFill>
            <a:prstDash val="dash"/>
            <a:round/>
            <a:headEnd type="none" w="sm" len="sm"/>
            <a:tailEnd type="triangle" w="med" len="med"/>
          </a:ln>
        </p:spPr>
      </p:cxnSp>
      <p:cxnSp>
        <p:nvCxnSpPr>
          <p:cNvPr id="131" name="Google Shape;131;p19"/>
          <p:cNvCxnSpPr>
            <a:stCxn id="126" idx="0"/>
            <a:endCxn id="132" idx="2"/>
          </p:cNvCxnSpPr>
          <p:nvPr/>
        </p:nvCxnSpPr>
        <p:spPr>
          <a:xfrm rot="10800000">
            <a:off x="7842413" y="6870433"/>
            <a:ext cx="1046100" cy="291300"/>
          </a:xfrm>
          <a:prstGeom prst="straightConnector1">
            <a:avLst/>
          </a:prstGeom>
          <a:noFill/>
          <a:ln w="19050" cap="flat" cmpd="sng">
            <a:solidFill>
              <a:schemeClr val="dk1"/>
            </a:solidFill>
            <a:prstDash val="solid"/>
            <a:round/>
            <a:headEnd type="none" w="sm" len="sm"/>
            <a:tailEnd type="triangle" w="med" len="med"/>
          </a:ln>
        </p:spPr>
      </p:cxnSp>
      <p:sp>
        <p:nvSpPr>
          <p:cNvPr id="133" name="Google Shape;133;p19"/>
          <p:cNvSpPr/>
          <p:nvPr/>
        </p:nvSpPr>
        <p:spPr>
          <a:xfrm>
            <a:off x="4745500" y="8569092"/>
            <a:ext cx="1675800" cy="949800"/>
          </a:xfrm>
          <a:prstGeom prst="rect">
            <a:avLst/>
          </a:prstGeom>
          <a:solidFill>
            <a:srgbClr val="CCCCCC"/>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 Recharge</a:t>
            </a:r>
            <a:endParaRPr sz="1600">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Energy</a:t>
            </a:r>
            <a:endParaRPr sz="1600">
              <a:latin typeface="Calibri"/>
              <a:ea typeface="Calibri"/>
              <a:cs typeface="Calibri"/>
              <a:sym typeface="Calibri"/>
            </a:endParaRPr>
          </a:p>
        </p:txBody>
      </p:sp>
      <p:sp>
        <p:nvSpPr>
          <p:cNvPr id="134" name="Google Shape;134;p19"/>
          <p:cNvSpPr txBox="1"/>
          <p:nvPr/>
        </p:nvSpPr>
        <p:spPr>
          <a:xfrm>
            <a:off x="7663500" y="8977880"/>
            <a:ext cx="1480500" cy="611700"/>
          </a:xfrm>
          <a:prstGeom prst="rect">
            <a:avLst/>
          </a:prstGeom>
          <a:noFill/>
          <a:ln>
            <a:noFill/>
          </a:ln>
        </p:spPr>
        <p:txBody>
          <a:bodyPr spcFirstLastPara="1" wrap="square" lIns="95425" tIns="95425" rIns="95425" bIns="95425" anchor="t" anchorCtr="0">
            <a:noAutofit/>
          </a:bodyPr>
          <a:lstStyle/>
          <a:p>
            <a:pPr marL="0" lvl="0" indent="0" algn="ctr" rtl="0">
              <a:spcBef>
                <a:spcPts val="0"/>
              </a:spcBef>
              <a:spcAft>
                <a:spcPts val="0"/>
              </a:spcAft>
              <a:buNone/>
            </a:pPr>
            <a:r>
              <a:rPr lang="en" sz="1600" i="1">
                <a:latin typeface="Calibri"/>
                <a:ea typeface="Calibri"/>
                <a:cs typeface="Calibri"/>
                <a:sym typeface="Calibri"/>
              </a:rPr>
              <a:t>Energy Depleted</a:t>
            </a:r>
            <a:endParaRPr sz="1600" i="1">
              <a:latin typeface="Calibri"/>
              <a:ea typeface="Calibri"/>
              <a:cs typeface="Calibri"/>
              <a:sym typeface="Calibri"/>
            </a:endParaRPr>
          </a:p>
        </p:txBody>
      </p:sp>
      <p:cxnSp>
        <p:nvCxnSpPr>
          <p:cNvPr id="135" name="Google Shape;135;p19"/>
          <p:cNvCxnSpPr>
            <a:stCxn id="126" idx="2"/>
            <a:endCxn id="133" idx="3"/>
          </p:cNvCxnSpPr>
          <p:nvPr/>
        </p:nvCxnSpPr>
        <p:spPr>
          <a:xfrm flipH="1">
            <a:off x="6421313" y="8111533"/>
            <a:ext cx="2467200" cy="932400"/>
          </a:xfrm>
          <a:prstGeom prst="straightConnector1">
            <a:avLst/>
          </a:prstGeom>
          <a:noFill/>
          <a:ln w="19050" cap="flat" cmpd="sng">
            <a:solidFill>
              <a:schemeClr val="dk1"/>
            </a:solidFill>
            <a:prstDash val="dash"/>
            <a:round/>
            <a:headEnd type="none" w="sm" len="sm"/>
            <a:tailEnd type="triangle" w="med" len="med"/>
          </a:ln>
        </p:spPr>
      </p:cxnSp>
      <p:cxnSp>
        <p:nvCxnSpPr>
          <p:cNvPr id="136" name="Google Shape;136;p19"/>
          <p:cNvCxnSpPr>
            <a:stCxn id="133" idx="0"/>
            <a:endCxn id="125" idx="2"/>
          </p:cNvCxnSpPr>
          <p:nvPr/>
        </p:nvCxnSpPr>
        <p:spPr>
          <a:xfrm rot="10800000">
            <a:off x="5564200" y="8111592"/>
            <a:ext cx="19200" cy="457500"/>
          </a:xfrm>
          <a:prstGeom prst="straightConnector1">
            <a:avLst/>
          </a:prstGeom>
          <a:noFill/>
          <a:ln w="19050" cap="flat" cmpd="sng">
            <a:solidFill>
              <a:schemeClr val="dk1"/>
            </a:solidFill>
            <a:prstDash val="dash"/>
            <a:round/>
            <a:headEnd type="none" w="sm" len="sm"/>
            <a:tailEnd type="triangle" w="med" len="med"/>
          </a:ln>
        </p:spPr>
      </p:cxnSp>
      <p:sp>
        <p:nvSpPr>
          <p:cNvPr id="129" name="Google Shape;129;p19"/>
          <p:cNvSpPr/>
          <p:nvPr/>
        </p:nvSpPr>
        <p:spPr>
          <a:xfrm>
            <a:off x="262850" y="3095549"/>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Start System</a:t>
            </a:r>
            <a:endParaRPr sz="1600">
              <a:latin typeface="Calibri"/>
              <a:ea typeface="Calibri"/>
              <a:cs typeface="Calibri"/>
              <a:sym typeface="Calibri"/>
            </a:endParaRPr>
          </a:p>
        </p:txBody>
      </p:sp>
      <p:sp>
        <p:nvSpPr>
          <p:cNvPr id="137" name="Google Shape;137;p19"/>
          <p:cNvSpPr/>
          <p:nvPr/>
        </p:nvSpPr>
        <p:spPr>
          <a:xfrm>
            <a:off x="16380849" y="3095560"/>
            <a:ext cx="1675800" cy="949800"/>
          </a:xfrm>
          <a:prstGeom prst="rect">
            <a:avLst/>
          </a:prstGeom>
          <a:solidFill>
            <a:srgbClr val="CCCCCC"/>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Signal Completion</a:t>
            </a:r>
            <a:endParaRPr sz="1600">
              <a:latin typeface="Calibri"/>
              <a:ea typeface="Calibri"/>
              <a:cs typeface="Calibri"/>
              <a:sym typeface="Calibri"/>
            </a:endParaRPr>
          </a:p>
        </p:txBody>
      </p:sp>
      <p:sp>
        <p:nvSpPr>
          <p:cNvPr id="138" name="Google Shape;138;p19"/>
          <p:cNvSpPr/>
          <p:nvPr/>
        </p:nvSpPr>
        <p:spPr>
          <a:xfrm>
            <a:off x="2300175" y="3095560"/>
            <a:ext cx="1675800" cy="949800"/>
          </a:xfrm>
          <a:prstGeom prst="rect">
            <a:avLst/>
          </a:prstGeom>
          <a:solidFill>
            <a:srgbClr val="CCCCCC"/>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Signal Commencing</a:t>
            </a:r>
            <a:endParaRPr sz="1600">
              <a:latin typeface="Calibri"/>
              <a:ea typeface="Calibri"/>
              <a:cs typeface="Calibri"/>
              <a:sym typeface="Calibri"/>
            </a:endParaRPr>
          </a:p>
        </p:txBody>
      </p:sp>
      <p:sp>
        <p:nvSpPr>
          <p:cNvPr id="128" name="Google Shape;128;p19"/>
          <p:cNvSpPr/>
          <p:nvPr/>
        </p:nvSpPr>
        <p:spPr>
          <a:xfrm>
            <a:off x="262800" y="4424888"/>
            <a:ext cx="1675800" cy="949800"/>
          </a:xfrm>
          <a:prstGeom prst="rect">
            <a:avLst/>
          </a:prstGeom>
          <a:solidFill>
            <a:srgbClr val="FFFFFF"/>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Setup System</a:t>
            </a:r>
            <a:endParaRPr sz="1600">
              <a:latin typeface="Calibri"/>
              <a:ea typeface="Calibri"/>
              <a:cs typeface="Calibri"/>
              <a:sym typeface="Calibri"/>
            </a:endParaRPr>
          </a:p>
        </p:txBody>
      </p:sp>
      <p:sp>
        <p:nvSpPr>
          <p:cNvPr id="139" name="Google Shape;139;p19"/>
          <p:cNvSpPr/>
          <p:nvPr/>
        </p:nvSpPr>
        <p:spPr>
          <a:xfrm>
            <a:off x="2587400" y="4889431"/>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Position System (for collection)</a:t>
            </a:r>
            <a:endParaRPr sz="1600">
              <a:latin typeface="Calibri"/>
              <a:ea typeface="Calibri"/>
              <a:cs typeface="Calibri"/>
              <a:sym typeface="Calibri"/>
            </a:endParaRPr>
          </a:p>
        </p:txBody>
      </p:sp>
      <p:sp>
        <p:nvSpPr>
          <p:cNvPr id="140" name="Google Shape;140;p19"/>
          <p:cNvSpPr/>
          <p:nvPr/>
        </p:nvSpPr>
        <p:spPr>
          <a:xfrm>
            <a:off x="5614325" y="4891161"/>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Collect Package</a:t>
            </a:r>
            <a:endParaRPr sz="1600">
              <a:latin typeface="Calibri"/>
              <a:ea typeface="Calibri"/>
              <a:cs typeface="Calibri"/>
              <a:sym typeface="Calibri"/>
            </a:endParaRPr>
          </a:p>
        </p:txBody>
      </p:sp>
      <p:sp>
        <p:nvSpPr>
          <p:cNvPr id="141" name="Google Shape;141;p19"/>
          <p:cNvSpPr/>
          <p:nvPr/>
        </p:nvSpPr>
        <p:spPr>
          <a:xfrm>
            <a:off x="8412146" y="3095554"/>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Traverse across the chasm (to the deposit zone)</a:t>
            </a:r>
            <a:endParaRPr sz="1600">
              <a:latin typeface="Calibri"/>
              <a:ea typeface="Calibri"/>
              <a:cs typeface="Calibri"/>
              <a:sym typeface="Calibri"/>
            </a:endParaRPr>
          </a:p>
        </p:txBody>
      </p:sp>
      <p:sp>
        <p:nvSpPr>
          <p:cNvPr id="142" name="Google Shape;142;p19"/>
          <p:cNvSpPr/>
          <p:nvPr/>
        </p:nvSpPr>
        <p:spPr>
          <a:xfrm>
            <a:off x="9337450" y="4778446"/>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Position System (for package disposal)</a:t>
            </a:r>
            <a:endParaRPr sz="1600">
              <a:latin typeface="Calibri"/>
              <a:ea typeface="Calibri"/>
              <a:cs typeface="Calibri"/>
              <a:sym typeface="Calibri"/>
            </a:endParaRPr>
          </a:p>
        </p:txBody>
      </p:sp>
      <p:sp>
        <p:nvSpPr>
          <p:cNvPr id="143" name="Google Shape;143;p19"/>
          <p:cNvSpPr/>
          <p:nvPr/>
        </p:nvSpPr>
        <p:spPr>
          <a:xfrm>
            <a:off x="11803738" y="4778446"/>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Deposit Package</a:t>
            </a:r>
            <a:endParaRPr sz="1600">
              <a:latin typeface="Calibri"/>
              <a:ea typeface="Calibri"/>
              <a:cs typeface="Calibri"/>
              <a:sym typeface="Calibri"/>
            </a:endParaRPr>
          </a:p>
        </p:txBody>
      </p:sp>
      <p:sp>
        <p:nvSpPr>
          <p:cNvPr id="144" name="Google Shape;144;p19"/>
          <p:cNvSpPr/>
          <p:nvPr/>
        </p:nvSpPr>
        <p:spPr>
          <a:xfrm>
            <a:off x="6374813" y="309556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Position System (for chasm transversal)</a:t>
            </a:r>
            <a:endParaRPr sz="1600">
              <a:solidFill>
                <a:schemeClr val="dk1"/>
              </a:solidFill>
              <a:latin typeface="Calibri"/>
              <a:ea typeface="Calibri"/>
              <a:cs typeface="Calibri"/>
              <a:sym typeface="Calibri"/>
            </a:endParaRPr>
          </a:p>
        </p:txBody>
      </p:sp>
      <p:sp>
        <p:nvSpPr>
          <p:cNvPr id="145" name="Google Shape;145;p19"/>
          <p:cNvSpPr/>
          <p:nvPr/>
        </p:nvSpPr>
        <p:spPr>
          <a:xfrm>
            <a:off x="12486800" y="309556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Position System (for chasm transversal)</a:t>
            </a:r>
            <a:endParaRPr sz="1600">
              <a:latin typeface="Calibri"/>
              <a:ea typeface="Calibri"/>
              <a:cs typeface="Calibri"/>
              <a:sym typeface="Calibri"/>
            </a:endParaRPr>
          </a:p>
        </p:txBody>
      </p:sp>
      <p:sp>
        <p:nvSpPr>
          <p:cNvPr id="146" name="Google Shape;146;p19"/>
          <p:cNvSpPr/>
          <p:nvPr/>
        </p:nvSpPr>
        <p:spPr>
          <a:xfrm>
            <a:off x="4337500" y="309556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Traverse Across Start Zone</a:t>
            </a:r>
            <a:endParaRPr sz="1600">
              <a:latin typeface="Calibri"/>
              <a:ea typeface="Calibri"/>
              <a:cs typeface="Calibri"/>
              <a:sym typeface="Calibri"/>
            </a:endParaRPr>
          </a:p>
        </p:txBody>
      </p:sp>
      <p:sp>
        <p:nvSpPr>
          <p:cNvPr id="147" name="Google Shape;147;p19"/>
          <p:cNvSpPr/>
          <p:nvPr/>
        </p:nvSpPr>
        <p:spPr>
          <a:xfrm>
            <a:off x="16362550" y="4424888"/>
            <a:ext cx="1675800" cy="949800"/>
          </a:xfrm>
          <a:prstGeom prst="rect">
            <a:avLst/>
          </a:prstGeom>
          <a:solidFill>
            <a:srgbClr val="FFFFFF"/>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Remove System</a:t>
            </a:r>
            <a:endParaRPr sz="1600">
              <a:latin typeface="Calibri"/>
              <a:ea typeface="Calibri"/>
              <a:cs typeface="Calibri"/>
              <a:sym typeface="Calibri"/>
            </a:endParaRPr>
          </a:p>
        </p:txBody>
      </p:sp>
      <p:sp>
        <p:nvSpPr>
          <p:cNvPr id="148" name="Google Shape;148;p19"/>
          <p:cNvSpPr/>
          <p:nvPr/>
        </p:nvSpPr>
        <p:spPr>
          <a:xfrm>
            <a:off x="262800" y="8669054"/>
            <a:ext cx="1842300" cy="949800"/>
          </a:xfrm>
          <a:prstGeom prst="rect">
            <a:avLst/>
          </a:prstGeom>
          <a:solidFill>
            <a:srgbClr val="FFFFFF"/>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Pre-Start Action</a:t>
            </a:r>
            <a:endParaRPr sz="1600">
              <a:latin typeface="Calibri"/>
              <a:ea typeface="Calibri"/>
              <a:cs typeface="Calibri"/>
              <a:sym typeface="Calibri"/>
            </a:endParaRPr>
          </a:p>
        </p:txBody>
      </p:sp>
      <p:sp>
        <p:nvSpPr>
          <p:cNvPr id="149" name="Google Shape;149;p19"/>
          <p:cNvSpPr/>
          <p:nvPr/>
        </p:nvSpPr>
        <p:spPr>
          <a:xfrm>
            <a:off x="2435000" y="7447527"/>
            <a:ext cx="1675800" cy="949800"/>
          </a:xfrm>
          <a:prstGeom prst="rect">
            <a:avLst/>
          </a:prstGeom>
          <a:solidFill>
            <a:srgbClr val="CCCCCC"/>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Optional Function</a:t>
            </a:r>
            <a:endParaRPr sz="1600">
              <a:latin typeface="Calibri"/>
              <a:ea typeface="Calibri"/>
              <a:cs typeface="Calibri"/>
              <a:sym typeface="Calibri"/>
            </a:endParaRPr>
          </a:p>
        </p:txBody>
      </p:sp>
      <p:sp>
        <p:nvSpPr>
          <p:cNvPr id="150" name="Google Shape;150;p19"/>
          <p:cNvSpPr/>
          <p:nvPr/>
        </p:nvSpPr>
        <p:spPr>
          <a:xfrm>
            <a:off x="2435000" y="8669054"/>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Required Function</a:t>
            </a:r>
            <a:endParaRPr sz="1600">
              <a:latin typeface="Calibri"/>
              <a:ea typeface="Calibri"/>
              <a:cs typeface="Calibri"/>
              <a:sym typeface="Calibri"/>
            </a:endParaRPr>
          </a:p>
        </p:txBody>
      </p:sp>
      <p:sp>
        <p:nvSpPr>
          <p:cNvPr id="151" name="Google Shape;151;p19"/>
          <p:cNvSpPr txBox="1"/>
          <p:nvPr/>
        </p:nvSpPr>
        <p:spPr>
          <a:xfrm>
            <a:off x="577650" y="7390325"/>
            <a:ext cx="1046100" cy="4926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2000" b="1">
                <a:solidFill>
                  <a:schemeClr val="dk1"/>
                </a:solidFill>
                <a:latin typeface="Calibri"/>
                <a:ea typeface="Calibri"/>
                <a:cs typeface="Calibri"/>
                <a:sym typeface="Calibri"/>
              </a:rPr>
              <a:t>Key:</a:t>
            </a:r>
            <a:endParaRPr sz="2000">
              <a:latin typeface="Calibri"/>
              <a:ea typeface="Calibri"/>
              <a:cs typeface="Calibri"/>
              <a:sym typeface="Calibri"/>
            </a:endParaRPr>
          </a:p>
        </p:txBody>
      </p:sp>
      <p:cxnSp>
        <p:nvCxnSpPr>
          <p:cNvPr id="152" name="Google Shape;152;p19"/>
          <p:cNvCxnSpPr>
            <a:stCxn id="129" idx="3"/>
            <a:endCxn id="138" idx="1"/>
          </p:cNvCxnSpPr>
          <p:nvPr/>
        </p:nvCxnSpPr>
        <p:spPr>
          <a:xfrm>
            <a:off x="1938650" y="3570449"/>
            <a:ext cx="361500" cy="0"/>
          </a:xfrm>
          <a:prstGeom prst="straightConnector1">
            <a:avLst/>
          </a:prstGeom>
          <a:noFill/>
          <a:ln w="19050" cap="flat" cmpd="sng">
            <a:solidFill>
              <a:schemeClr val="dk1"/>
            </a:solidFill>
            <a:prstDash val="solid"/>
            <a:round/>
            <a:headEnd type="none" w="med" len="med"/>
            <a:tailEnd type="triangle" w="med" len="med"/>
          </a:ln>
        </p:spPr>
      </p:cxnSp>
      <p:cxnSp>
        <p:nvCxnSpPr>
          <p:cNvPr id="153" name="Google Shape;153;p19"/>
          <p:cNvCxnSpPr>
            <a:stCxn id="138" idx="3"/>
            <a:endCxn id="146" idx="1"/>
          </p:cNvCxnSpPr>
          <p:nvPr/>
        </p:nvCxnSpPr>
        <p:spPr>
          <a:xfrm>
            <a:off x="3975975" y="3570460"/>
            <a:ext cx="361500" cy="0"/>
          </a:xfrm>
          <a:prstGeom prst="straightConnector1">
            <a:avLst/>
          </a:prstGeom>
          <a:noFill/>
          <a:ln w="19050" cap="flat" cmpd="sng">
            <a:solidFill>
              <a:schemeClr val="dk1"/>
            </a:solidFill>
            <a:prstDash val="solid"/>
            <a:round/>
            <a:headEnd type="none" w="med" len="med"/>
            <a:tailEnd type="triangle" w="med" len="med"/>
          </a:ln>
        </p:spPr>
      </p:cxnSp>
      <p:cxnSp>
        <p:nvCxnSpPr>
          <p:cNvPr id="154" name="Google Shape;154;p19"/>
          <p:cNvCxnSpPr>
            <a:stCxn id="146" idx="2"/>
            <a:endCxn id="139" idx="0"/>
          </p:cNvCxnSpPr>
          <p:nvPr/>
        </p:nvCxnSpPr>
        <p:spPr>
          <a:xfrm flipH="1">
            <a:off x="3425200" y="4045360"/>
            <a:ext cx="1750200" cy="844200"/>
          </a:xfrm>
          <a:prstGeom prst="straightConnector1">
            <a:avLst/>
          </a:prstGeom>
          <a:noFill/>
          <a:ln w="19050" cap="flat" cmpd="sng">
            <a:solidFill>
              <a:schemeClr val="dk1"/>
            </a:solidFill>
            <a:prstDash val="solid"/>
            <a:round/>
            <a:headEnd type="none" w="med" len="med"/>
            <a:tailEnd type="triangle" w="med" len="med"/>
          </a:ln>
        </p:spPr>
      </p:cxnSp>
      <p:cxnSp>
        <p:nvCxnSpPr>
          <p:cNvPr id="155" name="Google Shape;155;p19"/>
          <p:cNvCxnSpPr>
            <a:stCxn id="139" idx="3"/>
            <a:endCxn id="140" idx="1"/>
          </p:cNvCxnSpPr>
          <p:nvPr/>
        </p:nvCxnSpPr>
        <p:spPr>
          <a:xfrm>
            <a:off x="4263200" y="5364331"/>
            <a:ext cx="1351200" cy="1800"/>
          </a:xfrm>
          <a:prstGeom prst="straightConnector1">
            <a:avLst/>
          </a:prstGeom>
          <a:noFill/>
          <a:ln w="19050" cap="flat" cmpd="sng">
            <a:solidFill>
              <a:schemeClr val="dk1"/>
            </a:solidFill>
            <a:prstDash val="solid"/>
            <a:round/>
            <a:headEnd type="none" w="med" len="med"/>
            <a:tailEnd type="triangle" w="med" len="med"/>
          </a:ln>
        </p:spPr>
      </p:cxnSp>
      <p:cxnSp>
        <p:nvCxnSpPr>
          <p:cNvPr id="156" name="Google Shape;156;p19"/>
          <p:cNvCxnSpPr>
            <a:stCxn id="140" idx="0"/>
            <a:endCxn id="146" idx="2"/>
          </p:cNvCxnSpPr>
          <p:nvPr/>
        </p:nvCxnSpPr>
        <p:spPr>
          <a:xfrm rot="10800000">
            <a:off x="5175425" y="4045461"/>
            <a:ext cx="1276800" cy="845700"/>
          </a:xfrm>
          <a:prstGeom prst="straightConnector1">
            <a:avLst/>
          </a:prstGeom>
          <a:noFill/>
          <a:ln w="19050" cap="flat" cmpd="sng">
            <a:solidFill>
              <a:schemeClr val="dk1"/>
            </a:solidFill>
            <a:prstDash val="solid"/>
            <a:round/>
            <a:headEnd type="none" w="med" len="med"/>
            <a:tailEnd type="triangle" w="med" len="med"/>
          </a:ln>
        </p:spPr>
      </p:cxnSp>
      <p:cxnSp>
        <p:nvCxnSpPr>
          <p:cNvPr id="157" name="Google Shape;157;p19"/>
          <p:cNvCxnSpPr>
            <a:stCxn id="146" idx="3"/>
            <a:endCxn id="144" idx="1"/>
          </p:cNvCxnSpPr>
          <p:nvPr/>
        </p:nvCxnSpPr>
        <p:spPr>
          <a:xfrm>
            <a:off x="6013300" y="3570460"/>
            <a:ext cx="361500" cy="0"/>
          </a:xfrm>
          <a:prstGeom prst="straightConnector1">
            <a:avLst/>
          </a:prstGeom>
          <a:noFill/>
          <a:ln w="19050" cap="flat" cmpd="sng">
            <a:solidFill>
              <a:schemeClr val="dk1"/>
            </a:solidFill>
            <a:prstDash val="solid"/>
            <a:round/>
            <a:headEnd type="none" w="med" len="med"/>
            <a:tailEnd type="triangle" w="med" len="med"/>
          </a:ln>
        </p:spPr>
      </p:cxnSp>
      <p:cxnSp>
        <p:nvCxnSpPr>
          <p:cNvPr id="158" name="Google Shape;158;p19"/>
          <p:cNvCxnSpPr>
            <a:stCxn id="144" idx="3"/>
            <a:endCxn id="141" idx="1"/>
          </p:cNvCxnSpPr>
          <p:nvPr/>
        </p:nvCxnSpPr>
        <p:spPr>
          <a:xfrm>
            <a:off x="8050613" y="3570460"/>
            <a:ext cx="361500" cy="0"/>
          </a:xfrm>
          <a:prstGeom prst="straightConnector1">
            <a:avLst/>
          </a:prstGeom>
          <a:noFill/>
          <a:ln w="19050" cap="flat" cmpd="sng">
            <a:solidFill>
              <a:schemeClr val="dk1"/>
            </a:solidFill>
            <a:prstDash val="solid"/>
            <a:round/>
            <a:headEnd type="none" w="med" len="med"/>
            <a:tailEnd type="triangle" w="med" len="med"/>
          </a:ln>
        </p:spPr>
      </p:cxnSp>
      <p:sp>
        <p:nvSpPr>
          <p:cNvPr id="159" name="Google Shape;159;p19"/>
          <p:cNvSpPr/>
          <p:nvPr/>
        </p:nvSpPr>
        <p:spPr>
          <a:xfrm>
            <a:off x="10449484" y="3095554"/>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Traverse Across Deposit Zone</a:t>
            </a:r>
            <a:endParaRPr sz="1600">
              <a:latin typeface="Calibri"/>
              <a:ea typeface="Calibri"/>
              <a:cs typeface="Calibri"/>
              <a:sym typeface="Calibri"/>
            </a:endParaRPr>
          </a:p>
        </p:txBody>
      </p:sp>
      <p:cxnSp>
        <p:nvCxnSpPr>
          <p:cNvPr id="160" name="Google Shape;160;p19"/>
          <p:cNvCxnSpPr>
            <a:stCxn id="141" idx="3"/>
            <a:endCxn id="159" idx="1"/>
          </p:cNvCxnSpPr>
          <p:nvPr/>
        </p:nvCxnSpPr>
        <p:spPr>
          <a:xfrm>
            <a:off x="10087946" y="3570454"/>
            <a:ext cx="361500" cy="0"/>
          </a:xfrm>
          <a:prstGeom prst="straightConnector1">
            <a:avLst/>
          </a:prstGeom>
          <a:noFill/>
          <a:ln w="19050" cap="flat" cmpd="sng">
            <a:solidFill>
              <a:schemeClr val="dk1"/>
            </a:solidFill>
            <a:prstDash val="solid"/>
            <a:round/>
            <a:headEnd type="none" w="med" len="med"/>
            <a:tailEnd type="triangle" w="med" len="med"/>
          </a:ln>
        </p:spPr>
      </p:cxnSp>
      <p:cxnSp>
        <p:nvCxnSpPr>
          <p:cNvPr id="161" name="Google Shape;161;p19"/>
          <p:cNvCxnSpPr>
            <a:stCxn id="159" idx="2"/>
            <a:endCxn id="142" idx="0"/>
          </p:cNvCxnSpPr>
          <p:nvPr/>
        </p:nvCxnSpPr>
        <p:spPr>
          <a:xfrm flipH="1">
            <a:off x="10175284" y="4045354"/>
            <a:ext cx="1112100" cy="733200"/>
          </a:xfrm>
          <a:prstGeom prst="straightConnector1">
            <a:avLst/>
          </a:prstGeom>
          <a:noFill/>
          <a:ln w="19050" cap="flat" cmpd="sng">
            <a:solidFill>
              <a:schemeClr val="dk1"/>
            </a:solidFill>
            <a:prstDash val="solid"/>
            <a:round/>
            <a:headEnd type="none" w="med" len="med"/>
            <a:tailEnd type="triangle" w="med" len="med"/>
          </a:ln>
        </p:spPr>
      </p:cxnSp>
      <p:cxnSp>
        <p:nvCxnSpPr>
          <p:cNvPr id="162" name="Google Shape;162;p19"/>
          <p:cNvCxnSpPr>
            <a:stCxn id="142" idx="3"/>
            <a:endCxn id="143" idx="1"/>
          </p:cNvCxnSpPr>
          <p:nvPr/>
        </p:nvCxnSpPr>
        <p:spPr>
          <a:xfrm>
            <a:off x="11013250" y="5253346"/>
            <a:ext cx="790500" cy="0"/>
          </a:xfrm>
          <a:prstGeom prst="straightConnector1">
            <a:avLst/>
          </a:prstGeom>
          <a:noFill/>
          <a:ln w="19050" cap="flat" cmpd="sng">
            <a:solidFill>
              <a:schemeClr val="dk2"/>
            </a:solidFill>
            <a:prstDash val="solid"/>
            <a:round/>
            <a:headEnd type="none" w="med" len="med"/>
            <a:tailEnd type="triangle" w="med" len="med"/>
          </a:ln>
        </p:spPr>
      </p:cxnSp>
      <p:cxnSp>
        <p:nvCxnSpPr>
          <p:cNvPr id="163" name="Google Shape;163;p19"/>
          <p:cNvCxnSpPr>
            <a:stCxn id="143" idx="0"/>
            <a:endCxn id="159" idx="2"/>
          </p:cNvCxnSpPr>
          <p:nvPr/>
        </p:nvCxnSpPr>
        <p:spPr>
          <a:xfrm rot="10800000">
            <a:off x="11287438" y="4045246"/>
            <a:ext cx="1354200" cy="733200"/>
          </a:xfrm>
          <a:prstGeom prst="straightConnector1">
            <a:avLst/>
          </a:prstGeom>
          <a:noFill/>
          <a:ln w="19050" cap="flat" cmpd="sng">
            <a:solidFill>
              <a:schemeClr val="dk1"/>
            </a:solidFill>
            <a:prstDash val="solid"/>
            <a:round/>
            <a:headEnd type="none" w="med" len="med"/>
            <a:tailEnd type="triangle" w="med" len="med"/>
          </a:ln>
        </p:spPr>
      </p:cxnSp>
      <p:cxnSp>
        <p:nvCxnSpPr>
          <p:cNvPr id="164" name="Google Shape;164;p19"/>
          <p:cNvCxnSpPr>
            <a:stCxn id="159" idx="3"/>
            <a:endCxn id="145" idx="1"/>
          </p:cNvCxnSpPr>
          <p:nvPr/>
        </p:nvCxnSpPr>
        <p:spPr>
          <a:xfrm>
            <a:off x="12125284" y="3570454"/>
            <a:ext cx="361500" cy="0"/>
          </a:xfrm>
          <a:prstGeom prst="straightConnector1">
            <a:avLst/>
          </a:prstGeom>
          <a:noFill/>
          <a:ln w="19050" cap="flat" cmpd="sng">
            <a:solidFill>
              <a:schemeClr val="dk1"/>
            </a:solidFill>
            <a:prstDash val="solid"/>
            <a:round/>
            <a:headEnd type="none" w="med" len="med"/>
            <a:tailEnd type="triangle" w="med" len="med"/>
          </a:ln>
        </p:spPr>
      </p:cxnSp>
      <p:cxnSp>
        <p:nvCxnSpPr>
          <p:cNvPr id="165" name="Google Shape;165;p19"/>
          <p:cNvCxnSpPr>
            <a:stCxn id="145" idx="3"/>
            <a:endCxn id="166" idx="1"/>
          </p:cNvCxnSpPr>
          <p:nvPr/>
        </p:nvCxnSpPr>
        <p:spPr>
          <a:xfrm>
            <a:off x="14162600" y="3570460"/>
            <a:ext cx="271200" cy="0"/>
          </a:xfrm>
          <a:prstGeom prst="straightConnector1">
            <a:avLst/>
          </a:prstGeom>
          <a:noFill/>
          <a:ln w="19050" cap="flat" cmpd="sng">
            <a:solidFill>
              <a:schemeClr val="dk1"/>
            </a:solidFill>
            <a:prstDash val="solid"/>
            <a:round/>
            <a:headEnd type="none" w="med" len="med"/>
            <a:tailEnd type="triangle" w="med" len="med"/>
          </a:ln>
        </p:spPr>
      </p:cxnSp>
      <p:cxnSp>
        <p:nvCxnSpPr>
          <p:cNvPr id="167" name="Google Shape;167;p19"/>
          <p:cNvCxnSpPr>
            <a:stCxn id="137" idx="2"/>
            <a:endCxn id="147" idx="0"/>
          </p:cNvCxnSpPr>
          <p:nvPr/>
        </p:nvCxnSpPr>
        <p:spPr>
          <a:xfrm flipH="1">
            <a:off x="17200449" y="4045360"/>
            <a:ext cx="18300" cy="379500"/>
          </a:xfrm>
          <a:prstGeom prst="straightConnector1">
            <a:avLst/>
          </a:prstGeom>
          <a:noFill/>
          <a:ln w="19050" cap="flat" cmpd="sng">
            <a:solidFill>
              <a:schemeClr val="dk1"/>
            </a:solidFill>
            <a:prstDash val="dash"/>
            <a:round/>
            <a:headEnd type="none" w="sm" len="sm"/>
            <a:tailEnd type="triangle" w="med" len="med"/>
          </a:ln>
        </p:spPr>
      </p:cxnSp>
      <p:cxnSp>
        <p:nvCxnSpPr>
          <p:cNvPr id="168" name="Google Shape;168;p19"/>
          <p:cNvCxnSpPr>
            <a:stCxn id="126" idx="3"/>
            <a:endCxn id="169" idx="0"/>
          </p:cNvCxnSpPr>
          <p:nvPr/>
        </p:nvCxnSpPr>
        <p:spPr>
          <a:xfrm rot="10800000" flipH="1">
            <a:off x="9726413" y="1749133"/>
            <a:ext cx="5545200" cy="5887500"/>
          </a:xfrm>
          <a:prstGeom prst="bentConnector4">
            <a:avLst>
              <a:gd name="adj1" fmla="val 152334"/>
              <a:gd name="adj2" fmla="val 105990"/>
            </a:avLst>
          </a:prstGeom>
          <a:noFill/>
          <a:ln w="19050" cap="flat" cmpd="sng">
            <a:solidFill>
              <a:schemeClr val="dk1"/>
            </a:solidFill>
            <a:prstDash val="solid"/>
            <a:round/>
            <a:headEnd type="none" w="med" len="med"/>
            <a:tailEnd type="triangle" w="med" len="med"/>
          </a:ln>
        </p:spPr>
      </p:cxnSp>
      <p:sp>
        <p:nvSpPr>
          <p:cNvPr id="166" name="Google Shape;166;p19"/>
          <p:cNvSpPr/>
          <p:nvPr/>
        </p:nvSpPr>
        <p:spPr>
          <a:xfrm>
            <a:off x="14433824" y="3095560"/>
            <a:ext cx="1675800" cy="949800"/>
          </a:xfrm>
          <a:prstGeom prst="rect">
            <a:avLst/>
          </a:prstGeom>
          <a:solidFill>
            <a:srgbClr val="000000">
              <a:alpha val="0"/>
            </a:srgbClr>
          </a:solidFill>
          <a:ln w="25400" cap="flat" cmpd="sng">
            <a:solidFill>
              <a:srgbClr val="2A5E87"/>
            </a:solidFill>
            <a:prstDash val="solid"/>
            <a:round/>
            <a:headEnd type="none" w="sm" len="sm"/>
            <a:tailEnd type="none" w="sm" len="sm"/>
          </a:ln>
        </p:spPr>
        <p:txBody>
          <a:bodyPr spcFirstLastPara="1" wrap="square" lIns="71575" tIns="35775" rIns="71575" bIns="35775" anchor="t"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Traverse across the chasm (to the start zone)</a:t>
            </a:r>
            <a:endParaRPr sz="1600">
              <a:solidFill>
                <a:schemeClr val="dk1"/>
              </a:solidFill>
              <a:latin typeface="Calibri"/>
              <a:ea typeface="Calibri"/>
              <a:cs typeface="Calibri"/>
              <a:sym typeface="Calibri"/>
            </a:endParaRPr>
          </a:p>
          <a:p>
            <a:pPr marL="0" lvl="0" indent="0" algn="ctr" rtl="0">
              <a:spcBef>
                <a:spcPts val="0"/>
              </a:spcBef>
              <a:spcAft>
                <a:spcPts val="0"/>
              </a:spcAft>
              <a:buClr>
                <a:schemeClr val="dk1"/>
              </a:buClr>
              <a:buSzPts val="1100"/>
              <a:buFont typeface="Arial"/>
              <a:buNone/>
            </a:pPr>
            <a:endParaRPr sz="1600">
              <a:solidFill>
                <a:schemeClr val="dk1"/>
              </a:solidFill>
              <a:latin typeface="Calibri"/>
              <a:ea typeface="Calibri"/>
              <a:cs typeface="Calibri"/>
              <a:sym typeface="Calibri"/>
            </a:endParaRPr>
          </a:p>
        </p:txBody>
      </p:sp>
      <p:sp>
        <p:nvSpPr>
          <p:cNvPr id="132" name="Google Shape;132;p19"/>
          <p:cNvSpPr/>
          <p:nvPr/>
        </p:nvSpPr>
        <p:spPr>
          <a:xfrm>
            <a:off x="7004475" y="592059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Convert Energy to Work to Collect</a:t>
            </a:r>
            <a:endParaRPr sz="1600">
              <a:latin typeface="Calibri"/>
              <a:ea typeface="Calibri"/>
              <a:cs typeface="Calibri"/>
              <a:sym typeface="Calibri"/>
            </a:endParaRPr>
          </a:p>
        </p:txBody>
      </p:sp>
      <p:sp>
        <p:nvSpPr>
          <p:cNvPr id="170" name="Google Shape;170;p19"/>
          <p:cNvSpPr txBox="1"/>
          <p:nvPr/>
        </p:nvSpPr>
        <p:spPr>
          <a:xfrm>
            <a:off x="2816763" y="4070596"/>
            <a:ext cx="1480500" cy="611700"/>
          </a:xfrm>
          <a:prstGeom prst="rect">
            <a:avLst/>
          </a:prstGeom>
          <a:noFill/>
          <a:ln>
            <a:noFill/>
          </a:ln>
        </p:spPr>
        <p:txBody>
          <a:bodyPr spcFirstLastPara="1" wrap="square" lIns="95425" tIns="95425" rIns="95425" bIns="95425" anchor="t" anchorCtr="0">
            <a:noAutofit/>
          </a:bodyPr>
          <a:lstStyle/>
          <a:p>
            <a:pPr marL="0" lvl="0" indent="0" algn="ctr" rtl="0">
              <a:spcBef>
                <a:spcPts val="0"/>
              </a:spcBef>
              <a:spcAft>
                <a:spcPts val="0"/>
              </a:spcAft>
              <a:buNone/>
            </a:pPr>
            <a:r>
              <a:rPr lang="en" sz="1600" i="1">
                <a:latin typeface="Calibri"/>
                <a:ea typeface="Calibri"/>
                <a:cs typeface="Calibri"/>
                <a:sym typeface="Calibri"/>
              </a:rPr>
              <a:t>Package not collected</a:t>
            </a:r>
            <a:endParaRPr sz="1600" i="1">
              <a:latin typeface="Calibri"/>
              <a:ea typeface="Calibri"/>
              <a:cs typeface="Calibri"/>
              <a:sym typeface="Calibri"/>
            </a:endParaRPr>
          </a:p>
        </p:txBody>
      </p:sp>
      <p:cxnSp>
        <p:nvCxnSpPr>
          <p:cNvPr id="171" name="Google Shape;171;p19"/>
          <p:cNvCxnSpPr>
            <a:endCxn id="146" idx="0"/>
          </p:cNvCxnSpPr>
          <p:nvPr/>
        </p:nvCxnSpPr>
        <p:spPr>
          <a:xfrm flipH="1">
            <a:off x="5175400" y="2583460"/>
            <a:ext cx="10500" cy="512100"/>
          </a:xfrm>
          <a:prstGeom prst="straightConnector1">
            <a:avLst/>
          </a:prstGeom>
          <a:noFill/>
          <a:ln w="19050" cap="flat" cmpd="sng">
            <a:solidFill>
              <a:schemeClr val="dk2"/>
            </a:solidFill>
            <a:prstDash val="solid"/>
            <a:round/>
            <a:headEnd type="none" w="med" len="med"/>
            <a:tailEnd type="triangle" w="med" len="med"/>
          </a:ln>
        </p:spPr>
      </p:cxnSp>
      <p:cxnSp>
        <p:nvCxnSpPr>
          <p:cNvPr id="172" name="Google Shape;172;p19"/>
          <p:cNvCxnSpPr>
            <a:endCxn id="159" idx="0"/>
          </p:cNvCxnSpPr>
          <p:nvPr/>
        </p:nvCxnSpPr>
        <p:spPr>
          <a:xfrm>
            <a:off x="6012484" y="2049454"/>
            <a:ext cx="5274900" cy="1046100"/>
          </a:xfrm>
          <a:prstGeom prst="bentConnector2">
            <a:avLst/>
          </a:prstGeom>
          <a:noFill/>
          <a:ln w="19050" cap="flat" cmpd="sng">
            <a:solidFill>
              <a:schemeClr val="dk2"/>
            </a:solidFill>
            <a:prstDash val="solid"/>
            <a:round/>
            <a:headEnd type="none" w="med" len="med"/>
            <a:tailEnd type="triangle" w="med" len="med"/>
          </a:ln>
        </p:spPr>
      </p:cxnSp>
      <p:sp>
        <p:nvSpPr>
          <p:cNvPr id="173" name="Google Shape;173;p19"/>
          <p:cNvSpPr txBox="1"/>
          <p:nvPr/>
        </p:nvSpPr>
        <p:spPr>
          <a:xfrm>
            <a:off x="9337450" y="4045203"/>
            <a:ext cx="1480500" cy="611700"/>
          </a:xfrm>
          <a:prstGeom prst="rect">
            <a:avLst/>
          </a:prstGeom>
          <a:noFill/>
          <a:ln>
            <a:noFill/>
          </a:ln>
        </p:spPr>
        <p:txBody>
          <a:bodyPr spcFirstLastPara="1" wrap="square" lIns="95425" tIns="95425" rIns="95425" bIns="95425" anchor="t" anchorCtr="0">
            <a:noAutofit/>
          </a:bodyPr>
          <a:lstStyle/>
          <a:p>
            <a:pPr marL="0" lvl="0" indent="0" algn="ctr" rtl="0">
              <a:spcBef>
                <a:spcPts val="0"/>
              </a:spcBef>
              <a:spcAft>
                <a:spcPts val="0"/>
              </a:spcAft>
              <a:buNone/>
            </a:pPr>
            <a:r>
              <a:rPr lang="en" sz="1600" i="1">
                <a:latin typeface="Calibri"/>
                <a:ea typeface="Calibri"/>
                <a:cs typeface="Calibri"/>
                <a:sym typeface="Calibri"/>
              </a:rPr>
              <a:t>Package not deposited</a:t>
            </a:r>
            <a:endParaRPr sz="1600" i="1">
              <a:latin typeface="Calibri"/>
              <a:ea typeface="Calibri"/>
              <a:cs typeface="Calibri"/>
              <a:sym typeface="Calibri"/>
            </a:endParaRPr>
          </a:p>
        </p:txBody>
      </p:sp>
      <p:cxnSp>
        <p:nvCxnSpPr>
          <p:cNvPr id="174" name="Google Shape;174;p19"/>
          <p:cNvCxnSpPr>
            <a:stCxn id="132" idx="1"/>
            <a:endCxn id="140" idx="2"/>
          </p:cNvCxnSpPr>
          <p:nvPr/>
        </p:nvCxnSpPr>
        <p:spPr>
          <a:xfrm rot="10800000">
            <a:off x="6452175" y="5841090"/>
            <a:ext cx="552300" cy="554400"/>
          </a:xfrm>
          <a:prstGeom prst="bentConnector2">
            <a:avLst/>
          </a:prstGeom>
          <a:noFill/>
          <a:ln w="19050" cap="flat" cmpd="sng">
            <a:solidFill>
              <a:schemeClr val="dk2"/>
            </a:solidFill>
            <a:prstDash val="solid"/>
            <a:round/>
            <a:headEnd type="none" w="med" len="med"/>
            <a:tailEnd type="triangle" w="med" len="med"/>
          </a:ln>
        </p:spPr>
      </p:cxnSp>
      <p:sp>
        <p:nvSpPr>
          <p:cNvPr id="169" name="Google Shape;169;p19"/>
          <p:cNvSpPr/>
          <p:nvPr/>
        </p:nvSpPr>
        <p:spPr>
          <a:xfrm>
            <a:off x="14433825" y="174900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Convert Energy to Work to Traverse along the Wire</a:t>
            </a:r>
            <a:endParaRPr sz="1600">
              <a:latin typeface="Calibri"/>
              <a:ea typeface="Calibri"/>
              <a:cs typeface="Calibri"/>
              <a:sym typeface="Calibri"/>
            </a:endParaRPr>
          </a:p>
        </p:txBody>
      </p:sp>
      <p:cxnSp>
        <p:nvCxnSpPr>
          <p:cNvPr id="175" name="Google Shape;175;p19"/>
          <p:cNvCxnSpPr>
            <a:stCxn id="169" idx="1"/>
            <a:endCxn id="141" idx="0"/>
          </p:cNvCxnSpPr>
          <p:nvPr/>
        </p:nvCxnSpPr>
        <p:spPr>
          <a:xfrm flipH="1">
            <a:off x="9250125" y="2223900"/>
            <a:ext cx="5183700" cy="871800"/>
          </a:xfrm>
          <a:prstGeom prst="bentConnector2">
            <a:avLst/>
          </a:prstGeom>
          <a:noFill/>
          <a:ln w="19050" cap="flat" cmpd="sng">
            <a:solidFill>
              <a:schemeClr val="dk2"/>
            </a:solidFill>
            <a:prstDash val="solid"/>
            <a:round/>
            <a:headEnd type="none" w="med" len="med"/>
            <a:tailEnd type="triangle" w="med" len="med"/>
          </a:ln>
        </p:spPr>
      </p:cxnSp>
      <p:cxnSp>
        <p:nvCxnSpPr>
          <p:cNvPr id="176" name="Google Shape;176;p19"/>
          <p:cNvCxnSpPr>
            <a:stCxn id="169" idx="2"/>
            <a:endCxn id="166" idx="0"/>
          </p:cNvCxnSpPr>
          <p:nvPr/>
        </p:nvCxnSpPr>
        <p:spPr>
          <a:xfrm>
            <a:off x="15271725" y="2698800"/>
            <a:ext cx="0" cy="396900"/>
          </a:xfrm>
          <a:prstGeom prst="straightConnector1">
            <a:avLst/>
          </a:prstGeom>
          <a:noFill/>
          <a:ln w="19050" cap="flat" cmpd="sng">
            <a:solidFill>
              <a:schemeClr val="dk2"/>
            </a:solidFill>
            <a:prstDash val="solid"/>
            <a:round/>
            <a:headEnd type="none" w="med" len="med"/>
            <a:tailEnd type="triangle" w="med" len="med"/>
          </a:ln>
        </p:spPr>
      </p:cxnSp>
      <p:cxnSp>
        <p:nvCxnSpPr>
          <p:cNvPr id="177" name="Google Shape;177;p19"/>
          <p:cNvCxnSpPr>
            <a:stCxn id="166" idx="3"/>
            <a:endCxn id="137" idx="1"/>
          </p:cNvCxnSpPr>
          <p:nvPr/>
        </p:nvCxnSpPr>
        <p:spPr>
          <a:xfrm>
            <a:off x="16109624" y="3570460"/>
            <a:ext cx="271200" cy="0"/>
          </a:xfrm>
          <a:prstGeom prst="straightConnector1">
            <a:avLst/>
          </a:prstGeom>
          <a:noFill/>
          <a:ln w="19050" cap="flat" cmpd="sng">
            <a:solidFill>
              <a:schemeClr val="dk1"/>
            </a:solidFill>
            <a:prstDash val="solid"/>
            <a:round/>
            <a:headEnd type="none" w="med" len="med"/>
            <a:tailEnd type="triangle" w="med" len="med"/>
          </a:ln>
        </p:spPr>
      </p:cxnSp>
      <p:cxnSp>
        <p:nvCxnSpPr>
          <p:cNvPr id="178" name="Google Shape;178;p19"/>
          <p:cNvCxnSpPr>
            <a:stCxn id="126" idx="3"/>
            <a:endCxn id="179" idx="0"/>
          </p:cNvCxnSpPr>
          <p:nvPr/>
        </p:nvCxnSpPr>
        <p:spPr>
          <a:xfrm rot="10800000">
            <a:off x="5175413" y="1591633"/>
            <a:ext cx="4551000" cy="6045000"/>
          </a:xfrm>
          <a:prstGeom prst="bentConnector4">
            <a:avLst>
              <a:gd name="adj1" fmla="val -185612"/>
              <a:gd name="adj2" fmla="val 106252"/>
            </a:avLst>
          </a:prstGeom>
          <a:noFill/>
          <a:ln w="19050" cap="flat" cmpd="sng">
            <a:solidFill>
              <a:schemeClr val="dk1"/>
            </a:solidFill>
            <a:prstDash val="solid"/>
            <a:round/>
            <a:headEnd type="none" w="med" len="med"/>
            <a:tailEnd type="triangle" w="med" len="med"/>
          </a:ln>
        </p:spPr>
      </p:cxnSp>
      <p:sp>
        <p:nvSpPr>
          <p:cNvPr id="179" name="Google Shape;179;p19"/>
          <p:cNvSpPr/>
          <p:nvPr/>
        </p:nvSpPr>
        <p:spPr>
          <a:xfrm>
            <a:off x="4337500" y="1591585"/>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Convert Energy to Work to Traverse on the Ground</a:t>
            </a:r>
            <a:endParaRPr sz="1600">
              <a:latin typeface="Calibri"/>
              <a:ea typeface="Calibri"/>
              <a:cs typeface="Calibri"/>
              <a:sym typeface="Calibri"/>
            </a:endParaRPr>
          </a:p>
        </p:txBody>
      </p:sp>
      <p:sp>
        <p:nvSpPr>
          <p:cNvPr id="180" name="Google Shape;180;p19"/>
          <p:cNvSpPr/>
          <p:nvPr/>
        </p:nvSpPr>
        <p:spPr>
          <a:xfrm>
            <a:off x="9020450" y="597009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Convert Energy to Work to Deposit</a:t>
            </a:r>
            <a:endParaRPr sz="1600">
              <a:latin typeface="Calibri"/>
              <a:ea typeface="Calibri"/>
              <a:cs typeface="Calibri"/>
              <a:sym typeface="Calibri"/>
            </a:endParaRPr>
          </a:p>
        </p:txBody>
      </p:sp>
      <p:cxnSp>
        <p:nvCxnSpPr>
          <p:cNvPr id="181" name="Google Shape;181;p19"/>
          <p:cNvCxnSpPr>
            <a:stCxn id="126" idx="0"/>
            <a:endCxn id="180" idx="2"/>
          </p:cNvCxnSpPr>
          <p:nvPr/>
        </p:nvCxnSpPr>
        <p:spPr>
          <a:xfrm rot="10800000" flipH="1">
            <a:off x="8888513" y="6919933"/>
            <a:ext cx="969900" cy="241800"/>
          </a:xfrm>
          <a:prstGeom prst="straightConnector1">
            <a:avLst/>
          </a:prstGeom>
          <a:noFill/>
          <a:ln w="19050" cap="flat" cmpd="sng">
            <a:solidFill>
              <a:schemeClr val="dk1"/>
            </a:solidFill>
            <a:prstDash val="solid"/>
            <a:round/>
            <a:headEnd type="none" w="sm" len="sm"/>
            <a:tailEnd type="triangle" w="med" len="med"/>
          </a:ln>
        </p:spPr>
      </p:cxnSp>
      <p:cxnSp>
        <p:nvCxnSpPr>
          <p:cNvPr id="182" name="Google Shape;182;p19"/>
          <p:cNvCxnSpPr>
            <a:stCxn id="180" idx="3"/>
            <a:endCxn id="143" idx="2"/>
          </p:cNvCxnSpPr>
          <p:nvPr/>
        </p:nvCxnSpPr>
        <p:spPr>
          <a:xfrm rot="10800000" flipH="1">
            <a:off x="10696250" y="5728290"/>
            <a:ext cx="1945500" cy="716700"/>
          </a:xfrm>
          <a:prstGeom prst="bentConnector2">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0"/>
          <p:cNvSpPr txBox="1"/>
          <p:nvPr/>
        </p:nvSpPr>
        <p:spPr>
          <a:xfrm>
            <a:off x="0" y="-10"/>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Factors: What is Important?</a:t>
            </a:r>
            <a:endParaRPr sz="4200" b="1">
              <a:latin typeface="Calibri"/>
              <a:ea typeface="Calibri"/>
              <a:cs typeface="Calibri"/>
              <a:sym typeface="Calibri"/>
            </a:endParaRPr>
          </a:p>
        </p:txBody>
      </p:sp>
      <p:sp>
        <p:nvSpPr>
          <p:cNvPr id="188" name="Google Shape;188;p20"/>
          <p:cNvSpPr txBox="1"/>
          <p:nvPr/>
        </p:nvSpPr>
        <p:spPr>
          <a:xfrm>
            <a:off x="0" y="723456"/>
            <a:ext cx="9144000" cy="90702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sz="2000" b="1">
                <a:solidFill>
                  <a:schemeClr val="dk1"/>
                </a:solidFill>
                <a:highlight>
                  <a:schemeClr val="lt1"/>
                </a:highlight>
                <a:latin typeface="Calibri"/>
                <a:ea typeface="Calibri"/>
                <a:cs typeface="Calibri"/>
                <a:sym typeface="Calibri"/>
              </a:rPr>
              <a:t>Men / Women / People </a:t>
            </a:r>
            <a:endParaRPr sz="2000" b="1">
              <a:solidFill>
                <a:schemeClr val="dk1"/>
              </a:solidFill>
              <a:highlight>
                <a:schemeClr val="lt1"/>
              </a:highlight>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800">
                <a:solidFill>
                  <a:schemeClr val="dk1"/>
                </a:solidFill>
                <a:latin typeface="Calibri"/>
                <a:ea typeface="Calibri"/>
                <a:cs typeface="Calibri"/>
                <a:sym typeface="Calibri"/>
              </a:rPr>
              <a:t>In terms of what the team aims to achieve, it has been agreed upon that the final solution should aim to be the quickest and most effective transporter system to be designed, prototyped, built and tested within 7 weeks. In particular the team wants their system to exceed their client’s expectations. To do so, each teammate has their own special skills and knowledge to bring to the table:</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Jason</a:t>
            </a:r>
            <a:r>
              <a:rPr lang="en" sz="1800">
                <a:solidFill>
                  <a:schemeClr val="dk1"/>
                </a:solidFill>
                <a:latin typeface="Calibri"/>
                <a:ea typeface="Calibri"/>
                <a:cs typeface="Calibri"/>
                <a:sym typeface="Calibri"/>
              </a:rPr>
              <a:t> has experience in designing, building and prototyping parts for rovers. He is in his third year of Mechanical engineering, and has finance background knowledge. Also, he has great communication and leadership skills. In addition, he has lots of experience in 3D printing and Solidworks CAD.</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Nathan</a:t>
            </a:r>
            <a:r>
              <a:rPr lang="en" sz="1800">
                <a:solidFill>
                  <a:schemeClr val="dk1"/>
                </a:solidFill>
                <a:latin typeface="Calibri"/>
                <a:ea typeface="Calibri"/>
                <a:cs typeface="Calibri"/>
                <a:sym typeface="Calibri"/>
              </a:rPr>
              <a:t> has an aerospace engineering background knowledge and is very good at isometric, orthogonal drawings. However, due to personal matters, he unfortunately discontinued from this unit. Hence, we no longer have this member on our team and as such, we are lacking this experience and knowledge he would have contributed. Furthermore, we are in need of additional human resources, of which Nathan would have provided to the team.</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Shafin</a:t>
            </a:r>
            <a:r>
              <a:rPr lang="en" sz="1800">
                <a:solidFill>
                  <a:schemeClr val="dk1"/>
                </a:solidFill>
                <a:latin typeface="Calibri"/>
                <a:ea typeface="Calibri"/>
                <a:cs typeface="Calibri"/>
                <a:sym typeface="Calibri"/>
              </a:rPr>
              <a:t> has experience in building electrical circuits and coding. He is in his third year doing Mechatronics engineering. Shafin has a great mindset, believing no task is too challenging to figure out. While he enjoys coding.</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Ryan</a:t>
            </a:r>
            <a:r>
              <a:rPr lang="en" sz="1800">
                <a:solidFill>
                  <a:schemeClr val="dk1"/>
                </a:solidFill>
                <a:latin typeface="Calibri"/>
                <a:ea typeface="Calibri"/>
                <a:cs typeface="Calibri"/>
                <a:sym typeface="Calibri"/>
              </a:rPr>
              <a:t> has experience with software engineering and computer vision. He also has some experience in microcontroller programming and electrical circuits. Ryan is also in his third year doing Mechatronics engineering and is very hard working. </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1200"/>
              </a:spcAft>
              <a:buClr>
                <a:schemeClr val="dk1"/>
              </a:buClr>
              <a:buSzPts val="1100"/>
              <a:buFont typeface="Arial"/>
              <a:buNone/>
            </a:pPr>
            <a:r>
              <a:rPr lang="en" sz="1800" b="1">
                <a:solidFill>
                  <a:schemeClr val="dk1"/>
                </a:solidFill>
                <a:latin typeface="Calibri"/>
                <a:ea typeface="Calibri"/>
                <a:cs typeface="Calibri"/>
                <a:sym typeface="Calibri"/>
              </a:rPr>
              <a:t>Faisal</a:t>
            </a:r>
            <a:r>
              <a:rPr lang="en" sz="1800">
                <a:solidFill>
                  <a:schemeClr val="dk1"/>
                </a:solidFill>
                <a:latin typeface="Calibri"/>
                <a:ea typeface="Calibri"/>
                <a:cs typeface="Calibri"/>
                <a:sym typeface="Calibri"/>
              </a:rPr>
              <a:t> has a good knowledge in building electrical circuits, coding and AI models/research. Additionally, he has a Mechatronic engineering and finance background. Faisal brings to the team his great teamwork and communication skills. Faisal has good experience with arduino coding. </a:t>
            </a:r>
            <a:endParaRPr sz="1800" b="1">
              <a:solidFill>
                <a:schemeClr val="dk1"/>
              </a:solidFill>
              <a:highlight>
                <a:srgbClr val="FFFFFF"/>
              </a:highlight>
              <a:latin typeface="Calibri"/>
              <a:ea typeface="Calibri"/>
              <a:cs typeface="Calibri"/>
              <a:sym typeface="Calibri"/>
            </a:endParaRPr>
          </a:p>
        </p:txBody>
      </p:sp>
      <p:sp>
        <p:nvSpPr>
          <p:cNvPr id="189" name="Google Shape;189;p20"/>
          <p:cNvSpPr txBox="1"/>
          <p:nvPr/>
        </p:nvSpPr>
        <p:spPr>
          <a:xfrm>
            <a:off x="9144000" y="1075172"/>
            <a:ext cx="9093600" cy="6639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1200"/>
              </a:spcBef>
              <a:spcAft>
                <a:spcPts val="0"/>
              </a:spcAft>
              <a:buClr>
                <a:schemeClr val="dk1"/>
              </a:buClr>
              <a:buSzPts val="1100"/>
              <a:buFont typeface="Arial"/>
              <a:buNone/>
            </a:pPr>
            <a:r>
              <a:rPr lang="en" sz="1800">
                <a:solidFill>
                  <a:schemeClr val="dk1"/>
                </a:solidFill>
                <a:latin typeface="Calibri"/>
                <a:ea typeface="Calibri"/>
                <a:cs typeface="Calibri"/>
                <a:sym typeface="Calibri"/>
              </a:rPr>
              <a:t>In terms of the limitations, each team member has their own battle to face outside of university.</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Jason</a:t>
            </a:r>
            <a:r>
              <a:rPr lang="en" sz="1800">
                <a:solidFill>
                  <a:schemeClr val="dk1"/>
                </a:solidFill>
                <a:latin typeface="Calibri"/>
                <a:ea typeface="Calibri"/>
                <a:cs typeface="Calibri"/>
                <a:sym typeface="Calibri"/>
              </a:rPr>
              <a:t> works at least 10 hours a week and dedicated at least 15 hours a week to Monash Nova Rover - a student Engineering team..</a:t>
            </a:r>
            <a:endParaRPr sz="1800" b="1">
              <a:solidFill>
                <a:schemeClr val="dk1"/>
              </a:solidFill>
              <a:highlight>
                <a:schemeClr val="lt1"/>
              </a:highlight>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Shafin</a:t>
            </a:r>
            <a:r>
              <a:rPr lang="en" sz="1800">
                <a:solidFill>
                  <a:schemeClr val="dk1"/>
                </a:solidFill>
                <a:latin typeface="Calibri"/>
                <a:ea typeface="Calibri"/>
                <a:cs typeface="Calibri"/>
                <a:sym typeface="Calibri"/>
              </a:rPr>
              <a:t> is in the activities portfolio at Monash University International Students Services (MUISS) and works at least 15 hours a week</a:t>
            </a:r>
            <a:endParaRPr sz="1800" b="1">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Ryan</a:t>
            </a:r>
            <a:r>
              <a:rPr lang="en" sz="1800">
                <a:solidFill>
                  <a:schemeClr val="dk1"/>
                </a:solidFill>
                <a:latin typeface="Calibri"/>
                <a:ea typeface="Calibri"/>
                <a:cs typeface="Calibri"/>
                <a:sym typeface="Calibri"/>
              </a:rPr>
              <a:t> has a full time job, and he is also a part of an engineering student team, Deep Neuron.</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Nathan </a:t>
            </a:r>
            <a:r>
              <a:rPr lang="en" sz="1800">
                <a:solidFill>
                  <a:schemeClr val="dk1"/>
                </a:solidFill>
                <a:latin typeface="Calibri"/>
                <a:ea typeface="Calibri"/>
                <a:cs typeface="Calibri"/>
                <a:sym typeface="Calibri"/>
              </a:rPr>
              <a:t>works at least 20 hours per week. Sometimes he had to travel due to family-related issues. Thus, he was unable to contribute as much as required. As he has discontinued from the unit, this no longer affects the limitations on the team project.</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Faisal</a:t>
            </a:r>
            <a:r>
              <a:rPr lang="en" sz="1800">
                <a:solidFill>
                  <a:schemeClr val="dk1"/>
                </a:solidFill>
                <a:latin typeface="Calibri"/>
                <a:ea typeface="Calibri"/>
                <a:cs typeface="Calibri"/>
                <a:sym typeface="Calibri"/>
              </a:rPr>
              <a:t> works at least 10 hours a week. Out of everyone on the team, he lives the furthest away from university. In fact, it takes around an hour and half to get to Monash University.</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1200"/>
              </a:spcAft>
              <a:buClr>
                <a:schemeClr val="dk1"/>
              </a:buClr>
              <a:buSzPts val="1100"/>
              <a:buFont typeface="Arial"/>
              <a:buNone/>
            </a:pPr>
            <a:r>
              <a:rPr lang="en" sz="1800">
                <a:solidFill>
                  <a:schemeClr val="dk1"/>
                </a:solidFill>
                <a:latin typeface="Calibri"/>
                <a:ea typeface="Calibri"/>
                <a:cs typeface="Calibri"/>
                <a:sym typeface="Calibri"/>
              </a:rPr>
              <a:t>As a result, of these individual circumstances, it indicates that finding a regular time that suits everyone's busy schedule is difficult. Furthermore, some teammates may not be able to attend or do work on the project during the day and week, while others may struggle to work on it in the evening and weekends. We were lucky to find time for everyone to meet outside of class to work on the project on Thursdays from 4pm to 6pm.</a:t>
            </a:r>
            <a:endParaRPr sz="1800">
              <a:solidFill>
                <a:schemeClr val="dk1"/>
              </a:solidFill>
              <a:highlight>
                <a:schemeClr val="lt1"/>
              </a:highlight>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1"/>
          <p:cNvPicPr preferRelativeResize="0"/>
          <p:nvPr/>
        </p:nvPicPr>
        <p:blipFill rotWithShape="1">
          <a:blip r:embed="rId3">
            <a:alphaModFix/>
          </a:blip>
          <a:srcRect l="7240" t="21125" r="24064" b="12251"/>
          <a:stretch/>
        </p:blipFill>
        <p:spPr>
          <a:xfrm>
            <a:off x="12711925" y="1852162"/>
            <a:ext cx="4559800" cy="5896125"/>
          </a:xfrm>
          <a:prstGeom prst="rect">
            <a:avLst/>
          </a:prstGeom>
          <a:noFill/>
          <a:ln>
            <a:noFill/>
          </a:ln>
        </p:spPr>
      </p:pic>
      <p:sp>
        <p:nvSpPr>
          <p:cNvPr id="195" name="Google Shape;195;p21"/>
          <p:cNvSpPr txBox="1"/>
          <p:nvPr/>
        </p:nvSpPr>
        <p:spPr>
          <a:xfrm>
            <a:off x="12672375" y="7799900"/>
            <a:ext cx="46389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11. Creality 3D printer.</a:t>
            </a:r>
            <a:endParaRPr sz="1600" b="1">
              <a:solidFill>
                <a:schemeClr val="dk1"/>
              </a:solidFill>
              <a:highlight>
                <a:schemeClr val="lt1"/>
              </a:highlight>
              <a:latin typeface="Calibri"/>
              <a:ea typeface="Calibri"/>
              <a:cs typeface="Calibri"/>
              <a:sym typeface="Calibri"/>
            </a:endParaRPr>
          </a:p>
        </p:txBody>
      </p:sp>
      <p:sp>
        <p:nvSpPr>
          <p:cNvPr id="196" name="Google Shape;196;p21"/>
          <p:cNvSpPr txBox="1"/>
          <p:nvPr/>
        </p:nvSpPr>
        <p:spPr>
          <a:xfrm>
            <a:off x="0" y="0"/>
            <a:ext cx="11543100" cy="94926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sz="4200" b="1">
                <a:solidFill>
                  <a:schemeClr val="dk1"/>
                </a:solidFill>
                <a:highlight>
                  <a:schemeClr val="lt1"/>
                </a:highlight>
                <a:latin typeface="Calibri"/>
                <a:ea typeface="Calibri"/>
                <a:cs typeface="Calibri"/>
                <a:sym typeface="Calibri"/>
              </a:rPr>
              <a:t>  Factors: What is Important?</a:t>
            </a:r>
            <a:endParaRPr sz="2000" b="1" i="1">
              <a:solidFill>
                <a:schemeClr val="dk1"/>
              </a:solidFill>
            </a:endParaRPr>
          </a:p>
          <a:p>
            <a:pPr marL="0" lvl="0" indent="0" algn="l" rtl="0">
              <a:lnSpc>
                <a:spcPct val="115000"/>
              </a:lnSpc>
              <a:spcBef>
                <a:spcPts val="1200"/>
              </a:spcBef>
              <a:spcAft>
                <a:spcPts val="0"/>
              </a:spcAft>
              <a:buNone/>
            </a:pPr>
            <a:r>
              <a:rPr lang="en" sz="2000" b="1">
                <a:solidFill>
                  <a:schemeClr val="dk1"/>
                </a:solidFill>
              </a:rPr>
              <a:t>Methods</a:t>
            </a:r>
            <a:endParaRPr sz="2000" b="1">
              <a:solidFill>
                <a:schemeClr val="dk1"/>
              </a:solidFill>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The CAD design of the transporter system will be done through SolidWorks to ensure the measurements are concise and appropriate for the competition. Also, the Arduino will be programmed in order to make sure that the transporter system can follow the instructions to move the intended package to the desired zone efficiently. Additionally, the system designed will utilise all the methods listed to maximise our scores across the multiple objectives of the competition.</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b="1">
                <a:solidFill>
                  <a:schemeClr val="dk1"/>
                </a:solidFill>
                <a:latin typeface="Calibri"/>
                <a:ea typeface="Calibri"/>
                <a:cs typeface="Calibri"/>
                <a:sym typeface="Calibri"/>
              </a:rPr>
              <a:t>What skills does each teammate currently possess that would be relevant to the project?</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b="1">
                <a:solidFill>
                  <a:schemeClr val="dk1"/>
                </a:solidFill>
                <a:latin typeface="Calibri"/>
                <a:ea typeface="Calibri"/>
                <a:cs typeface="Calibri"/>
                <a:sym typeface="Calibri"/>
              </a:rPr>
              <a:t>Jason</a:t>
            </a:r>
            <a:r>
              <a:rPr lang="en" sz="1800">
                <a:solidFill>
                  <a:schemeClr val="dk1"/>
                </a:solidFill>
                <a:latin typeface="Calibri"/>
                <a:ea typeface="Calibri"/>
                <a:cs typeface="Calibri"/>
                <a:sym typeface="Calibri"/>
              </a:rPr>
              <a:t> has skills in 3D printing, SolidWorks and design. He has also been inducted to use a drill press. As a result, he is willing to take the lead on tasks that require SolidWorks, 3D printing and is eager to work with the team to build the transporter system.</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Ryan</a:t>
            </a:r>
            <a:r>
              <a:rPr lang="en" sz="1800">
                <a:solidFill>
                  <a:schemeClr val="dk1"/>
                </a:solidFill>
                <a:latin typeface="Calibri"/>
                <a:ea typeface="Calibri"/>
                <a:cs typeface="Calibri"/>
                <a:sym typeface="Calibri"/>
              </a:rPr>
              <a:t> is skillful at coding. Hence, he feels his skills will be most useful contributing to doing Arduino coding for the transporter system. Additionally, Ryan is excited to work on using SolidWorks to design parts and assemblies.</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Shafin</a:t>
            </a:r>
            <a:r>
              <a:rPr lang="en" sz="1800">
                <a:solidFill>
                  <a:schemeClr val="dk1"/>
                </a:solidFill>
                <a:latin typeface="Calibri"/>
                <a:ea typeface="Calibri"/>
                <a:cs typeface="Calibri"/>
                <a:sym typeface="Calibri"/>
              </a:rPr>
              <a:t> has skills in electrical circuiting and coding. Hence, he is hoping to contribute to the electrical wiring and components decision making process. </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Nathan</a:t>
            </a:r>
            <a:r>
              <a:rPr lang="en" sz="1800">
                <a:solidFill>
                  <a:schemeClr val="dk1"/>
                </a:solidFill>
                <a:latin typeface="Calibri"/>
                <a:ea typeface="Calibri"/>
                <a:cs typeface="Calibri"/>
                <a:sym typeface="Calibri"/>
              </a:rPr>
              <a:t> has skills in sketching and drawing. He would prefer to build the transporter system, however, as he has disconnected from the unit, we can no longer utilise the skills be brought to the team.</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Faisal</a:t>
            </a:r>
            <a:r>
              <a:rPr lang="en" sz="1800">
                <a:solidFill>
                  <a:schemeClr val="dk1"/>
                </a:solidFill>
                <a:latin typeface="Calibri"/>
                <a:ea typeface="Calibri"/>
                <a:cs typeface="Calibri"/>
                <a:sym typeface="Calibri"/>
              </a:rPr>
              <a:t> has skills in electrical circuiting and coding. He has a lot of experiencing building electrical systems and is excited to contribute to the build of the system. </a:t>
            </a:r>
            <a:endParaRPr sz="1800" b="1">
              <a:solidFill>
                <a:schemeClr val="dk1"/>
              </a:solidFill>
              <a:latin typeface="Calibri"/>
              <a:ea typeface="Calibri"/>
              <a:cs typeface="Calibri"/>
              <a:sym typeface="Calibri"/>
            </a:endParaRPr>
          </a:p>
          <a:p>
            <a:pPr marL="0" lvl="0" indent="0" algn="just" rtl="0">
              <a:lnSpc>
                <a:spcPct val="115000"/>
              </a:lnSpc>
              <a:spcBef>
                <a:spcPts val="1200"/>
              </a:spcBef>
              <a:spcAft>
                <a:spcPts val="0"/>
              </a:spcAft>
              <a:buClr>
                <a:schemeClr val="dk1"/>
              </a:buClr>
              <a:buSzPts val="1100"/>
              <a:buFont typeface="Arial"/>
              <a:buNone/>
            </a:pPr>
            <a:r>
              <a:rPr lang="en" sz="1800" b="1">
                <a:solidFill>
                  <a:schemeClr val="dk1"/>
                </a:solidFill>
                <a:latin typeface="Calibri"/>
                <a:ea typeface="Calibri"/>
                <a:cs typeface="Calibri"/>
                <a:sym typeface="Calibri"/>
              </a:rPr>
              <a:t>What skills does each teammate need to develop?</a:t>
            </a:r>
            <a:endParaRPr sz="1800" b="1">
              <a:solidFill>
                <a:schemeClr val="dk1"/>
              </a:solidFill>
              <a:latin typeface="Calibri"/>
              <a:ea typeface="Calibri"/>
              <a:cs typeface="Calibri"/>
              <a:sym typeface="Calibri"/>
            </a:endParaRPr>
          </a:p>
          <a:p>
            <a:pPr marL="0" lvl="0" indent="0" algn="just" rtl="0">
              <a:lnSpc>
                <a:spcPct val="115000"/>
              </a:lnSpc>
              <a:spcBef>
                <a:spcPts val="1200"/>
              </a:spcBef>
              <a:spcAft>
                <a:spcPts val="1200"/>
              </a:spcAft>
              <a:buNone/>
            </a:pPr>
            <a:r>
              <a:rPr lang="en" sz="1800" b="1">
                <a:solidFill>
                  <a:schemeClr val="dk1"/>
                </a:solidFill>
                <a:latin typeface="Calibri"/>
                <a:ea typeface="Calibri"/>
                <a:cs typeface="Calibri"/>
                <a:sym typeface="Calibri"/>
              </a:rPr>
              <a:t>Jason</a:t>
            </a:r>
            <a:r>
              <a:rPr lang="en" sz="1800">
                <a:solidFill>
                  <a:schemeClr val="dk1"/>
                </a:solidFill>
                <a:latin typeface="Calibri"/>
                <a:ea typeface="Calibri"/>
                <a:cs typeface="Calibri"/>
                <a:sym typeface="Calibri"/>
              </a:rPr>
              <a:t> needs to develop his Arduino coding and electrical systems building.</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Ryan</a:t>
            </a:r>
            <a:r>
              <a:rPr lang="en" sz="1800">
                <a:solidFill>
                  <a:schemeClr val="dk1"/>
                </a:solidFill>
                <a:latin typeface="Calibri"/>
                <a:ea typeface="Calibri"/>
                <a:cs typeface="Calibri"/>
                <a:sym typeface="Calibri"/>
              </a:rPr>
              <a:t> needs to develop his 3D printing, CAD skills and electrical systems building.</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Shafin</a:t>
            </a:r>
            <a:r>
              <a:rPr lang="en" sz="1800">
                <a:solidFill>
                  <a:schemeClr val="dk1"/>
                </a:solidFill>
                <a:latin typeface="Calibri"/>
                <a:ea typeface="Calibri"/>
                <a:cs typeface="Calibri"/>
                <a:sym typeface="Calibri"/>
              </a:rPr>
              <a:t> needs to develop his CAD skills, 3D printing and strengthen his knowledge of motors and actuators and building more of his Arduino skills.</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Nathan</a:t>
            </a:r>
            <a:r>
              <a:rPr lang="en" sz="1800">
                <a:solidFill>
                  <a:schemeClr val="dk1"/>
                </a:solidFill>
                <a:latin typeface="Calibri"/>
                <a:ea typeface="Calibri"/>
                <a:cs typeface="Calibri"/>
                <a:sym typeface="Calibri"/>
              </a:rPr>
              <a:t> needed  to develop his CAD skills and 3D printing.</a:t>
            </a:r>
            <a:br>
              <a:rPr lang="en" sz="1800">
                <a:solidFill>
                  <a:schemeClr val="dk1"/>
                </a:solidFill>
                <a:latin typeface="Calibri"/>
                <a:ea typeface="Calibri"/>
                <a:cs typeface="Calibri"/>
                <a:sym typeface="Calibri"/>
              </a:rPr>
            </a:br>
            <a:r>
              <a:rPr lang="en" sz="1800" b="1">
                <a:solidFill>
                  <a:schemeClr val="dk1"/>
                </a:solidFill>
                <a:latin typeface="Calibri"/>
                <a:ea typeface="Calibri"/>
                <a:cs typeface="Calibri"/>
                <a:sym typeface="Calibri"/>
              </a:rPr>
              <a:t>Faisal</a:t>
            </a:r>
            <a:r>
              <a:rPr lang="en" sz="1800">
                <a:solidFill>
                  <a:schemeClr val="dk1"/>
                </a:solidFill>
                <a:latin typeface="Calibri"/>
                <a:ea typeface="Calibri"/>
                <a:cs typeface="Calibri"/>
                <a:sym typeface="Calibri"/>
              </a:rPr>
              <a:t> needs to develop his CAD skills, 3D printing, strengthening his knowledge of motors and actuators.</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2"/>
          <p:cNvSpPr txBox="1"/>
          <p:nvPr/>
        </p:nvSpPr>
        <p:spPr>
          <a:xfrm>
            <a:off x="0" y="1001677"/>
            <a:ext cx="9144000" cy="56853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ctr"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p:txBody>
      </p:sp>
      <p:sp>
        <p:nvSpPr>
          <p:cNvPr id="202" name="Google Shape;202;p22"/>
          <p:cNvSpPr txBox="1"/>
          <p:nvPr/>
        </p:nvSpPr>
        <p:spPr>
          <a:xfrm>
            <a:off x="1652875" y="241669"/>
            <a:ext cx="11550000" cy="5874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p:txBody>
      </p:sp>
      <p:pic>
        <p:nvPicPr>
          <p:cNvPr id="203" name="Google Shape;203;p22"/>
          <p:cNvPicPr preferRelativeResize="0"/>
          <p:nvPr/>
        </p:nvPicPr>
        <p:blipFill>
          <a:blip r:embed="rId3">
            <a:alphaModFix/>
          </a:blip>
          <a:stretch>
            <a:fillRect/>
          </a:stretch>
        </p:blipFill>
        <p:spPr>
          <a:xfrm>
            <a:off x="9613400" y="2290575"/>
            <a:ext cx="8674599" cy="3313399"/>
          </a:xfrm>
          <a:prstGeom prst="rect">
            <a:avLst/>
          </a:prstGeom>
          <a:noFill/>
          <a:ln>
            <a:noFill/>
          </a:ln>
        </p:spPr>
      </p:pic>
      <p:sp>
        <p:nvSpPr>
          <p:cNvPr id="204" name="Google Shape;204;p22"/>
          <p:cNvSpPr txBox="1"/>
          <p:nvPr/>
        </p:nvSpPr>
        <p:spPr>
          <a:xfrm>
            <a:off x="10288075" y="5695333"/>
            <a:ext cx="7876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a:solidFill>
                  <a:srgbClr val="3C4043"/>
                </a:solidFill>
                <a:highlight>
                  <a:srgbClr val="FFFFFF"/>
                </a:highlight>
                <a:latin typeface="Calibri"/>
                <a:ea typeface="Calibri"/>
                <a:cs typeface="Calibri"/>
                <a:sym typeface="Calibri"/>
              </a:rPr>
              <a:t>Figure 12. The teams gantt chart that manages the timeline of the project and deadline.</a:t>
            </a:r>
            <a:endParaRPr sz="1600" b="1">
              <a:latin typeface="Calibri"/>
              <a:ea typeface="Calibri"/>
              <a:cs typeface="Calibri"/>
              <a:sym typeface="Calibri"/>
            </a:endParaRPr>
          </a:p>
        </p:txBody>
      </p:sp>
      <p:sp>
        <p:nvSpPr>
          <p:cNvPr id="205" name="Google Shape;205;p22"/>
          <p:cNvSpPr txBox="1"/>
          <p:nvPr/>
        </p:nvSpPr>
        <p:spPr>
          <a:xfrm>
            <a:off x="0" y="0"/>
            <a:ext cx="9292200" cy="78687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Clr>
                <a:schemeClr val="dk1"/>
              </a:buClr>
              <a:buSzPts val="1100"/>
              <a:buFont typeface="Arial"/>
              <a:buNone/>
            </a:pPr>
            <a:r>
              <a:rPr lang="en" sz="4200" b="1">
                <a:solidFill>
                  <a:schemeClr val="dk1"/>
                </a:solidFill>
                <a:highlight>
                  <a:schemeClr val="lt1"/>
                </a:highlight>
                <a:latin typeface="Calibri"/>
                <a:ea typeface="Calibri"/>
                <a:cs typeface="Calibri"/>
                <a:sym typeface="Calibri"/>
              </a:rPr>
              <a:t>  Factors: What is Important?</a:t>
            </a:r>
            <a:endParaRPr sz="4200" b="1">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2000" b="1">
                <a:solidFill>
                  <a:schemeClr val="dk1"/>
                </a:solidFill>
              </a:rPr>
              <a:t>Minutes</a:t>
            </a:r>
            <a:endParaRPr sz="2000" b="1">
              <a:solidFill>
                <a:schemeClr val="dk1"/>
              </a:solidFill>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The transporter system will be designed and tested to collect the package and deliver it to the deposit zone, after which, it will return to the start zone all within 2 minutes.</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In terms of the team’s timeline, the team created a gantt chart (which can be seen in Figure  9)  to help keep track of the major tasks and deadlines. Furthermore, Trello is going to be utilised to help manage and allocate smaller and more specific tasks for different phases of the project. Once the design of the system is complete,  between weeks 5 and 7 the team will start testing and prototyping subassemblies of the transporter system. Then, during the Easter break, the team will finalise the build and assemble the whole transporter system. In weeks 8 and 9, testing for the whole system will commence and the aim would be to try to make sure everything integrated into the system is working effectively. Hence, by week 10, the team will perform any final checks of the transporter system before the competition.</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As each teammate has work outside of university, they are willing to put 7 hours a week outside of class and meetings to work on the project.</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Regarding availability of teammates, it is difficult to get everyone at one place during the week due to different degrees classes clash, people working, and some living far away from university. However, an agreed upon whole team meeting is planned for every thursday and teammates are willing to work on weekends to make sure the deadlines are met. </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endParaRPr sz="1600" b="1">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p:nvPr/>
        </p:nvSpPr>
        <p:spPr>
          <a:xfrm>
            <a:off x="0" y="0"/>
            <a:ext cx="9393000" cy="99651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4200" b="1">
                <a:solidFill>
                  <a:schemeClr val="dk1"/>
                </a:solidFill>
                <a:highlight>
                  <a:schemeClr val="lt1"/>
                </a:highlight>
                <a:latin typeface="Calibri"/>
                <a:ea typeface="Calibri"/>
                <a:cs typeface="Calibri"/>
                <a:sym typeface="Calibri"/>
              </a:rPr>
              <a:t>  Factors: What is Important?</a:t>
            </a:r>
            <a:endParaRPr sz="4200" b="1">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2000" b="1" i="1">
                <a:solidFill>
                  <a:schemeClr val="dk1"/>
                </a:solidFill>
              </a:rPr>
              <a:t>Materials:</a:t>
            </a:r>
            <a:endParaRPr sz="2000" b="1" i="1">
              <a:solidFill>
                <a:schemeClr val="dk1"/>
              </a:solidFill>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The chosen materials should be easily recycled and non-toxic. Also, they should not be heavy unless essential as there is a weight limit on the system and also because heavier materials might deform the wire permanently. Therefore, the team aims to use materials that are reusable, have good strength (high elastic coefficient) but are light in order to attach to the wire safely and effectively to deliver the package.</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b="1">
                <a:solidFill>
                  <a:schemeClr val="dk1"/>
                </a:solidFill>
                <a:latin typeface="Calibri"/>
                <a:ea typeface="Calibri"/>
                <a:cs typeface="Calibri"/>
                <a:sym typeface="Calibri"/>
              </a:rPr>
              <a:t>The available materials are:</a:t>
            </a:r>
            <a:endParaRPr sz="1800" b="1">
              <a:solidFill>
                <a:schemeClr val="dk1"/>
              </a:solidFill>
              <a:latin typeface="Calibri"/>
              <a:ea typeface="Calibri"/>
              <a:cs typeface="Calibri"/>
              <a:sym typeface="Calibri"/>
            </a:endParaRPr>
          </a:p>
          <a:p>
            <a:pPr marL="457200" lvl="0" indent="-342900" algn="just" rtl="0">
              <a:lnSpc>
                <a:spcPct val="115000"/>
              </a:lnSpc>
              <a:spcBef>
                <a:spcPts val="12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Bolts, Washers, Nuts, 3D printing filament, Square and Circular Hollow sections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Wood</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Sheet metal</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Electrical components (kits)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Li-Po Battery</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b="1">
                <a:solidFill>
                  <a:schemeClr val="dk1"/>
                </a:solidFill>
                <a:latin typeface="Calibri"/>
                <a:ea typeface="Calibri"/>
                <a:cs typeface="Calibri"/>
                <a:sym typeface="Calibri"/>
              </a:rPr>
              <a:t>The materials that the team is going to buy are:</a:t>
            </a:r>
            <a:endParaRPr sz="1800" b="1">
              <a:solidFill>
                <a:schemeClr val="dk1"/>
              </a:solidFill>
              <a:latin typeface="Calibri"/>
              <a:ea typeface="Calibri"/>
              <a:cs typeface="Calibri"/>
              <a:sym typeface="Calibri"/>
            </a:endParaRPr>
          </a:p>
          <a:p>
            <a:pPr marL="457200" lvl="0" indent="-342900" algn="just" rtl="0">
              <a:lnSpc>
                <a:spcPct val="115000"/>
              </a:lnSpc>
              <a:spcBef>
                <a:spcPts val="120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Motors - i.e. Servos, DC’s, Steppers as well as motor mounts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Actuators - i.e. Hydraulic, Pneumatic</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Electrical Parts - i.e. Relay boards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Shaft Couplers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Fuses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Plastic wheel gearbox</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Pulleys</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Adhesive grip</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1200"/>
              </a:spcAft>
              <a:buNone/>
            </a:pPr>
            <a:r>
              <a:rPr lang="en" sz="1800" b="1">
                <a:solidFill>
                  <a:schemeClr val="dk1"/>
                </a:solidFill>
                <a:latin typeface="Calibri"/>
                <a:ea typeface="Calibri"/>
                <a:cs typeface="Calibri"/>
                <a:sym typeface="Calibri"/>
              </a:rPr>
              <a:t>The team aims to limit themselves to materials that can be found in in-person stores. These include stores such as </a:t>
            </a:r>
            <a:r>
              <a:rPr lang="en" sz="1800">
                <a:solidFill>
                  <a:schemeClr val="dk1"/>
                </a:solidFill>
                <a:latin typeface="Calibri"/>
                <a:ea typeface="Calibri"/>
                <a:cs typeface="Calibri"/>
                <a:sym typeface="Calibri"/>
              </a:rPr>
              <a:t>Jaycar, United Fasteners, Bunnings, Mitre-10 and Marker Store. If necessary, they may purchase some components from online stores that often have a quick delivery system such as Core Electronics. </a:t>
            </a:r>
            <a:endParaRPr sz="1800">
              <a:solidFill>
                <a:schemeClr val="dk1"/>
              </a:solidFill>
              <a:latin typeface="Calibri"/>
              <a:ea typeface="Calibri"/>
              <a:cs typeface="Calibri"/>
              <a:sym typeface="Calibri"/>
            </a:endParaRPr>
          </a:p>
        </p:txBody>
      </p:sp>
      <p:sp>
        <p:nvSpPr>
          <p:cNvPr id="211" name="Google Shape;211;p23"/>
          <p:cNvSpPr txBox="1"/>
          <p:nvPr/>
        </p:nvSpPr>
        <p:spPr>
          <a:xfrm>
            <a:off x="9392950" y="719400"/>
            <a:ext cx="8665200" cy="4309800"/>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en" sz="2000" b="1" i="1">
                <a:solidFill>
                  <a:schemeClr val="dk1"/>
                </a:solidFill>
                <a:latin typeface="Calibri"/>
                <a:ea typeface="Calibri"/>
                <a:cs typeface="Calibri"/>
                <a:sym typeface="Calibri"/>
              </a:rPr>
              <a:t>Money:</a:t>
            </a:r>
            <a:endParaRPr sz="2000" b="1" i="1">
              <a:solidFill>
                <a:schemeClr val="dk1"/>
              </a:solidFill>
              <a:latin typeface="Calibri"/>
              <a:ea typeface="Calibri"/>
              <a:cs typeface="Calibri"/>
              <a:sym typeface="Calibri"/>
            </a:endParaRPr>
          </a:p>
          <a:p>
            <a:pPr marL="0" lvl="0" indent="0" algn="just" rtl="0">
              <a:lnSpc>
                <a:spcPct val="115000"/>
              </a:lnSpc>
              <a:spcBef>
                <a:spcPts val="1200"/>
              </a:spcBef>
              <a:spcAft>
                <a:spcPts val="0"/>
              </a:spcAft>
              <a:buNone/>
            </a:pPr>
            <a:r>
              <a:rPr lang="en" sz="1800">
                <a:solidFill>
                  <a:schemeClr val="dk1"/>
                </a:solidFill>
                <a:latin typeface="Calibri"/>
                <a:ea typeface="Calibri"/>
                <a:cs typeface="Calibri"/>
                <a:sym typeface="Calibri"/>
              </a:rPr>
              <a:t>In terms of how the team proposes and approves purchases, Ryan has been nominated to do all the payments. However, before he purchases anything, it needs to be run through by the group and everyone needs to pay before purchasing the intended items. This is possible as prices of items can be found online. In particular, all payments will be done via bank transfer. Bank details of the payee (Ryan) is provided to the whole team. Due to modern technology, bank transfers are often instant. </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1200"/>
              </a:spcAft>
              <a:buNone/>
            </a:pPr>
            <a:r>
              <a:rPr lang="en" sz="1800">
                <a:solidFill>
                  <a:schemeClr val="dk1"/>
                </a:solidFill>
                <a:latin typeface="Calibri"/>
                <a:ea typeface="Calibri"/>
                <a:cs typeface="Calibri"/>
                <a:sym typeface="Calibri"/>
              </a:rPr>
              <a:t>The team has decided that the chosen materials and components should cost less than $50 per person. However, if the team needs slightly more, every member of the team is willing to contribute an additional $10 to cover this. Hence, originally, the budget was $250 - $300. However, due to one of the team members discontinuing the unit, the budget has subsequently been decreased  to accommodate for this, now ranging from $200 - $240. </a:t>
            </a:r>
            <a:endParaRPr sz="1800">
              <a:solidFill>
                <a:schemeClr val="dk1"/>
              </a:solidFill>
              <a:latin typeface="Calibri"/>
              <a:ea typeface="Calibri"/>
              <a:cs typeface="Calibri"/>
              <a:sym typeface="Calibri"/>
            </a:endParaRPr>
          </a:p>
        </p:txBody>
      </p:sp>
      <p:pic>
        <p:nvPicPr>
          <p:cNvPr id="212" name="Google Shape;212;p23"/>
          <p:cNvPicPr preferRelativeResize="0"/>
          <p:nvPr/>
        </p:nvPicPr>
        <p:blipFill rotWithShape="1">
          <a:blip r:embed="rId3">
            <a:alphaModFix/>
          </a:blip>
          <a:srcRect b="31417"/>
          <a:stretch/>
        </p:blipFill>
        <p:spPr>
          <a:xfrm>
            <a:off x="9648210" y="5374460"/>
            <a:ext cx="3994952" cy="3653228"/>
          </a:xfrm>
          <a:prstGeom prst="rect">
            <a:avLst/>
          </a:prstGeom>
          <a:noFill/>
          <a:ln>
            <a:noFill/>
          </a:ln>
        </p:spPr>
      </p:pic>
      <p:pic>
        <p:nvPicPr>
          <p:cNvPr id="213" name="Google Shape;213;p23"/>
          <p:cNvPicPr preferRelativeResize="0"/>
          <p:nvPr/>
        </p:nvPicPr>
        <p:blipFill>
          <a:blip r:embed="rId4">
            <a:alphaModFix/>
          </a:blip>
          <a:stretch>
            <a:fillRect/>
          </a:stretch>
        </p:blipFill>
        <p:spPr>
          <a:xfrm>
            <a:off x="13904125" y="5124925"/>
            <a:ext cx="3994952" cy="4056726"/>
          </a:xfrm>
          <a:prstGeom prst="rect">
            <a:avLst/>
          </a:prstGeom>
          <a:noFill/>
          <a:ln>
            <a:noFill/>
          </a:ln>
        </p:spPr>
      </p:pic>
      <p:sp>
        <p:nvSpPr>
          <p:cNvPr id="214" name="Google Shape;214;p23"/>
          <p:cNvSpPr txBox="1"/>
          <p:nvPr/>
        </p:nvSpPr>
        <p:spPr>
          <a:xfrm>
            <a:off x="9640738" y="9277375"/>
            <a:ext cx="35544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13. Sewing machine.</a:t>
            </a:r>
            <a:endParaRPr sz="1600" b="1">
              <a:solidFill>
                <a:schemeClr val="dk1"/>
              </a:solidFill>
              <a:highlight>
                <a:schemeClr val="lt1"/>
              </a:highlight>
              <a:latin typeface="Calibri"/>
              <a:ea typeface="Calibri"/>
              <a:cs typeface="Calibri"/>
              <a:sym typeface="Calibri"/>
            </a:endParaRPr>
          </a:p>
        </p:txBody>
      </p:sp>
      <p:sp>
        <p:nvSpPr>
          <p:cNvPr id="215" name="Google Shape;215;p23"/>
          <p:cNvSpPr txBox="1"/>
          <p:nvPr/>
        </p:nvSpPr>
        <p:spPr>
          <a:xfrm>
            <a:off x="13904200" y="9277375"/>
            <a:ext cx="3994800" cy="714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14. Square and circular hollow sections.</a:t>
            </a:r>
            <a:endParaRPr sz="1600" b="1">
              <a:solidFill>
                <a:schemeClr val="dk1"/>
              </a:solidFill>
              <a:highlight>
                <a:schemeClr val="lt1"/>
              </a:highlight>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4"/>
          <p:cNvSpPr txBox="1"/>
          <p:nvPr/>
        </p:nvSpPr>
        <p:spPr>
          <a:xfrm>
            <a:off x="0" y="1442325"/>
            <a:ext cx="10817400" cy="6708900"/>
          </a:xfrm>
          <a:prstGeom prst="rect">
            <a:avLst/>
          </a:prstGeom>
          <a:noFill/>
          <a:ln>
            <a:noFill/>
          </a:ln>
        </p:spPr>
        <p:txBody>
          <a:bodyPr spcFirstLastPara="1" wrap="square" lIns="168825" tIns="168825" rIns="168825" bIns="168825" anchor="t" anchorCtr="0">
            <a:spAutoFit/>
          </a:bodyPr>
          <a:lstStyle/>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The solution encourages healthy competition between teams of students and motivate them to showcase their individual capabilities as well as utilise and take advantage of the materials and resources provided by the university. This in return, would have a positive impact within the engineering community.</a:t>
            </a:r>
            <a:endParaRPr sz="1800">
              <a:solidFill>
                <a:schemeClr val="dk1"/>
              </a:solidFill>
              <a:highlight>
                <a:srgbClr val="FFFFFF"/>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The solution also creates and encourages competition between teams from different universities and as a result, promotes established rivalries between universities as they compete to be the victor of the competition. This could potentially interest other students to take part in future Warman competitions.</a:t>
            </a:r>
            <a:endParaRPr sz="1800">
              <a:solidFill>
                <a:schemeClr val="dk1"/>
              </a:solidFill>
              <a:highlight>
                <a:srgbClr val="FFFFFF"/>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This solution is intended to be used in the mining industry, one of the largest and most controversial sectors in Australia </a:t>
            </a:r>
            <a:r>
              <a:rPr lang="en" sz="1800">
                <a:solidFill>
                  <a:schemeClr val="dk1"/>
                </a:solidFill>
                <a:highlight>
                  <a:schemeClr val="lt1"/>
                </a:highlight>
                <a:latin typeface="Calibri"/>
                <a:ea typeface="Calibri"/>
                <a:cs typeface="Calibri"/>
                <a:sym typeface="Calibri"/>
              </a:rPr>
              <a:t>[10]. </a:t>
            </a:r>
            <a:r>
              <a:rPr lang="en" sz="1800">
                <a:solidFill>
                  <a:schemeClr val="dk1"/>
                </a:solidFill>
                <a:highlight>
                  <a:srgbClr val="FFFFFF"/>
                </a:highlight>
                <a:latin typeface="Calibri"/>
                <a:ea typeface="Calibri"/>
                <a:cs typeface="Calibri"/>
                <a:sym typeface="Calibri"/>
              </a:rPr>
              <a:t>As shown in Figure 16, the number of people opposed to mining has doubled between 2014 to 2017, however there is only a slight increase in the number of people who are accommodating to the idea of mining natural resources.</a:t>
            </a:r>
            <a:endParaRPr sz="1800">
              <a:solidFill>
                <a:schemeClr val="dk1"/>
              </a:solidFill>
              <a:highlight>
                <a:srgbClr val="FFFFFF"/>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The solution may encourage and inspire competitors and firms within the engineering industry to also conceptualize effective transport systems, which would lead to more advanced future transporting machinery.</a:t>
            </a:r>
            <a:endParaRPr sz="1800">
              <a:solidFill>
                <a:schemeClr val="dk1"/>
              </a:solidFill>
              <a:highlight>
                <a:srgbClr val="FFFFFF"/>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The solution does not prove to be environmentally friendly as the majority, if not all, of the materials used in the final development of the transport system are not recyclable and therefore may contribute to pollution.</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1500"/>
              </a:spcBef>
              <a:spcAft>
                <a:spcPts val="0"/>
              </a:spcAft>
              <a:buNone/>
            </a:pPr>
            <a:endParaRPr sz="2000" b="1">
              <a:solidFill>
                <a:schemeClr val="dk1"/>
              </a:solidFill>
              <a:highlight>
                <a:srgbClr val="FFFFFF"/>
              </a:highlight>
              <a:latin typeface="Calibri"/>
              <a:ea typeface="Calibri"/>
              <a:cs typeface="Calibri"/>
              <a:sym typeface="Calibri"/>
            </a:endParaRPr>
          </a:p>
        </p:txBody>
      </p:sp>
      <p:sp>
        <p:nvSpPr>
          <p:cNvPr id="221" name="Google Shape;221;p24"/>
          <p:cNvSpPr txBox="1"/>
          <p:nvPr/>
        </p:nvSpPr>
        <p:spPr>
          <a:xfrm>
            <a:off x="0" y="1"/>
            <a:ext cx="11550000" cy="10491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a:t>
            </a:r>
            <a:r>
              <a:rPr lang="en" sz="4600" b="1">
                <a:solidFill>
                  <a:schemeClr val="dk1"/>
                </a:solidFill>
                <a:highlight>
                  <a:srgbClr val="FFFFFF"/>
                </a:highlight>
                <a:latin typeface="Calibri"/>
                <a:ea typeface="Calibri"/>
                <a:cs typeface="Calibri"/>
                <a:sym typeface="Calibri"/>
              </a:rPr>
              <a:t>Effects</a:t>
            </a:r>
            <a:endParaRPr sz="4600" b="1">
              <a:latin typeface="Calibri"/>
              <a:ea typeface="Calibri"/>
              <a:cs typeface="Calibri"/>
              <a:sym typeface="Calibri"/>
            </a:endParaRPr>
          </a:p>
        </p:txBody>
      </p:sp>
      <p:sp>
        <p:nvSpPr>
          <p:cNvPr id="222" name="Google Shape;222;p24"/>
          <p:cNvSpPr txBox="1"/>
          <p:nvPr/>
        </p:nvSpPr>
        <p:spPr>
          <a:xfrm>
            <a:off x="10773275" y="3548246"/>
            <a:ext cx="6331800" cy="71013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1600">
              <a:solidFill>
                <a:schemeClr val="dk1"/>
              </a:solidFill>
              <a:highlight>
                <a:srgbClr val="FFFFFF"/>
              </a:highlight>
              <a:latin typeface="Calibri"/>
              <a:ea typeface="Calibri"/>
              <a:cs typeface="Calibri"/>
              <a:sym typeface="Calibri"/>
            </a:endParaRPr>
          </a:p>
          <a:p>
            <a:pPr marL="0" lvl="0" indent="0" algn="ctr"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ctr"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a:p>
            <a:pPr marL="0" lvl="0" indent="0" algn="ctr" rtl="0">
              <a:lnSpc>
                <a:spcPct val="115000"/>
              </a:lnSpc>
              <a:spcBef>
                <a:spcPts val="0"/>
              </a:spcBef>
              <a:spcAft>
                <a:spcPts val="0"/>
              </a:spcAft>
              <a:buNone/>
            </a:pPr>
            <a:endParaRPr sz="1600" b="1">
              <a:solidFill>
                <a:schemeClr val="dk1"/>
              </a:solidFill>
              <a:highlight>
                <a:srgbClr val="FFFFFF"/>
              </a:highlight>
              <a:latin typeface="Calibri"/>
              <a:ea typeface="Calibri"/>
              <a:cs typeface="Calibri"/>
              <a:sym typeface="Calibri"/>
            </a:endParaRPr>
          </a:p>
        </p:txBody>
      </p:sp>
      <p:sp>
        <p:nvSpPr>
          <p:cNvPr id="223" name="Google Shape;223;p24"/>
          <p:cNvSpPr txBox="1"/>
          <p:nvPr/>
        </p:nvSpPr>
        <p:spPr>
          <a:xfrm>
            <a:off x="12046500" y="3886015"/>
            <a:ext cx="48522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15. Figure of the team winning [9].</a:t>
            </a:r>
            <a:endParaRPr sz="1600" b="1">
              <a:solidFill>
                <a:schemeClr val="dk1"/>
              </a:solidFill>
              <a:highlight>
                <a:schemeClr val="lt1"/>
              </a:highlight>
              <a:latin typeface="Calibri"/>
              <a:ea typeface="Calibri"/>
              <a:cs typeface="Calibri"/>
              <a:sym typeface="Calibri"/>
            </a:endParaRPr>
          </a:p>
        </p:txBody>
      </p:sp>
      <p:sp>
        <p:nvSpPr>
          <p:cNvPr id="224" name="Google Shape;224;p24"/>
          <p:cNvSpPr txBox="1"/>
          <p:nvPr/>
        </p:nvSpPr>
        <p:spPr>
          <a:xfrm>
            <a:off x="11820288" y="9218425"/>
            <a:ext cx="4852200" cy="4311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600" b="1">
                <a:solidFill>
                  <a:schemeClr val="dk1"/>
                </a:solidFill>
                <a:highlight>
                  <a:schemeClr val="lt1"/>
                </a:highlight>
                <a:latin typeface="Calibri"/>
                <a:ea typeface="Calibri"/>
                <a:cs typeface="Calibri"/>
                <a:sym typeface="Calibri"/>
              </a:rPr>
              <a:t>Figure 16. Cartoon of global impact. [10].</a:t>
            </a:r>
            <a:endParaRPr sz="1600" b="1">
              <a:solidFill>
                <a:schemeClr val="dk1"/>
              </a:solidFill>
              <a:highlight>
                <a:schemeClr val="lt1"/>
              </a:highlight>
              <a:latin typeface="Calibri"/>
              <a:ea typeface="Calibri"/>
              <a:cs typeface="Calibri"/>
              <a:sym typeface="Calibri"/>
            </a:endParaRPr>
          </a:p>
        </p:txBody>
      </p:sp>
      <p:pic>
        <p:nvPicPr>
          <p:cNvPr id="225" name="Google Shape;225;p24"/>
          <p:cNvPicPr preferRelativeResize="0"/>
          <p:nvPr/>
        </p:nvPicPr>
        <p:blipFill>
          <a:blip r:embed="rId3">
            <a:alphaModFix/>
          </a:blip>
          <a:stretch>
            <a:fillRect/>
          </a:stretch>
        </p:blipFill>
        <p:spPr>
          <a:xfrm>
            <a:off x="11829400" y="4634519"/>
            <a:ext cx="4845844" cy="4583906"/>
          </a:xfrm>
          <a:prstGeom prst="rect">
            <a:avLst/>
          </a:prstGeom>
          <a:noFill/>
          <a:ln>
            <a:noFill/>
          </a:ln>
        </p:spPr>
      </p:pic>
      <p:pic>
        <p:nvPicPr>
          <p:cNvPr id="226" name="Google Shape;226;p24"/>
          <p:cNvPicPr preferRelativeResize="0"/>
          <p:nvPr/>
        </p:nvPicPr>
        <p:blipFill>
          <a:blip r:embed="rId4">
            <a:alphaModFix/>
          </a:blip>
          <a:stretch>
            <a:fillRect/>
          </a:stretch>
        </p:blipFill>
        <p:spPr>
          <a:xfrm>
            <a:off x="12576025" y="533425"/>
            <a:ext cx="3352600" cy="3352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5"/>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Requirements and Specifications</a:t>
            </a:r>
            <a:endParaRPr sz="4200" b="1">
              <a:latin typeface="Calibri"/>
              <a:ea typeface="Calibri"/>
              <a:cs typeface="Calibri"/>
              <a:sym typeface="Calibri"/>
            </a:endParaRPr>
          </a:p>
        </p:txBody>
      </p:sp>
      <p:graphicFrame>
        <p:nvGraphicFramePr>
          <p:cNvPr id="232" name="Google Shape;232;p25"/>
          <p:cNvGraphicFramePr/>
          <p:nvPr/>
        </p:nvGraphicFramePr>
        <p:xfrm>
          <a:off x="819852" y="1569315"/>
          <a:ext cx="3000000" cy="3000000"/>
        </p:xfrm>
        <a:graphic>
          <a:graphicData uri="http://schemas.openxmlformats.org/drawingml/2006/table">
            <a:tbl>
              <a:tblPr>
                <a:noFill/>
                <a:tableStyleId>{56DC45DD-F23F-474C-AD18-9CBBB8028203}</a:tableStyleId>
              </a:tblPr>
              <a:tblGrid>
                <a:gridCol w="4426775">
                  <a:extLst>
                    <a:ext uri="{9D8B030D-6E8A-4147-A177-3AD203B41FA5}">
                      <a16:colId xmlns:a16="http://schemas.microsoft.com/office/drawing/2014/main" val="20000"/>
                    </a:ext>
                  </a:extLst>
                </a:gridCol>
                <a:gridCol w="4504000">
                  <a:extLst>
                    <a:ext uri="{9D8B030D-6E8A-4147-A177-3AD203B41FA5}">
                      <a16:colId xmlns:a16="http://schemas.microsoft.com/office/drawing/2014/main" val="20001"/>
                    </a:ext>
                  </a:extLst>
                </a:gridCol>
                <a:gridCol w="3757000">
                  <a:extLst>
                    <a:ext uri="{9D8B030D-6E8A-4147-A177-3AD203B41FA5}">
                      <a16:colId xmlns:a16="http://schemas.microsoft.com/office/drawing/2014/main" val="20002"/>
                    </a:ext>
                  </a:extLst>
                </a:gridCol>
                <a:gridCol w="3881525">
                  <a:extLst>
                    <a:ext uri="{9D8B030D-6E8A-4147-A177-3AD203B41FA5}">
                      <a16:colId xmlns:a16="http://schemas.microsoft.com/office/drawing/2014/main" val="20003"/>
                    </a:ext>
                  </a:extLst>
                </a:gridCol>
              </a:tblGrid>
              <a:tr h="986050">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98605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Operation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Completion time of the whole operation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98605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Setup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Device setup time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98605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Control of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Collects and moves the package outside of the warehouse.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Distance of package from warehouse &gt; 0mm and package is within start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8605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Support the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Systems should support the package and keep it on top of the surface of the track.</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The chance (%) system will unintentionally drop the package outside the deposit zone. </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98605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Transport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Entire system and package moves entirely across the chasm into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move from the start zone 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137555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Deposit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Package dropped in one of the deposit zones A, B, C or 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Six scores are achievable [2], the highest being a score of 100 and the lowest being a score of 20. The score is deposit zone dependant.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6"/>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Requirements and Specifications</a:t>
            </a:r>
            <a:endParaRPr sz="4200" b="1">
              <a:latin typeface="Calibri"/>
              <a:ea typeface="Calibri"/>
              <a:cs typeface="Calibri"/>
              <a:sym typeface="Calibri"/>
            </a:endParaRPr>
          </a:p>
        </p:txBody>
      </p:sp>
      <p:graphicFrame>
        <p:nvGraphicFramePr>
          <p:cNvPr id="238" name="Google Shape;238;p26"/>
          <p:cNvGraphicFramePr/>
          <p:nvPr/>
        </p:nvGraphicFramePr>
        <p:xfrm>
          <a:off x="900402" y="1494767"/>
          <a:ext cx="3000000" cy="3000000"/>
        </p:xfrm>
        <a:graphic>
          <a:graphicData uri="http://schemas.openxmlformats.org/drawingml/2006/table">
            <a:tbl>
              <a:tblPr>
                <a:noFill/>
                <a:tableStyleId>{56DC45DD-F23F-474C-AD18-9CBBB8028203}</a:tableStyleId>
              </a:tblPr>
              <a:tblGrid>
                <a:gridCol w="4430850">
                  <a:extLst>
                    <a:ext uri="{9D8B030D-6E8A-4147-A177-3AD203B41FA5}">
                      <a16:colId xmlns:a16="http://schemas.microsoft.com/office/drawing/2014/main" val="20000"/>
                    </a:ext>
                  </a:extLst>
                </a:gridCol>
                <a:gridCol w="4508175">
                  <a:extLst>
                    <a:ext uri="{9D8B030D-6E8A-4147-A177-3AD203B41FA5}">
                      <a16:colId xmlns:a16="http://schemas.microsoft.com/office/drawing/2014/main" val="20001"/>
                    </a:ext>
                  </a:extLst>
                </a:gridCol>
                <a:gridCol w="3760500">
                  <a:extLst>
                    <a:ext uri="{9D8B030D-6E8A-4147-A177-3AD203B41FA5}">
                      <a16:colId xmlns:a16="http://schemas.microsoft.com/office/drawing/2014/main" val="20002"/>
                    </a:ext>
                  </a:extLst>
                </a:gridCol>
                <a:gridCol w="3760500">
                  <a:extLst>
                    <a:ext uri="{9D8B030D-6E8A-4147-A177-3AD203B41FA5}">
                      <a16:colId xmlns:a16="http://schemas.microsoft.com/office/drawing/2014/main" val="20003"/>
                    </a:ext>
                  </a:extLst>
                </a:gridCol>
              </a:tblGrid>
              <a:tr h="895025">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889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Return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Total displacement of the system from the start zone in millimeters.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0 millimeter.</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889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System mass</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Mass of the system in kg.</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&lt;6kg.</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0889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Easy to use</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action start.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input activation.</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088975">
                <a:tc>
                  <a:txBody>
                    <a:bodyPr/>
                    <a:lstStyle/>
                    <a:p>
                      <a:pPr marL="0" lvl="0" indent="0" algn="l" rtl="0">
                        <a:spcBef>
                          <a:spcPts val="0"/>
                        </a:spcBef>
                        <a:spcAft>
                          <a:spcPts val="0"/>
                        </a:spcAft>
                        <a:buNone/>
                      </a:pPr>
                      <a:r>
                        <a:rPr lang="en" sz="1600" i="1">
                          <a:latin typeface="Calibri"/>
                          <a:ea typeface="Calibri"/>
                          <a:cs typeface="Calibri"/>
                          <a:sym typeface="Calibri"/>
                        </a:rPr>
                        <a:t>Aesthetic</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Focus group - judged.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088975">
                <a:tc>
                  <a:txBody>
                    <a:bodyPr/>
                    <a:lstStyle/>
                    <a:p>
                      <a:pPr marL="0" lvl="0" indent="0" algn="l" rtl="0">
                        <a:spcBef>
                          <a:spcPts val="0"/>
                        </a:spcBef>
                        <a:spcAft>
                          <a:spcPts val="0"/>
                        </a:spcAft>
                        <a:buNone/>
                      </a:pPr>
                      <a:r>
                        <a:rPr lang="en" sz="1600" i="1">
                          <a:latin typeface="Calibri"/>
                          <a:ea typeface="Calibri"/>
                          <a:cs typeface="Calibri"/>
                          <a:sym typeface="Calibri"/>
                        </a:rPr>
                        <a:t>Safety</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G2 to G6 of the competition rules [2].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comply.</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1088975">
                <a:tc>
                  <a:txBody>
                    <a:bodyPr/>
                    <a:lstStyle/>
                    <a:p>
                      <a:pPr marL="0" lvl="0" indent="0" algn="l" rtl="0">
                        <a:spcBef>
                          <a:spcPts val="0"/>
                        </a:spcBef>
                        <a:spcAft>
                          <a:spcPts val="0"/>
                        </a:spcAft>
                        <a:buNone/>
                      </a:pPr>
                      <a:r>
                        <a:rPr lang="en" sz="1600" i="1">
                          <a:latin typeface="Calibri"/>
                          <a:ea typeface="Calibri"/>
                          <a:cs typeface="Calibri"/>
                          <a:sym typeface="Calibri"/>
                        </a:rPr>
                        <a:t>Cheap</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Cost to make per robot in 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&lt;A$240.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7"/>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Sub-Problems</a:t>
            </a:r>
            <a:endParaRPr sz="4200" b="1">
              <a:latin typeface="Calibri"/>
              <a:ea typeface="Calibri"/>
              <a:cs typeface="Calibri"/>
              <a:sym typeface="Calibri"/>
            </a:endParaRPr>
          </a:p>
        </p:txBody>
      </p:sp>
      <p:pic>
        <p:nvPicPr>
          <p:cNvPr id="244" name="Google Shape;244;p27"/>
          <p:cNvPicPr preferRelativeResize="0"/>
          <p:nvPr/>
        </p:nvPicPr>
        <p:blipFill>
          <a:blip r:embed="rId3">
            <a:alphaModFix/>
          </a:blip>
          <a:stretch>
            <a:fillRect/>
          </a:stretch>
        </p:blipFill>
        <p:spPr>
          <a:xfrm>
            <a:off x="10754600" y="2041268"/>
            <a:ext cx="6047664" cy="3872435"/>
          </a:xfrm>
          <a:prstGeom prst="rect">
            <a:avLst/>
          </a:prstGeom>
          <a:noFill/>
          <a:ln>
            <a:noFill/>
          </a:ln>
          <a:effectLst>
            <a:outerShdw blurRad="57150" dist="19050" dir="5400000" algn="bl" rotWithShape="0">
              <a:srgbClr val="000000">
                <a:alpha val="50000"/>
              </a:srgbClr>
            </a:outerShdw>
          </a:effectLst>
        </p:spPr>
      </p:pic>
      <p:sp>
        <p:nvSpPr>
          <p:cNvPr id="245" name="Google Shape;245;p27"/>
          <p:cNvSpPr txBox="1"/>
          <p:nvPr/>
        </p:nvSpPr>
        <p:spPr>
          <a:xfrm>
            <a:off x="11374988" y="6181260"/>
            <a:ext cx="4806900" cy="683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Clr>
                <a:schemeClr val="dk1"/>
              </a:buClr>
              <a:buSzPts val="1100"/>
              <a:buFont typeface="Arial"/>
              <a:buNone/>
            </a:pPr>
            <a:r>
              <a:rPr lang="en" sz="1600" b="1">
                <a:solidFill>
                  <a:schemeClr val="dk1"/>
                </a:solidFill>
                <a:highlight>
                  <a:schemeClr val="lt1"/>
                </a:highlight>
                <a:latin typeface="Calibri"/>
                <a:ea typeface="Calibri"/>
                <a:cs typeface="Calibri"/>
                <a:sym typeface="Calibri"/>
              </a:rPr>
              <a:t>Figure 17.  2022 Warman Competition Track Base [11].</a:t>
            </a:r>
            <a:endParaRPr sz="1600" b="1">
              <a:solidFill>
                <a:schemeClr val="dk1"/>
              </a:solidFill>
              <a:highlight>
                <a:schemeClr val="lt1"/>
              </a:highlight>
              <a:latin typeface="Calibri"/>
              <a:ea typeface="Calibri"/>
              <a:cs typeface="Calibri"/>
              <a:sym typeface="Calibri"/>
            </a:endParaRPr>
          </a:p>
          <a:p>
            <a:pPr marL="0" lvl="0" indent="0" algn="l" rtl="0">
              <a:spcBef>
                <a:spcPts val="0"/>
              </a:spcBef>
              <a:spcAft>
                <a:spcPts val="0"/>
              </a:spcAft>
              <a:buNone/>
            </a:pPr>
            <a:endParaRPr/>
          </a:p>
        </p:txBody>
      </p:sp>
      <p:sp>
        <p:nvSpPr>
          <p:cNvPr id="246" name="Google Shape;246;p27"/>
          <p:cNvSpPr txBox="1"/>
          <p:nvPr/>
        </p:nvSpPr>
        <p:spPr>
          <a:xfrm>
            <a:off x="0" y="1001688"/>
            <a:ext cx="9847500" cy="7892400"/>
          </a:xfrm>
          <a:prstGeom prst="rect">
            <a:avLst/>
          </a:prstGeom>
          <a:noFill/>
          <a:ln>
            <a:noFill/>
          </a:ln>
        </p:spPr>
        <p:txBody>
          <a:bodyPr spcFirstLastPara="1" wrap="square" lIns="168825" tIns="168825" rIns="168825" bIns="168825" anchor="t" anchorCtr="0">
            <a:spAutoFit/>
          </a:bodyPr>
          <a:lstStyle/>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If the system is not able to collect the package properly, how is the team going to make sure that the package does not fall out? How do we know that the package is fully supported?</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If the system is not able to deposit the package in zone D, what would be the next feasible alternative that the team would be happy with?</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What happens if there is too much momentum when the system is traversing using the wire? How is it going to stabilise itself when crossing?</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What if the track is set up slightly differently from the track use in the trial runs due to tolerance shown in Figure 17 of measurements. Is the system designed to accommodate for the tolerancing?</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If the system is malfunctioning during competition what will the team do? Will it let the system run or interfere to prevent potential damage to the system?</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What will the team do if the materials used starts damaging the wire? How is the team going to figure out a different solution?</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What precautionary measures can be taken to avoid fire hazards caused by the battery and other electrical components? </a:t>
            </a:r>
            <a:endParaRPr sz="1800">
              <a:solidFill>
                <a:schemeClr val="dk1"/>
              </a:solidFill>
              <a:highlight>
                <a:schemeClr val="lt1"/>
              </a:highlight>
              <a:latin typeface="Calibri"/>
              <a:ea typeface="Calibri"/>
              <a:cs typeface="Calibri"/>
              <a:sym typeface="Calibri"/>
            </a:endParaRPr>
          </a:p>
          <a:p>
            <a:pPr marL="482600" lvl="0" indent="-355600" algn="just" rtl="0">
              <a:lnSpc>
                <a:spcPct val="115000"/>
              </a:lnSpc>
              <a:spcBef>
                <a:spcPts val="1500"/>
              </a:spcBef>
              <a:spcAft>
                <a:spcPts val="0"/>
              </a:spcAft>
              <a:buClr>
                <a:schemeClr val="dk1"/>
              </a:buClr>
              <a:buSzPts val="1800"/>
              <a:buFont typeface="Calibri"/>
              <a:buChar char="●"/>
            </a:pPr>
            <a:r>
              <a:rPr lang="en" sz="1800">
                <a:solidFill>
                  <a:schemeClr val="dk1"/>
                </a:solidFill>
                <a:highlight>
                  <a:schemeClr val="lt1"/>
                </a:highlight>
                <a:latin typeface="Calibri"/>
                <a:ea typeface="Calibri"/>
                <a:cs typeface="Calibri"/>
                <a:sym typeface="Calibri"/>
              </a:rPr>
              <a:t>      </a:t>
            </a:r>
            <a:endParaRPr sz="1800">
              <a:solidFill>
                <a:schemeClr val="dk1"/>
              </a:solidFill>
              <a:highlight>
                <a:schemeClr val="lt1"/>
              </a:highlight>
              <a:latin typeface="Calibri"/>
              <a:ea typeface="Calibri"/>
              <a:cs typeface="Calibri"/>
              <a:sym typeface="Calibri"/>
            </a:endParaRPr>
          </a:p>
          <a:p>
            <a:pPr marL="0" lvl="0" indent="0" algn="just" rtl="0">
              <a:lnSpc>
                <a:spcPct val="115000"/>
              </a:lnSpc>
              <a:spcBef>
                <a:spcPts val="1500"/>
              </a:spcBef>
              <a:spcAft>
                <a:spcPts val="0"/>
              </a:spcAft>
              <a:buClr>
                <a:schemeClr val="dk1"/>
              </a:buClr>
              <a:buSzPts val="1100"/>
              <a:buFont typeface="Arial"/>
              <a:buNone/>
            </a:pPr>
            <a:endParaRPr sz="1800">
              <a:solidFill>
                <a:srgbClr val="666666"/>
              </a:solidFill>
              <a:highlight>
                <a:srgbClr val="FFFFFF"/>
              </a:highlight>
            </a:endParaRPr>
          </a:p>
          <a:p>
            <a:pPr marL="0" lvl="0" indent="0" algn="just" rtl="0">
              <a:lnSpc>
                <a:spcPct val="115000"/>
              </a:lnSpc>
              <a:spcBef>
                <a:spcPts val="0"/>
              </a:spcBef>
              <a:spcAft>
                <a:spcPts val="0"/>
              </a:spcAft>
              <a:buNone/>
            </a:pPr>
            <a:endParaRPr sz="1800">
              <a:solidFill>
                <a:schemeClr val="dk1"/>
              </a:solidFill>
              <a:highlight>
                <a:srgbClr val="FFFFFF"/>
              </a:highlight>
            </a:endParaRPr>
          </a:p>
          <a:p>
            <a:pPr marL="0" lvl="0" indent="0" algn="just" rtl="0">
              <a:lnSpc>
                <a:spcPct val="115000"/>
              </a:lnSpc>
              <a:spcBef>
                <a:spcPts val="0"/>
              </a:spcBef>
              <a:spcAft>
                <a:spcPts val="0"/>
              </a:spcAft>
              <a:buNone/>
            </a:pPr>
            <a:endParaRPr sz="1800" b="1">
              <a:solidFill>
                <a:schemeClr val="dk1"/>
              </a:solidFill>
              <a:highlight>
                <a:srgbClr val="FFFFFF"/>
              </a:highlight>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8"/>
          <p:cNvSpPr txBox="1"/>
          <p:nvPr/>
        </p:nvSpPr>
        <p:spPr>
          <a:xfrm>
            <a:off x="8268400" y="5686439"/>
            <a:ext cx="30885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System transfer across the ground</a:t>
            </a:r>
            <a:endParaRPr sz="1600">
              <a:latin typeface="Calibri"/>
              <a:ea typeface="Calibri"/>
              <a:cs typeface="Calibri"/>
              <a:sym typeface="Calibri"/>
            </a:endParaRPr>
          </a:p>
        </p:txBody>
      </p:sp>
      <p:sp>
        <p:nvSpPr>
          <p:cNvPr id="252" name="Google Shape;252;p28"/>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Creative Solution Generation</a:t>
            </a:r>
            <a:endParaRPr sz="4200" b="1">
              <a:latin typeface="Calibri"/>
              <a:ea typeface="Calibri"/>
              <a:cs typeface="Calibri"/>
              <a:sym typeface="Calibri"/>
            </a:endParaRPr>
          </a:p>
        </p:txBody>
      </p:sp>
      <p:sp>
        <p:nvSpPr>
          <p:cNvPr id="253" name="Google Shape;253;p28"/>
          <p:cNvSpPr/>
          <p:nvPr/>
        </p:nvSpPr>
        <p:spPr>
          <a:xfrm>
            <a:off x="2693500" y="1154908"/>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Start System</a:t>
            </a:r>
            <a:endParaRPr sz="1600">
              <a:latin typeface="Calibri"/>
              <a:ea typeface="Calibri"/>
              <a:cs typeface="Calibri"/>
              <a:sym typeface="Calibri"/>
            </a:endParaRPr>
          </a:p>
        </p:txBody>
      </p:sp>
      <p:sp>
        <p:nvSpPr>
          <p:cNvPr id="254" name="Google Shape;254;p28"/>
          <p:cNvSpPr/>
          <p:nvPr/>
        </p:nvSpPr>
        <p:spPr>
          <a:xfrm>
            <a:off x="4516075" y="2222206"/>
            <a:ext cx="1675800" cy="949800"/>
          </a:xfrm>
          <a:prstGeom prst="rect">
            <a:avLst/>
          </a:prstGeom>
          <a:solidFill>
            <a:srgbClr val="CCCCCC"/>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Signal Completion</a:t>
            </a:r>
            <a:endParaRPr sz="1600">
              <a:latin typeface="Calibri"/>
              <a:ea typeface="Calibri"/>
              <a:cs typeface="Calibri"/>
              <a:sym typeface="Calibri"/>
            </a:endParaRPr>
          </a:p>
        </p:txBody>
      </p:sp>
      <p:sp>
        <p:nvSpPr>
          <p:cNvPr id="255" name="Google Shape;255;p28"/>
          <p:cNvSpPr/>
          <p:nvPr/>
        </p:nvSpPr>
        <p:spPr>
          <a:xfrm>
            <a:off x="2693500" y="2222206"/>
            <a:ext cx="1675800" cy="949800"/>
          </a:xfrm>
          <a:prstGeom prst="rect">
            <a:avLst/>
          </a:prstGeom>
          <a:solidFill>
            <a:srgbClr val="CCCCCC"/>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Signal Commencing</a:t>
            </a:r>
            <a:endParaRPr sz="1600">
              <a:latin typeface="Calibri"/>
              <a:ea typeface="Calibri"/>
              <a:cs typeface="Calibri"/>
              <a:sym typeface="Calibri"/>
            </a:endParaRPr>
          </a:p>
        </p:txBody>
      </p:sp>
      <p:sp>
        <p:nvSpPr>
          <p:cNvPr id="256" name="Google Shape;256;p28"/>
          <p:cNvSpPr/>
          <p:nvPr/>
        </p:nvSpPr>
        <p:spPr>
          <a:xfrm>
            <a:off x="2693500" y="3289504"/>
            <a:ext cx="1675800" cy="949800"/>
          </a:xfrm>
          <a:prstGeom prst="rect">
            <a:avLst/>
          </a:prstGeom>
          <a:solidFill>
            <a:srgbClr val="CCCCCC"/>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Store Energy</a:t>
            </a:r>
            <a:endParaRPr sz="1600" i="0" u="none" strike="noStrike" cap="none">
              <a:solidFill>
                <a:srgbClr val="000000"/>
              </a:solidFill>
              <a:latin typeface="Calibri"/>
              <a:ea typeface="Calibri"/>
              <a:cs typeface="Calibri"/>
              <a:sym typeface="Calibri"/>
            </a:endParaRPr>
          </a:p>
        </p:txBody>
      </p:sp>
      <p:sp>
        <p:nvSpPr>
          <p:cNvPr id="257" name="Google Shape;257;p28"/>
          <p:cNvSpPr/>
          <p:nvPr/>
        </p:nvSpPr>
        <p:spPr>
          <a:xfrm>
            <a:off x="6338650" y="3289493"/>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Input </a:t>
            </a:r>
            <a:endParaRPr sz="1600">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Energy</a:t>
            </a:r>
            <a:endParaRPr sz="1600">
              <a:latin typeface="Calibri"/>
              <a:ea typeface="Calibri"/>
              <a:cs typeface="Calibri"/>
              <a:sym typeface="Calibri"/>
            </a:endParaRPr>
          </a:p>
        </p:txBody>
      </p:sp>
      <p:sp>
        <p:nvSpPr>
          <p:cNvPr id="258" name="Google Shape;258;p28"/>
          <p:cNvSpPr/>
          <p:nvPr/>
        </p:nvSpPr>
        <p:spPr>
          <a:xfrm>
            <a:off x="4516075" y="3294431"/>
            <a:ext cx="1675800" cy="949800"/>
          </a:xfrm>
          <a:prstGeom prst="rect">
            <a:avLst/>
          </a:prstGeom>
          <a:solidFill>
            <a:srgbClr val="CCCCCC"/>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Recharge</a:t>
            </a:r>
            <a:endParaRPr sz="1600">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Energy</a:t>
            </a:r>
            <a:endParaRPr sz="1600">
              <a:latin typeface="Calibri"/>
              <a:ea typeface="Calibri"/>
              <a:cs typeface="Calibri"/>
              <a:sym typeface="Calibri"/>
            </a:endParaRPr>
          </a:p>
        </p:txBody>
      </p:sp>
      <p:sp>
        <p:nvSpPr>
          <p:cNvPr id="259" name="Google Shape;259;p28"/>
          <p:cNvSpPr txBox="1"/>
          <p:nvPr/>
        </p:nvSpPr>
        <p:spPr>
          <a:xfrm>
            <a:off x="6206950" y="1378231"/>
            <a:ext cx="19392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Starting the system</a:t>
            </a:r>
            <a:endParaRPr sz="1600">
              <a:latin typeface="Calibri"/>
              <a:ea typeface="Calibri"/>
              <a:cs typeface="Calibri"/>
              <a:sym typeface="Calibri"/>
            </a:endParaRPr>
          </a:p>
        </p:txBody>
      </p:sp>
      <p:sp>
        <p:nvSpPr>
          <p:cNvPr id="260" name="Google Shape;260;p28"/>
          <p:cNvSpPr txBox="1"/>
          <p:nvPr/>
        </p:nvSpPr>
        <p:spPr>
          <a:xfrm>
            <a:off x="10073750" y="3501781"/>
            <a:ext cx="22044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Provide Energy for tasks</a:t>
            </a:r>
            <a:endParaRPr sz="1600">
              <a:latin typeface="Calibri"/>
              <a:ea typeface="Calibri"/>
              <a:cs typeface="Calibri"/>
              <a:sym typeface="Calibri"/>
            </a:endParaRPr>
          </a:p>
        </p:txBody>
      </p:sp>
      <p:sp>
        <p:nvSpPr>
          <p:cNvPr id="261" name="Google Shape;261;p28"/>
          <p:cNvSpPr txBox="1"/>
          <p:nvPr/>
        </p:nvSpPr>
        <p:spPr>
          <a:xfrm>
            <a:off x="6338655" y="6728127"/>
            <a:ext cx="17589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Package retrieval</a:t>
            </a:r>
            <a:endParaRPr sz="1600">
              <a:latin typeface="Calibri"/>
              <a:ea typeface="Calibri"/>
              <a:cs typeface="Calibri"/>
              <a:sym typeface="Calibri"/>
            </a:endParaRPr>
          </a:p>
        </p:txBody>
      </p:sp>
      <p:sp>
        <p:nvSpPr>
          <p:cNvPr id="262" name="Google Shape;262;p28"/>
          <p:cNvSpPr txBox="1"/>
          <p:nvPr/>
        </p:nvSpPr>
        <p:spPr>
          <a:xfrm>
            <a:off x="6255400" y="7769827"/>
            <a:ext cx="1842300" cy="3663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Depositing package</a:t>
            </a:r>
            <a:endParaRPr sz="1600">
              <a:latin typeface="Calibri"/>
              <a:ea typeface="Calibri"/>
              <a:cs typeface="Calibri"/>
              <a:sym typeface="Calibri"/>
            </a:endParaRPr>
          </a:p>
        </p:txBody>
      </p:sp>
      <p:sp>
        <p:nvSpPr>
          <p:cNvPr id="263" name="Google Shape;263;p28"/>
          <p:cNvSpPr txBox="1"/>
          <p:nvPr/>
        </p:nvSpPr>
        <p:spPr>
          <a:xfrm>
            <a:off x="561673" y="4759155"/>
            <a:ext cx="2604600" cy="21723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2000" b="1">
                <a:latin typeface="Calibri"/>
                <a:ea typeface="Calibri"/>
                <a:cs typeface="Calibri"/>
                <a:sym typeface="Calibri"/>
              </a:rPr>
              <a:t>Grouping</a:t>
            </a:r>
            <a:endParaRPr sz="2000" b="1">
              <a:latin typeface="Calibri"/>
              <a:ea typeface="Calibri"/>
              <a:cs typeface="Calibri"/>
              <a:sym typeface="Calibri"/>
            </a:endParaRPr>
          </a:p>
          <a:p>
            <a:pPr marL="0" lvl="0" indent="0" algn="l" rtl="0">
              <a:spcBef>
                <a:spcPts val="0"/>
              </a:spcBef>
              <a:spcAft>
                <a:spcPts val="0"/>
              </a:spcAft>
              <a:buNone/>
            </a:pPr>
            <a:r>
              <a:rPr lang="en" sz="2000" b="1">
                <a:latin typeface="Calibri"/>
                <a:ea typeface="Calibri"/>
                <a:cs typeface="Calibri"/>
                <a:sym typeface="Calibri"/>
              </a:rPr>
              <a:t>Correlated</a:t>
            </a:r>
            <a:endParaRPr sz="2000" b="1">
              <a:latin typeface="Calibri"/>
              <a:ea typeface="Calibri"/>
              <a:cs typeface="Calibri"/>
              <a:sym typeface="Calibri"/>
            </a:endParaRPr>
          </a:p>
          <a:p>
            <a:pPr marL="0" lvl="0" indent="0" algn="l" rtl="0">
              <a:spcBef>
                <a:spcPts val="0"/>
              </a:spcBef>
              <a:spcAft>
                <a:spcPts val="0"/>
              </a:spcAft>
              <a:buNone/>
            </a:pPr>
            <a:r>
              <a:rPr lang="en" sz="2000" b="1">
                <a:latin typeface="Calibri"/>
                <a:ea typeface="Calibri"/>
                <a:cs typeface="Calibri"/>
                <a:sym typeface="Calibri"/>
              </a:rPr>
              <a:t>Functions:</a:t>
            </a:r>
            <a:endParaRPr sz="2000" b="1">
              <a:latin typeface="Calibri"/>
              <a:ea typeface="Calibri"/>
              <a:cs typeface="Calibri"/>
              <a:sym typeface="Calibri"/>
            </a:endParaRPr>
          </a:p>
        </p:txBody>
      </p:sp>
      <p:sp>
        <p:nvSpPr>
          <p:cNvPr id="264" name="Google Shape;264;p28"/>
          <p:cNvSpPr txBox="1"/>
          <p:nvPr/>
        </p:nvSpPr>
        <p:spPr>
          <a:xfrm>
            <a:off x="8097701" y="8833344"/>
            <a:ext cx="34299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System Transfer across the chasm</a:t>
            </a:r>
            <a:endParaRPr sz="1600">
              <a:latin typeface="Calibri"/>
              <a:ea typeface="Calibri"/>
              <a:cs typeface="Calibri"/>
              <a:sym typeface="Calibri"/>
            </a:endParaRPr>
          </a:p>
        </p:txBody>
      </p:sp>
      <p:cxnSp>
        <p:nvCxnSpPr>
          <p:cNvPr id="265" name="Google Shape;265;p28"/>
          <p:cNvCxnSpPr/>
          <p:nvPr/>
        </p:nvCxnSpPr>
        <p:spPr>
          <a:xfrm rot="10800000" flipH="1">
            <a:off x="4814563" y="1625038"/>
            <a:ext cx="1078800" cy="9600"/>
          </a:xfrm>
          <a:prstGeom prst="straightConnector1">
            <a:avLst/>
          </a:prstGeom>
          <a:noFill/>
          <a:ln w="19050" cap="flat" cmpd="sng">
            <a:solidFill>
              <a:srgbClr val="000000"/>
            </a:solidFill>
            <a:prstDash val="solid"/>
            <a:round/>
            <a:headEnd type="none" w="sm" len="sm"/>
            <a:tailEnd type="stealth" w="med" len="med"/>
          </a:ln>
        </p:spPr>
      </p:cxnSp>
      <p:cxnSp>
        <p:nvCxnSpPr>
          <p:cNvPr id="266" name="Google Shape;266;p28"/>
          <p:cNvCxnSpPr/>
          <p:nvPr/>
        </p:nvCxnSpPr>
        <p:spPr>
          <a:xfrm rot="10800000" flipH="1">
            <a:off x="6647361" y="2697278"/>
            <a:ext cx="1078800" cy="9600"/>
          </a:xfrm>
          <a:prstGeom prst="straightConnector1">
            <a:avLst/>
          </a:prstGeom>
          <a:noFill/>
          <a:ln w="19050" cap="flat" cmpd="sng">
            <a:solidFill>
              <a:srgbClr val="000000"/>
            </a:solidFill>
            <a:prstDash val="solid"/>
            <a:round/>
            <a:headEnd type="none" w="sm" len="sm"/>
            <a:tailEnd type="stealth" w="med" len="med"/>
          </a:ln>
        </p:spPr>
      </p:cxnSp>
      <p:cxnSp>
        <p:nvCxnSpPr>
          <p:cNvPr id="267" name="Google Shape;267;p28"/>
          <p:cNvCxnSpPr/>
          <p:nvPr/>
        </p:nvCxnSpPr>
        <p:spPr>
          <a:xfrm rot="10800000" flipH="1">
            <a:off x="10293921" y="4826940"/>
            <a:ext cx="1078800" cy="9600"/>
          </a:xfrm>
          <a:prstGeom prst="straightConnector1">
            <a:avLst/>
          </a:prstGeom>
          <a:noFill/>
          <a:ln w="19050" cap="flat" cmpd="sng">
            <a:solidFill>
              <a:srgbClr val="000000"/>
            </a:solidFill>
            <a:prstDash val="solid"/>
            <a:round/>
            <a:headEnd type="none" w="sm" len="sm"/>
            <a:tailEnd type="stealth" w="med" len="med"/>
          </a:ln>
        </p:spPr>
      </p:cxnSp>
      <p:cxnSp>
        <p:nvCxnSpPr>
          <p:cNvPr id="268" name="Google Shape;268;p28"/>
          <p:cNvCxnSpPr/>
          <p:nvPr/>
        </p:nvCxnSpPr>
        <p:spPr>
          <a:xfrm rot="10800000" flipH="1">
            <a:off x="4814569" y="6962780"/>
            <a:ext cx="1078800" cy="9600"/>
          </a:xfrm>
          <a:prstGeom prst="straightConnector1">
            <a:avLst/>
          </a:prstGeom>
          <a:noFill/>
          <a:ln w="19050" cap="flat" cmpd="sng">
            <a:solidFill>
              <a:srgbClr val="000000"/>
            </a:solidFill>
            <a:prstDash val="solid"/>
            <a:round/>
            <a:headEnd type="none" w="sm" len="sm"/>
            <a:tailEnd type="stealth" w="med" len="med"/>
          </a:ln>
        </p:spPr>
      </p:cxnSp>
      <p:cxnSp>
        <p:nvCxnSpPr>
          <p:cNvPr id="269" name="Google Shape;269;p28"/>
          <p:cNvCxnSpPr/>
          <p:nvPr/>
        </p:nvCxnSpPr>
        <p:spPr>
          <a:xfrm rot="10800000" flipH="1">
            <a:off x="4814568" y="8033784"/>
            <a:ext cx="1078800" cy="9600"/>
          </a:xfrm>
          <a:prstGeom prst="straightConnector1">
            <a:avLst/>
          </a:prstGeom>
          <a:noFill/>
          <a:ln w="19050" cap="flat" cmpd="sng">
            <a:solidFill>
              <a:srgbClr val="000000"/>
            </a:solidFill>
            <a:prstDash val="solid"/>
            <a:round/>
            <a:headEnd type="none" w="sm" len="sm"/>
            <a:tailEnd type="stealth" w="med" len="med"/>
          </a:ln>
        </p:spPr>
      </p:cxnSp>
      <p:cxnSp>
        <p:nvCxnSpPr>
          <p:cNvPr id="270" name="Google Shape;270;p28"/>
          <p:cNvCxnSpPr/>
          <p:nvPr/>
        </p:nvCxnSpPr>
        <p:spPr>
          <a:xfrm rot="10800000" flipH="1">
            <a:off x="6647342" y="9096137"/>
            <a:ext cx="1165800" cy="9600"/>
          </a:xfrm>
          <a:prstGeom prst="straightConnector1">
            <a:avLst/>
          </a:prstGeom>
          <a:noFill/>
          <a:ln w="19050" cap="flat" cmpd="sng">
            <a:solidFill>
              <a:srgbClr val="000000"/>
            </a:solidFill>
            <a:prstDash val="solid"/>
            <a:round/>
            <a:headEnd type="none" w="sm" len="sm"/>
            <a:tailEnd type="stealth" w="med" len="med"/>
          </a:ln>
        </p:spPr>
      </p:cxnSp>
      <p:sp>
        <p:nvSpPr>
          <p:cNvPr id="271" name="Google Shape;271;p28"/>
          <p:cNvSpPr/>
          <p:nvPr/>
        </p:nvSpPr>
        <p:spPr>
          <a:xfrm>
            <a:off x="15762675" y="827961"/>
            <a:ext cx="1842300" cy="949800"/>
          </a:xfrm>
          <a:prstGeom prst="rect">
            <a:avLst/>
          </a:prstGeom>
          <a:solidFill>
            <a:srgbClr val="FFFFFF"/>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Setup System</a:t>
            </a:r>
            <a:endParaRPr sz="1600">
              <a:latin typeface="Calibri"/>
              <a:ea typeface="Calibri"/>
              <a:cs typeface="Calibri"/>
              <a:sym typeface="Calibri"/>
            </a:endParaRPr>
          </a:p>
        </p:txBody>
      </p:sp>
      <p:sp>
        <p:nvSpPr>
          <p:cNvPr id="272" name="Google Shape;272;p28"/>
          <p:cNvSpPr/>
          <p:nvPr/>
        </p:nvSpPr>
        <p:spPr>
          <a:xfrm>
            <a:off x="2693496" y="4356807"/>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Position System (for collection)</a:t>
            </a:r>
            <a:endParaRPr sz="1600">
              <a:latin typeface="Calibri"/>
              <a:ea typeface="Calibri"/>
              <a:cs typeface="Calibri"/>
              <a:sym typeface="Calibri"/>
            </a:endParaRPr>
          </a:p>
        </p:txBody>
      </p:sp>
      <p:sp>
        <p:nvSpPr>
          <p:cNvPr id="273" name="Google Shape;273;p28"/>
          <p:cNvSpPr/>
          <p:nvPr/>
        </p:nvSpPr>
        <p:spPr>
          <a:xfrm>
            <a:off x="2693496" y="6491391"/>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Collect Package</a:t>
            </a:r>
            <a:endParaRPr sz="1600">
              <a:latin typeface="Calibri"/>
              <a:ea typeface="Calibri"/>
              <a:cs typeface="Calibri"/>
              <a:sym typeface="Calibri"/>
            </a:endParaRPr>
          </a:p>
        </p:txBody>
      </p:sp>
      <p:sp>
        <p:nvSpPr>
          <p:cNvPr id="274" name="Google Shape;274;p28"/>
          <p:cNvSpPr/>
          <p:nvPr/>
        </p:nvSpPr>
        <p:spPr>
          <a:xfrm>
            <a:off x="4516084" y="4359271"/>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Position System (for chasm traversal)</a:t>
            </a:r>
            <a:endParaRPr sz="1600">
              <a:latin typeface="Calibri"/>
              <a:ea typeface="Calibri"/>
              <a:cs typeface="Calibri"/>
              <a:sym typeface="Calibri"/>
            </a:endParaRPr>
          </a:p>
        </p:txBody>
      </p:sp>
      <p:sp>
        <p:nvSpPr>
          <p:cNvPr id="275" name="Google Shape;275;p28"/>
          <p:cNvSpPr/>
          <p:nvPr/>
        </p:nvSpPr>
        <p:spPr>
          <a:xfrm>
            <a:off x="2693496" y="8625987"/>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Traverse across the chasm (to the deposit zone)</a:t>
            </a:r>
            <a:endParaRPr sz="1600">
              <a:latin typeface="Calibri"/>
              <a:ea typeface="Calibri"/>
              <a:cs typeface="Calibri"/>
              <a:sym typeface="Calibri"/>
            </a:endParaRPr>
          </a:p>
        </p:txBody>
      </p:sp>
      <p:sp>
        <p:nvSpPr>
          <p:cNvPr id="276" name="Google Shape;276;p28"/>
          <p:cNvSpPr/>
          <p:nvPr/>
        </p:nvSpPr>
        <p:spPr>
          <a:xfrm>
            <a:off x="6348850" y="4366679"/>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Position System (for package disposal)</a:t>
            </a:r>
            <a:endParaRPr sz="1600">
              <a:latin typeface="Calibri"/>
              <a:ea typeface="Calibri"/>
              <a:cs typeface="Calibri"/>
              <a:sym typeface="Calibri"/>
            </a:endParaRPr>
          </a:p>
        </p:txBody>
      </p:sp>
      <p:sp>
        <p:nvSpPr>
          <p:cNvPr id="277" name="Google Shape;277;p28"/>
          <p:cNvSpPr/>
          <p:nvPr/>
        </p:nvSpPr>
        <p:spPr>
          <a:xfrm>
            <a:off x="2693496" y="7558689"/>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Deposit Package</a:t>
            </a:r>
            <a:endParaRPr sz="1600">
              <a:latin typeface="Calibri"/>
              <a:ea typeface="Calibri"/>
              <a:cs typeface="Calibri"/>
              <a:sym typeface="Calibri"/>
            </a:endParaRPr>
          </a:p>
        </p:txBody>
      </p:sp>
      <p:sp>
        <p:nvSpPr>
          <p:cNvPr id="278" name="Google Shape;278;p28"/>
          <p:cNvSpPr/>
          <p:nvPr/>
        </p:nvSpPr>
        <p:spPr>
          <a:xfrm>
            <a:off x="8206200" y="4366748"/>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Position System (for chasm traversal)</a:t>
            </a:r>
            <a:endParaRPr sz="1600">
              <a:latin typeface="Calibri"/>
              <a:ea typeface="Calibri"/>
              <a:cs typeface="Calibri"/>
              <a:sym typeface="Calibri"/>
            </a:endParaRPr>
          </a:p>
        </p:txBody>
      </p:sp>
      <p:sp>
        <p:nvSpPr>
          <p:cNvPr id="279" name="Google Shape;279;p28"/>
          <p:cNvSpPr/>
          <p:nvPr/>
        </p:nvSpPr>
        <p:spPr>
          <a:xfrm>
            <a:off x="4516075" y="8625994"/>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Traverse across the chasm (to the start zone)</a:t>
            </a:r>
            <a:endParaRPr sz="1600">
              <a:latin typeface="Calibri"/>
              <a:ea typeface="Calibri"/>
              <a:cs typeface="Calibri"/>
              <a:sym typeface="Calibri"/>
            </a:endParaRPr>
          </a:p>
        </p:txBody>
      </p:sp>
      <p:cxnSp>
        <p:nvCxnSpPr>
          <p:cNvPr id="280" name="Google Shape;280;p28"/>
          <p:cNvCxnSpPr/>
          <p:nvPr/>
        </p:nvCxnSpPr>
        <p:spPr>
          <a:xfrm rot="10800000" flipH="1">
            <a:off x="8504698" y="3759649"/>
            <a:ext cx="1078800" cy="9600"/>
          </a:xfrm>
          <a:prstGeom prst="straightConnector1">
            <a:avLst/>
          </a:prstGeom>
          <a:noFill/>
          <a:ln w="19050" cap="flat" cmpd="sng">
            <a:solidFill>
              <a:srgbClr val="000000"/>
            </a:solidFill>
            <a:prstDash val="solid"/>
            <a:round/>
            <a:headEnd type="none" w="sm" len="sm"/>
            <a:tailEnd type="stealth" w="med" len="med"/>
          </a:ln>
        </p:spPr>
      </p:cxnSp>
      <p:sp>
        <p:nvSpPr>
          <p:cNvPr id="281" name="Google Shape;281;p28"/>
          <p:cNvSpPr txBox="1"/>
          <p:nvPr/>
        </p:nvSpPr>
        <p:spPr>
          <a:xfrm>
            <a:off x="8206200" y="2434529"/>
            <a:ext cx="10788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Signalling</a:t>
            </a:r>
            <a:endParaRPr sz="1600">
              <a:latin typeface="Calibri"/>
              <a:ea typeface="Calibri"/>
              <a:cs typeface="Calibri"/>
              <a:sym typeface="Calibri"/>
            </a:endParaRPr>
          </a:p>
        </p:txBody>
      </p:sp>
      <p:sp>
        <p:nvSpPr>
          <p:cNvPr id="282" name="Google Shape;282;p28"/>
          <p:cNvSpPr txBox="1"/>
          <p:nvPr/>
        </p:nvSpPr>
        <p:spPr>
          <a:xfrm>
            <a:off x="15601875" y="233825"/>
            <a:ext cx="26046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2000" b="1">
                <a:latin typeface="Calibri"/>
                <a:ea typeface="Calibri"/>
                <a:cs typeface="Calibri"/>
                <a:sym typeface="Calibri"/>
              </a:rPr>
              <a:t>Functions left out:</a:t>
            </a:r>
            <a:endParaRPr sz="2000" b="1">
              <a:latin typeface="Calibri"/>
              <a:ea typeface="Calibri"/>
              <a:cs typeface="Calibri"/>
              <a:sym typeface="Calibri"/>
            </a:endParaRPr>
          </a:p>
        </p:txBody>
      </p:sp>
      <p:sp>
        <p:nvSpPr>
          <p:cNvPr id="283" name="Google Shape;283;p28"/>
          <p:cNvSpPr txBox="1"/>
          <p:nvPr/>
        </p:nvSpPr>
        <p:spPr>
          <a:xfrm>
            <a:off x="11896325" y="4574098"/>
            <a:ext cx="3088500" cy="535200"/>
          </a:xfrm>
          <a:prstGeom prst="rect">
            <a:avLst/>
          </a:prstGeom>
          <a:noFill/>
          <a:ln>
            <a:noFill/>
          </a:ln>
        </p:spPr>
        <p:txBody>
          <a:bodyPr spcFirstLastPara="1" wrap="square" lIns="95425" tIns="95425" rIns="95425" bIns="95425" anchor="t" anchorCtr="0">
            <a:noAutofit/>
          </a:bodyPr>
          <a:lstStyle/>
          <a:p>
            <a:pPr marL="0" lvl="0" indent="0" algn="l" rtl="0">
              <a:spcBef>
                <a:spcPts val="0"/>
              </a:spcBef>
              <a:spcAft>
                <a:spcPts val="0"/>
              </a:spcAft>
              <a:buNone/>
            </a:pPr>
            <a:r>
              <a:rPr lang="en" sz="1600">
                <a:latin typeface="Calibri"/>
                <a:ea typeface="Calibri"/>
                <a:cs typeface="Calibri"/>
                <a:sym typeface="Calibri"/>
              </a:rPr>
              <a:t>System positioning and navigation</a:t>
            </a:r>
            <a:endParaRPr sz="1600">
              <a:latin typeface="Calibri"/>
              <a:ea typeface="Calibri"/>
              <a:cs typeface="Calibri"/>
              <a:sym typeface="Calibri"/>
            </a:endParaRPr>
          </a:p>
        </p:txBody>
      </p:sp>
      <p:cxnSp>
        <p:nvCxnSpPr>
          <p:cNvPr id="284" name="Google Shape;284;p28"/>
          <p:cNvCxnSpPr/>
          <p:nvPr/>
        </p:nvCxnSpPr>
        <p:spPr>
          <a:xfrm rot="10800000" flipH="1">
            <a:off x="6647342" y="5949243"/>
            <a:ext cx="1078800" cy="9600"/>
          </a:xfrm>
          <a:prstGeom prst="straightConnector1">
            <a:avLst/>
          </a:prstGeom>
          <a:noFill/>
          <a:ln w="19050" cap="flat" cmpd="sng">
            <a:solidFill>
              <a:srgbClr val="000000"/>
            </a:solidFill>
            <a:prstDash val="solid"/>
            <a:round/>
            <a:headEnd type="none" w="sm" len="sm"/>
            <a:tailEnd type="stealth" w="med" len="med"/>
          </a:ln>
        </p:spPr>
      </p:cxnSp>
      <p:sp>
        <p:nvSpPr>
          <p:cNvPr id="285" name="Google Shape;285;p28"/>
          <p:cNvSpPr/>
          <p:nvPr/>
        </p:nvSpPr>
        <p:spPr>
          <a:xfrm>
            <a:off x="2693496" y="5424094"/>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Traverse Across Start Zone</a:t>
            </a:r>
            <a:endParaRPr sz="1600">
              <a:latin typeface="Calibri"/>
              <a:ea typeface="Calibri"/>
              <a:cs typeface="Calibri"/>
              <a:sym typeface="Calibri"/>
            </a:endParaRPr>
          </a:p>
        </p:txBody>
      </p:sp>
      <p:sp>
        <p:nvSpPr>
          <p:cNvPr id="286" name="Google Shape;286;p28"/>
          <p:cNvSpPr/>
          <p:nvPr/>
        </p:nvSpPr>
        <p:spPr>
          <a:xfrm>
            <a:off x="15762675" y="1895259"/>
            <a:ext cx="1842300" cy="949800"/>
          </a:xfrm>
          <a:prstGeom prst="rect">
            <a:avLst/>
          </a:prstGeom>
          <a:solidFill>
            <a:srgbClr val="FFFFFF"/>
          </a:solidFill>
          <a:ln w="25400" cap="flat" cmpd="sng">
            <a:solidFill>
              <a:srgbClr val="2A5E87"/>
            </a:solidFill>
            <a:prstDash val="dash"/>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Remove System</a:t>
            </a:r>
            <a:endParaRPr sz="1600">
              <a:latin typeface="Calibri"/>
              <a:ea typeface="Calibri"/>
              <a:cs typeface="Calibri"/>
              <a:sym typeface="Calibri"/>
            </a:endParaRPr>
          </a:p>
        </p:txBody>
      </p:sp>
      <p:sp>
        <p:nvSpPr>
          <p:cNvPr id="287" name="Google Shape;287;p28"/>
          <p:cNvSpPr/>
          <p:nvPr/>
        </p:nvSpPr>
        <p:spPr>
          <a:xfrm>
            <a:off x="4516075" y="5424100"/>
            <a:ext cx="16758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Traverse Across Deposit Zone</a:t>
            </a:r>
            <a:endParaRPr sz="1600">
              <a:latin typeface="Calibri"/>
              <a:ea typeface="Calibri"/>
              <a:cs typeface="Calibri"/>
              <a:sym typeface="Calibri"/>
            </a:endParaRPr>
          </a:p>
        </p:txBody>
      </p:sp>
      <p:sp>
        <p:nvSpPr>
          <p:cNvPr id="288" name="Google Shape;288;p28"/>
          <p:cNvSpPr/>
          <p:nvPr/>
        </p:nvSpPr>
        <p:spPr>
          <a:xfrm>
            <a:off x="15762675" y="2962556"/>
            <a:ext cx="18423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Convert Energy to Work to Traverse on the Ground</a:t>
            </a:r>
            <a:endParaRPr sz="1600">
              <a:latin typeface="Calibri"/>
              <a:ea typeface="Calibri"/>
              <a:cs typeface="Calibri"/>
              <a:sym typeface="Calibri"/>
            </a:endParaRPr>
          </a:p>
        </p:txBody>
      </p:sp>
      <p:sp>
        <p:nvSpPr>
          <p:cNvPr id="289" name="Google Shape;289;p28"/>
          <p:cNvSpPr/>
          <p:nvPr/>
        </p:nvSpPr>
        <p:spPr>
          <a:xfrm>
            <a:off x="15762750" y="4041867"/>
            <a:ext cx="18423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lvl="0" indent="0" algn="ctr" rtl="0">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Convert Energy to Work to Traverse along the Wire</a:t>
            </a:r>
            <a:endParaRPr sz="1600">
              <a:latin typeface="Calibri"/>
              <a:ea typeface="Calibri"/>
              <a:cs typeface="Calibri"/>
              <a:sym typeface="Calibri"/>
            </a:endParaRPr>
          </a:p>
        </p:txBody>
      </p:sp>
      <p:sp>
        <p:nvSpPr>
          <p:cNvPr id="290" name="Google Shape;290;p28"/>
          <p:cNvSpPr/>
          <p:nvPr/>
        </p:nvSpPr>
        <p:spPr>
          <a:xfrm>
            <a:off x="15762600" y="5109165"/>
            <a:ext cx="18423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Convert Energy to Work to Collect</a:t>
            </a:r>
            <a:endParaRPr sz="1600">
              <a:latin typeface="Calibri"/>
              <a:ea typeface="Calibri"/>
              <a:cs typeface="Calibri"/>
              <a:sym typeface="Calibri"/>
            </a:endParaRPr>
          </a:p>
        </p:txBody>
      </p:sp>
      <p:sp>
        <p:nvSpPr>
          <p:cNvPr id="291" name="Google Shape;291;p28"/>
          <p:cNvSpPr/>
          <p:nvPr/>
        </p:nvSpPr>
        <p:spPr>
          <a:xfrm>
            <a:off x="15762600" y="6176463"/>
            <a:ext cx="1842300" cy="949800"/>
          </a:xfrm>
          <a:prstGeom prst="rect">
            <a:avLst/>
          </a:prstGeom>
          <a:solidFill>
            <a:srgbClr val="FFFFFF"/>
          </a:solidFill>
          <a:ln w="25400" cap="flat" cmpd="sng">
            <a:solidFill>
              <a:srgbClr val="2A5E87"/>
            </a:solidFill>
            <a:prstDash val="solid"/>
            <a:round/>
            <a:headEnd type="none" w="sm" len="sm"/>
            <a:tailEnd type="none" w="sm" len="sm"/>
          </a:ln>
        </p:spPr>
        <p:txBody>
          <a:bodyPr spcFirstLastPara="1" wrap="square" lIns="71575" tIns="35775" rIns="71575" bIns="357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600">
                <a:latin typeface="Calibri"/>
                <a:ea typeface="Calibri"/>
                <a:cs typeface="Calibri"/>
                <a:sym typeface="Calibri"/>
              </a:rPr>
              <a:t>Convert Energy to Work to Deposit</a:t>
            </a:r>
            <a:endParaRPr sz="1600">
              <a:latin typeface="Calibri"/>
              <a:ea typeface="Calibri"/>
              <a:cs typeface="Calibri"/>
              <a:sym typeface="Calibri"/>
            </a:endParaRPr>
          </a:p>
        </p:txBody>
      </p:sp>
      <p:sp>
        <p:nvSpPr>
          <p:cNvPr id="292" name="Google Shape;292;p28"/>
          <p:cNvSpPr txBox="1"/>
          <p:nvPr/>
        </p:nvSpPr>
        <p:spPr>
          <a:xfrm>
            <a:off x="11372725" y="7368300"/>
            <a:ext cx="6915300" cy="26922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just" rtl="0">
              <a:lnSpc>
                <a:spcPct val="115000"/>
              </a:lnSpc>
              <a:spcBef>
                <a:spcPts val="0"/>
              </a:spcBef>
              <a:spcAft>
                <a:spcPts val="0"/>
              </a:spcAft>
              <a:buNone/>
            </a:pPr>
            <a:r>
              <a:rPr lang="en" sz="1800" b="1">
                <a:latin typeface="Calibri"/>
                <a:ea typeface="Calibri"/>
                <a:cs typeface="Calibri"/>
                <a:sym typeface="Calibri"/>
              </a:rPr>
              <a:t>Note:</a:t>
            </a:r>
            <a:r>
              <a:rPr lang="en" sz="1800">
                <a:latin typeface="Calibri"/>
                <a:ea typeface="Calibri"/>
                <a:cs typeface="Calibri"/>
                <a:sym typeface="Calibri"/>
              </a:rPr>
              <a:t> The functions left out were seen as inappropriate for this process. The ‘Setup System’ and ‘Remove System’ functions are done before and after the task is complete, while we are focusing on only functions that occur during the task. Additionally, the four converting energy functions were left out as more than one alternative would be used, making it inappropriate as we would not be able to decide on one specific alternative. Options included DC motor, Servo Motors, Stepper Motors, Hydraulic Actuators, Pneumatic Actuators and Springs.</a:t>
            </a:r>
            <a:endParaRPr sz="18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9"/>
          <p:cNvSpPr txBox="1"/>
          <p:nvPr/>
        </p:nvSpPr>
        <p:spPr>
          <a:xfrm>
            <a:off x="0" y="-10"/>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Creative Solution Generation</a:t>
            </a:r>
            <a:endParaRPr sz="4200" b="1">
              <a:latin typeface="Calibri"/>
              <a:ea typeface="Calibri"/>
              <a:cs typeface="Calibri"/>
              <a:sym typeface="Calibri"/>
            </a:endParaRPr>
          </a:p>
        </p:txBody>
      </p:sp>
      <p:graphicFrame>
        <p:nvGraphicFramePr>
          <p:cNvPr id="298" name="Google Shape;298;p29"/>
          <p:cNvGraphicFramePr/>
          <p:nvPr/>
        </p:nvGraphicFramePr>
        <p:xfrm>
          <a:off x="168307" y="847861"/>
          <a:ext cx="3000000" cy="3000000"/>
        </p:xfrm>
        <a:graphic>
          <a:graphicData uri="http://schemas.openxmlformats.org/drawingml/2006/table">
            <a:tbl>
              <a:tblPr>
                <a:noFill/>
                <a:tableStyleId>{56DC45DD-F23F-474C-AD18-9CBBB8028203}</a:tableStyleId>
              </a:tblPr>
              <a:tblGrid>
                <a:gridCol w="1923050">
                  <a:extLst>
                    <a:ext uri="{9D8B030D-6E8A-4147-A177-3AD203B41FA5}">
                      <a16:colId xmlns:a16="http://schemas.microsoft.com/office/drawing/2014/main" val="20000"/>
                    </a:ext>
                  </a:extLst>
                </a:gridCol>
                <a:gridCol w="3195125">
                  <a:extLst>
                    <a:ext uri="{9D8B030D-6E8A-4147-A177-3AD203B41FA5}">
                      <a16:colId xmlns:a16="http://schemas.microsoft.com/office/drawing/2014/main" val="20001"/>
                    </a:ext>
                  </a:extLst>
                </a:gridCol>
                <a:gridCol w="3353375">
                  <a:extLst>
                    <a:ext uri="{9D8B030D-6E8A-4147-A177-3AD203B41FA5}">
                      <a16:colId xmlns:a16="http://schemas.microsoft.com/office/drawing/2014/main" val="20002"/>
                    </a:ext>
                  </a:extLst>
                </a:gridCol>
                <a:gridCol w="3265450">
                  <a:extLst>
                    <a:ext uri="{9D8B030D-6E8A-4147-A177-3AD203B41FA5}">
                      <a16:colId xmlns:a16="http://schemas.microsoft.com/office/drawing/2014/main" val="20003"/>
                    </a:ext>
                  </a:extLst>
                </a:gridCol>
                <a:gridCol w="3054450">
                  <a:extLst>
                    <a:ext uri="{9D8B030D-6E8A-4147-A177-3AD203B41FA5}">
                      <a16:colId xmlns:a16="http://schemas.microsoft.com/office/drawing/2014/main" val="20004"/>
                    </a:ext>
                  </a:extLst>
                </a:gridCol>
                <a:gridCol w="3159950">
                  <a:extLst>
                    <a:ext uri="{9D8B030D-6E8A-4147-A177-3AD203B41FA5}">
                      <a16:colId xmlns:a16="http://schemas.microsoft.com/office/drawing/2014/main" val="20005"/>
                    </a:ext>
                  </a:extLst>
                </a:gridCol>
              </a:tblGrid>
              <a:tr h="788575">
                <a:tc>
                  <a:txBody>
                    <a:bodyPr/>
                    <a:lstStyle/>
                    <a:p>
                      <a:pPr marL="0" lvl="0" indent="0" algn="ctr" rtl="0">
                        <a:spcBef>
                          <a:spcPts val="0"/>
                        </a:spcBef>
                        <a:spcAft>
                          <a:spcPts val="0"/>
                        </a:spcAft>
                        <a:buNone/>
                      </a:pPr>
                      <a:r>
                        <a:rPr lang="en" sz="2000" b="1">
                          <a:solidFill>
                            <a:srgbClr val="000000"/>
                          </a:solidFill>
                          <a:latin typeface="Calibri"/>
                          <a:ea typeface="Calibri"/>
                          <a:cs typeface="Calibri"/>
                          <a:sym typeface="Calibri"/>
                        </a:rPr>
                        <a:t>Morphology Table</a:t>
                      </a:r>
                      <a:endParaRPr sz="2000" b="1">
                        <a:solidFill>
                          <a:srgbClr val="000000"/>
                        </a:solidFill>
                        <a:latin typeface="Calibri"/>
                        <a:ea typeface="Calibri"/>
                        <a:cs typeface="Calibri"/>
                        <a:sym typeface="Calibri"/>
                      </a:endParaRPr>
                    </a:p>
                  </a:txBody>
                  <a:tcPr marL="96225" marR="96225" marT="86000" marB="86000"/>
                </a:tc>
                <a:tc gridSpan="5">
                  <a:txBody>
                    <a:bodyPr/>
                    <a:lstStyle/>
                    <a:p>
                      <a:pPr marL="0" lvl="0" indent="0" algn="ctr" rtl="0">
                        <a:spcBef>
                          <a:spcPts val="0"/>
                        </a:spcBef>
                        <a:spcAft>
                          <a:spcPts val="0"/>
                        </a:spcAft>
                        <a:buNone/>
                      </a:pPr>
                      <a:endParaRPr sz="2000" b="1">
                        <a:latin typeface="Calibri"/>
                        <a:ea typeface="Calibri"/>
                        <a:cs typeface="Calibri"/>
                        <a:sym typeface="Calibri"/>
                      </a:endParaRPr>
                    </a:p>
                    <a:p>
                      <a:pPr marL="0" lvl="0" indent="0" algn="ctr" rtl="0">
                        <a:spcBef>
                          <a:spcPts val="0"/>
                        </a:spcBef>
                        <a:spcAft>
                          <a:spcPts val="0"/>
                        </a:spcAft>
                        <a:buNone/>
                      </a:pPr>
                      <a:r>
                        <a:rPr lang="en" sz="2000" b="1">
                          <a:latin typeface="Calibri"/>
                          <a:ea typeface="Calibri"/>
                          <a:cs typeface="Calibri"/>
                          <a:sym typeface="Calibri"/>
                        </a:rPr>
                        <a:t>Alternatives</a:t>
                      </a:r>
                      <a:endParaRPr sz="2000" b="1">
                        <a:latin typeface="Calibri"/>
                        <a:ea typeface="Calibri"/>
                        <a:cs typeface="Calibri"/>
                        <a:sym typeface="Calibri"/>
                      </a:endParaRPr>
                    </a:p>
                  </a:txBody>
                  <a:tcPr marL="96225" marR="96225" marT="86000" marB="8600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52925">
                <a:tc>
                  <a:txBody>
                    <a:bodyPr/>
                    <a:lstStyle/>
                    <a:p>
                      <a:pPr marL="0" lvl="0" indent="0" algn="ctr" rtl="0">
                        <a:spcBef>
                          <a:spcPts val="0"/>
                        </a:spcBef>
                        <a:spcAft>
                          <a:spcPts val="0"/>
                        </a:spcAft>
                        <a:buNone/>
                      </a:pPr>
                      <a:r>
                        <a:rPr lang="en" sz="2000" b="1">
                          <a:solidFill>
                            <a:srgbClr val="000000"/>
                          </a:solidFill>
                          <a:latin typeface="Calibri"/>
                          <a:ea typeface="Calibri"/>
                          <a:cs typeface="Calibri"/>
                          <a:sym typeface="Calibri"/>
                        </a:rPr>
                        <a:t>Functions</a:t>
                      </a:r>
                      <a:endParaRPr sz="2000" b="1">
                        <a:solidFill>
                          <a:srgbClr val="000000"/>
                        </a:solidFill>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2000" b="1">
                          <a:latin typeface="Calibri"/>
                          <a:ea typeface="Calibri"/>
                          <a:cs typeface="Calibri"/>
                          <a:sym typeface="Calibri"/>
                        </a:rPr>
                        <a:t>A</a:t>
                      </a:r>
                      <a:endParaRPr sz="2000" b="1">
                        <a:latin typeface="Calibri"/>
                        <a:ea typeface="Calibri"/>
                        <a:cs typeface="Calibri"/>
                        <a:sym typeface="Calibri"/>
                      </a:endParaRPr>
                    </a:p>
                  </a:txBody>
                  <a:tcPr marL="96225" marR="96225" marT="86000" marB="86000"/>
                </a:tc>
                <a:tc>
                  <a:txBody>
                    <a:bodyPr/>
                    <a:lstStyle/>
                    <a:p>
                      <a:pPr marL="0" lvl="0" indent="0" algn="ctr" rtl="0">
                        <a:spcBef>
                          <a:spcPts val="0"/>
                        </a:spcBef>
                        <a:spcAft>
                          <a:spcPts val="0"/>
                        </a:spcAft>
                        <a:buNone/>
                      </a:pPr>
                      <a:r>
                        <a:rPr lang="en" sz="2000" b="1">
                          <a:latin typeface="Calibri"/>
                          <a:ea typeface="Calibri"/>
                          <a:cs typeface="Calibri"/>
                          <a:sym typeface="Calibri"/>
                        </a:rPr>
                        <a:t>B</a:t>
                      </a:r>
                      <a:endParaRPr sz="2000" b="1">
                        <a:latin typeface="Calibri"/>
                        <a:ea typeface="Calibri"/>
                        <a:cs typeface="Calibri"/>
                        <a:sym typeface="Calibri"/>
                      </a:endParaRPr>
                    </a:p>
                  </a:txBody>
                  <a:tcPr marL="96225" marR="96225" marT="86000" marB="86000"/>
                </a:tc>
                <a:tc>
                  <a:txBody>
                    <a:bodyPr/>
                    <a:lstStyle/>
                    <a:p>
                      <a:pPr marL="0" lvl="0" indent="0" algn="ctr" rtl="0">
                        <a:spcBef>
                          <a:spcPts val="0"/>
                        </a:spcBef>
                        <a:spcAft>
                          <a:spcPts val="0"/>
                        </a:spcAft>
                        <a:buNone/>
                      </a:pPr>
                      <a:r>
                        <a:rPr lang="en" sz="2000" b="1">
                          <a:latin typeface="Calibri"/>
                          <a:ea typeface="Calibri"/>
                          <a:cs typeface="Calibri"/>
                          <a:sym typeface="Calibri"/>
                        </a:rPr>
                        <a:t>C</a:t>
                      </a:r>
                      <a:endParaRPr sz="2000" b="1">
                        <a:latin typeface="Calibri"/>
                        <a:ea typeface="Calibri"/>
                        <a:cs typeface="Calibri"/>
                        <a:sym typeface="Calibri"/>
                      </a:endParaRPr>
                    </a:p>
                  </a:txBody>
                  <a:tcPr marL="96225" marR="96225" marT="86000" marB="86000"/>
                </a:tc>
                <a:tc>
                  <a:txBody>
                    <a:bodyPr/>
                    <a:lstStyle/>
                    <a:p>
                      <a:pPr marL="0" lvl="0" indent="0" algn="ctr" rtl="0">
                        <a:spcBef>
                          <a:spcPts val="0"/>
                        </a:spcBef>
                        <a:spcAft>
                          <a:spcPts val="0"/>
                        </a:spcAft>
                        <a:buNone/>
                      </a:pPr>
                      <a:r>
                        <a:rPr lang="en" sz="2000" b="1">
                          <a:latin typeface="Calibri"/>
                          <a:ea typeface="Calibri"/>
                          <a:cs typeface="Calibri"/>
                          <a:sym typeface="Calibri"/>
                        </a:rPr>
                        <a:t>D</a:t>
                      </a:r>
                      <a:endParaRPr sz="2000" b="1">
                        <a:latin typeface="Calibri"/>
                        <a:ea typeface="Calibri"/>
                        <a:cs typeface="Calibri"/>
                        <a:sym typeface="Calibri"/>
                      </a:endParaRPr>
                    </a:p>
                  </a:txBody>
                  <a:tcPr marL="96225" marR="96225" marT="86000" marB="86000"/>
                </a:tc>
                <a:tc>
                  <a:txBody>
                    <a:bodyPr/>
                    <a:lstStyle/>
                    <a:p>
                      <a:pPr marL="0" lvl="0" indent="0" algn="ctr" rtl="0">
                        <a:spcBef>
                          <a:spcPts val="0"/>
                        </a:spcBef>
                        <a:spcAft>
                          <a:spcPts val="0"/>
                        </a:spcAft>
                        <a:buNone/>
                      </a:pPr>
                      <a:r>
                        <a:rPr lang="en" sz="2000" b="1">
                          <a:latin typeface="Calibri"/>
                          <a:ea typeface="Calibri"/>
                          <a:cs typeface="Calibri"/>
                          <a:sym typeface="Calibri"/>
                        </a:rPr>
                        <a:t>E</a:t>
                      </a:r>
                      <a:endParaRPr sz="2000" b="1">
                        <a:latin typeface="Calibri"/>
                        <a:ea typeface="Calibri"/>
                        <a:cs typeface="Calibri"/>
                        <a:sym typeface="Calibri"/>
                      </a:endParaRPr>
                    </a:p>
                  </a:txBody>
                  <a:tcPr marL="96225" marR="96225" marT="86000" marB="86000"/>
                </a:tc>
                <a:extLst>
                  <a:ext uri="{0D108BD9-81ED-4DB2-BD59-A6C34878D82A}">
                    <a16:rowId xmlns:a16="http://schemas.microsoft.com/office/drawing/2014/main" val="10001"/>
                  </a:ext>
                </a:extLst>
              </a:tr>
              <a:tr h="303375">
                <a:tc>
                  <a:txBody>
                    <a:bodyPr/>
                    <a:lstStyle/>
                    <a:p>
                      <a:pPr marL="0" lvl="0" indent="0" algn="ctr" rtl="0">
                        <a:spcBef>
                          <a:spcPts val="0"/>
                        </a:spcBef>
                        <a:spcAft>
                          <a:spcPts val="0"/>
                        </a:spcAft>
                        <a:buNone/>
                      </a:pPr>
                      <a:r>
                        <a:rPr lang="en" sz="1600">
                          <a:latin typeface="Calibri"/>
                          <a:ea typeface="Calibri"/>
                          <a:cs typeface="Calibri"/>
                          <a:sym typeface="Calibri"/>
                        </a:rPr>
                        <a:t>Starting the System</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Button.</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Switch.</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Timer.</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Voice Command.</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Proximity sensor.</a:t>
                      </a:r>
                      <a:endParaRPr sz="1600">
                        <a:latin typeface="Calibri"/>
                        <a:ea typeface="Calibri"/>
                        <a:cs typeface="Calibri"/>
                        <a:sym typeface="Calibri"/>
                      </a:endParaRPr>
                    </a:p>
                  </a:txBody>
                  <a:tcPr marL="96225" marR="96225" marT="86000" marB="86000" anchor="ctr"/>
                </a:tc>
                <a:extLst>
                  <a:ext uri="{0D108BD9-81ED-4DB2-BD59-A6C34878D82A}">
                    <a16:rowId xmlns:a16="http://schemas.microsoft.com/office/drawing/2014/main" val="10002"/>
                  </a:ext>
                </a:extLst>
              </a:tr>
              <a:tr h="951200">
                <a:tc>
                  <a:txBody>
                    <a:bodyPr/>
                    <a:lstStyle/>
                    <a:p>
                      <a:pPr marL="0" lvl="0" indent="0" algn="ctr" rtl="0">
                        <a:spcBef>
                          <a:spcPts val="0"/>
                        </a:spcBef>
                        <a:spcAft>
                          <a:spcPts val="0"/>
                        </a:spcAft>
                        <a:buNone/>
                      </a:pPr>
                      <a:r>
                        <a:rPr lang="en" sz="1600">
                          <a:latin typeface="Calibri"/>
                          <a:ea typeface="Calibri"/>
                          <a:cs typeface="Calibri"/>
                          <a:sym typeface="Calibri"/>
                        </a:rPr>
                        <a:t>Signalling</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LED Lights: A Green LED is displayed when it starts and is working. A red LED is display for when the task is complete.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Clr>
                          <a:srgbClr val="000000"/>
                        </a:buClr>
                        <a:buSzPts val="1000"/>
                        <a:buFont typeface="Arial"/>
                        <a:buNone/>
                      </a:pPr>
                      <a:r>
                        <a:rPr lang="en" sz="1600">
                          <a:latin typeface="Calibri"/>
                          <a:ea typeface="Calibri"/>
                          <a:cs typeface="Calibri"/>
                          <a:sym typeface="Calibri"/>
                        </a:rPr>
                        <a:t>System makes certain noises/speaks when task is completed and/or finished.</a:t>
                      </a:r>
                      <a:endParaRPr sz="1600">
                        <a:latin typeface="Calibri"/>
                        <a:ea typeface="Calibri"/>
                        <a:cs typeface="Calibri"/>
                        <a:sym typeface="Calibri"/>
                      </a:endParaRPr>
                    </a:p>
                  </a:txBody>
                  <a:tcPr marL="96225" marR="96225" marT="86000" marB="86000" anchor="ct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000"/>
                        <a:buFont typeface="Arial"/>
                        <a:buNone/>
                      </a:pPr>
                      <a:r>
                        <a:rPr lang="en" sz="1600">
                          <a:latin typeface="Calibri"/>
                          <a:ea typeface="Calibri"/>
                          <a:cs typeface="Calibri"/>
                          <a:sym typeface="Calibri"/>
                        </a:rPr>
                        <a:t>Visible Timer that starts counting when the task starts and stops counting and blinks the time when task is complete.</a:t>
                      </a:r>
                      <a:endParaRPr sz="1600">
                        <a:latin typeface="Calibri"/>
                        <a:ea typeface="Calibri"/>
                        <a:cs typeface="Calibri"/>
                        <a:sym typeface="Calibri"/>
                      </a:endParaRPr>
                    </a:p>
                  </a:txBody>
                  <a:tcPr marL="96225" marR="96225" marT="86000" marB="86000" anchor="ct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000"/>
                        <a:buFont typeface="Arial"/>
                        <a:buNone/>
                      </a:pPr>
                      <a:r>
                        <a:rPr lang="en" sz="1600">
                          <a:latin typeface="Calibri"/>
                          <a:ea typeface="Calibri"/>
                          <a:cs typeface="Calibri"/>
                          <a:sym typeface="Calibri"/>
                        </a:rPr>
                        <a:t>It does not signal. The system could simply start and finish the task without signalling this.</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endParaRPr sz="1600">
                        <a:latin typeface="Calibri"/>
                        <a:ea typeface="Calibri"/>
                        <a:cs typeface="Calibri"/>
                        <a:sym typeface="Calibri"/>
                      </a:endParaRPr>
                    </a:p>
                  </a:txBody>
                  <a:tcPr marL="96225" marR="96225" marT="86000" marB="86000" anchor="ctr"/>
                </a:tc>
                <a:extLst>
                  <a:ext uri="{0D108BD9-81ED-4DB2-BD59-A6C34878D82A}">
                    <a16:rowId xmlns:a16="http://schemas.microsoft.com/office/drawing/2014/main" val="10003"/>
                  </a:ext>
                </a:extLst>
              </a:tr>
              <a:tr h="773450">
                <a:tc>
                  <a:txBody>
                    <a:bodyPr/>
                    <a:lstStyle/>
                    <a:p>
                      <a:pPr marL="0" lvl="0" indent="0" algn="ctr" rtl="0">
                        <a:spcBef>
                          <a:spcPts val="0"/>
                        </a:spcBef>
                        <a:spcAft>
                          <a:spcPts val="0"/>
                        </a:spcAft>
                        <a:buNone/>
                      </a:pPr>
                      <a:r>
                        <a:rPr lang="en" sz="1600">
                          <a:latin typeface="Calibri"/>
                          <a:ea typeface="Calibri"/>
                          <a:cs typeface="Calibri"/>
                          <a:sym typeface="Calibri"/>
                        </a:rPr>
                        <a:t>Provide Energy for tasks</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Electrical Energy: using a Li-Po battery.</a:t>
                      </a:r>
                      <a:endParaRPr sz="1600">
                        <a:latin typeface="Calibri"/>
                        <a:ea typeface="Calibri"/>
                        <a:cs typeface="Calibri"/>
                        <a:sym typeface="Calibri"/>
                      </a:endParaRPr>
                    </a:p>
                  </a:txBody>
                  <a:tcPr marL="96225" marR="96225" marT="86000" marB="86000" anchor="ctr">
                    <a:lnR w="9525" cap="flat" cmpd="sng">
                      <a:solidFill>
                        <a:srgbClr val="9E9E9E"/>
                      </a:solidFill>
                      <a:prstDash val="solid"/>
                      <a:round/>
                      <a:headEnd type="none" w="sm" len="sm"/>
                      <a:tailEnd type="none" w="sm" len="sm"/>
                    </a:lnR>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Pneumatic Potential Energy: using compressed gas canisters to power the system.</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Gravitational Potential Energy.</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Solar Energy: using Solar panels to provide energy to the system.</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4"/>
                  </a:ext>
                </a:extLst>
              </a:tr>
              <a:tr h="866625">
                <a:tc>
                  <a:txBody>
                    <a:bodyPr/>
                    <a:lstStyle/>
                    <a:p>
                      <a:pPr marL="0" lvl="0" indent="0" algn="ctr" rtl="0">
                        <a:spcBef>
                          <a:spcPts val="0"/>
                        </a:spcBef>
                        <a:spcAft>
                          <a:spcPts val="0"/>
                        </a:spcAft>
                        <a:buNone/>
                      </a:pPr>
                      <a:r>
                        <a:rPr lang="en" sz="1600">
                          <a:latin typeface="Calibri"/>
                          <a:ea typeface="Calibri"/>
                          <a:cs typeface="Calibri"/>
                          <a:sym typeface="Calibri"/>
                        </a:rPr>
                        <a:t>System Positioning and Navigation</a:t>
                      </a:r>
                      <a:endParaRPr sz="1600">
                        <a:latin typeface="Calibri"/>
                        <a:ea typeface="Calibri"/>
                        <a:cs typeface="Calibri"/>
                        <a:sym typeface="Calibri"/>
                      </a:endParaRPr>
                    </a:p>
                  </a:txBody>
                  <a:tcPr marL="96225" marR="96225" marT="86000" marB="86000" anchor="ctr">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600">
                          <a:latin typeface="Calibri"/>
                          <a:ea typeface="Calibri"/>
                          <a:cs typeface="Calibri"/>
                          <a:sym typeface="Calibri"/>
                        </a:rPr>
                        <a:t>Pre Programmed timer.</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Ultrasonic Sensors (distance sensors).</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Limit Switches.</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RGB colour sensors.</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tcPr>
                </a:tc>
                <a:tc>
                  <a:txBody>
                    <a:bodyPr/>
                    <a:lstStyle/>
                    <a:p>
                      <a:pPr marL="0" lvl="0" indent="0" algn="ctr" rtl="0">
                        <a:spcBef>
                          <a:spcPts val="0"/>
                        </a:spcBef>
                        <a:spcAft>
                          <a:spcPts val="0"/>
                        </a:spcAft>
                        <a:buNone/>
                      </a:pPr>
                      <a:r>
                        <a:rPr lang="en" sz="1600">
                          <a:latin typeface="Calibri"/>
                          <a:ea typeface="Calibri"/>
                          <a:cs typeface="Calibri"/>
                          <a:sym typeface="Calibri"/>
                        </a:rPr>
                        <a:t>In-built GPS.</a:t>
                      </a:r>
                      <a:endParaRPr sz="1600">
                        <a:latin typeface="Calibri"/>
                        <a:ea typeface="Calibri"/>
                        <a:cs typeface="Calibri"/>
                        <a:sym typeface="Calibri"/>
                      </a:endParaRPr>
                    </a:p>
                  </a:txBody>
                  <a:tcPr marL="96225" marR="96225" marT="86000" marB="86000" anchor="ctr">
                    <a:lnL w="9525" cap="flat" cmpd="sng">
                      <a:solidFill>
                        <a:srgbClr val="9E9E9E"/>
                      </a:solidFill>
                      <a:prstDash val="solid"/>
                      <a:round/>
                      <a:headEnd type="none" w="sm" len="sm"/>
                      <a:tailEnd type="none" w="sm" len="sm"/>
                    </a:lnL>
                  </a:tcPr>
                </a:tc>
                <a:extLst>
                  <a:ext uri="{0D108BD9-81ED-4DB2-BD59-A6C34878D82A}">
                    <a16:rowId xmlns:a16="http://schemas.microsoft.com/office/drawing/2014/main" val="10005"/>
                  </a:ext>
                </a:extLst>
              </a:tr>
              <a:tr h="571025">
                <a:tc>
                  <a:txBody>
                    <a:bodyPr/>
                    <a:lstStyle/>
                    <a:p>
                      <a:pPr marL="0" lvl="0" indent="0" algn="ctr" rtl="0">
                        <a:spcBef>
                          <a:spcPts val="0"/>
                        </a:spcBef>
                        <a:spcAft>
                          <a:spcPts val="0"/>
                        </a:spcAft>
                        <a:buNone/>
                      </a:pPr>
                      <a:r>
                        <a:rPr lang="en" sz="1600">
                          <a:latin typeface="Calibri"/>
                          <a:ea typeface="Calibri"/>
                          <a:cs typeface="Calibri"/>
                          <a:sym typeface="Calibri"/>
                        </a:rPr>
                        <a:t>System Transfer across the Ground</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System with wheels.</a:t>
                      </a:r>
                      <a:endParaRPr sz="1600">
                        <a:latin typeface="Calibri"/>
                        <a:ea typeface="Calibri"/>
                        <a:cs typeface="Calibri"/>
                        <a:sym typeface="Calibri"/>
                      </a:endParaRPr>
                    </a:p>
                  </a:txBody>
                  <a:tcPr marL="96225" marR="96225" marT="86000" marB="86000"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sz="1600">
                          <a:latin typeface="Calibri"/>
                          <a:ea typeface="Calibri"/>
                          <a:cs typeface="Calibri"/>
                          <a:sym typeface="Calibri"/>
                        </a:rPr>
                        <a:t>System with legs.</a:t>
                      </a:r>
                      <a:endParaRPr sz="1600">
                        <a:latin typeface="Calibri"/>
                        <a:ea typeface="Calibri"/>
                        <a:cs typeface="Calibri"/>
                        <a:sym typeface="Calibri"/>
                      </a:endParaRPr>
                    </a:p>
                  </a:txBody>
                  <a:tcPr marL="96225" marR="96225" marT="86000" marB="86000"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sz="1600">
                          <a:latin typeface="Calibri"/>
                          <a:ea typeface="Calibri"/>
                          <a:cs typeface="Calibri"/>
                          <a:sym typeface="Calibri"/>
                        </a:rPr>
                        <a:t>System with Tank Tracks.</a:t>
                      </a:r>
                      <a:endParaRPr sz="1600">
                        <a:latin typeface="Calibri"/>
                        <a:ea typeface="Calibri"/>
                        <a:cs typeface="Calibri"/>
                        <a:sym typeface="Calibri"/>
                      </a:endParaRPr>
                    </a:p>
                  </a:txBody>
                  <a:tcPr marL="96225" marR="96225" marT="86000" marB="86000" anchor="ctr">
                    <a:lnT w="9525" cap="flat" cmpd="sng">
                      <a:solidFill>
                        <a:srgbClr val="9E9E9E"/>
                      </a:solidFill>
                      <a:prstDash val="solid"/>
                      <a:round/>
                      <a:headEnd type="none" w="sm" len="sm"/>
                      <a:tailEnd type="none" w="sm" len="sm"/>
                    </a:lnT>
                  </a:tcPr>
                </a:tc>
                <a:tc>
                  <a:txBody>
                    <a:bodyPr/>
                    <a:lstStyle/>
                    <a:p>
                      <a:pPr marL="0" lvl="0" indent="0" algn="ctr" rtl="0">
                        <a:spcBef>
                          <a:spcPts val="0"/>
                        </a:spcBef>
                        <a:spcAft>
                          <a:spcPts val="0"/>
                        </a:spcAft>
                        <a:buNone/>
                      </a:pPr>
                      <a:r>
                        <a:rPr lang="en" sz="1600">
                          <a:latin typeface="Calibri"/>
                          <a:ea typeface="Calibri"/>
                          <a:cs typeface="Calibri"/>
                          <a:sym typeface="Calibri"/>
                        </a:rPr>
                        <a:t>System does not move along the ground at all.</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System utilizes a sled mechanism.</a:t>
                      </a:r>
                      <a:endParaRPr sz="1600">
                        <a:latin typeface="Calibri"/>
                        <a:ea typeface="Calibri"/>
                        <a:cs typeface="Calibri"/>
                        <a:sym typeface="Calibri"/>
                      </a:endParaRPr>
                    </a:p>
                  </a:txBody>
                  <a:tcPr marL="96225" marR="96225" marT="86000" marB="86000" anchor="ctr"/>
                </a:tc>
                <a:extLst>
                  <a:ext uri="{0D108BD9-81ED-4DB2-BD59-A6C34878D82A}">
                    <a16:rowId xmlns:a16="http://schemas.microsoft.com/office/drawing/2014/main" val="10006"/>
                  </a:ext>
                </a:extLst>
              </a:tr>
              <a:tr h="773450">
                <a:tc>
                  <a:txBody>
                    <a:bodyPr/>
                    <a:lstStyle/>
                    <a:p>
                      <a:pPr marL="0" lvl="0" indent="0" algn="ctr" rtl="0">
                        <a:spcBef>
                          <a:spcPts val="0"/>
                        </a:spcBef>
                        <a:spcAft>
                          <a:spcPts val="0"/>
                        </a:spcAft>
                        <a:buNone/>
                      </a:pPr>
                      <a:r>
                        <a:rPr lang="en" sz="1600">
                          <a:latin typeface="Calibri"/>
                          <a:ea typeface="Calibri"/>
                          <a:cs typeface="Calibri"/>
                          <a:sym typeface="Calibri"/>
                        </a:rPr>
                        <a:t>Package Retrieval</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Robotic arm with fingers tightens grip, holding the package.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Large scoop mechanism scoops the package  from underneath.</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Claw mechanism utilises a claw, retractable rope and a crane to pick up the package.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Magnetic force that will turn on when position to attract and hold the package.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A suction mechanism (such as suction cups) is applied to clasp onto the package.</a:t>
                      </a:r>
                      <a:endParaRPr sz="1600">
                        <a:latin typeface="Calibri"/>
                        <a:ea typeface="Calibri"/>
                        <a:cs typeface="Calibri"/>
                        <a:sym typeface="Calibri"/>
                      </a:endParaRPr>
                    </a:p>
                  </a:txBody>
                  <a:tcPr marL="96225" marR="96225" marT="86000" marB="86000" anchor="ctr"/>
                </a:tc>
                <a:extLst>
                  <a:ext uri="{0D108BD9-81ED-4DB2-BD59-A6C34878D82A}">
                    <a16:rowId xmlns:a16="http://schemas.microsoft.com/office/drawing/2014/main" val="10007"/>
                  </a:ext>
                </a:extLst>
              </a:tr>
              <a:tr h="1178300">
                <a:tc>
                  <a:txBody>
                    <a:bodyPr/>
                    <a:lstStyle/>
                    <a:p>
                      <a:pPr marL="0" lvl="0" indent="0" algn="ctr" rtl="0">
                        <a:spcBef>
                          <a:spcPts val="0"/>
                        </a:spcBef>
                        <a:spcAft>
                          <a:spcPts val="0"/>
                        </a:spcAft>
                        <a:buNone/>
                      </a:pPr>
                      <a:r>
                        <a:rPr lang="en" sz="1600">
                          <a:latin typeface="Calibri"/>
                          <a:ea typeface="Calibri"/>
                          <a:cs typeface="Calibri"/>
                          <a:sym typeface="Calibri"/>
                        </a:rPr>
                        <a:t>Depositing Package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Robotic arm with fingers loosens grip, dropping the package.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A trap door mechanism will open when the system is over the desired deposit location. </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Claw mechanism utilises a claw, retractable rope and a crane to drop the package in the right location.</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A rack and pinion system will deliver the package and release it into the desired location.</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A conveyor belt mechanism that sticks out is used to release the package in the desired location.</a:t>
                      </a:r>
                      <a:endParaRPr sz="1600">
                        <a:latin typeface="Calibri"/>
                        <a:ea typeface="Calibri"/>
                        <a:cs typeface="Calibri"/>
                        <a:sym typeface="Calibri"/>
                      </a:endParaRPr>
                    </a:p>
                  </a:txBody>
                  <a:tcPr marL="96225" marR="96225" marT="86000" marB="86000" anchor="ctr"/>
                </a:tc>
                <a:extLst>
                  <a:ext uri="{0D108BD9-81ED-4DB2-BD59-A6C34878D82A}">
                    <a16:rowId xmlns:a16="http://schemas.microsoft.com/office/drawing/2014/main" val="10008"/>
                  </a:ext>
                </a:extLst>
              </a:tr>
              <a:tr h="1380725">
                <a:tc>
                  <a:txBody>
                    <a:bodyPr/>
                    <a:lstStyle/>
                    <a:p>
                      <a:pPr marL="0" lvl="0" indent="0" algn="ctr" rtl="0">
                        <a:spcBef>
                          <a:spcPts val="0"/>
                        </a:spcBef>
                        <a:spcAft>
                          <a:spcPts val="0"/>
                        </a:spcAft>
                        <a:buNone/>
                      </a:pPr>
                      <a:r>
                        <a:rPr lang="en" sz="1600">
                          <a:latin typeface="Calibri"/>
                          <a:ea typeface="Calibri"/>
                          <a:cs typeface="Calibri"/>
                          <a:sym typeface="Calibri"/>
                        </a:rPr>
                        <a:t>System Transfer across the Chasm</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Motorised pulleys that will slot in and utilise the wire to traverse the chasm.</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Hooking onto the wire and building momentum (using weights) to swing across it.</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A two arm mechanism whereby both arms hook onto and utilise the wire. One arm clasps the wire while other proceeds forward.</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r>
                        <a:rPr lang="en" sz="1600">
                          <a:latin typeface="Calibri"/>
                          <a:ea typeface="Calibri"/>
                          <a:cs typeface="Calibri"/>
                          <a:sym typeface="Calibri"/>
                        </a:rPr>
                        <a:t>Utilising a telescopic bridge that will extend over and cross with the system to the otherside. Does not utilise the wire.</a:t>
                      </a:r>
                      <a:endParaRPr sz="1600">
                        <a:latin typeface="Calibri"/>
                        <a:ea typeface="Calibri"/>
                        <a:cs typeface="Calibri"/>
                        <a:sym typeface="Calibri"/>
                      </a:endParaRPr>
                    </a:p>
                  </a:txBody>
                  <a:tcPr marL="96225" marR="96225" marT="86000" marB="86000" anchor="ctr"/>
                </a:tc>
                <a:tc>
                  <a:txBody>
                    <a:bodyPr/>
                    <a:lstStyle/>
                    <a:p>
                      <a:pPr marL="0" lvl="0" indent="0" algn="ctr" rtl="0">
                        <a:spcBef>
                          <a:spcPts val="0"/>
                        </a:spcBef>
                        <a:spcAft>
                          <a:spcPts val="0"/>
                        </a:spcAft>
                        <a:buNone/>
                      </a:pPr>
                      <a:endParaRPr sz="1600">
                        <a:latin typeface="Calibri"/>
                        <a:ea typeface="Calibri"/>
                        <a:cs typeface="Calibri"/>
                        <a:sym typeface="Calibri"/>
                      </a:endParaRPr>
                    </a:p>
                  </a:txBody>
                  <a:tcPr marL="96225" marR="96225" marT="86000" marB="86000" anchor="ctr"/>
                </a:tc>
                <a:extLst>
                  <a:ext uri="{0D108BD9-81ED-4DB2-BD59-A6C34878D82A}">
                    <a16:rowId xmlns:a16="http://schemas.microsoft.com/office/drawing/2014/main" val="10009"/>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0"/>
          <p:cNvSpPr txBox="1"/>
          <p:nvPr/>
        </p:nvSpPr>
        <p:spPr>
          <a:xfrm>
            <a:off x="0" y="132151"/>
            <a:ext cx="17940600" cy="1330800"/>
          </a:xfrm>
          <a:prstGeom prst="rect">
            <a:avLst/>
          </a:prstGeom>
          <a:solidFill>
            <a:srgbClr val="EAD1DC"/>
          </a:solid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latin typeface="Calibri"/>
                <a:ea typeface="Calibri"/>
                <a:cs typeface="Calibri"/>
                <a:sym typeface="Calibri"/>
              </a:rPr>
              <a:t>  Isometric Concept Sketch 1</a:t>
            </a:r>
            <a:endParaRPr sz="4200" b="1">
              <a:solidFill>
                <a:schemeClr val="dk1"/>
              </a:solidFill>
              <a:latin typeface="Calibri"/>
              <a:ea typeface="Calibri"/>
              <a:cs typeface="Calibri"/>
              <a:sym typeface="Calibri"/>
            </a:endParaRPr>
          </a:p>
          <a:p>
            <a:pPr marL="0" lvl="0" indent="0" algn="just" rtl="0">
              <a:lnSpc>
                <a:spcPct val="115000"/>
              </a:lnSpc>
              <a:spcBef>
                <a:spcPts val="0"/>
              </a:spcBef>
              <a:spcAft>
                <a:spcPts val="0"/>
              </a:spcAft>
              <a:buNone/>
            </a:pPr>
            <a:r>
              <a:rPr lang="en" sz="1600" b="1">
                <a:solidFill>
                  <a:schemeClr val="dk1"/>
                </a:solidFill>
                <a:latin typeface="Calibri"/>
                <a:ea typeface="Calibri"/>
                <a:cs typeface="Calibri"/>
                <a:sym typeface="Calibri"/>
              </a:rPr>
              <a:t>    Concept:  </a:t>
            </a:r>
            <a:r>
              <a:rPr lang="en" sz="1600">
                <a:solidFill>
                  <a:schemeClr val="dk1"/>
                </a:solidFill>
                <a:latin typeface="Calibri"/>
                <a:ea typeface="Calibri"/>
                <a:cs typeface="Calibri"/>
                <a:sym typeface="Calibri"/>
              </a:rPr>
              <a:t>Button /  LED lights /  Battery / Pre-programmed timer / Does not transverse along the ground  /  Robotic Arm (for package retrieval) / Robotic Arm (for depositing package) / Motorised Pulley</a:t>
            </a:r>
            <a:endParaRPr sz="1600">
              <a:solidFill>
                <a:schemeClr val="dk1"/>
              </a:solidFill>
              <a:latin typeface="Calibri"/>
              <a:ea typeface="Calibri"/>
              <a:cs typeface="Calibri"/>
              <a:sym typeface="Calibri"/>
            </a:endParaRPr>
          </a:p>
        </p:txBody>
      </p:sp>
      <p:pic>
        <p:nvPicPr>
          <p:cNvPr id="304" name="Google Shape;304;p30"/>
          <p:cNvPicPr preferRelativeResize="0"/>
          <p:nvPr/>
        </p:nvPicPr>
        <p:blipFill>
          <a:blip r:embed="rId3">
            <a:alphaModFix/>
          </a:blip>
          <a:stretch>
            <a:fillRect/>
          </a:stretch>
        </p:blipFill>
        <p:spPr>
          <a:xfrm>
            <a:off x="2704775" y="1472592"/>
            <a:ext cx="12035144" cy="84269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1"/>
          <p:cNvSpPr txBox="1"/>
          <p:nvPr/>
        </p:nvSpPr>
        <p:spPr>
          <a:xfrm>
            <a:off x="0" y="132151"/>
            <a:ext cx="17940600" cy="1614000"/>
          </a:xfrm>
          <a:prstGeom prst="rect">
            <a:avLst/>
          </a:prstGeom>
          <a:solidFill>
            <a:srgbClr val="D9D2E9"/>
          </a:solid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latin typeface="Calibri"/>
                <a:ea typeface="Calibri"/>
                <a:cs typeface="Calibri"/>
                <a:sym typeface="Calibri"/>
              </a:rPr>
              <a:t>  Isometric Concept Sketch 2</a:t>
            </a:r>
            <a:endParaRPr sz="4200" b="1">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600" b="1">
                <a:solidFill>
                  <a:schemeClr val="dk1"/>
                </a:solidFill>
                <a:latin typeface="Calibri"/>
                <a:ea typeface="Calibri"/>
                <a:cs typeface="Calibri"/>
                <a:sym typeface="Calibri"/>
              </a:rPr>
              <a:t>    Concept:  </a:t>
            </a:r>
            <a:r>
              <a:rPr lang="en" sz="1600">
                <a:solidFill>
                  <a:schemeClr val="dk1"/>
                </a:solidFill>
                <a:latin typeface="Calibri"/>
                <a:ea typeface="Calibri"/>
                <a:cs typeface="Calibri"/>
                <a:sym typeface="Calibri"/>
              </a:rPr>
              <a:t>Timer to start /  Visible Timer for progress / Electrical Energy /  RGB Colour Sensors /  Tank Tracks / Robotic Arm with fingers / Delivering Package via Trapdoor Mechanism / Traverse Wire by Hooking onto it and using weights to give the system momentum.  </a:t>
            </a:r>
            <a:endParaRPr sz="4200">
              <a:solidFill>
                <a:schemeClr val="dk1"/>
              </a:solidFill>
              <a:latin typeface="Calibri"/>
              <a:ea typeface="Calibri"/>
              <a:cs typeface="Calibri"/>
              <a:sym typeface="Calibri"/>
            </a:endParaRPr>
          </a:p>
        </p:txBody>
      </p:sp>
      <p:sp>
        <p:nvSpPr>
          <p:cNvPr id="310" name="Google Shape;310;p31"/>
          <p:cNvSpPr txBox="1"/>
          <p:nvPr/>
        </p:nvSpPr>
        <p:spPr>
          <a:xfrm>
            <a:off x="590850" y="1640283"/>
            <a:ext cx="8254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311" name="Google Shape;311;p31"/>
          <p:cNvSpPr txBox="1"/>
          <p:nvPr/>
        </p:nvSpPr>
        <p:spPr>
          <a:xfrm>
            <a:off x="2603075" y="2040473"/>
            <a:ext cx="3588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Ryan Hartshorne</a:t>
            </a:r>
            <a:endParaRPr/>
          </a:p>
          <a:p>
            <a:pPr marL="0" lvl="0" indent="0" algn="l" rtl="0">
              <a:spcBef>
                <a:spcPts val="0"/>
              </a:spcBef>
              <a:spcAft>
                <a:spcPts val="0"/>
              </a:spcAft>
              <a:buNone/>
            </a:pPr>
            <a:r>
              <a:rPr lang="en"/>
              <a:t>30492165</a:t>
            </a:r>
            <a:endParaRPr/>
          </a:p>
        </p:txBody>
      </p:sp>
      <p:pic>
        <p:nvPicPr>
          <p:cNvPr id="312" name="Google Shape;312;p31"/>
          <p:cNvPicPr preferRelativeResize="0"/>
          <p:nvPr/>
        </p:nvPicPr>
        <p:blipFill>
          <a:blip r:embed="rId3">
            <a:alphaModFix/>
          </a:blip>
          <a:stretch>
            <a:fillRect/>
          </a:stretch>
        </p:blipFill>
        <p:spPr>
          <a:xfrm>
            <a:off x="4233250" y="2475775"/>
            <a:ext cx="9474099" cy="71877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pic>
        <p:nvPicPr>
          <p:cNvPr id="317" name="Google Shape;317;p32"/>
          <p:cNvPicPr preferRelativeResize="0"/>
          <p:nvPr/>
        </p:nvPicPr>
        <p:blipFill>
          <a:blip r:embed="rId3">
            <a:alphaModFix/>
          </a:blip>
          <a:stretch>
            <a:fillRect/>
          </a:stretch>
        </p:blipFill>
        <p:spPr>
          <a:xfrm>
            <a:off x="3331875" y="1800925"/>
            <a:ext cx="10768476" cy="8065849"/>
          </a:xfrm>
          <a:prstGeom prst="rect">
            <a:avLst/>
          </a:prstGeom>
          <a:noFill/>
          <a:ln>
            <a:noFill/>
          </a:ln>
        </p:spPr>
      </p:pic>
      <p:sp>
        <p:nvSpPr>
          <p:cNvPr id="318" name="Google Shape;318;p32"/>
          <p:cNvSpPr txBox="1"/>
          <p:nvPr/>
        </p:nvSpPr>
        <p:spPr>
          <a:xfrm>
            <a:off x="0" y="132151"/>
            <a:ext cx="17940600" cy="1614000"/>
          </a:xfrm>
          <a:prstGeom prst="rect">
            <a:avLst/>
          </a:prstGeom>
          <a:solidFill>
            <a:srgbClr val="CFE2F3"/>
          </a:solid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latin typeface="Calibri"/>
                <a:ea typeface="Calibri"/>
                <a:cs typeface="Calibri"/>
                <a:sym typeface="Calibri"/>
              </a:rPr>
              <a:t>  Isometric Concept Sketch 3</a:t>
            </a:r>
            <a:endParaRPr sz="4200" b="1">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600" b="1">
                <a:solidFill>
                  <a:schemeClr val="dk1"/>
                </a:solidFill>
                <a:latin typeface="Calibri"/>
                <a:ea typeface="Calibri"/>
                <a:cs typeface="Calibri"/>
                <a:sym typeface="Calibri"/>
              </a:rPr>
              <a:t>    Concept: </a:t>
            </a:r>
            <a:r>
              <a:rPr lang="en" sz="1600">
                <a:solidFill>
                  <a:schemeClr val="dk1"/>
                </a:solidFill>
                <a:latin typeface="Calibri"/>
                <a:ea typeface="Calibri"/>
                <a:cs typeface="Calibri"/>
                <a:sym typeface="Calibri"/>
              </a:rPr>
              <a:t>Switch /  LED Lights /  Battery /  Preprogrammed timer /  System does not move along the ground at all / Claw mechanism (to retrieve the package) / Claw mechanism (to deposit the package) /           Motorised Pulley</a:t>
            </a:r>
            <a:endParaRPr sz="4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33"/>
          <p:cNvSpPr txBox="1"/>
          <p:nvPr/>
        </p:nvSpPr>
        <p:spPr>
          <a:xfrm>
            <a:off x="0" y="132151"/>
            <a:ext cx="17940600" cy="1330800"/>
          </a:xfrm>
          <a:prstGeom prst="rect">
            <a:avLst/>
          </a:prstGeom>
          <a:solidFill>
            <a:srgbClr val="D0E0E3"/>
          </a:solid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latin typeface="Calibri"/>
                <a:ea typeface="Calibri"/>
                <a:cs typeface="Calibri"/>
                <a:sym typeface="Calibri"/>
              </a:rPr>
              <a:t>  Isometric Concept Sketch 4</a:t>
            </a:r>
            <a:endParaRPr sz="4200" b="1">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600" b="1">
                <a:solidFill>
                  <a:schemeClr val="dk1"/>
                </a:solidFill>
                <a:latin typeface="Calibri"/>
                <a:ea typeface="Calibri"/>
                <a:cs typeface="Calibri"/>
                <a:sym typeface="Calibri"/>
              </a:rPr>
              <a:t>    Concept:  </a:t>
            </a:r>
            <a:r>
              <a:rPr lang="en" sz="1600">
                <a:solidFill>
                  <a:schemeClr val="dk1"/>
                </a:solidFill>
                <a:latin typeface="Calibri"/>
                <a:ea typeface="Calibri"/>
                <a:cs typeface="Calibri"/>
                <a:sym typeface="Calibri"/>
              </a:rPr>
              <a:t>Switch/  No signal /  Battery /  Ultrasonic sensor /  Does not move along the ground / Robotic Arm (for package retrieval) / Robotic Arm (for depositing package) / Motorised Pulley</a:t>
            </a:r>
            <a:endParaRPr sz="4200">
              <a:solidFill>
                <a:schemeClr val="dk1"/>
              </a:solidFill>
              <a:latin typeface="Calibri"/>
              <a:ea typeface="Calibri"/>
              <a:cs typeface="Calibri"/>
              <a:sym typeface="Calibri"/>
            </a:endParaRPr>
          </a:p>
        </p:txBody>
      </p:sp>
      <p:pic>
        <p:nvPicPr>
          <p:cNvPr id="324" name="Google Shape;324;p33"/>
          <p:cNvPicPr preferRelativeResize="0"/>
          <p:nvPr/>
        </p:nvPicPr>
        <p:blipFill rotWithShape="1">
          <a:blip r:embed="rId3">
            <a:alphaModFix/>
          </a:blip>
          <a:srcRect l="3990" t="2837" r="2103"/>
          <a:stretch/>
        </p:blipFill>
        <p:spPr>
          <a:xfrm rot="-5400000">
            <a:off x="4934550" y="-1836361"/>
            <a:ext cx="8071499" cy="14906423"/>
          </a:xfrm>
          <a:prstGeom prst="rect">
            <a:avLst/>
          </a:prstGeom>
          <a:noFill/>
          <a:ln>
            <a:noFill/>
          </a:ln>
        </p:spPr>
      </p:pic>
      <p:pic>
        <p:nvPicPr>
          <p:cNvPr id="325" name="Google Shape;325;p33"/>
          <p:cNvPicPr preferRelativeResize="0"/>
          <p:nvPr/>
        </p:nvPicPr>
        <p:blipFill>
          <a:blip r:embed="rId4">
            <a:alphaModFix/>
          </a:blip>
          <a:stretch>
            <a:fillRect/>
          </a:stretch>
        </p:blipFill>
        <p:spPr>
          <a:xfrm rot="2091517">
            <a:off x="15533009" y="2752152"/>
            <a:ext cx="397753" cy="1949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4"/>
          <p:cNvSpPr txBox="1"/>
          <p:nvPr/>
        </p:nvSpPr>
        <p:spPr>
          <a:xfrm>
            <a:off x="0" y="132151"/>
            <a:ext cx="17940600" cy="1330800"/>
          </a:xfrm>
          <a:prstGeom prst="rect">
            <a:avLst/>
          </a:prstGeom>
          <a:solidFill>
            <a:srgbClr val="D9EAD3"/>
          </a:solid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latin typeface="Calibri"/>
                <a:ea typeface="Calibri"/>
                <a:cs typeface="Calibri"/>
                <a:sym typeface="Calibri"/>
              </a:rPr>
              <a:t>  Isometric Concept Sketch 5</a:t>
            </a:r>
            <a:endParaRPr sz="4200" b="1">
              <a:solidFill>
                <a:schemeClr val="dk1"/>
              </a:solidFill>
              <a:latin typeface="Calibri"/>
              <a:ea typeface="Calibri"/>
              <a:cs typeface="Calibri"/>
              <a:sym typeface="Calibri"/>
            </a:endParaRPr>
          </a:p>
          <a:p>
            <a:pPr marL="0" lvl="0" indent="0" algn="just" rtl="0">
              <a:lnSpc>
                <a:spcPct val="115000"/>
              </a:lnSpc>
              <a:spcBef>
                <a:spcPts val="0"/>
              </a:spcBef>
              <a:spcAft>
                <a:spcPts val="0"/>
              </a:spcAft>
              <a:buClr>
                <a:schemeClr val="dk1"/>
              </a:buClr>
              <a:buSzPts val="1100"/>
              <a:buFont typeface="Arial"/>
              <a:buNone/>
            </a:pPr>
            <a:r>
              <a:rPr lang="en" sz="1600" b="1">
                <a:solidFill>
                  <a:schemeClr val="dk1"/>
                </a:solidFill>
                <a:latin typeface="Calibri"/>
                <a:ea typeface="Calibri"/>
                <a:cs typeface="Calibri"/>
                <a:sym typeface="Calibri"/>
              </a:rPr>
              <a:t>    Concept:  </a:t>
            </a:r>
            <a:r>
              <a:rPr lang="en" sz="1600">
                <a:solidFill>
                  <a:schemeClr val="dk1"/>
                </a:solidFill>
                <a:latin typeface="Calibri"/>
                <a:ea typeface="Calibri"/>
                <a:cs typeface="Calibri"/>
                <a:sym typeface="Calibri"/>
              </a:rPr>
              <a:t>Timer /  Visible Timer /  Battery /  Limit Switches /  System with Wheels / Large Scoop Mechanism to Scoop Package / Conveyor Belt to Deposit Package / Two Arm Mechanism to Hook and Pull </a:t>
            </a:r>
            <a:endParaRPr sz="4200">
              <a:solidFill>
                <a:schemeClr val="dk1"/>
              </a:solidFill>
              <a:latin typeface="Calibri"/>
              <a:ea typeface="Calibri"/>
              <a:cs typeface="Calibri"/>
              <a:sym typeface="Calibri"/>
            </a:endParaRPr>
          </a:p>
        </p:txBody>
      </p:sp>
      <p:pic>
        <p:nvPicPr>
          <p:cNvPr id="331" name="Google Shape;331;p34"/>
          <p:cNvPicPr preferRelativeResize="0"/>
          <p:nvPr/>
        </p:nvPicPr>
        <p:blipFill rotWithShape="1">
          <a:blip r:embed="rId3">
            <a:alphaModFix/>
          </a:blip>
          <a:srcRect t="1143" b="1143"/>
          <a:stretch/>
        </p:blipFill>
        <p:spPr>
          <a:xfrm>
            <a:off x="2700125" y="1625175"/>
            <a:ext cx="12245425" cy="8145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5"/>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4200" b="1">
              <a:latin typeface="Calibri"/>
              <a:ea typeface="Calibri"/>
              <a:cs typeface="Calibri"/>
              <a:sym typeface="Calibri"/>
            </a:endParaRPr>
          </a:p>
        </p:txBody>
      </p:sp>
      <p:graphicFrame>
        <p:nvGraphicFramePr>
          <p:cNvPr id="337" name="Google Shape;337;p35"/>
          <p:cNvGraphicFramePr/>
          <p:nvPr/>
        </p:nvGraphicFramePr>
        <p:xfrm>
          <a:off x="167852" y="82428"/>
          <a:ext cx="3000000" cy="3000000"/>
        </p:xfrm>
        <a:graphic>
          <a:graphicData uri="http://schemas.openxmlformats.org/drawingml/2006/table">
            <a:tbl>
              <a:tblPr>
                <a:noFill/>
                <a:tableStyleId>{56DC45DD-F23F-474C-AD18-9CBBB8028203}</a:tableStyleId>
              </a:tblPr>
              <a:tblGrid>
                <a:gridCol w="2523825">
                  <a:extLst>
                    <a:ext uri="{9D8B030D-6E8A-4147-A177-3AD203B41FA5}">
                      <a16:colId xmlns:a16="http://schemas.microsoft.com/office/drawing/2014/main" val="20000"/>
                    </a:ext>
                  </a:extLst>
                </a:gridCol>
                <a:gridCol w="4332575">
                  <a:extLst>
                    <a:ext uri="{9D8B030D-6E8A-4147-A177-3AD203B41FA5}">
                      <a16:colId xmlns:a16="http://schemas.microsoft.com/office/drawing/2014/main" val="20001"/>
                    </a:ext>
                  </a:extLst>
                </a:gridCol>
                <a:gridCol w="993425">
                  <a:extLst>
                    <a:ext uri="{9D8B030D-6E8A-4147-A177-3AD203B41FA5}">
                      <a16:colId xmlns:a16="http://schemas.microsoft.com/office/drawing/2014/main" val="20002"/>
                    </a:ext>
                  </a:extLst>
                </a:gridCol>
                <a:gridCol w="4031700">
                  <a:extLst>
                    <a:ext uri="{9D8B030D-6E8A-4147-A177-3AD203B41FA5}">
                      <a16:colId xmlns:a16="http://schemas.microsoft.com/office/drawing/2014/main" val="20003"/>
                    </a:ext>
                  </a:extLst>
                </a:gridCol>
                <a:gridCol w="1970675">
                  <a:extLst>
                    <a:ext uri="{9D8B030D-6E8A-4147-A177-3AD203B41FA5}">
                      <a16:colId xmlns:a16="http://schemas.microsoft.com/office/drawing/2014/main" val="20004"/>
                    </a:ext>
                  </a:extLst>
                </a:gridCol>
                <a:gridCol w="2160575">
                  <a:extLst>
                    <a:ext uri="{9D8B030D-6E8A-4147-A177-3AD203B41FA5}">
                      <a16:colId xmlns:a16="http://schemas.microsoft.com/office/drawing/2014/main" val="20005"/>
                    </a:ext>
                  </a:extLst>
                </a:gridCol>
                <a:gridCol w="1910050">
                  <a:extLst>
                    <a:ext uri="{9D8B030D-6E8A-4147-A177-3AD203B41FA5}">
                      <a16:colId xmlns:a16="http://schemas.microsoft.com/office/drawing/2014/main" val="20006"/>
                    </a:ext>
                  </a:extLst>
                </a:gridCol>
              </a:tblGrid>
              <a:tr h="837075">
                <a:tc gridSpan="4">
                  <a:txBody>
                    <a:bodyPr/>
                    <a:lstStyle/>
                    <a:p>
                      <a:pPr marL="0" lvl="0" indent="0" algn="just" rtl="0">
                        <a:lnSpc>
                          <a:spcPct val="115000"/>
                        </a:lnSpc>
                        <a:spcBef>
                          <a:spcPts val="0"/>
                        </a:spcBef>
                        <a:spcAft>
                          <a:spcPts val="0"/>
                        </a:spcAft>
                        <a:buNone/>
                      </a:pPr>
                      <a:r>
                        <a:rPr lang="en" sz="3800" b="1">
                          <a:solidFill>
                            <a:schemeClr val="dk1"/>
                          </a:solidFill>
                          <a:highlight>
                            <a:srgbClr val="FFFFFF"/>
                          </a:highlight>
                          <a:latin typeface="Calibri"/>
                          <a:ea typeface="Calibri"/>
                          <a:cs typeface="Calibri"/>
                          <a:sym typeface="Calibri"/>
                        </a:rPr>
                        <a:t>Decision Making</a:t>
                      </a:r>
                      <a:endParaRPr sz="3800" b="1">
                        <a:solidFill>
                          <a:schemeClr val="dk1"/>
                        </a:solidFill>
                        <a:highlight>
                          <a:srgbClr val="FFFFFF"/>
                        </a:highlight>
                        <a:latin typeface="Calibri"/>
                        <a:ea typeface="Calibri"/>
                        <a:cs typeface="Calibri"/>
                        <a:sym typeface="Calibri"/>
                      </a:endParaRPr>
                    </a:p>
                  </a:txBody>
                  <a:tcPr marL="96225" marR="96225" marT="86000" marB="86000">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lvl="0" indent="0" algn="ctr" rtl="0">
                        <a:spcBef>
                          <a:spcPts val="0"/>
                        </a:spcBef>
                        <a:spcAft>
                          <a:spcPts val="0"/>
                        </a:spcAft>
                        <a:buNone/>
                      </a:pPr>
                      <a:r>
                        <a:rPr lang="en" sz="1900" b="1">
                          <a:latin typeface="Calibri"/>
                          <a:ea typeface="Calibri"/>
                          <a:cs typeface="Calibri"/>
                          <a:sym typeface="Calibri"/>
                        </a:rPr>
                        <a:t>Concept 1</a:t>
                      </a:r>
                      <a:endParaRPr sz="19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7825">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Magnitude</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Non-Dimensional</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Score (/10)</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Score x </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Weighting</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1"/>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Operation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Completion time of the whole operation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70</a:t>
                      </a:r>
                      <a:endParaRPr sz="1600">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latin typeface="Calibri"/>
                          <a:ea typeface="Calibri"/>
                          <a:cs typeface="Calibri"/>
                          <a:sym typeface="Calibri"/>
                        </a:rPr>
                        <a:t>4</a:t>
                      </a:r>
                      <a:endParaRPr sz="1600">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latin typeface="Calibri"/>
                          <a:ea typeface="Calibri"/>
                          <a:cs typeface="Calibri"/>
                          <a:sym typeface="Calibri"/>
                        </a:rPr>
                        <a:t>48</a:t>
                      </a:r>
                      <a:endParaRPr sz="1600">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2"/>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Setup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Device setup time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60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5</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50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3"/>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Control of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Collects and moves the package outside of the warehouse.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Distance of package from warehouse &gt; 0mm and package is within start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4"/>
                  </a:ext>
                </a:extLst>
              </a:tr>
              <a:tr h="620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Support the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Systems should support the package and keep it on top of the surface of the track.</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The chance (%) system will unintentionally drop the package outside the deposit zone. </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5"/>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Transport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Entire system and package moves entirely across the chasm into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move from the start zone 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20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6"/>
                  </a:ext>
                </a:extLst>
              </a:tr>
              <a:tr h="832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Deposit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Package dropped in one of the deposit zones A, B, C or 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Six scores are achievable [2], the highest being a score of 100 and the lowest being a score of 20. The score is deposit zone dependant.</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7"/>
                  </a:ext>
                </a:extLst>
              </a:tr>
              <a:tr h="8325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Return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Total displacement of the system from the start zone in millimeters.</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0 millimeter</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20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8"/>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System mass</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Mass of the system in kg.</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&lt;6kg</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3.5</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4</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20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09"/>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Easy to use</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action start.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input activation.</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50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10"/>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Aesthetic</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Focus group - judged.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8</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11"/>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Safety</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G2 to G6 of the competition rules [2].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comply</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TRUE</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10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12"/>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Cheap</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Cost to make per robot in 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&lt;A$240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200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30</a:t>
                      </a:r>
                      <a:endParaRPr sz="1600">
                        <a:solidFill>
                          <a:schemeClr val="dk1"/>
                        </a:solidFill>
                        <a:latin typeface="Calibri"/>
                        <a:ea typeface="Calibri"/>
                        <a:cs typeface="Calibri"/>
                        <a:sym typeface="Calibri"/>
                      </a:endParaRPr>
                    </a:p>
                  </a:txBody>
                  <a:tcPr marL="96225" marR="96225" marT="86000" marB="8600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13"/>
                  </a:ext>
                </a:extLst>
              </a:tr>
              <a:tr h="646525">
                <a:tc gridSpan="6">
                  <a:txBody>
                    <a:bodyPr/>
                    <a:lstStyle/>
                    <a:p>
                      <a:pPr marL="0" lvl="0" indent="0" algn="r" rtl="0">
                        <a:lnSpc>
                          <a:spcPct val="115000"/>
                        </a:lnSpc>
                        <a:spcBef>
                          <a:spcPts val="0"/>
                        </a:spcBef>
                        <a:spcAft>
                          <a:spcPts val="0"/>
                        </a:spcAft>
                        <a:buNone/>
                      </a:pPr>
                      <a:r>
                        <a:rPr lang="en" sz="1600" b="1">
                          <a:solidFill>
                            <a:schemeClr val="dk1"/>
                          </a:solidFill>
                          <a:latin typeface="Calibri"/>
                          <a:ea typeface="Calibri"/>
                          <a:cs typeface="Calibri"/>
                          <a:sym typeface="Calibri"/>
                        </a:rPr>
                        <a:t>Composite Score</a:t>
                      </a:r>
                      <a:endParaRPr sz="1600" b="1">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388</a:t>
                      </a:r>
                      <a:endParaRPr sz="1600">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4CCCC"/>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6"/>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4200" b="1">
              <a:latin typeface="Calibri"/>
              <a:ea typeface="Calibri"/>
              <a:cs typeface="Calibri"/>
              <a:sym typeface="Calibri"/>
            </a:endParaRPr>
          </a:p>
        </p:txBody>
      </p:sp>
      <p:graphicFrame>
        <p:nvGraphicFramePr>
          <p:cNvPr id="343" name="Google Shape;343;p36"/>
          <p:cNvGraphicFramePr/>
          <p:nvPr/>
        </p:nvGraphicFramePr>
        <p:xfrm>
          <a:off x="167852" y="82428"/>
          <a:ext cx="3000000" cy="3000000"/>
        </p:xfrm>
        <a:graphic>
          <a:graphicData uri="http://schemas.openxmlformats.org/drawingml/2006/table">
            <a:tbl>
              <a:tblPr>
                <a:noFill/>
                <a:tableStyleId>{56DC45DD-F23F-474C-AD18-9CBBB8028203}</a:tableStyleId>
              </a:tblPr>
              <a:tblGrid>
                <a:gridCol w="2523825">
                  <a:extLst>
                    <a:ext uri="{9D8B030D-6E8A-4147-A177-3AD203B41FA5}">
                      <a16:colId xmlns:a16="http://schemas.microsoft.com/office/drawing/2014/main" val="20000"/>
                    </a:ext>
                  </a:extLst>
                </a:gridCol>
                <a:gridCol w="4332575">
                  <a:extLst>
                    <a:ext uri="{9D8B030D-6E8A-4147-A177-3AD203B41FA5}">
                      <a16:colId xmlns:a16="http://schemas.microsoft.com/office/drawing/2014/main" val="20001"/>
                    </a:ext>
                  </a:extLst>
                </a:gridCol>
                <a:gridCol w="993425">
                  <a:extLst>
                    <a:ext uri="{9D8B030D-6E8A-4147-A177-3AD203B41FA5}">
                      <a16:colId xmlns:a16="http://schemas.microsoft.com/office/drawing/2014/main" val="20002"/>
                    </a:ext>
                  </a:extLst>
                </a:gridCol>
                <a:gridCol w="4031700">
                  <a:extLst>
                    <a:ext uri="{9D8B030D-6E8A-4147-A177-3AD203B41FA5}">
                      <a16:colId xmlns:a16="http://schemas.microsoft.com/office/drawing/2014/main" val="20003"/>
                    </a:ext>
                  </a:extLst>
                </a:gridCol>
                <a:gridCol w="1970675">
                  <a:extLst>
                    <a:ext uri="{9D8B030D-6E8A-4147-A177-3AD203B41FA5}">
                      <a16:colId xmlns:a16="http://schemas.microsoft.com/office/drawing/2014/main" val="20004"/>
                    </a:ext>
                  </a:extLst>
                </a:gridCol>
                <a:gridCol w="2160575">
                  <a:extLst>
                    <a:ext uri="{9D8B030D-6E8A-4147-A177-3AD203B41FA5}">
                      <a16:colId xmlns:a16="http://schemas.microsoft.com/office/drawing/2014/main" val="20005"/>
                    </a:ext>
                  </a:extLst>
                </a:gridCol>
                <a:gridCol w="1910050">
                  <a:extLst>
                    <a:ext uri="{9D8B030D-6E8A-4147-A177-3AD203B41FA5}">
                      <a16:colId xmlns:a16="http://schemas.microsoft.com/office/drawing/2014/main" val="20006"/>
                    </a:ext>
                  </a:extLst>
                </a:gridCol>
              </a:tblGrid>
              <a:tr h="837075">
                <a:tc gridSpan="4">
                  <a:txBody>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Decision Making</a:t>
                      </a:r>
                      <a:endParaRPr sz="4200" b="1">
                        <a:solidFill>
                          <a:schemeClr val="dk1"/>
                        </a:solidFill>
                        <a:highlight>
                          <a:srgbClr val="FFFFFF"/>
                        </a:highlight>
                        <a:latin typeface="Calibri"/>
                        <a:ea typeface="Calibri"/>
                        <a:cs typeface="Calibri"/>
                        <a:sym typeface="Calibri"/>
                      </a:endParaRPr>
                    </a:p>
                  </a:txBody>
                  <a:tcPr marL="96225" marR="96225" marT="86000" marB="86000">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lvl="0" indent="0" algn="ctr" rtl="0">
                        <a:spcBef>
                          <a:spcPts val="0"/>
                        </a:spcBef>
                        <a:spcAft>
                          <a:spcPts val="0"/>
                        </a:spcAft>
                        <a:buNone/>
                      </a:pPr>
                      <a:r>
                        <a:rPr lang="en" sz="1900" b="1">
                          <a:latin typeface="Calibri"/>
                          <a:ea typeface="Calibri"/>
                          <a:cs typeface="Calibri"/>
                          <a:sym typeface="Calibri"/>
                        </a:rPr>
                        <a:t>Concept 2</a:t>
                      </a:r>
                      <a:endParaRPr sz="19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7825">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Magnitude</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Non-Dimensional</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Score (/10)</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Score x </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Weighting</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Operation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Completion time of the whole operation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24</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Setup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Device setup time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Control of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Collects and moves the package outside of the warehouse.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Distance of package from warehouse &gt; 0mm and package is within start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620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Support the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Systems should support the package and keep it on top of the surface of the track.</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The chance (%) system will unintentionally drop the package outside the deposit zone. </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Transport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Entire system and package moves entirely across the chasm into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move from the start zone 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832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Deposit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Package dropped in one of the deposit zones A, B, C or 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Six scores are achievable [2], the highest being a score of 100 and the lowest being a score of 20. The score is deposit zone dependant.</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8325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Return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Total displacement of the system from the start zone in millimeters.</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0 millimeter</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System mass</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Mass of the system in kg.</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&lt;6kg</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09"/>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Easy to use</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action start.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input activation.</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10"/>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Aesthetic</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Focus group - judged.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9</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11"/>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Safety</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G2 to G6 of the competition rules [2].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comply</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12"/>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Cheap</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Cost to make per robot in 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&lt;A$240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13"/>
                  </a:ext>
                </a:extLst>
              </a:tr>
              <a:tr h="646525">
                <a:tc gridSpan="6">
                  <a:txBody>
                    <a:bodyPr/>
                    <a:lstStyle/>
                    <a:p>
                      <a:pPr marL="0" lvl="0" indent="0" algn="r" rtl="0">
                        <a:lnSpc>
                          <a:spcPct val="115000"/>
                        </a:lnSpc>
                        <a:spcBef>
                          <a:spcPts val="0"/>
                        </a:spcBef>
                        <a:spcAft>
                          <a:spcPts val="0"/>
                        </a:spcAft>
                        <a:buNone/>
                      </a:pPr>
                      <a:r>
                        <a:rPr lang="en" sz="1600" b="1">
                          <a:solidFill>
                            <a:schemeClr val="dk1"/>
                          </a:solidFill>
                          <a:latin typeface="Calibri"/>
                          <a:ea typeface="Calibri"/>
                          <a:cs typeface="Calibri"/>
                          <a:sym typeface="Calibri"/>
                        </a:rPr>
                        <a:t>Composite Score</a:t>
                      </a:r>
                      <a:endParaRPr sz="1600" b="1">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310</a:t>
                      </a:r>
                      <a:endParaRPr sz="1600">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FFF2CC"/>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7"/>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4200" b="1">
              <a:latin typeface="Calibri"/>
              <a:ea typeface="Calibri"/>
              <a:cs typeface="Calibri"/>
              <a:sym typeface="Calibri"/>
            </a:endParaRPr>
          </a:p>
        </p:txBody>
      </p:sp>
      <p:graphicFrame>
        <p:nvGraphicFramePr>
          <p:cNvPr id="349" name="Google Shape;349;p37"/>
          <p:cNvGraphicFramePr/>
          <p:nvPr/>
        </p:nvGraphicFramePr>
        <p:xfrm>
          <a:off x="167852" y="82428"/>
          <a:ext cx="3000000" cy="3000000"/>
        </p:xfrm>
        <a:graphic>
          <a:graphicData uri="http://schemas.openxmlformats.org/drawingml/2006/table">
            <a:tbl>
              <a:tblPr>
                <a:noFill/>
                <a:tableStyleId>{56DC45DD-F23F-474C-AD18-9CBBB8028203}</a:tableStyleId>
              </a:tblPr>
              <a:tblGrid>
                <a:gridCol w="2523825">
                  <a:extLst>
                    <a:ext uri="{9D8B030D-6E8A-4147-A177-3AD203B41FA5}">
                      <a16:colId xmlns:a16="http://schemas.microsoft.com/office/drawing/2014/main" val="20000"/>
                    </a:ext>
                  </a:extLst>
                </a:gridCol>
                <a:gridCol w="4332575">
                  <a:extLst>
                    <a:ext uri="{9D8B030D-6E8A-4147-A177-3AD203B41FA5}">
                      <a16:colId xmlns:a16="http://schemas.microsoft.com/office/drawing/2014/main" val="20001"/>
                    </a:ext>
                  </a:extLst>
                </a:gridCol>
                <a:gridCol w="993425">
                  <a:extLst>
                    <a:ext uri="{9D8B030D-6E8A-4147-A177-3AD203B41FA5}">
                      <a16:colId xmlns:a16="http://schemas.microsoft.com/office/drawing/2014/main" val="20002"/>
                    </a:ext>
                  </a:extLst>
                </a:gridCol>
                <a:gridCol w="4031700">
                  <a:extLst>
                    <a:ext uri="{9D8B030D-6E8A-4147-A177-3AD203B41FA5}">
                      <a16:colId xmlns:a16="http://schemas.microsoft.com/office/drawing/2014/main" val="20003"/>
                    </a:ext>
                  </a:extLst>
                </a:gridCol>
                <a:gridCol w="1970675">
                  <a:extLst>
                    <a:ext uri="{9D8B030D-6E8A-4147-A177-3AD203B41FA5}">
                      <a16:colId xmlns:a16="http://schemas.microsoft.com/office/drawing/2014/main" val="20004"/>
                    </a:ext>
                  </a:extLst>
                </a:gridCol>
                <a:gridCol w="2160575">
                  <a:extLst>
                    <a:ext uri="{9D8B030D-6E8A-4147-A177-3AD203B41FA5}">
                      <a16:colId xmlns:a16="http://schemas.microsoft.com/office/drawing/2014/main" val="20005"/>
                    </a:ext>
                  </a:extLst>
                </a:gridCol>
                <a:gridCol w="1910050">
                  <a:extLst>
                    <a:ext uri="{9D8B030D-6E8A-4147-A177-3AD203B41FA5}">
                      <a16:colId xmlns:a16="http://schemas.microsoft.com/office/drawing/2014/main" val="20006"/>
                    </a:ext>
                  </a:extLst>
                </a:gridCol>
              </a:tblGrid>
              <a:tr h="837075">
                <a:tc gridSpan="4">
                  <a:txBody>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Decision Making</a:t>
                      </a:r>
                      <a:endParaRPr sz="4200" b="1">
                        <a:solidFill>
                          <a:schemeClr val="dk1"/>
                        </a:solidFill>
                        <a:highlight>
                          <a:srgbClr val="FFFFFF"/>
                        </a:highlight>
                        <a:latin typeface="Calibri"/>
                        <a:ea typeface="Calibri"/>
                        <a:cs typeface="Calibri"/>
                        <a:sym typeface="Calibri"/>
                      </a:endParaRPr>
                    </a:p>
                  </a:txBody>
                  <a:tcPr marL="96225" marR="96225" marT="86000" marB="86000">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lvl="0" indent="0" algn="ctr" rtl="0">
                        <a:spcBef>
                          <a:spcPts val="0"/>
                        </a:spcBef>
                        <a:spcAft>
                          <a:spcPts val="0"/>
                        </a:spcAft>
                        <a:buNone/>
                      </a:pPr>
                      <a:r>
                        <a:rPr lang="en" sz="1900" b="1">
                          <a:latin typeface="Calibri"/>
                          <a:ea typeface="Calibri"/>
                          <a:cs typeface="Calibri"/>
                          <a:sym typeface="Calibri"/>
                        </a:rPr>
                        <a:t>Concept 3</a:t>
                      </a:r>
                      <a:endParaRPr sz="19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7825">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Magnitude</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Non-Dimensional</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Score (/10)</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Score x </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Weighting</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Operation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Completion time of the whole operation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90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Setup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Device setup time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Control of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Collects and moves the package outside of the warehouse.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Distance of package from warehouse &gt; 0mm and package is within start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4"/>
                  </a:ext>
                </a:extLst>
              </a:tr>
              <a:tr h="620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Support the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Systems should support the package and keep it on top of the surface of the track.</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The chance (%) system will unintentionally drop the package outside the deposit zone. </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5"/>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Transport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Entire system and package moves entirely across the chasm into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move from the start zone 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6"/>
                  </a:ext>
                </a:extLst>
              </a:tr>
              <a:tr h="832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Deposit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Package dropped in one of the deposit zones A, B, C or 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Six scores are achievable [2], the highest being a score of 100 and the lowest being a score of 20. The score is deposit zone dependant.</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7"/>
                  </a:ext>
                </a:extLst>
              </a:tr>
              <a:tr h="8325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Return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Total displacement of the system from the start zone in millimeters.</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0 millimeter</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8"/>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System mass</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Mass of the system in kg.</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&lt;6kg</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09"/>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Easy to use</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action start.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input activation.</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10"/>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Aesthetic</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Focus group - judged.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11"/>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Safety</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G2 to G6 of the competition rules [2].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comply</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12"/>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Cheap</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Cost to make per robot in 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&lt;A$240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13"/>
                  </a:ext>
                </a:extLst>
              </a:tr>
              <a:tr h="646525">
                <a:tc gridSpan="6">
                  <a:txBody>
                    <a:bodyPr/>
                    <a:lstStyle/>
                    <a:p>
                      <a:pPr marL="0" lvl="0" indent="0" algn="r" rtl="0">
                        <a:lnSpc>
                          <a:spcPct val="115000"/>
                        </a:lnSpc>
                        <a:spcBef>
                          <a:spcPts val="0"/>
                        </a:spcBef>
                        <a:spcAft>
                          <a:spcPts val="0"/>
                        </a:spcAft>
                        <a:buNone/>
                      </a:pPr>
                      <a:r>
                        <a:rPr lang="en" sz="1600" b="1">
                          <a:solidFill>
                            <a:schemeClr val="dk1"/>
                          </a:solidFill>
                          <a:latin typeface="Calibri"/>
                          <a:ea typeface="Calibri"/>
                          <a:cs typeface="Calibri"/>
                          <a:sym typeface="Calibri"/>
                        </a:rPr>
                        <a:t>Composite Score</a:t>
                      </a:r>
                      <a:endParaRPr sz="1600" b="1">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362</a:t>
                      </a:r>
                      <a:endParaRPr sz="1600">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D9EAD3"/>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38"/>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4200" b="1">
              <a:latin typeface="Calibri"/>
              <a:ea typeface="Calibri"/>
              <a:cs typeface="Calibri"/>
              <a:sym typeface="Calibri"/>
            </a:endParaRPr>
          </a:p>
        </p:txBody>
      </p:sp>
      <p:graphicFrame>
        <p:nvGraphicFramePr>
          <p:cNvPr id="355" name="Google Shape;355;p38"/>
          <p:cNvGraphicFramePr/>
          <p:nvPr/>
        </p:nvGraphicFramePr>
        <p:xfrm>
          <a:off x="167852" y="82428"/>
          <a:ext cx="3000000" cy="3000000"/>
        </p:xfrm>
        <a:graphic>
          <a:graphicData uri="http://schemas.openxmlformats.org/drawingml/2006/table">
            <a:tbl>
              <a:tblPr>
                <a:noFill/>
                <a:tableStyleId>{56DC45DD-F23F-474C-AD18-9CBBB8028203}</a:tableStyleId>
              </a:tblPr>
              <a:tblGrid>
                <a:gridCol w="2523825">
                  <a:extLst>
                    <a:ext uri="{9D8B030D-6E8A-4147-A177-3AD203B41FA5}">
                      <a16:colId xmlns:a16="http://schemas.microsoft.com/office/drawing/2014/main" val="20000"/>
                    </a:ext>
                  </a:extLst>
                </a:gridCol>
                <a:gridCol w="4332575">
                  <a:extLst>
                    <a:ext uri="{9D8B030D-6E8A-4147-A177-3AD203B41FA5}">
                      <a16:colId xmlns:a16="http://schemas.microsoft.com/office/drawing/2014/main" val="20001"/>
                    </a:ext>
                  </a:extLst>
                </a:gridCol>
                <a:gridCol w="993425">
                  <a:extLst>
                    <a:ext uri="{9D8B030D-6E8A-4147-A177-3AD203B41FA5}">
                      <a16:colId xmlns:a16="http://schemas.microsoft.com/office/drawing/2014/main" val="20002"/>
                    </a:ext>
                  </a:extLst>
                </a:gridCol>
                <a:gridCol w="4031700">
                  <a:extLst>
                    <a:ext uri="{9D8B030D-6E8A-4147-A177-3AD203B41FA5}">
                      <a16:colId xmlns:a16="http://schemas.microsoft.com/office/drawing/2014/main" val="20003"/>
                    </a:ext>
                  </a:extLst>
                </a:gridCol>
                <a:gridCol w="1970675">
                  <a:extLst>
                    <a:ext uri="{9D8B030D-6E8A-4147-A177-3AD203B41FA5}">
                      <a16:colId xmlns:a16="http://schemas.microsoft.com/office/drawing/2014/main" val="20004"/>
                    </a:ext>
                  </a:extLst>
                </a:gridCol>
                <a:gridCol w="2160575">
                  <a:extLst>
                    <a:ext uri="{9D8B030D-6E8A-4147-A177-3AD203B41FA5}">
                      <a16:colId xmlns:a16="http://schemas.microsoft.com/office/drawing/2014/main" val="20005"/>
                    </a:ext>
                  </a:extLst>
                </a:gridCol>
                <a:gridCol w="1910050">
                  <a:extLst>
                    <a:ext uri="{9D8B030D-6E8A-4147-A177-3AD203B41FA5}">
                      <a16:colId xmlns:a16="http://schemas.microsoft.com/office/drawing/2014/main" val="20006"/>
                    </a:ext>
                  </a:extLst>
                </a:gridCol>
              </a:tblGrid>
              <a:tr h="837075">
                <a:tc gridSpan="4">
                  <a:txBody>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Decision Making</a:t>
                      </a:r>
                      <a:endParaRPr sz="4200" b="1">
                        <a:solidFill>
                          <a:schemeClr val="dk1"/>
                        </a:solidFill>
                        <a:highlight>
                          <a:srgbClr val="FFFFFF"/>
                        </a:highlight>
                        <a:latin typeface="Calibri"/>
                        <a:ea typeface="Calibri"/>
                        <a:cs typeface="Calibri"/>
                        <a:sym typeface="Calibri"/>
                      </a:endParaRPr>
                    </a:p>
                  </a:txBody>
                  <a:tcPr marL="96225" marR="96225" marT="86000" marB="86000">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lvl="0" indent="0" algn="ctr" rtl="0">
                        <a:spcBef>
                          <a:spcPts val="0"/>
                        </a:spcBef>
                        <a:spcAft>
                          <a:spcPts val="0"/>
                        </a:spcAft>
                        <a:buNone/>
                      </a:pPr>
                      <a:r>
                        <a:rPr lang="en" sz="1900" b="1">
                          <a:latin typeface="Calibri"/>
                          <a:ea typeface="Calibri"/>
                          <a:cs typeface="Calibri"/>
                          <a:sym typeface="Calibri"/>
                        </a:rPr>
                        <a:t>Concept 4</a:t>
                      </a:r>
                      <a:endParaRPr sz="19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7825">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Magnitude</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Non-Dimensional</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Score (/10)</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Score x </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Weighting</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1"/>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Operation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Completion time of the whole operation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2"/>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Setup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Device setup time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3"/>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Control of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Collects and moves the package outside of the warehouse.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Distance of package from warehouse &gt; 0mm and package is within start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4"/>
                  </a:ext>
                </a:extLst>
              </a:tr>
              <a:tr h="620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Support the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Systems should support the package and keep it on top of the surface of the track.</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The chance (%) system will unintentionally drop the package outside the deposit zone. </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5"/>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Transport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Entire system and package moves entirely across the chasm into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move from the start zone 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6"/>
                  </a:ext>
                </a:extLst>
              </a:tr>
              <a:tr h="832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Deposit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Package dropped in one of the deposit zones A, B, C or 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Six scores are achievable [2], the highest being a score of 100 and the lowest being a score of 20. The score is deposit zone dependant.</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7"/>
                  </a:ext>
                </a:extLst>
              </a:tr>
              <a:tr h="8325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Return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Total displacement of the system from the start zone in millimeters.</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0 millimeter</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8"/>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System mass</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Mass of the system in kg.</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&lt;6kg</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09"/>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Easy to use</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action start.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input activation.</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10"/>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Aesthetic</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Focus group - judged.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11"/>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Safety</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G2 to G6 of the competition rules [2].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comply</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12"/>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Cheap</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Cost to make per robot in 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&lt;A$240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13"/>
                  </a:ext>
                </a:extLst>
              </a:tr>
              <a:tr h="646525">
                <a:tc gridSpan="6">
                  <a:txBody>
                    <a:bodyPr/>
                    <a:lstStyle/>
                    <a:p>
                      <a:pPr marL="0" lvl="0" indent="0" algn="r" rtl="0">
                        <a:lnSpc>
                          <a:spcPct val="115000"/>
                        </a:lnSpc>
                        <a:spcBef>
                          <a:spcPts val="0"/>
                        </a:spcBef>
                        <a:spcAft>
                          <a:spcPts val="0"/>
                        </a:spcAft>
                        <a:buNone/>
                      </a:pPr>
                      <a:r>
                        <a:rPr lang="en" sz="1600" b="1">
                          <a:solidFill>
                            <a:schemeClr val="dk1"/>
                          </a:solidFill>
                          <a:latin typeface="Calibri"/>
                          <a:ea typeface="Calibri"/>
                          <a:cs typeface="Calibri"/>
                          <a:sym typeface="Calibri"/>
                        </a:rPr>
                        <a:t>Composite Score</a:t>
                      </a:r>
                      <a:endParaRPr sz="1600" b="1">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376</a:t>
                      </a:r>
                      <a:endParaRPr sz="1600">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4A7D6"/>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39"/>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endParaRPr sz="4200" b="1">
              <a:latin typeface="Calibri"/>
              <a:ea typeface="Calibri"/>
              <a:cs typeface="Calibri"/>
              <a:sym typeface="Calibri"/>
            </a:endParaRPr>
          </a:p>
        </p:txBody>
      </p:sp>
      <p:graphicFrame>
        <p:nvGraphicFramePr>
          <p:cNvPr id="361" name="Google Shape;361;p39"/>
          <p:cNvGraphicFramePr/>
          <p:nvPr/>
        </p:nvGraphicFramePr>
        <p:xfrm>
          <a:off x="167852" y="82428"/>
          <a:ext cx="3000000" cy="3000000"/>
        </p:xfrm>
        <a:graphic>
          <a:graphicData uri="http://schemas.openxmlformats.org/drawingml/2006/table">
            <a:tbl>
              <a:tblPr>
                <a:noFill/>
                <a:tableStyleId>{56DC45DD-F23F-474C-AD18-9CBBB8028203}</a:tableStyleId>
              </a:tblPr>
              <a:tblGrid>
                <a:gridCol w="2523825">
                  <a:extLst>
                    <a:ext uri="{9D8B030D-6E8A-4147-A177-3AD203B41FA5}">
                      <a16:colId xmlns:a16="http://schemas.microsoft.com/office/drawing/2014/main" val="20000"/>
                    </a:ext>
                  </a:extLst>
                </a:gridCol>
                <a:gridCol w="4332575">
                  <a:extLst>
                    <a:ext uri="{9D8B030D-6E8A-4147-A177-3AD203B41FA5}">
                      <a16:colId xmlns:a16="http://schemas.microsoft.com/office/drawing/2014/main" val="20001"/>
                    </a:ext>
                  </a:extLst>
                </a:gridCol>
                <a:gridCol w="993425">
                  <a:extLst>
                    <a:ext uri="{9D8B030D-6E8A-4147-A177-3AD203B41FA5}">
                      <a16:colId xmlns:a16="http://schemas.microsoft.com/office/drawing/2014/main" val="20002"/>
                    </a:ext>
                  </a:extLst>
                </a:gridCol>
                <a:gridCol w="4031700">
                  <a:extLst>
                    <a:ext uri="{9D8B030D-6E8A-4147-A177-3AD203B41FA5}">
                      <a16:colId xmlns:a16="http://schemas.microsoft.com/office/drawing/2014/main" val="20003"/>
                    </a:ext>
                  </a:extLst>
                </a:gridCol>
                <a:gridCol w="1970675">
                  <a:extLst>
                    <a:ext uri="{9D8B030D-6E8A-4147-A177-3AD203B41FA5}">
                      <a16:colId xmlns:a16="http://schemas.microsoft.com/office/drawing/2014/main" val="20004"/>
                    </a:ext>
                  </a:extLst>
                </a:gridCol>
                <a:gridCol w="2160575">
                  <a:extLst>
                    <a:ext uri="{9D8B030D-6E8A-4147-A177-3AD203B41FA5}">
                      <a16:colId xmlns:a16="http://schemas.microsoft.com/office/drawing/2014/main" val="20005"/>
                    </a:ext>
                  </a:extLst>
                </a:gridCol>
                <a:gridCol w="1910050">
                  <a:extLst>
                    <a:ext uri="{9D8B030D-6E8A-4147-A177-3AD203B41FA5}">
                      <a16:colId xmlns:a16="http://schemas.microsoft.com/office/drawing/2014/main" val="20006"/>
                    </a:ext>
                  </a:extLst>
                </a:gridCol>
              </a:tblGrid>
              <a:tr h="837075">
                <a:tc gridSpan="4">
                  <a:txBody>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Decision Making</a:t>
                      </a:r>
                      <a:endParaRPr sz="4200" b="1">
                        <a:solidFill>
                          <a:schemeClr val="dk1"/>
                        </a:solidFill>
                        <a:highlight>
                          <a:srgbClr val="FFFFFF"/>
                        </a:highlight>
                        <a:latin typeface="Calibri"/>
                        <a:ea typeface="Calibri"/>
                        <a:cs typeface="Calibri"/>
                        <a:sym typeface="Calibri"/>
                      </a:endParaRPr>
                    </a:p>
                  </a:txBody>
                  <a:tcPr marL="96225" marR="96225" marT="86000" marB="86000">
                    <a:lnR w="19050" cap="flat" cmpd="sng">
                      <a:solidFill>
                        <a:schemeClr val="dk1"/>
                      </a:solidFill>
                      <a:prstDash val="solid"/>
                      <a:round/>
                      <a:headEnd type="none" w="sm" len="sm"/>
                      <a:tailEnd type="none" w="sm" len="sm"/>
                    </a:lnR>
                    <a:lnB w="1905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gridSpan="3">
                  <a:txBody>
                    <a:bodyPr/>
                    <a:lstStyle/>
                    <a:p>
                      <a:pPr marL="0" lvl="0" indent="0" algn="ctr" rtl="0">
                        <a:spcBef>
                          <a:spcPts val="0"/>
                        </a:spcBef>
                        <a:spcAft>
                          <a:spcPts val="0"/>
                        </a:spcAft>
                        <a:buNone/>
                      </a:pPr>
                      <a:r>
                        <a:rPr lang="en" sz="1900" b="1">
                          <a:latin typeface="Calibri"/>
                          <a:ea typeface="Calibri"/>
                          <a:cs typeface="Calibri"/>
                          <a:sym typeface="Calibri"/>
                        </a:rPr>
                        <a:t>Concept 5</a:t>
                      </a:r>
                      <a:endParaRPr sz="19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7825">
                <a:tc>
                  <a:txBody>
                    <a:bodyPr/>
                    <a:lstStyle/>
                    <a:p>
                      <a:pPr marL="0" lvl="0" indent="0" algn="ctr" rtl="0">
                        <a:spcBef>
                          <a:spcPts val="0"/>
                        </a:spcBef>
                        <a:spcAft>
                          <a:spcPts val="0"/>
                        </a:spcAft>
                        <a:buNone/>
                      </a:pPr>
                      <a:r>
                        <a:rPr lang="en" sz="2000" b="1">
                          <a:latin typeface="Calibri"/>
                          <a:ea typeface="Calibri"/>
                          <a:cs typeface="Calibri"/>
                          <a:sym typeface="Calibri"/>
                        </a:rPr>
                        <a:t>Requirements</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Criteria</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Weight</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latin typeface="Calibri"/>
                          <a:ea typeface="Calibri"/>
                          <a:cs typeface="Calibri"/>
                          <a:sym typeface="Calibri"/>
                        </a:rPr>
                        <a:t>Specification</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Magnitude</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Non-Dimensional</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Score (/10)</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None/>
                      </a:pPr>
                      <a:r>
                        <a:rPr lang="en" sz="2000" b="1">
                          <a:latin typeface="Calibri"/>
                          <a:ea typeface="Calibri"/>
                          <a:cs typeface="Calibri"/>
                          <a:sym typeface="Calibri"/>
                        </a:rPr>
                        <a:t>Score x </a:t>
                      </a:r>
                      <a:endParaRPr sz="2000" b="1">
                        <a:latin typeface="Calibri"/>
                        <a:ea typeface="Calibri"/>
                        <a:cs typeface="Calibri"/>
                        <a:sym typeface="Calibri"/>
                      </a:endParaRPr>
                    </a:p>
                    <a:p>
                      <a:pPr marL="0" marR="0" lvl="0" indent="0" algn="ctr" rtl="0">
                        <a:lnSpc>
                          <a:spcPct val="100000"/>
                        </a:lnSpc>
                        <a:spcBef>
                          <a:spcPts val="0"/>
                        </a:spcBef>
                        <a:spcAft>
                          <a:spcPts val="0"/>
                        </a:spcAft>
                        <a:buNone/>
                      </a:pPr>
                      <a:r>
                        <a:rPr lang="en" sz="2000" b="1">
                          <a:latin typeface="Calibri"/>
                          <a:ea typeface="Calibri"/>
                          <a:cs typeface="Calibri"/>
                          <a:sym typeface="Calibri"/>
                        </a:rPr>
                        <a:t>Weighting</a:t>
                      </a:r>
                      <a:endParaRPr sz="2000" b="1">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1"/>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Operation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Completion time of the whole operation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80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2"/>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Setup time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Device setup time in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&lt;120 seconds</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8</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3"/>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Control of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Collects and moves the package outside of the warehouse.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p>
                      <a:pPr marL="0" lvl="0" indent="0" algn="ctr" rtl="0">
                        <a:spcBef>
                          <a:spcPts val="0"/>
                        </a:spcBef>
                        <a:spcAft>
                          <a:spcPts val="0"/>
                        </a:spcAft>
                        <a:buNone/>
                      </a:pP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Distance of package from warehouse &gt; 0mm and package is within start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4"/>
                  </a:ext>
                </a:extLst>
              </a:tr>
              <a:tr h="620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Support the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Systems should support the package and keep it on top of the surface of the track.</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The chance (%) system will unintentionally drop the package outside the deposit zone. </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40%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6</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5"/>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Transport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Entire system and package moves entirely across the chasm into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move from the start zone to the deposit zone.</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6"/>
                  </a:ext>
                </a:extLst>
              </a:tr>
              <a:tr h="832575">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Deposit package</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Package dropped in one of the deposit zones A, B, C or 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Six scores are achievable [2], the highest being a score of 100 and the lowest being a score of 20. The score is deposit zone dependant.</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7"/>
                  </a:ext>
                </a:extLst>
              </a:tr>
              <a:tr h="8325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Return system</a:t>
                      </a:r>
                      <a:endParaRPr sz="1600" i="1">
                        <a:latin typeface="Calibri"/>
                        <a:ea typeface="Calibri"/>
                        <a:cs typeface="Calibri"/>
                        <a:sym typeface="Calibri"/>
                      </a:endParaRPr>
                    </a:p>
                  </a:txBody>
                  <a:tcPr marL="63500" marR="63500" marT="58200" marB="58200">
                    <a:lnL w="19050" cap="flat" cmpd="sng">
                      <a:solidFill>
                        <a:schemeClr val="dk1"/>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Total displacement of the system from the start zone in millimeters.</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2</a:t>
                      </a:r>
                      <a:endParaRPr sz="1600">
                        <a:solidFill>
                          <a:schemeClr val="dk1"/>
                        </a:solidFill>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0 millimeter</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8"/>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System mass</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Mass of the system in kg.</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&lt;6kg</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09"/>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Performance</a:t>
                      </a:r>
                      <a:endParaRPr sz="1600" i="1">
                        <a:latin typeface="Calibri"/>
                        <a:ea typeface="Calibri"/>
                        <a:cs typeface="Calibri"/>
                        <a:sym typeface="Calibri"/>
                      </a:endParaRPr>
                    </a:p>
                    <a:p>
                      <a:pPr marL="419100" lvl="0" indent="-304800" algn="l" rtl="0">
                        <a:spcBef>
                          <a:spcPts val="0"/>
                        </a:spcBef>
                        <a:spcAft>
                          <a:spcPts val="0"/>
                        </a:spcAft>
                        <a:buSzPts val="1600"/>
                        <a:buFont typeface="Calibri"/>
                        <a:buChar char="-"/>
                      </a:pPr>
                      <a:r>
                        <a:rPr lang="en" sz="1600" i="1">
                          <a:latin typeface="Calibri"/>
                          <a:ea typeface="Calibri"/>
                          <a:cs typeface="Calibri"/>
                          <a:sym typeface="Calibri"/>
                        </a:rPr>
                        <a:t>Easy to use</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action start.</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5</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Single input activation.</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10"/>
                  </a:ext>
                </a:extLst>
              </a:tr>
              <a:tr h="593100">
                <a:tc>
                  <a:txBody>
                    <a:bodyPr/>
                    <a:lstStyle/>
                    <a:p>
                      <a:pPr marL="0" lvl="0" indent="0" algn="l" rtl="0">
                        <a:spcBef>
                          <a:spcPts val="0"/>
                        </a:spcBef>
                        <a:spcAft>
                          <a:spcPts val="0"/>
                        </a:spcAft>
                        <a:buNone/>
                      </a:pPr>
                      <a:r>
                        <a:rPr lang="en" sz="1600" i="1">
                          <a:latin typeface="Calibri"/>
                          <a:ea typeface="Calibri"/>
                          <a:cs typeface="Calibri"/>
                          <a:sym typeface="Calibri"/>
                        </a:rPr>
                        <a:t>Aesthetic</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Focus group - judged.</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000"/>
                        <a:buFont typeface="Arial"/>
                        <a:buNone/>
                      </a:pPr>
                      <a:r>
                        <a:rPr lang="en" sz="1600">
                          <a:solidFill>
                            <a:schemeClr val="dk1"/>
                          </a:solidFill>
                          <a:latin typeface="Calibri"/>
                          <a:ea typeface="Calibri"/>
                          <a:cs typeface="Calibri"/>
                          <a:sym typeface="Calibri"/>
                        </a:rPr>
                        <a:t>N/A</a:t>
                      </a:r>
                      <a:endParaRPr sz="1600">
                        <a:solidFill>
                          <a:schemeClr val="dk1"/>
                        </a:solidFill>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9</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N/A</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11"/>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Safety</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G2 to G6 of the competition rules [2].</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3</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Must comply</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TRUE</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30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12"/>
                  </a:ext>
                </a:extLst>
              </a:tr>
              <a:tr h="418850">
                <a:tc>
                  <a:txBody>
                    <a:bodyPr/>
                    <a:lstStyle/>
                    <a:p>
                      <a:pPr marL="0" lvl="0" indent="0" algn="l" rtl="0">
                        <a:spcBef>
                          <a:spcPts val="0"/>
                        </a:spcBef>
                        <a:spcAft>
                          <a:spcPts val="0"/>
                        </a:spcAft>
                        <a:buNone/>
                      </a:pPr>
                      <a:r>
                        <a:rPr lang="en" sz="1600" i="1">
                          <a:latin typeface="Calibri"/>
                          <a:ea typeface="Calibri"/>
                          <a:cs typeface="Calibri"/>
                          <a:sym typeface="Calibri"/>
                        </a:rPr>
                        <a:t>Cheap</a:t>
                      </a:r>
                      <a:endParaRPr sz="1600" i="1">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Cost to make per robot in A$.</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600">
                          <a:latin typeface="Calibri"/>
                          <a:ea typeface="Calibri"/>
                          <a:cs typeface="Calibri"/>
                          <a:sym typeface="Calibri"/>
                        </a:rPr>
                        <a:t>10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sz="1600">
                          <a:latin typeface="Calibri"/>
                          <a:ea typeface="Calibri"/>
                          <a:cs typeface="Calibri"/>
                          <a:sym typeface="Calibri"/>
                        </a:rPr>
                        <a:t>&lt;A$240</a:t>
                      </a:r>
                      <a:endParaRPr sz="1600">
                        <a:latin typeface="Calibri"/>
                        <a:ea typeface="Calibri"/>
                        <a:cs typeface="Calibri"/>
                        <a:sym typeface="Calibri"/>
                      </a:endParaRPr>
                    </a:p>
                  </a:txBody>
                  <a:tcPr marL="63500" marR="63500" marT="58200" marB="58200">
                    <a:lnL w="19050" cap="flat" cmpd="sng">
                      <a:solidFill>
                        <a:srgbClr val="000000"/>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250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600">
                          <a:latin typeface="Calibri"/>
                          <a:ea typeface="Calibri"/>
                          <a:cs typeface="Calibri"/>
                          <a:sym typeface="Calibri"/>
                        </a:rPr>
                        <a:t>20</a:t>
                      </a:r>
                      <a:endParaRPr sz="1600">
                        <a:latin typeface="Calibri"/>
                        <a:ea typeface="Calibri"/>
                        <a:cs typeface="Calibri"/>
                        <a:sym typeface="Calibri"/>
                      </a:endParaRPr>
                    </a:p>
                  </a:txBody>
                  <a:tcPr marL="28575" marR="28575" marT="19050" marB="19050" anchor="b">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13"/>
                  </a:ext>
                </a:extLst>
              </a:tr>
              <a:tr h="646525">
                <a:tc gridSpan="6">
                  <a:txBody>
                    <a:bodyPr/>
                    <a:lstStyle/>
                    <a:p>
                      <a:pPr marL="0" lvl="0" indent="0" algn="r" rtl="0">
                        <a:lnSpc>
                          <a:spcPct val="115000"/>
                        </a:lnSpc>
                        <a:spcBef>
                          <a:spcPts val="0"/>
                        </a:spcBef>
                        <a:spcAft>
                          <a:spcPts val="0"/>
                        </a:spcAft>
                        <a:buNone/>
                      </a:pPr>
                      <a:r>
                        <a:rPr lang="en" sz="1600" b="1">
                          <a:solidFill>
                            <a:schemeClr val="dk1"/>
                          </a:solidFill>
                          <a:latin typeface="Calibri"/>
                          <a:ea typeface="Calibri"/>
                          <a:cs typeface="Calibri"/>
                          <a:sym typeface="Calibri"/>
                        </a:rPr>
                        <a:t>Composite Score</a:t>
                      </a:r>
                      <a:endParaRPr sz="1600" b="1">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1600">
                          <a:solidFill>
                            <a:schemeClr val="dk1"/>
                          </a:solidFill>
                          <a:latin typeface="Calibri"/>
                          <a:ea typeface="Calibri"/>
                          <a:cs typeface="Calibri"/>
                          <a:sym typeface="Calibri"/>
                        </a:rPr>
                        <a:t>337</a:t>
                      </a:r>
                      <a:endParaRPr sz="1600">
                        <a:solidFill>
                          <a:schemeClr val="dk1"/>
                        </a:solidFill>
                        <a:latin typeface="Calibri"/>
                        <a:ea typeface="Calibri"/>
                        <a:cs typeface="Calibri"/>
                        <a:sym typeface="Calibri"/>
                      </a:endParaRPr>
                    </a:p>
                  </a:txBody>
                  <a:tcPr marL="96225" marR="96225" marT="86000" marB="86000">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C9DAF8"/>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0"/>
          <p:cNvSpPr txBox="1"/>
          <p:nvPr/>
        </p:nvSpPr>
        <p:spPr>
          <a:xfrm>
            <a:off x="0" y="13215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000" b="1">
                <a:solidFill>
                  <a:schemeClr val="dk1"/>
                </a:solidFill>
                <a:highlight>
                  <a:srgbClr val="FFFFFF"/>
                </a:highlight>
                <a:latin typeface="Calibri"/>
                <a:ea typeface="Calibri"/>
                <a:cs typeface="Calibri"/>
                <a:sym typeface="Calibri"/>
              </a:rPr>
              <a:t> </a:t>
            </a:r>
            <a:r>
              <a:rPr lang="en" sz="4200" b="1">
                <a:solidFill>
                  <a:schemeClr val="dk1"/>
                </a:solidFill>
                <a:highlight>
                  <a:srgbClr val="FFFFFF"/>
                </a:highlight>
                <a:latin typeface="Calibri"/>
                <a:ea typeface="Calibri"/>
                <a:cs typeface="Calibri"/>
                <a:sym typeface="Calibri"/>
              </a:rPr>
              <a:t> Decision Making - Statistical Significance</a:t>
            </a:r>
            <a:endParaRPr sz="4200" b="1">
              <a:latin typeface="Calibri"/>
              <a:ea typeface="Calibri"/>
              <a:cs typeface="Calibri"/>
              <a:sym typeface="Calibri"/>
            </a:endParaRPr>
          </a:p>
        </p:txBody>
      </p:sp>
      <p:sp>
        <p:nvSpPr>
          <p:cNvPr id="367" name="Google Shape;367;p40"/>
          <p:cNvSpPr txBox="1"/>
          <p:nvPr/>
        </p:nvSpPr>
        <p:spPr>
          <a:xfrm>
            <a:off x="12443675" y="6908050"/>
            <a:ext cx="6680400" cy="587400"/>
          </a:xfrm>
          <a:prstGeom prst="rect">
            <a:avLst/>
          </a:prstGeom>
          <a:noFill/>
          <a:ln>
            <a:noFill/>
          </a:ln>
        </p:spPr>
        <p:txBody>
          <a:bodyPr spcFirstLastPara="1" wrap="square" lIns="168825" tIns="168825" rIns="168825" bIns="168825" anchor="t" anchorCtr="0">
            <a:spAutoFit/>
          </a:bodyPr>
          <a:lstStyle/>
          <a:p>
            <a:pPr marL="0" lvl="0" indent="0" algn="l" rtl="0">
              <a:lnSpc>
                <a:spcPct val="115000"/>
              </a:lnSpc>
              <a:spcBef>
                <a:spcPts val="0"/>
              </a:spcBef>
              <a:spcAft>
                <a:spcPts val="0"/>
              </a:spcAft>
              <a:buNone/>
            </a:pPr>
            <a:r>
              <a:rPr lang="en" sz="1600" b="1">
                <a:solidFill>
                  <a:schemeClr val="dk1"/>
                </a:solidFill>
                <a:highlight>
                  <a:srgbClr val="FFFFFF"/>
                </a:highlight>
                <a:latin typeface="Calibri"/>
                <a:ea typeface="Calibri"/>
                <a:cs typeface="Calibri"/>
                <a:sym typeface="Calibri"/>
              </a:rPr>
              <a:t>Figure 18. </a:t>
            </a:r>
            <a:r>
              <a:rPr lang="en" sz="1600" b="1">
                <a:solidFill>
                  <a:schemeClr val="dk1"/>
                </a:solidFill>
                <a:highlight>
                  <a:schemeClr val="lt1"/>
                </a:highlight>
                <a:latin typeface="Calibri"/>
                <a:ea typeface="Calibri"/>
                <a:cs typeface="Calibri"/>
                <a:sym typeface="Calibri"/>
              </a:rPr>
              <a:t> Design 1 decided as </a:t>
            </a:r>
            <a:r>
              <a:rPr lang="en" sz="1600" b="1">
                <a:solidFill>
                  <a:schemeClr val="dk1"/>
                </a:solidFill>
                <a:highlight>
                  <a:srgbClr val="FFFFFF"/>
                </a:highlight>
                <a:latin typeface="Calibri"/>
                <a:ea typeface="Calibri"/>
                <a:cs typeface="Calibri"/>
                <a:sym typeface="Calibri"/>
              </a:rPr>
              <a:t>the best concept.</a:t>
            </a:r>
            <a:endParaRPr sz="1600" b="1">
              <a:solidFill>
                <a:schemeClr val="dk1"/>
              </a:solidFill>
              <a:highlight>
                <a:srgbClr val="FFFFFF"/>
              </a:highlight>
              <a:latin typeface="Calibri"/>
              <a:ea typeface="Calibri"/>
              <a:cs typeface="Calibri"/>
              <a:sym typeface="Calibri"/>
            </a:endParaRPr>
          </a:p>
        </p:txBody>
      </p:sp>
      <p:sp>
        <p:nvSpPr>
          <p:cNvPr id="368" name="Google Shape;368;p40"/>
          <p:cNvSpPr txBox="1"/>
          <p:nvPr/>
        </p:nvSpPr>
        <p:spPr>
          <a:xfrm>
            <a:off x="370825" y="946183"/>
            <a:ext cx="10664700" cy="8265000"/>
          </a:xfrm>
          <a:prstGeom prst="rect">
            <a:avLst/>
          </a:prstGeom>
          <a:noFill/>
          <a:ln>
            <a:noFill/>
          </a:ln>
        </p:spPr>
        <p:txBody>
          <a:bodyPr spcFirstLastPara="1" wrap="square" lIns="168825" tIns="168825" rIns="148350" bIns="168825" anchor="t" anchorCtr="0">
            <a:spAutoFit/>
          </a:bodyPr>
          <a:lstStyle/>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Using the Composite Criterion Method, we are able to come to a conclusion on the best concept for further design and development. </a:t>
            </a:r>
            <a:endParaRPr sz="1800">
              <a:solidFill>
                <a:schemeClr val="dk1"/>
              </a:solidFill>
              <a:highlight>
                <a:srgbClr val="FFFFFF"/>
              </a:highlight>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From the method, we were able to rank the concepts, with the order from highest to lowest being: Design 1 (score of 388), Design 4 </a:t>
            </a:r>
            <a:r>
              <a:rPr lang="en" sz="1800">
                <a:solidFill>
                  <a:schemeClr val="dk1"/>
                </a:solidFill>
                <a:highlight>
                  <a:schemeClr val="lt1"/>
                </a:highlight>
                <a:latin typeface="Calibri"/>
                <a:ea typeface="Calibri"/>
                <a:cs typeface="Calibri"/>
                <a:sym typeface="Calibri"/>
              </a:rPr>
              <a:t>(score of 376)</a:t>
            </a:r>
            <a:r>
              <a:rPr lang="en" sz="1800">
                <a:solidFill>
                  <a:schemeClr val="dk1"/>
                </a:solidFill>
                <a:highlight>
                  <a:srgbClr val="FFFFFF"/>
                </a:highlight>
                <a:latin typeface="Calibri"/>
                <a:ea typeface="Calibri"/>
                <a:cs typeface="Calibri"/>
                <a:sym typeface="Calibri"/>
              </a:rPr>
              <a:t>, Design 3 </a:t>
            </a:r>
            <a:r>
              <a:rPr lang="en" sz="1800">
                <a:solidFill>
                  <a:schemeClr val="dk1"/>
                </a:solidFill>
                <a:highlight>
                  <a:schemeClr val="lt1"/>
                </a:highlight>
                <a:latin typeface="Calibri"/>
                <a:ea typeface="Calibri"/>
                <a:cs typeface="Calibri"/>
                <a:sym typeface="Calibri"/>
              </a:rPr>
              <a:t>(score of 362)</a:t>
            </a:r>
            <a:r>
              <a:rPr lang="en" sz="1800">
                <a:solidFill>
                  <a:schemeClr val="dk1"/>
                </a:solidFill>
                <a:highlight>
                  <a:srgbClr val="FFFFFF"/>
                </a:highlight>
                <a:latin typeface="Calibri"/>
                <a:ea typeface="Calibri"/>
                <a:cs typeface="Calibri"/>
                <a:sym typeface="Calibri"/>
              </a:rPr>
              <a:t>, Design 5 </a:t>
            </a:r>
            <a:r>
              <a:rPr lang="en" sz="1800">
                <a:solidFill>
                  <a:schemeClr val="dk1"/>
                </a:solidFill>
                <a:highlight>
                  <a:schemeClr val="lt1"/>
                </a:highlight>
                <a:latin typeface="Calibri"/>
                <a:ea typeface="Calibri"/>
                <a:cs typeface="Calibri"/>
                <a:sym typeface="Calibri"/>
              </a:rPr>
              <a:t>(score of 337) </a:t>
            </a:r>
            <a:r>
              <a:rPr lang="en" sz="1800">
                <a:solidFill>
                  <a:schemeClr val="dk1"/>
                </a:solidFill>
                <a:highlight>
                  <a:srgbClr val="FFFFFF"/>
                </a:highlight>
                <a:latin typeface="Calibri"/>
                <a:ea typeface="Calibri"/>
                <a:cs typeface="Calibri"/>
                <a:sym typeface="Calibri"/>
              </a:rPr>
              <a:t>and Design 2 (score of 310). </a:t>
            </a:r>
            <a:endParaRPr sz="1800">
              <a:solidFill>
                <a:schemeClr val="dk1"/>
              </a:solidFill>
              <a:highlight>
                <a:srgbClr val="FFFFFF"/>
              </a:highlight>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From this, we can see that Designs 1, 4 and 3 all have values quite close to one another, while the score values of Designs 5 and 2 are further away from the rest. To accurately determine whether the ranking is as clear as mentioned, it is best to determine the sensitivity of the decision.</a:t>
            </a:r>
            <a:endParaRPr sz="1800">
              <a:solidFill>
                <a:schemeClr val="dk1"/>
              </a:solidFill>
              <a:highlight>
                <a:srgbClr val="FFFFFF"/>
              </a:highlight>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We are able to calculate the sensitivity of the decision as it is equal to the largest weighting (which was 12) multiplied by the incremental score (which was 1/10 or 0.1). Hence, the sensitivity of the decision was 1.2. </a:t>
            </a:r>
            <a:endParaRPr sz="1800">
              <a:solidFill>
                <a:schemeClr val="dk1"/>
              </a:solidFill>
              <a:highlight>
                <a:srgbClr val="FFFFFF"/>
              </a:highlight>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Since the sensitivity of the decision is quite small and the score difference between the first best concept (Design 1) and the second (Design 4) is significant (higher by 12 points), it is evident that, when taking the sensitivity into account, Design 1 is the clear winner. </a:t>
            </a:r>
            <a:endParaRPr sz="1800">
              <a:solidFill>
                <a:schemeClr val="dk1"/>
              </a:solidFill>
              <a:highlight>
                <a:srgbClr val="FFFFFF"/>
              </a:highlight>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Out of the options listed, Design 1 would have been the concept that the whole team would have chosen as it seems the most simple, practical and effective solution, indicating that our decision making process was effective and that no adjustments should be made to the Criteria, Weightings or Specifications. </a:t>
            </a:r>
            <a:endParaRPr sz="1800">
              <a:solidFill>
                <a:schemeClr val="dk1"/>
              </a:solidFill>
              <a:highlight>
                <a:srgbClr val="FFFFFF"/>
              </a:highlight>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When reviewing the scores for each requirement it can be seen that, while Design 1 is not necessarily a lot better at one specific requirement when compared to the other designs, it is better overall. Hence, because it is estimated to be somewhat lighter, cheaper and quicker at completing the tasks than others, it has resulted in it being the best conceptual design.</a:t>
            </a:r>
            <a:endParaRPr sz="1800">
              <a:solidFill>
                <a:schemeClr val="dk1"/>
              </a:solidFill>
              <a:latin typeface="Calibri"/>
              <a:ea typeface="Calibri"/>
              <a:cs typeface="Calibri"/>
              <a:sym typeface="Calibri"/>
            </a:endParaRPr>
          </a:p>
          <a:p>
            <a:pPr marL="457200" lvl="0" indent="-342900" algn="just" rtl="0">
              <a:lnSpc>
                <a:spcPct val="115000"/>
              </a:lnSpc>
              <a:spcBef>
                <a:spcPts val="0"/>
              </a:spcBef>
              <a:spcAft>
                <a:spcPts val="0"/>
              </a:spcAft>
              <a:buClr>
                <a:schemeClr val="dk1"/>
              </a:buClr>
              <a:buSzPts val="1800"/>
              <a:buFont typeface="Calibri"/>
              <a:buChar char="●"/>
            </a:pPr>
            <a:r>
              <a:rPr lang="en" sz="1800">
                <a:solidFill>
                  <a:schemeClr val="dk1"/>
                </a:solidFill>
                <a:highlight>
                  <a:srgbClr val="FFFFFF"/>
                </a:highlight>
                <a:latin typeface="Calibri"/>
                <a:ea typeface="Calibri"/>
                <a:cs typeface="Calibri"/>
                <a:sym typeface="Calibri"/>
              </a:rPr>
              <a:t>To conclude, the </a:t>
            </a:r>
            <a:r>
              <a:rPr lang="en" sz="1800" b="1">
                <a:solidFill>
                  <a:schemeClr val="dk1"/>
                </a:solidFill>
                <a:highlight>
                  <a:srgbClr val="FFFFFF"/>
                </a:highlight>
                <a:latin typeface="Calibri"/>
                <a:ea typeface="Calibri"/>
                <a:cs typeface="Calibri"/>
                <a:sym typeface="Calibri"/>
              </a:rPr>
              <a:t>winning concept</a:t>
            </a:r>
            <a:r>
              <a:rPr lang="en" sz="1800">
                <a:solidFill>
                  <a:schemeClr val="dk1"/>
                </a:solidFill>
                <a:highlight>
                  <a:srgbClr val="FFFFFF"/>
                </a:highlight>
                <a:latin typeface="Calibri"/>
                <a:ea typeface="Calibri"/>
                <a:cs typeface="Calibri"/>
                <a:sym typeface="Calibri"/>
              </a:rPr>
              <a:t> was </a:t>
            </a:r>
            <a:r>
              <a:rPr lang="en" sz="1800" b="1">
                <a:solidFill>
                  <a:schemeClr val="dk1"/>
                </a:solidFill>
                <a:highlight>
                  <a:srgbClr val="FFFFFF"/>
                </a:highlight>
                <a:latin typeface="Calibri"/>
                <a:ea typeface="Calibri"/>
                <a:cs typeface="Calibri"/>
                <a:sym typeface="Calibri"/>
              </a:rPr>
              <a:t>Design 1</a:t>
            </a:r>
            <a:r>
              <a:rPr lang="en" sz="1800">
                <a:solidFill>
                  <a:schemeClr val="dk1"/>
                </a:solidFill>
                <a:highlight>
                  <a:srgbClr val="FFFFFF"/>
                </a:highlight>
                <a:latin typeface="Calibri"/>
                <a:ea typeface="Calibri"/>
                <a:cs typeface="Calibri"/>
                <a:sym typeface="Calibri"/>
              </a:rPr>
              <a:t>, which incorporated the unique function alternatives of: a button to start the system, LED lights to indicate when it has started and finished, Li-Po battery to power the system, pre-programmed timer to navigate the track, wheels to traverse across the start and deposit zone, a robotic arm to collect and deposit the package, and a motorised pulley to help the system to traverse across the chasm.</a:t>
            </a:r>
            <a:endParaRPr sz="1800" b="1">
              <a:solidFill>
                <a:schemeClr val="dk1"/>
              </a:solidFill>
              <a:highlight>
                <a:srgbClr val="FFFFFF"/>
              </a:highlight>
              <a:latin typeface="Calibri"/>
              <a:ea typeface="Calibri"/>
              <a:cs typeface="Calibri"/>
              <a:sym typeface="Calibri"/>
            </a:endParaRPr>
          </a:p>
        </p:txBody>
      </p:sp>
      <p:pic>
        <p:nvPicPr>
          <p:cNvPr id="369" name="Google Shape;369;p40"/>
          <p:cNvPicPr preferRelativeResize="0"/>
          <p:nvPr/>
        </p:nvPicPr>
        <p:blipFill>
          <a:blip r:embed="rId3">
            <a:alphaModFix/>
          </a:blip>
          <a:stretch>
            <a:fillRect/>
          </a:stretch>
        </p:blipFill>
        <p:spPr>
          <a:xfrm>
            <a:off x="11502100" y="2567275"/>
            <a:ext cx="6199373" cy="4340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1"/>
          <p:cNvSpPr/>
          <p:nvPr/>
        </p:nvSpPr>
        <p:spPr>
          <a:xfrm>
            <a:off x="2139250" y="2992275"/>
            <a:ext cx="13036800" cy="5610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41"/>
          <p:cNvSpPr txBox="1"/>
          <p:nvPr/>
        </p:nvSpPr>
        <p:spPr>
          <a:xfrm>
            <a:off x="0" y="111067"/>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Recommended Concept (Further development):</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600" b="1">
                <a:solidFill>
                  <a:schemeClr val="dk1"/>
                </a:solidFill>
                <a:highlight>
                  <a:srgbClr val="FFFFFF"/>
                </a:highlight>
                <a:latin typeface="Calibri"/>
                <a:ea typeface="Calibri"/>
                <a:cs typeface="Calibri"/>
                <a:sym typeface="Calibri"/>
              </a:rPr>
              <a:t>    Concept:  </a:t>
            </a:r>
            <a:r>
              <a:rPr lang="en" sz="1600" b="1">
                <a:solidFill>
                  <a:schemeClr val="dk1"/>
                </a:solidFill>
                <a:highlight>
                  <a:schemeClr val="lt1"/>
                </a:highlight>
                <a:latin typeface="Calibri"/>
                <a:ea typeface="Calibri"/>
                <a:cs typeface="Calibri"/>
                <a:sym typeface="Calibri"/>
              </a:rPr>
              <a:t>Button /  LED lights /  Battery / Pre-programmed timer / Does not transverse along the ground  /  Robotic Arm (for package retrieval) / Robotic Arm (for depositing package) / Motorised Pulley</a:t>
            </a:r>
            <a:endParaRPr sz="1600" b="1">
              <a:solidFill>
                <a:srgbClr val="9900FF"/>
              </a:solidFill>
              <a:highlight>
                <a:srgbClr val="FFFFFF"/>
              </a:highlight>
              <a:latin typeface="Calibri"/>
              <a:ea typeface="Calibri"/>
              <a:cs typeface="Calibri"/>
              <a:sym typeface="Calibri"/>
            </a:endParaRPr>
          </a:p>
        </p:txBody>
      </p:sp>
      <p:graphicFrame>
        <p:nvGraphicFramePr>
          <p:cNvPr id="376" name="Google Shape;376;p41"/>
          <p:cNvGraphicFramePr/>
          <p:nvPr/>
        </p:nvGraphicFramePr>
        <p:xfrm>
          <a:off x="10196975" y="7307604"/>
          <a:ext cx="3000000" cy="3000000"/>
        </p:xfrm>
        <a:graphic>
          <a:graphicData uri="http://schemas.openxmlformats.org/drawingml/2006/table">
            <a:tbl>
              <a:tblPr>
                <a:noFill/>
                <a:tableStyleId>{56DC45DD-F23F-474C-AD18-9CBBB8028203}</a:tableStyleId>
              </a:tblPr>
              <a:tblGrid>
                <a:gridCol w="792925">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1424350">
                  <a:extLst>
                    <a:ext uri="{9D8B030D-6E8A-4147-A177-3AD203B41FA5}">
                      <a16:colId xmlns:a16="http://schemas.microsoft.com/office/drawing/2014/main" val="20002"/>
                    </a:ext>
                  </a:extLst>
                </a:gridCol>
                <a:gridCol w="623900">
                  <a:extLst>
                    <a:ext uri="{9D8B030D-6E8A-4147-A177-3AD203B41FA5}">
                      <a16:colId xmlns:a16="http://schemas.microsoft.com/office/drawing/2014/main" val="20003"/>
                    </a:ext>
                  </a:extLst>
                </a:gridCol>
                <a:gridCol w="874625">
                  <a:extLst>
                    <a:ext uri="{9D8B030D-6E8A-4147-A177-3AD203B41FA5}">
                      <a16:colId xmlns:a16="http://schemas.microsoft.com/office/drawing/2014/main" val="20004"/>
                    </a:ext>
                  </a:extLst>
                </a:gridCol>
                <a:gridCol w="880275">
                  <a:extLst>
                    <a:ext uri="{9D8B030D-6E8A-4147-A177-3AD203B41FA5}">
                      <a16:colId xmlns:a16="http://schemas.microsoft.com/office/drawing/2014/main" val="20005"/>
                    </a:ext>
                  </a:extLst>
                </a:gridCol>
              </a:tblGrid>
              <a:tr h="363200">
                <a:tc rowSpan="3" gridSpan="2">
                  <a:txBody>
                    <a:bodyPr/>
                    <a:lstStyle/>
                    <a:p>
                      <a:pPr marL="0" lvl="0" indent="0" algn="l" rtl="0">
                        <a:spcBef>
                          <a:spcPts val="0"/>
                        </a:spcBef>
                        <a:spcAft>
                          <a:spcPts val="0"/>
                        </a:spcAft>
                        <a:buNone/>
                      </a:pPr>
                      <a:r>
                        <a:rPr lang="en" sz="1300"/>
                        <a:t>Notes:</a:t>
                      </a:r>
                      <a:br>
                        <a:rPr lang="en" sz="1300"/>
                      </a:br>
                      <a:r>
                        <a:rPr lang="en" sz="1300"/>
                        <a:t>Isometric Drawing</a:t>
                      </a:r>
                      <a:endParaRPr sz="1300"/>
                    </a:p>
                  </a:txBody>
                  <a:tcPr marL="91425" marR="91425" marT="83800" marB="83800"/>
                </a:tc>
                <a:tc rowSpan="3" hMerge="1">
                  <a:txBody>
                    <a:bodyPr/>
                    <a:lstStyle/>
                    <a:p>
                      <a:endParaRPr lang="en-US"/>
                    </a:p>
                  </a:txBody>
                  <a:tcPr/>
                </a:tc>
                <a:tc gridSpan="2">
                  <a:txBody>
                    <a:bodyPr/>
                    <a:lstStyle/>
                    <a:p>
                      <a:pPr marL="0" lvl="0" indent="0" algn="l" rtl="0">
                        <a:spcBef>
                          <a:spcPts val="0"/>
                        </a:spcBef>
                        <a:spcAft>
                          <a:spcPts val="0"/>
                        </a:spcAft>
                        <a:buNone/>
                      </a:pPr>
                      <a:r>
                        <a:rPr lang="en" sz="1300"/>
                        <a:t>Monash University</a:t>
                      </a:r>
                      <a:endParaRPr sz="1300"/>
                    </a:p>
                  </a:txBody>
                  <a:tcPr marL="91425" marR="91425" marT="83800" marB="83800"/>
                </a:tc>
                <a:tc hMerge="1">
                  <a:txBody>
                    <a:bodyPr/>
                    <a:lstStyle/>
                    <a:p>
                      <a:endParaRPr lang="en-US"/>
                    </a:p>
                  </a:txBody>
                  <a:tcPr/>
                </a:tc>
                <a:tc gridSpan="2">
                  <a:txBody>
                    <a:bodyPr/>
                    <a:lstStyle/>
                    <a:p>
                      <a:pPr marL="0" lvl="0" indent="0" algn="l" rtl="0">
                        <a:spcBef>
                          <a:spcPts val="0"/>
                        </a:spcBef>
                        <a:spcAft>
                          <a:spcPts val="0"/>
                        </a:spcAft>
                        <a:buNone/>
                      </a:pPr>
                      <a:r>
                        <a:rPr lang="en" sz="1300"/>
                        <a:t>Team 21</a:t>
                      </a:r>
                      <a:endParaRPr sz="1300"/>
                    </a:p>
                  </a:txBody>
                  <a:tcPr marL="91425" marR="91425" marT="83800" marB="83800"/>
                </a:tc>
                <a:tc hMerge="1">
                  <a:txBody>
                    <a:bodyPr/>
                    <a:lstStyle/>
                    <a:p>
                      <a:endParaRPr lang="en-US"/>
                    </a:p>
                  </a:txBody>
                  <a:tcPr/>
                </a:tc>
                <a:extLst>
                  <a:ext uri="{0D108BD9-81ED-4DB2-BD59-A6C34878D82A}">
                    <a16:rowId xmlns:a16="http://schemas.microsoft.com/office/drawing/2014/main" val="10000"/>
                  </a:ext>
                </a:extLst>
              </a:tr>
              <a:tr h="558775">
                <a:tc gridSpan="2" vMerge="1">
                  <a:txBody>
                    <a:bodyPr/>
                    <a:lstStyle/>
                    <a:p>
                      <a:endParaRPr lang="en-US"/>
                    </a:p>
                  </a:txBody>
                  <a:tcPr/>
                </a:tc>
                <a:tc hMerge="1" vMerge="1">
                  <a:txBody>
                    <a:bodyPr/>
                    <a:lstStyle/>
                    <a:p>
                      <a:endParaRPr lang="en-US"/>
                    </a:p>
                  </a:txBody>
                  <a:tcPr/>
                </a:tc>
                <a:tc rowSpan="2" gridSpan="2">
                  <a:txBody>
                    <a:bodyPr/>
                    <a:lstStyle/>
                    <a:p>
                      <a:pPr marL="0" lvl="0" indent="0" algn="l" rtl="0">
                        <a:spcBef>
                          <a:spcPts val="0"/>
                        </a:spcBef>
                        <a:spcAft>
                          <a:spcPts val="0"/>
                        </a:spcAft>
                        <a:buNone/>
                      </a:pPr>
                      <a:r>
                        <a:rPr lang="en" sz="1300"/>
                        <a:t>Warman Device</a:t>
                      </a:r>
                      <a:endParaRPr sz="1300"/>
                    </a:p>
                    <a:p>
                      <a:pPr marL="0" lvl="0" indent="0" algn="l" rtl="0">
                        <a:spcBef>
                          <a:spcPts val="0"/>
                        </a:spcBef>
                        <a:spcAft>
                          <a:spcPts val="0"/>
                        </a:spcAft>
                        <a:buNone/>
                      </a:pPr>
                      <a:r>
                        <a:rPr lang="en" sz="1300"/>
                        <a:t>Isometric of recommended concept</a:t>
                      </a:r>
                      <a:endParaRPr sz="1300"/>
                    </a:p>
                  </a:txBody>
                  <a:tcPr marL="91425" marR="91425" marT="83800" marB="83800"/>
                </a:tc>
                <a:tc rowSpan="2" hMerge="1">
                  <a:txBody>
                    <a:bodyPr/>
                    <a:lstStyle/>
                    <a:p>
                      <a:endParaRPr lang="en-US"/>
                    </a:p>
                  </a:txBody>
                  <a:tcPr/>
                </a:tc>
                <a:tc>
                  <a:txBody>
                    <a:bodyPr/>
                    <a:lstStyle/>
                    <a:p>
                      <a:pPr marL="0" lvl="0" indent="0" algn="l" rtl="0">
                        <a:spcBef>
                          <a:spcPts val="0"/>
                        </a:spcBef>
                        <a:spcAft>
                          <a:spcPts val="0"/>
                        </a:spcAft>
                        <a:buNone/>
                      </a:pPr>
                      <a:r>
                        <a:rPr lang="en" sz="1300"/>
                        <a:t>Scale 1:4</a:t>
                      </a:r>
                      <a:endParaRPr sz="1300"/>
                    </a:p>
                  </a:txBody>
                  <a:tcPr marL="91425" marR="91425" marT="83800" marB="83800"/>
                </a:tc>
                <a:tc>
                  <a:txBody>
                    <a:bodyPr/>
                    <a:lstStyle/>
                    <a:p>
                      <a:pPr marL="0" lvl="0" indent="0" algn="l" rtl="0">
                        <a:spcBef>
                          <a:spcPts val="0"/>
                        </a:spcBef>
                        <a:spcAft>
                          <a:spcPts val="0"/>
                        </a:spcAft>
                        <a:buNone/>
                      </a:pPr>
                      <a:r>
                        <a:rPr lang="en" sz="1300"/>
                        <a:t>Date: 28/03/22</a:t>
                      </a:r>
                      <a:endParaRPr sz="1300"/>
                    </a:p>
                  </a:txBody>
                  <a:tcPr marL="91425" marR="91425" marT="83800" marB="83800"/>
                </a:tc>
                <a:extLst>
                  <a:ext uri="{0D108BD9-81ED-4DB2-BD59-A6C34878D82A}">
                    <a16:rowId xmlns:a16="http://schemas.microsoft.com/office/drawing/2014/main" val="10001"/>
                  </a:ext>
                </a:extLst>
              </a:tr>
              <a:tr h="363200">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marL="0" lvl="0" indent="0" algn="l" rtl="0">
                        <a:spcBef>
                          <a:spcPts val="0"/>
                        </a:spcBef>
                        <a:spcAft>
                          <a:spcPts val="0"/>
                        </a:spcAft>
                        <a:buNone/>
                      </a:pPr>
                      <a:endParaRPr/>
                    </a:p>
                  </a:txBody>
                  <a:tcPr marL="91425" marR="91425" marT="83800" marB="83800"/>
                </a:tc>
                <a:tc>
                  <a:txBody>
                    <a:bodyPr/>
                    <a:lstStyle/>
                    <a:p>
                      <a:pPr marL="0" lvl="0" indent="0" algn="l" rtl="0">
                        <a:spcBef>
                          <a:spcPts val="0"/>
                        </a:spcBef>
                        <a:spcAft>
                          <a:spcPts val="0"/>
                        </a:spcAft>
                        <a:buNone/>
                      </a:pPr>
                      <a:r>
                        <a:rPr lang="en" sz="1300"/>
                        <a:t>MEC-I1</a:t>
                      </a:r>
                      <a:endParaRPr sz="1300"/>
                    </a:p>
                  </a:txBody>
                  <a:tcPr marL="91425" marR="91425" marT="83800" marB="83800"/>
                </a:tc>
                <a:extLst>
                  <a:ext uri="{0D108BD9-81ED-4DB2-BD59-A6C34878D82A}">
                    <a16:rowId xmlns:a16="http://schemas.microsoft.com/office/drawing/2014/main" val="10002"/>
                  </a:ext>
                </a:extLst>
              </a:tr>
            </a:tbl>
          </a:graphicData>
        </a:graphic>
      </p:graphicFrame>
      <p:pic>
        <p:nvPicPr>
          <p:cNvPr id="377" name="Google Shape;377;p41"/>
          <p:cNvPicPr preferRelativeResize="0"/>
          <p:nvPr/>
        </p:nvPicPr>
        <p:blipFill>
          <a:blip r:embed="rId3">
            <a:alphaModFix/>
          </a:blip>
          <a:stretch>
            <a:fillRect/>
          </a:stretch>
        </p:blipFill>
        <p:spPr>
          <a:xfrm>
            <a:off x="2139250" y="3002129"/>
            <a:ext cx="8057728" cy="5590846"/>
          </a:xfrm>
          <a:prstGeom prst="rect">
            <a:avLst/>
          </a:prstGeom>
          <a:noFill/>
          <a:ln>
            <a:noFill/>
          </a:ln>
        </p:spPr>
      </p:pic>
      <p:sp>
        <p:nvSpPr>
          <p:cNvPr id="378" name="Google Shape;378;p41"/>
          <p:cNvSpPr txBox="1"/>
          <p:nvPr/>
        </p:nvSpPr>
        <p:spPr>
          <a:xfrm>
            <a:off x="8469950" y="3285446"/>
            <a:ext cx="1881300" cy="615600"/>
          </a:xfrm>
          <a:prstGeom prst="rect">
            <a:avLst/>
          </a:prstGeom>
          <a:solidFill>
            <a:schemeClr val="lt1"/>
          </a:solid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2"/>
          <p:cNvSpPr/>
          <p:nvPr/>
        </p:nvSpPr>
        <p:spPr>
          <a:xfrm>
            <a:off x="4991825" y="2340640"/>
            <a:ext cx="9375300" cy="6747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42"/>
          <p:cNvSpPr txBox="1"/>
          <p:nvPr/>
        </p:nvSpPr>
        <p:spPr>
          <a:xfrm>
            <a:off x="0" y="111067"/>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Recommended Concept (Further development):</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600" b="1">
                <a:solidFill>
                  <a:schemeClr val="dk1"/>
                </a:solidFill>
                <a:highlight>
                  <a:srgbClr val="FFFFFF"/>
                </a:highlight>
                <a:latin typeface="Calibri"/>
                <a:ea typeface="Calibri"/>
                <a:cs typeface="Calibri"/>
                <a:sym typeface="Calibri"/>
              </a:rPr>
              <a:t>    Concept:  </a:t>
            </a:r>
            <a:r>
              <a:rPr lang="en" sz="1600" b="1">
                <a:solidFill>
                  <a:schemeClr val="dk1"/>
                </a:solidFill>
                <a:highlight>
                  <a:schemeClr val="lt1"/>
                </a:highlight>
                <a:latin typeface="Calibri"/>
                <a:ea typeface="Calibri"/>
                <a:cs typeface="Calibri"/>
                <a:sym typeface="Calibri"/>
              </a:rPr>
              <a:t>Button /  LED lights /  Battery / Pre-programmed timer / Does not transverse along the ground  /  Robotic Arm (for package retrieval) / Robotic Arm (for depositing package) / Motorised Pulley</a:t>
            </a:r>
            <a:endParaRPr sz="1600" b="1">
              <a:solidFill>
                <a:srgbClr val="9900FF"/>
              </a:solidFill>
              <a:highlight>
                <a:srgbClr val="FFFFFF"/>
              </a:highlight>
              <a:latin typeface="Calibri"/>
              <a:ea typeface="Calibri"/>
              <a:cs typeface="Calibri"/>
              <a:sym typeface="Calibri"/>
            </a:endParaRPr>
          </a:p>
        </p:txBody>
      </p:sp>
      <p:pic>
        <p:nvPicPr>
          <p:cNvPr id="385" name="Google Shape;385;p42"/>
          <p:cNvPicPr preferRelativeResize="0"/>
          <p:nvPr/>
        </p:nvPicPr>
        <p:blipFill rotWithShape="1">
          <a:blip r:embed="rId3">
            <a:alphaModFix/>
          </a:blip>
          <a:srcRect l="9844" t="10738"/>
          <a:stretch/>
        </p:blipFill>
        <p:spPr>
          <a:xfrm>
            <a:off x="5405875" y="2783458"/>
            <a:ext cx="7335831" cy="6178104"/>
          </a:xfrm>
          <a:prstGeom prst="rect">
            <a:avLst/>
          </a:prstGeom>
          <a:noFill/>
          <a:ln>
            <a:noFill/>
          </a:ln>
        </p:spPr>
      </p:pic>
      <p:graphicFrame>
        <p:nvGraphicFramePr>
          <p:cNvPr id="386" name="Google Shape;386;p42"/>
          <p:cNvGraphicFramePr/>
          <p:nvPr/>
        </p:nvGraphicFramePr>
        <p:xfrm>
          <a:off x="9144000" y="7400310"/>
          <a:ext cx="3000000" cy="3000000"/>
        </p:xfrm>
        <a:graphic>
          <a:graphicData uri="http://schemas.openxmlformats.org/drawingml/2006/table">
            <a:tbl>
              <a:tblPr>
                <a:noFill/>
                <a:tableStyleId>{56DC45DD-F23F-474C-AD18-9CBBB8028203}</a:tableStyleId>
              </a:tblPr>
              <a:tblGrid>
                <a:gridCol w="831825">
                  <a:extLst>
                    <a:ext uri="{9D8B030D-6E8A-4147-A177-3AD203B41FA5}">
                      <a16:colId xmlns:a16="http://schemas.microsoft.com/office/drawing/2014/main" val="20000"/>
                    </a:ext>
                  </a:extLst>
                </a:gridCol>
                <a:gridCol w="401625">
                  <a:extLst>
                    <a:ext uri="{9D8B030D-6E8A-4147-A177-3AD203B41FA5}">
                      <a16:colId xmlns:a16="http://schemas.microsoft.com/office/drawing/2014/main" val="20001"/>
                    </a:ext>
                  </a:extLst>
                </a:gridCol>
                <a:gridCol w="1494200">
                  <a:extLst>
                    <a:ext uri="{9D8B030D-6E8A-4147-A177-3AD203B41FA5}">
                      <a16:colId xmlns:a16="http://schemas.microsoft.com/office/drawing/2014/main" val="20002"/>
                    </a:ext>
                  </a:extLst>
                </a:gridCol>
                <a:gridCol w="654500">
                  <a:extLst>
                    <a:ext uri="{9D8B030D-6E8A-4147-A177-3AD203B41FA5}">
                      <a16:colId xmlns:a16="http://schemas.microsoft.com/office/drawing/2014/main" val="20003"/>
                    </a:ext>
                  </a:extLst>
                </a:gridCol>
                <a:gridCol w="917525">
                  <a:extLst>
                    <a:ext uri="{9D8B030D-6E8A-4147-A177-3AD203B41FA5}">
                      <a16:colId xmlns:a16="http://schemas.microsoft.com/office/drawing/2014/main" val="20004"/>
                    </a:ext>
                  </a:extLst>
                </a:gridCol>
                <a:gridCol w="923450">
                  <a:extLst>
                    <a:ext uri="{9D8B030D-6E8A-4147-A177-3AD203B41FA5}">
                      <a16:colId xmlns:a16="http://schemas.microsoft.com/office/drawing/2014/main" val="20005"/>
                    </a:ext>
                  </a:extLst>
                </a:gridCol>
              </a:tblGrid>
              <a:tr h="548600">
                <a:tc rowSpan="3" gridSpan="2">
                  <a:txBody>
                    <a:bodyPr/>
                    <a:lstStyle/>
                    <a:p>
                      <a:pPr marL="0" lvl="0" indent="0" algn="l" rtl="0">
                        <a:spcBef>
                          <a:spcPts val="0"/>
                        </a:spcBef>
                        <a:spcAft>
                          <a:spcPts val="0"/>
                        </a:spcAft>
                        <a:buNone/>
                      </a:pPr>
                      <a:r>
                        <a:rPr lang="en" sz="1300"/>
                        <a:t>Notes:</a:t>
                      </a:r>
                      <a:br>
                        <a:rPr lang="en" sz="1300"/>
                      </a:br>
                      <a:r>
                        <a:rPr lang="en" sz="1300"/>
                        <a:t>Third Angle Projection (Orthogonal)</a:t>
                      </a:r>
                      <a:endParaRPr sz="1300"/>
                    </a:p>
                  </a:txBody>
                  <a:tcPr marL="91425" marR="91425" marT="83800" marB="83800">
                    <a:solidFill>
                      <a:schemeClr val="lt1"/>
                    </a:solidFill>
                  </a:tcPr>
                </a:tc>
                <a:tc rowSpan="3" hMerge="1">
                  <a:txBody>
                    <a:bodyPr/>
                    <a:lstStyle/>
                    <a:p>
                      <a:endParaRPr lang="en-US"/>
                    </a:p>
                  </a:txBody>
                  <a:tcPr/>
                </a:tc>
                <a:tc gridSpan="2">
                  <a:txBody>
                    <a:bodyPr/>
                    <a:lstStyle/>
                    <a:p>
                      <a:pPr marL="0" lvl="0" indent="0" algn="l" rtl="0">
                        <a:spcBef>
                          <a:spcPts val="0"/>
                        </a:spcBef>
                        <a:spcAft>
                          <a:spcPts val="0"/>
                        </a:spcAft>
                        <a:buNone/>
                      </a:pPr>
                      <a:r>
                        <a:rPr lang="en" sz="1300"/>
                        <a:t>Monash University</a:t>
                      </a:r>
                      <a:endParaRPr sz="1300"/>
                    </a:p>
                  </a:txBody>
                  <a:tcPr marL="91425" marR="91425" marT="83800" marB="83800">
                    <a:solidFill>
                      <a:schemeClr val="lt1"/>
                    </a:solidFill>
                  </a:tcPr>
                </a:tc>
                <a:tc hMerge="1">
                  <a:txBody>
                    <a:bodyPr/>
                    <a:lstStyle/>
                    <a:p>
                      <a:endParaRPr lang="en-US"/>
                    </a:p>
                  </a:txBody>
                  <a:tcPr/>
                </a:tc>
                <a:tc gridSpan="2">
                  <a:txBody>
                    <a:bodyPr/>
                    <a:lstStyle/>
                    <a:p>
                      <a:pPr marL="0" lvl="0" indent="0" algn="l" rtl="0">
                        <a:spcBef>
                          <a:spcPts val="0"/>
                        </a:spcBef>
                        <a:spcAft>
                          <a:spcPts val="0"/>
                        </a:spcAft>
                        <a:buNone/>
                      </a:pPr>
                      <a:r>
                        <a:rPr lang="en" sz="1300"/>
                        <a:t>Team 21</a:t>
                      </a:r>
                      <a:endParaRPr sz="1300"/>
                    </a:p>
                  </a:txBody>
                  <a:tcPr marL="91425" marR="91425" marT="83800" marB="83800">
                    <a:solidFill>
                      <a:schemeClr val="lt1"/>
                    </a:solidFill>
                  </a:tcPr>
                </a:tc>
                <a:tc hMerge="1">
                  <a:txBody>
                    <a:bodyPr/>
                    <a:lstStyle/>
                    <a:p>
                      <a:endParaRPr lang="en-US"/>
                    </a:p>
                  </a:txBody>
                  <a:tcPr/>
                </a:tc>
                <a:extLst>
                  <a:ext uri="{0D108BD9-81ED-4DB2-BD59-A6C34878D82A}">
                    <a16:rowId xmlns:a16="http://schemas.microsoft.com/office/drawing/2014/main" val="10000"/>
                  </a:ext>
                </a:extLst>
              </a:tr>
              <a:tr h="691100">
                <a:tc gridSpan="2" vMerge="1">
                  <a:txBody>
                    <a:bodyPr/>
                    <a:lstStyle/>
                    <a:p>
                      <a:endParaRPr lang="en-US"/>
                    </a:p>
                  </a:txBody>
                  <a:tcPr/>
                </a:tc>
                <a:tc hMerge="1" vMerge="1">
                  <a:txBody>
                    <a:bodyPr/>
                    <a:lstStyle/>
                    <a:p>
                      <a:endParaRPr lang="en-US"/>
                    </a:p>
                  </a:txBody>
                  <a:tcPr/>
                </a:tc>
                <a:tc rowSpan="2" gridSpan="2">
                  <a:txBody>
                    <a:bodyPr/>
                    <a:lstStyle/>
                    <a:p>
                      <a:pPr marL="0" lvl="0" indent="0" algn="l" rtl="0">
                        <a:spcBef>
                          <a:spcPts val="0"/>
                        </a:spcBef>
                        <a:spcAft>
                          <a:spcPts val="0"/>
                        </a:spcAft>
                        <a:buNone/>
                      </a:pPr>
                      <a:r>
                        <a:rPr lang="en" sz="1300"/>
                        <a:t>Warman Device</a:t>
                      </a:r>
                      <a:endParaRPr sz="1300"/>
                    </a:p>
                    <a:p>
                      <a:pPr marL="0" lvl="0" indent="0" algn="l" rtl="0">
                        <a:spcBef>
                          <a:spcPts val="0"/>
                        </a:spcBef>
                        <a:spcAft>
                          <a:spcPts val="0"/>
                        </a:spcAft>
                        <a:buNone/>
                      </a:pPr>
                      <a:r>
                        <a:rPr lang="en" sz="1300"/>
                        <a:t>Chassis</a:t>
                      </a:r>
                      <a:endParaRPr sz="1300"/>
                    </a:p>
                  </a:txBody>
                  <a:tcPr marL="91425" marR="91425" marT="83800" marB="83800">
                    <a:solidFill>
                      <a:schemeClr val="lt1"/>
                    </a:solidFill>
                  </a:tcPr>
                </a:tc>
                <a:tc rowSpan="2" hMerge="1">
                  <a:txBody>
                    <a:bodyPr/>
                    <a:lstStyle/>
                    <a:p>
                      <a:endParaRPr lang="en-US"/>
                    </a:p>
                  </a:txBody>
                  <a:tcPr/>
                </a:tc>
                <a:tc>
                  <a:txBody>
                    <a:bodyPr/>
                    <a:lstStyle/>
                    <a:p>
                      <a:pPr marL="0" lvl="0" indent="0" algn="l" rtl="0">
                        <a:spcBef>
                          <a:spcPts val="0"/>
                        </a:spcBef>
                        <a:spcAft>
                          <a:spcPts val="0"/>
                        </a:spcAft>
                        <a:buNone/>
                      </a:pPr>
                      <a:r>
                        <a:rPr lang="en" sz="1300"/>
                        <a:t>Scale 1:4</a:t>
                      </a: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Date: 28/03/22</a:t>
                      </a:r>
                      <a:endParaRPr sz="1300"/>
                    </a:p>
                  </a:txBody>
                  <a:tcPr marL="91425" marR="91425" marT="83800" marB="83800">
                    <a:solidFill>
                      <a:schemeClr val="lt1"/>
                    </a:solidFill>
                  </a:tcPr>
                </a:tc>
                <a:extLst>
                  <a:ext uri="{0D108BD9-81ED-4DB2-BD59-A6C34878D82A}">
                    <a16:rowId xmlns:a16="http://schemas.microsoft.com/office/drawing/2014/main" val="10001"/>
                  </a:ext>
                </a:extLst>
              </a:tr>
              <a:tr h="448250">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marL="0" lvl="0" indent="0" algn="l" rtl="0">
                        <a:spcBef>
                          <a:spcPts val="0"/>
                        </a:spcBef>
                        <a:spcAft>
                          <a:spcPts val="0"/>
                        </a:spcAft>
                        <a:buNone/>
                      </a:pP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MEC-O1</a:t>
                      </a:r>
                      <a:endParaRPr sz="1300"/>
                    </a:p>
                  </a:txBody>
                  <a:tcPr marL="91425" marR="91425" marT="83800" marB="83800">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3"/>
          <p:cNvSpPr/>
          <p:nvPr/>
        </p:nvSpPr>
        <p:spPr>
          <a:xfrm>
            <a:off x="2990500" y="2382806"/>
            <a:ext cx="12905100" cy="6586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3"/>
          <p:cNvSpPr txBox="1"/>
          <p:nvPr/>
        </p:nvSpPr>
        <p:spPr>
          <a:xfrm>
            <a:off x="0" y="111067"/>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Recommended Concept (Further development):</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600" b="1">
                <a:solidFill>
                  <a:schemeClr val="dk1"/>
                </a:solidFill>
                <a:highlight>
                  <a:srgbClr val="FFFFFF"/>
                </a:highlight>
                <a:latin typeface="Calibri"/>
                <a:ea typeface="Calibri"/>
                <a:cs typeface="Calibri"/>
                <a:sym typeface="Calibri"/>
              </a:rPr>
              <a:t>    Concept:  </a:t>
            </a:r>
            <a:r>
              <a:rPr lang="en" sz="1600" b="1">
                <a:solidFill>
                  <a:schemeClr val="dk1"/>
                </a:solidFill>
                <a:highlight>
                  <a:schemeClr val="lt1"/>
                </a:highlight>
                <a:latin typeface="Calibri"/>
                <a:ea typeface="Calibri"/>
                <a:cs typeface="Calibri"/>
                <a:sym typeface="Calibri"/>
              </a:rPr>
              <a:t>Button /  LED lights /  Battery / Pre-programmed timer / Does not transverse along the ground  /  Robotic Arm (for package retrieval) / Robotic Arm (for depositing package) / Motorised Pulley</a:t>
            </a:r>
            <a:endParaRPr sz="1600" b="1">
              <a:solidFill>
                <a:srgbClr val="9900FF"/>
              </a:solidFill>
              <a:highlight>
                <a:srgbClr val="FFFFFF"/>
              </a:highlight>
              <a:latin typeface="Calibri"/>
              <a:ea typeface="Calibri"/>
              <a:cs typeface="Calibri"/>
              <a:sym typeface="Calibri"/>
            </a:endParaRPr>
          </a:p>
        </p:txBody>
      </p:sp>
      <p:pic>
        <p:nvPicPr>
          <p:cNvPr id="393" name="Google Shape;393;p43"/>
          <p:cNvPicPr preferRelativeResize="0"/>
          <p:nvPr/>
        </p:nvPicPr>
        <p:blipFill>
          <a:blip r:embed="rId3">
            <a:alphaModFix/>
          </a:blip>
          <a:stretch>
            <a:fillRect/>
          </a:stretch>
        </p:blipFill>
        <p:spPr>
          <a:xfrm>
            <a:off x="3142900" y="3010012"/>
            <a:ext cx="6671317" cy="5959066"/>
          </a:xfrm>
          <a:prstGeom prst="rect">
            <a:avLst/>
          </a:prstGeom>
          <a:noFill/>
          <a:ln>
            <a:noFill/>
          </a:ln>
        </p:spPr>
      </p:pic>
      <p:graphicFrame>
        <p:nvGraphicFramePr>
          <p:cNvPr id="394" name="Google Shape;394;p43"/>
          <p:cNvGraphicFramePr/>
          <p:nvPr/>
        </p:nvGraphicFramePr>
        <p:xfrm>
          <a:off x="10420700" y="7486600"/>
          <a:ext cx="3000000" cy="3000000"/>
        </p:xfrm>
        <a:graphic>
          <a:graphicData uri="http://schemas.openxmlformats.org/drawingml/2006/table">
            <a:tbl>
              <a:tblPr>
                <a:noFill/>
                <a:tableStyleId>{56DC45DD-F23F-474C-AD18-9CBBB8028203}</a:tableStyleId>
              </a:tblPr>
              <a:tblGrid>
                <a:gridCol w="831825">
                  <a:extLst>
                    <a:ext uri="{9D8B030D-6E8A-4147-A177-3AD203B41FA5}">
                      <a16:colId xmlns:a16="http://schemas.microsoft.com/office/drawing/2014/main" val="20000"/>
                    </a:ext>
                  </a:extLst>
                </a:gridCol>
                <a:gridCol w="401625">
                  <a:extLst>
                    <a:ext uri="{9D8B030D-6E8A-4147-A177-3AD203B41FA5}">
                      <a16:colId xmlns:a16="http://schemas.microsoft.com/office/drawing/2014/main" val="20001"/>
                    </a:ext>
                  </a:extLst>
                </a:gridCol>
                <a:gridCol w="1494200">
                  <a:extLst>
                    <a:ext uri="{9D8B030D-6E8A-4147-A177-3AD203B41FA5}">
                      <a16:colId xmlns:a16="http://schemas.microsoft.com/office/drawing/2014/main" val="20002"/>
                    </a:ext>
                  </a:extLst>
                </a:gridCol>
                <a:gridCol w="654500">
                  <a:extLst>
                    <a:ext uri="{9D8B030D-6E8A-4147-A177-3AD203B41FA5}">
                      <a16:colId xmlns:a16="http://schemas.microsoft.com/office/drawing/2014/main" val="20003"/>
                    </a:ext>
                  </a:extLst>
                </a:gridCol>
                <a:gridCol w="917525">
                  <a:extLst>
                    <a:ext uri="{9D8B030D-6E8A-4147-A177-3AD203B41FA5}">
                      <a16:colId xmlns:a16="http://schemas.microsoft.com/office/drawing/2014/main" val="20004"/>
                    </a:ext>
                  </a:extLst>
                </a:gridCol>
                <a:gridCol w="923450">
                  <a:extLst>
                    <a:ext uri="{9D8B030D-6E8A-4147-A177-3AD203B41FA5}">
                      <a16:colId xmlns:a16="http://schemas.microsoft.com/office/drawing/2014/main" val="20005"/>
                    </a:ext>
                  </a:extLst>
                </a:gridCol>
              </a:tblGrid>
              <a:tr h="447575">
                <a:tc rowSpan="3" gridSpan="2">
                  <a:txBody>
                    <a:bodyPr/>
                    <a:lstStyle/>
                    <a:p>
                      <a:pPr marL="0" lvl="0" indent="0" algn="l" rtl="0">
                        <a:spcBef>
                          <a:spcPts val="0"/>
                        </a:spcBef>
                        <a:spcAft>
                          <a:spcPts val="0"/>
                        </a:spcAft>
                        <a:buNone/>
                      </a:pPr>
                      <a:r>
                        <a:rPr lang="en" sz="1300"/>
                        <a:t>Notes:</a:t>
                      </a:r>
                      <a:br>
                        <a:rPr lang="en" sz="1300"/>
                      </a:br>
                      <a:r>
                        <a:rPr lang="en" sz="1300"/>
                        <a:t>Third Angle Projection (Orthogonal)</a:t>
                      </a:r>
                      <a:endParaRPr sz="1300"/>
                    </a:p>
                  </a:txBody>
                  <a:tcPr marL="91425" marR="91425" marT="83800" marB="83800">
                    <a:solidFill>
                      <a:schemeClr val="lt1"/>
                    </a:solidFill>
                  </a:tcPr>
                </a:tc>
                <a:tc rowSpan="3" hMerge="1">
                  <a:txBody>
                    <a:bodyPr/>
                    <a:lstStyle/>
                    <a:p>
                      <a:endParaRPr lang="en-US"/>
                    </a:p>
                  </a:txBody>
                  <a:tcPr/>
                </a:tc>
                <a:tc gridSpan="2">
                  <a:txBody>
                    <a:bodyPr/>
                    <a:lstStyle/>
                    <a:p>
                      <a:pPr marL="0" lvl="0" indent="0" algn="l" rtl="0">
                        <a:spcBef>
                          <a:spcPts val="0"/>
                        </a:spcBef>
                        <a:spcAft>
                          <a:spcPts val="0"/>
                        </a:spcAft>
                        <a:buNone/>
                      </a:pPr>
                      <a:r>
                        <a:rPr lang="en" sz="1300"/>
                        <a:t>Monash University</a:t>
                      </a:r>
                      <a:endParaRPr sz="1300"/>
                    </a:p>
                  </a:txBody>
                  <a:tcPr marL="91425" marR="91425" marT="83800" marB="83800">
                    <a:solidFill>
                      <a:schemeClr val="lt1"/>
                    </a:solidFill>
                  </a:tcPr>
                </a:tc>
                <a:tc hMerge="1">
                  <a:txBody>
                    <a:bodyPr/>
                    <a:lstStyle/>
                    <a:p>
                      <a:endParaRPr lang="en-US"/>
                    </a:p>
                  </a:txBody>
                  <a:tcPr/>
                </a:tc>
                <a:tc gridSpan="2">
                  <a:txBody>
                    <a:bodyPr/>
                    <a:lstStyle/>
                    <a:p>
                      <a:pPr marL="0" lvl="0" indent="0" algn="l" rtl="0">
                        <a:spcBef>
                          <a:spcPts val="0"/>
                        </a:spcBef>
                        <a:spcAft>
                          <a:spcPts val="0"/>
                        </a:spcAft>
                        <a:buNone/>
                      </a:pPr>
                      <a:r>
                        <a:rPr lang="en" sz="1300"/>
                        <a:t>Team 21</a:t>
                      </a:r>
                      <a:endParaRPr sz="1300"/>
                    </a:p>
                  </a:txBody>
                  <a:tcPr marL="91425" marR="91425" marT="83800" marB="83800">
                    <a:solidFill>
                      <a:schemeClr val="lt1"/>
                    </a:solidFill>
                  </a:tcPr>
                </a:tc>
                <a:tc hMerge="1">
                  <a:txBody>
                    <a:bodyPr/>
                    <a:lstStyle/>
                    <a:p>
                      <a:endParaRPr lang="en-US"/>
                    </a:p>
                  </a:txBody>
                  <a:tcPr/>
                </a:tc>
                <a:extLst>
                  <a:ext uri="{0D108BD9-81ED-4DB2-BD59-A6C34878D82A}">
                    <a16:rowId xmlns:a16="http://schemas.microsoft.com/office/drawing/2014/main" val="10000"/>
                  </a:ext>
                </a:extLst>
              </a:tr>
              <a:tr h="558775">
                <a:tc gridSpan="2" vMerge="1">
                  <a:txBody>
                    <a:bodyPr/>
                    <a:lstStyle/>
                    <a:p>
                      <a:endParaRPr lang="en-US"/>
                    </a:p>
                  </a:txBody>
                  <a:tcPr/>
                </a:tc>
                <a:tc hMerge="1" vMerge="1">
                  <a:txBody>
                    <a:bodyPr/>
                    <a:lstStyle/>
                    <a:p>
                      <a:endParaRPr lang="en-US"/>
                    </a:p>
                  </a:txBody>
                  <a:tcPr/>
                </a:tc>
                <a:tc rowSpan="2" gridSpan="2">
                  <a:txBody>
                    <a:bodyPr/>
                    <a:lstStyle/>
                    <a:p>
                      <a:pPr marL="0" lvl="0" indent="0" algn="l" rtl="0">
                        <a:spcBef>
                          <a:spcPts val="0"/>
                        </a:spcBef>
                        <a:spcAft>
                          <a:spcPts val="0"/>
                        </a:spcAft>
                        <a:buNone/>
                      </a:pPr>
                      <a:r>
                        <a:rPr lang="en" sz="1300"/>
                        <a:t>Warman Device</a:t>
                      </a:r>
                      <a:endParaRPr sz="1300"/>
                    </a:p>
                    <a:p>
                      <a:pPr marL="0" lvl="0" indent="0" algn="l" rtl="0">
                        <a:spcBef>
                          <a:spcPts val="0"/>
                        </a:spcBef>
                        <a:spcAft>
                          <a:spcPts val="0"/>
                        </a:spcAft>
                        <a:buNone/>
                      </a:pPr>
                      <a:r>
                        <a:rPr lang="en" sz="1300"/>
                        <a:t>Pulley System</a:t>
                      </a:r>
                      <a:endParaRPr sz="1300"/>
                    </a:p>
                  </a:txBody>
                  <a:tcPr marL="91425" marR="91425" marT="83800" marB="83800">
                    <a:solidFill>
                      <a:schemeClr val="lt1"/>
                    </a:solidFill>
                  </a:tcPr>
                </a:tc>
                <a:tc rowSpan="2" hMerge="1">
                  <a:txBody>
                    <a:bodyPr/>
                    <a:lstStyle/>
                    <a:p>
                      <a:endParaRPr lang="en-US"/>
                    </a:p>
                  </a:txBody>
                  <a:tcPr/>
                </a:tc>
                <a:tc>
                  <a:txBody>
                    <a:bodyPr/>
                    <a:lstStyle/>
                    <a:p>
                      <a:pPr marL="0" lvl="0" indent="0" algn="l" rtl="0">
                        <a:spcBef>
                          <a:spcPts val="0"/>
                        </a:spcBef>
                        <a:spcAft>
                          <a:spcPts val="0"/>
                        </a:spcAft>
                        <a:buNone/>
                      </a:pPr>
                      <a:r>
                        <a:rPr lang="en" sz="1300"/>
                        <a:t>Scale 1:4</a:t>
                      </a: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Date: 28/03/22</a:t>
                      </a:r>
                      <a:endParaRPr sz="1300"/>
                    </a:p>
                  </a:txBody>
                  <a:tcPr marL="91425" marR="91425" marT="83800" marB="83800">
                    <a:solidFill>
                      <a:schemeClr val="lt1"/>
                    </a:solidFill>
                  </a:tcPr>
                </a:tc>
                <a:extLst>
                  <a:ext uri="{0D108BD9-81ED-4DB2-BD59-A6C34878D82A}">
                    <a16:rowId xmlns:a16="http://schemas.microsoft.com/office/drawing/2014/main" val="10001"/>
                  </a:ext>
                </a:extLst>
              </a:tr>
              <a:tr h="363200">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marL="0" lvl="0" indent="0" algn="l" rtl="0">
                        <a:spcBef>
                          <a:spcPts val="0"/>
                        </a:spcBef>
                        <a:spcAft>
                          <a:spcPts val="0"/>
                        </a:spcAft>
                        <a:buNone/>
                      </a:pP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MEC-O2</a:t>
                      </a:r>
                      <a:endParaRPr sz="1300"/>
                    </a:p>
                  </a:txBody>
                  <a:tcPr marL="91425" marR="91425" marT="83800" marB="83800">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4"/>
          <p:cNvSpPr/>
          <p:nvPr/>
        </p:nvSpPr>
        <p:spPr>
          <a:xfrm>
            <a:off x="9206750" y="3250477"/>
            <a:ext cx="8469300" cy="4901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4"/>
          <p:cNvSpPr/>
          <p:nvPr/>
        </p:nvSpPr>
        <p:spPr>
          <a:xfrm>
            <a:off x="457200" y="3250477"/>
            <a:ext cx="8469300" cy="4901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4"/>
          <p:cNvSpPr txBox="1"/>
          <p:nvPr/>
        </p:nvSpPr>
        <p:spPr>
          <a:xfrm>
            <a:off x="0" y="111067"/>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  Recommended Concept (Further development):</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600" b="1">
                <a:solidFill>
                  <a:schemeClr val="dk1"/>
                </a:solidFill>
                <a:highlight>
                  <a:srgbClr val="FFFFFF"/>
                </a:highlight>
                <a:latin typeface="Calibri"/>
                <a:ea typeface="Calibri"/>
                <a:cs typeface="Calibri"/>
                <a:sym typeface="Calibri"/>
              </a:rPr>
              <a:t>    Concept:  </a:t>
            </a:r>
            <a:r>
              <a:rPr lang="en" sz="1600" b="1">
                <a:solidFill>
                  <a:schemeClr val="dk1"/>
                </a:solidFill>
                <a:highlight>
                  <a:schemeClr val="lt1"/>
                </a:highlight>
                <a:latin typeface="Calibri"/>
                <a:ea typeface="Calibri"/>
                <a:cs typeface="Calibri"/>
                <a:sym typeface="Calibri"/>
              </a:rPr>
              <a:t>Button /  LED lights /  Battery / Pre-programmed timer / Does not transverse along the ground  /  Robotic Arm (for package retrieval) / Robotic Arm (for depositing package) / Motorised Pulley</a:t>
            </a:r>
            <a:endParaRPr sz="1600" b="1">
              <a:solidFill>
                <a:srgbClr val="9900FF"/>
              </a:solidFill>
              <a:highlight>
                <a:srgbClr val="FFFFFF"/>
              </a:highlight>
              <a:latin typeface="Calibri"/>
              <a:ea typeface="Calibri"/>
              <a:cs typeface="Calibri"/>
              <a:sym typeface="Calibri"/>
            </a:endParaRPr>
          </a:p>
        </p:txBody>
      </p:sp>
      <p:pic>
        <p:nvPicPr>
          <p:cNvPr id="402" name="Google Shape;402;p44"/>
          <p:cNvPicPr preferRelativeResize="0"/>
          <p:nvPr/>
        </p:nvPicPr>
        <p:blipFill rotWithShape="1">
          <a:blip r:embed="rId3">
            <a:alphaModFix/>
          </a:blip>
          <a:srcRect b="10968"/>
          <a:stretch/>
        </p:blipFill>
        <p:spPr>
          <a:xfrm>
            <a:off x="9399900" y="4241417"/>
            <a:ext cx="5010150" cy="3886460"/>
          </a:xfrm>
          <a:prstGeom prst="rect">
            <a:avLst/>
          </a:prstGeom>
          <a:noFill/>
          <a:ln>
            <a:noFill/>
          </a:ln>
        </p:spPr>
      </p:pic>
      <p:pic>
        <p:nvPicPr>
          <p:cNvPr id="403" name="Google Shape;403;p44"/>
          <p:cNvPicPr preferRelativeResize="0"/>
          <p:nvPr/>
        </p:nvPicPr>
        <p:blipFill>
          <a:blip r:embed="rId4">
            <a:alphaModFix/>
          </a:blip>
          <a:stretch>
            <a:fillRect/>
          </a:stretch>
        </p:blipFill>
        <p:spPr>
          <a:xfrm>
            <a:off x="457200" y="3368503"/>
            <a:ext cx="7254545" cy="4665558"/>
          </a:xfrm>
          <a:prstGeom prst="rect">
            <a:avLst/>
          </a:prstGeom>
          <a:noFill/>
          <a:ln>
            <a:noFill/>
          </a:ln>
        </p:spPr>
      </p:pic>
      <p:graphicFrame>
        <p:nvGraphicFramePr>
          <p:cNvPr id="404" name="Google Shape;404;p44"/>
          <p:cNvGraphicFramePr/>
          <p:nvPr/>
        </p:nvGraphicFramePr>
        <p:xfrm>
          <a:off x="3703575" y="6832925"/>
          <a:ext cx="3000000" cy="3000000"/>
        </p:xfrm>
        <a:graphic>
          <a:graphicData uri="http://schemas.openxmlformats.org/drawingml/2006/table">
            <a:tbl>
              <a:tblPr>
                <a:noFill/>
                <a:tableStyleId>{56DC45DD-F23F-474C-AD18-9CBBB8028203}</a:tableStyleId>
              </a:tblPr>
              <a:tblGrid>
                <a:gridCol w="831825">
                  <a:extLst>
                    <a:ext uri="{9D8B030D-6E8A-4147-A177-3AD203B41FA5}">
                      <a16:colId xmlns:a16="http://schemas.microsoft.com/office/drawing/2014/main" val="20000"/>
                    </a:ext>
                  </a:extLst>
                </a:gridCol>
                <a:gridCol w="401625">
                  <a:extLst>
                    <a:ext uri="{9D8B030D-6E8A-4147-A177-3AD203B41FA5}">
                      <a16:colId xmlns:a16="http://schemas.microsoft.com/office/drawing/2014/main" val="20001"/>
                    </a:ext>
                  </a:extLst>
                </a:gridCol>
                <a:gridCol w="1494200">
                  <a:extLst>
                    <a:ext uri="{9D8B030D-6E8A-4147-A177-3AD203B41FA5}">
                      <a16:colId xmlns:a16="http://schemas.microsoft.com/office/drawing/2014/main" val="20002"/>
                    </a:ext>
                  </a:extLst>
                </a:gridCol>
                <a:gridCol w="654500">
                  <a:extLst>
                    <a:ext uri="{9D8B030D-6E8A-4147-A177-3AD203B41FA5}">
                      <a16:colId xmlns:a16="http://schemas.microsoft.com/office/drawing/2014/main" val="20003"/>
                    </a:ext>
                  </a:extLst>
                </a:gridCol>
                <a:gridCol w="917525">
                  <a:extLst>
                    <a:ext uri="{9D8B030D-6E8A-4147-A177-3AD203B41FA5}">
                      <a16:colId xmlns:a16="http://schemas.microsoft.com/office/drawing/2014/main" val="20004"/>
                    </a:ext>
                  </a:extLst>
                </a:gridCol>
                <a:gridCol w="923450">
                  <a:extLst>
                    <a:ext uri="{9D8B030D-6E8A-4147-A177-3AD203B41FA5}">
                      <a16:colId xmlns:a16="http://schemas.microsoft.com/office/drawing/2014/main" val="20005"/>
                    </a:ext>
                  </a:extLst>
                </a:gridCol>
              </a:tblGrid>
              <a:tr h="324900">
                <a:tc rowSpan="3" gridSpan="2">
                  <a:txBody>
                    <a:bodyPr/>
                    <a:lstStyle/>
                    <a:p>
                      <a:pPr marL="0" lvl="0" indent="0" algn="l" rtl="0">
                        <a:spcBef>
                          <a:spcPts val="0"/>
                        </a:spcBef>
                        <a:spcAft>
                          <a:spcPts val="0"/>
                        </a:spcAft>
                        <a:buNone/>
                      </a:pPr>
                      <a:r>
                        <a:rPr lang="en" sz="1300"/>
                        <a:t>Notes:</a:t>
                      </a:r>
                      <a:br>
                        <a:rPr lang="en" sz="1300"/>
                      </a:br>
                      <a:r>
                        <a:rPr lang="en" sz="1300"/>
                        <a:t>Isometric</a:t>
                      </a:r>
                      <a:endParaRPr sz="1300"/>
                    </a:p>
                    <a:p>
                      <a:pPr marL="0" lvl="0" indent="0" algn="l" rtl="0">
                        <a:spcBef>
                          <a:spcPts val="0"/>
                        </a:spcBef>
                        <a:spcAft>
                          <a:spcPts val="0"/>
                        </a:spcAft>
                        <a:buNone/>
                      </a:pPr>
                      <a:r>
                        <a:rPr lang="en" sz="1300"/>
                        <a:t>Drawing</a:t>
                      </a:r>
                      <a:endParaRPr sz="1300"/>
                    </a:p>
                  </a:txBody>
                  <a:tcPr marL="91425" marR="91425" marT="83800" marB="83800">
                    <a:solidFill>
                      <a:schemeClr val="lt1"/>
                    </a:solidFill>
                  </a:tcPr>
                </a:tc>
                <a:tc rowSpan="3" hMerge="1">
                  <a:txBody>
                    <a:bodyPr/>
                    <a:lstStyle/>
                    <a:p>
                      <a:endParaRPr lang="en-US"/>
                    </a:p>
                  </a:txBody>
                  <a:tcPr/>
                </a:tc>
                <a:tc gridSpan="2">
                  <a:txBody>
                    <a:bodyPr/>
                    <a:lstStyle/>
                    <a:p>
                      <a:pPr marL="0" lvl="0" indent="0" algn="l" rtl="0">
                        <a:spcBef>
                          <a:spcPts val="0"/>
                        </a:spcBef>
                        <a:spcAft>
                          <a:spcPts val="0"/>
                        </a:spcAft>
                        <a:buNone/>
                      </a:pPr>
                      <a:r>
                        <a:rPr lang="en" sz="1300"/>
                        <a:t>Monash University</a:t>
                      </a:r>
                      <a:endParaRPr sz="1300"/>
                    </a:p>
                  </a:txBody>
                  <a:tcPr marL="91425" marR="91425" marT="83800" marB="83800">
                    <a:solidFill>
                      <a:schemeClr val="lt1"/>
                    </a:solidFill>
                  </a:tcPr>
                </a:tc>
                <a:tc hMerge="1">
                  <a:txBody>
                    <a:bodyPr/>
                    <a:lstStyle/>
                    <a:p>
                      <a:endParaRPr lang="en-US"/>
                    </a:p>
                  </a:txBody>
                  <a:tcPr/>
                </a:tc>
                <a:tc gridSpan="2">
                  <a:txBody>
                    <a:bodyPr/>
                    <a:lstStyle/>
                    <a:p>
                      <a:pPr marL="0" lvl="0" indent="0" algn="l" rtl="0">
                        <a:spcBef>
                          <a:spcPts val="0"/>
                        </a:spcBef>
                        <a:spcAft>
                          <a:spcPts val="0"/>
                        </a:spcAft>
                        <a:buNone/>
                      </a:pPr>
                      <a:r>
                        <a:rPr lang="en" sz="1300"/>
                        <a:t>Team 21</a:t>
                      </a:r>
                      <a:endParaRPr sz="1300"/>
                    </a:p>
                  </a:txBody>
                  <a:tcPr marL="91425" marR="91425" marT="83800" marB="83800">
                    <a:solidFill>
                      <a:schemeClr val="lt1"/>
                    </a:solidFill>
                  </a:tcPr>
                </a:tc>
                <a:tc hMerge="1">
                  <a:txBody>
                    <a:bodyPr/>
                    <a:lstStyle/>
                    <a:p>
                      <a:endParaRPr lang="en-US"/>
                    </a:p>
                  </a:txBody>
                  <a:tcPr/>
                </a:tc>
                <a:extLst>
                  <a:ext uri="{0D108BD9-81ED-4DB2-BD59-A6C34878D82A}">
                    <a16:rowId xmlns:a16="http://schemas.microsoft.com/office/drawing/2014/main" val="10000"/>
                  </a:ext>
                </a:extLst>
              </a:tr>
              <a:tr h="537250">
                <a:tc gridSpan="2" vMerge="1">
                  <a:txBody>
                    <a:bodyPr/>
                    <a:lstStyle/>
                    <a:p>
                      <a:endParaRPr lang="en-US"/>
                    </a:p>
                  </a:txBody>
                  <a:tcPr/>
                </a:tc>
                <a:tc hMerge="1" vMerge="1">
                  <a:txBody>
                    <a:bodyPr/>
                    <a:lstStyle/>
                    <a:p>
                      <a:endParaRPr lang="en-US"/>
                    </a:p>
                  </a:txBody>
                  <a:tcPr/>
                </a:tc>
                <a:tc rowSpan="2" gridSpan="2">
                  <a:txBody>
                    <a:bodyPr/>
                    <a:lstStyle/>
                    <a:p>
                      <a:pPr marL="0" lvl="0" indent="0" algn="l" rtl="0">
                        <a:spcBef>
                          <a:spcPts val="0"/>
                        </a:spcBef>
                        <a:spcAft>
                          <a:spcPts val="0"/>
                        </a:spcAft>
                        <a:buNone/>
                      </a:pPr>
                      <a:r>
                        <a:rPr lang="en" sz="1300"/>
                        <a:t>Warman Device</a:t>
                      </a:r>
                      <a:endParaRPr sz="1300"/>
                    </a:p>
                    <a:p>
                      <a:pPr marL="0" lvl="0" indent="0" algn="l" rtl="0">
                        <a:spcBef>
                          <a:spcPts val="0"/>
                        </a:spcBef>
                        <a:spcAft>
                          <a:spcPts val="0"/>
                        </a:spcAft>
                        <a:buNone/>
                      </a:pPr>
                      <a:r>
                        <a:rPr lang="en" sz="1300"/>
                        <a:t>Arm</a:t>
                      </a:r>
                      <a:endParaRPr sz="1300"/>
                    </a:p>
                  </a:txBody>
                  <a:tcPr marL="91425" marR="91425" marT="83800" marB="83800">
                    <a:solidFill>
                      <a:schemeClr val="lt1"/>
                    </a:solidFill>
                  </a:tcPr>
                </a:tc>
                <a:tc rowSpan="2" hMerge="1">
                  <a:txBody>
                    <a:bodyPr/>
                    <a:lstStyle/>
                    <a:p>
                      <a:endParaRPr lang="en-US"/>
                    </a:p>
                  </a:txBody>
                  <a:tcPr/>
                </a:tc>
                <a:tc>
                  <a:txBody>
                    <a:bodyPr/>
                    <a:lstStyle/>
                    <a:p>
                      <a:pPr marL="0" lvl="0" indent="0" algn="l" rtl="0">
                        <a:spcBef>
                          <a:spcPts val="0"/>
                        </a:spcBef>
                        <a:spcAft>
                          <a:spcPts val="0"/>
                        </a:spcAft>
                        <a:buNone/>
                      </a:pPr>
                      <a:r>
                        <a:rPr lang="en" sz="1300"/>
                        <a:t>Scale 1:4</a:t>
                      </a: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Date: 28/03/22</a:t>
                      </a:r>
                      <a:endParaRPr sz="1300"/>
                    </a:p>
                  </a:txBody>
                  <a:tcPr marL="91425" marR="91425" marT="83800" marB="83800">
                    <a:solidFill>
                      <a:schemeClr val="lt1"/>
                    </a:solidFill>
                  </a:tcPr>
                </a:tc>
                <a:extLst>
                  <a:ext uri="{0D108BD9-81ED-4DB2-BD59-A6C34878D82A}">
                    <a16:rowId xmlns:a16="http://schemas.microsoft.com/office/drawing/2014/main" val="10001"/>
                  </a:ext>
                </a:extLst>
              </a:tr>
              <a:tr h="0">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marL="0" lvl="0" indent="0" algn="l" rtl="0">
                        <a:spcBef>
                          <a:spcPts val="0"/>
                        </a:spcBef>
                        <a:spcAft>
                          <a:spcPts val="0"/>
                        </a:spcAft>
                        <a:buNone/>
                      </a:pP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MEC-I2</a:t>
                      </a:r>
                      <a:endParaRPr sz="1300"/>
                    </a:p>
                  </a:txBody>
                  <a:tcPr marL="91425" marR="91425" marT="83800" marB="83800">
                    <a:solidFill>
                      <a:schemeClr val="lt1"/>
                    </a:solidFill>
                  </a:tcPr>
                </a:tc>
                <a:extLst>
                  <a:ext uri="{0D108BD9-81ED-4DB2-BD59-A6C34878D82A}">
                    <a16:rowId xmlns:a16="http://schemas.microsoft.com/office/drawing/2014/main" val="10002"/>
                  </a:ext>
                </a:extLst>
              </a:tr>
            </a:tbl>
          </a:graphicData>
        </a:graphic>
      </p:graphicFrame>
      <p:graphicFrame>
        <p:nvGraphicFramePr>
          <p:cNvPr id="405" name="Google Shape;405;p44"/>
          <p:cNvGraphicFramePr/>
          <p:nvPr/>
        </p:nvGraphicFramePr>
        <p:xfrm>
          <a:off x="12452925" y="6758331"/>
          <a:ext cx="3000000" cy="3000000"/>
        </p:xfrm>
        <a:graphic>
          <a:graphicData uri="http://schemas.openxmlformats.org/drawingml/2006/table">
            <a:tbl>
              <a:tblPr>
                <a:noFill/>
                <a:tableStyleId>{56DC45DD-F23F-474C-AD18-9CBBB8028203}</a:tableStyleId>
              </a:tblPr>
              <a:tblGrid>
                <a:gridCol w="831825">
                  <a:extLst>
                    <a:ext uri="{9D8B030D-6E8A-4147-A177-3AD203B41FA5}">
                      <a16:colId xmlns:a16="http://schemas.microsoft.com/office/drawing/2014/main" val="20000"/>
                    </a:ext>
                  </a:extLst>
                </a:gridCol>
                <a:gridCol w="401625">
                  <a:extLst>
                    <a:ext uri="{9D8B030D-6E8A-4147-A177-3AD203B41FA5}">
                      <a16:colId xmlns:a16="http://schemas.microsoft.com/office/drawing/2014/main" val="20001"/>
                    </a:ext>
                  </a:extLst>
                </a:gridCol>
                <a:gridCol w="1494200">
                  <a:extLst>
                    <a:ext uri="{9D8B030D-6E8A-4147-A177-3AD203B41FA5}">
                      <a16:colId xmlns:a16="http://schemas.microsoft.com/office/drawing/2014/main" val="20002"/>
                    </a:ext>
                  </a:extLst>
                </a:gridCol>
                <a:gridCol w="654500">
                  <a:extLst>
                    <a:ext uri="{9D8B030D-6E8A-4147-A177-3AD203B41FA5}">
                      <a16:colId xmlns:a16="http://schemas.microsoft.com/office/drawing/2014/main" val="20003"/>
                    </a:ext>
                  </a:extLst>
                </a:gridCol>
                <a:gridCol w="917525">
                  <a:extLst>
                    <a:ext uri="{9D8B030D-6E8A-4147-A177-3AD203B41FA5}">
                      <a16:colId xmlns:a16="http://schemas.microsoft.com/office/drawing/2014/main" val="20004"/>
                    </a:ext>
                  </a:extLst>
                </a:gridCol>
                <a:gridCol w="923450">
                  <a:extLst>
                    <a:ext uri="{9D8B030D-6E8A-4147-A177-3AD203B41FA5}">
                      <a16:colId xmlns:a16="http://schemas.microsoft.com/office/drawing/2014/main" val="20005"/>
                    </a:ext>
                  </a:extLst>
                </a:gridCol>
              </a:tblGrid>
              <a:tr h="447575">
                <a:tc rowSpan="3" gridSpan="2">
                  <a:txBody>
                    <a:bodyPr/>
                    <a:lstStyle/>
                    <a:p>
                      <a:pPr marL="0" lvl="0" indent="0" algn="l" rtl="0">
                        <a:spcBef>
                          <a:spcPts val="0"/>
                        </a:spcBef>
                        <a:spcAft>
                          <a:spcPts val="0"/>
                        </a:spcAft>
                        <a:buNone/>
                      </a:pPr>
                      <a:r>
                        <a:rPr lang="en" sz="1300"/>
                        <a:t>Notes:</a:t>
                      </a:r>
                      <a:br>
                        <a:rPr lang="en" sz="1300"/>
                      </a:br>
                      <a:r>
                        <a:rPr lang="en" sz="1300"/>
                        <a:t>Third Angle Projection (Orthogonal)</a:t>
                      </a:r>
                      <a:endParaRPr sz="1300"/>
                    </a:p>
                  </a:txBody>
                  <a:tcPr marL="91425" marR="91425" marT="83800" marB="83800">
                    <a:solidFill>
                      <a:schemeClr val="lt1"/>
                    </a:solidFill>
                  </a:tcPr>
                </a:tc>
                <a:tc rowSpan="3" hMerge="1">
                  <a:txBody>
                    <a:bodyPr/>
                    <a:lstStyle/>
                    <a:p>
                      <a:endParaRPr lang="en-US"/>
                    </a:p>
                  </a:txBody>
                  <a:tcPr/>
                </a:tc>
                <a:tc gridSpan="2">
                  <a:txBody>
                    <a:bodyPr/>
                    <a:lstStyle/>
                    <a:p>
                      <a:pPr marL="0" lvl="0" indent="0" algn="l" rtl="0">
                        <a:spcBef>
                          <a:spcPts val="0"/>
                        </a:spcBef>
                        <a:spcAft>
                          <a:spcPts val="0"/>
                        </a:spcAft>
                        <a:buNone/>
                      </a:pPr>
                      <a:r>
                        <a:rPr lang="en" sz="1300"/>
                        <a:t>Monash University</a:t>
                      </a:r>
                      <a:endParaRPr sz="1300"/>
                    </a:p>
                  </a:txBody>
                  <a:tcPr marL="91425" marR="91425" marT="83800" marB="83800">
                    <a:solidFill>
                      <a:schemeClr val="lt1"/>
                    </a:solidFill>
                  </a:tcPr>
                </a:tc>
                <a:tc hMerge="1">
                  <a:txBody>
                    <a:bodyPr/>
                    <a:lstStyle/>
                    <a:p>
                      <a:endParaRPr lang="en-US"/>
                    </a:p>
                  </a:txBody>
                  <a:tcPr/>
                </a:tc>
                <a:tc gridSpan="2">
                  <a:txBody>
                    <a:bodyPr/>
                    <a:lstStyle/>
                    <a:p>
                      <a:pPr marL="0" lvl="0" indent="0" algn="l" rtl="0">
                        <a:spcBef>
                          <a:spcPts val="0"/>
                        </a:spcBef>
                        <a:spcAft>
                          <a:spcPts val="0"/>
                        </a:spcAft>
                        <a:buNone/>
                      </a:pPr>
                      <a:r>
                        <a:rPr lang="en" sz="1300"/>
                        <a:t>Team 21</a:t>
                      </a:r>
                      <a:endParaRPr sz="1300"/>
                    </a:p>
                  </a:txBody>
                  <a:tcPr marL="91425" marR="91425" marT="83800" marB="83800">
                    <a:solidFill>
                      <a:schemeClr val="lt1"/>
                    </a:solidFill>
                  </a:tcPr>
                </a:tc>
                <a:tc hMerge="1">
                  <a:txBody>
                    <a:bodyPr/>
                    <a:lstStyle/>
                    <a:p>
                      <a:endParaRPr lang="en-US"/>
                    </a:p>
                  </a:txBody>
                  <a:tcPr/>
                </a:tc>
                <a:extLst>
                  <a:ext uri="{0D108BD9-81ED-4DB2-BD59-A6C34878D82A}">
                    <a16:rowId xmlns:a16="http://schemas.microsoft.com/office/drawing/2014/main" val="10000"/>
                  </a:ext>
                </a:extLst>
              </a:tr>
              <a:tr h="558775">
                <a:tc gridSpan="2" vMerge="1">
                  <a:txBody>
                    <a:bodyPr/>
                    <a:lstStyle/>
                    <a:p>
                      <a:endParaRPr lang="en-US"/>
                    </a:p>
                  </a:txBody>
                  <a:tcPr/>
                </a:tc>
                <a:tc hMerge="1" vMerge="1">
                  <a:txBody>
                    <a:bodyPr/>
                    <a:lstStyle/>
                    <a:p>
                      <a:endParaRPr lang="en-US"/>
                    </a:p>
                  </a:txBody>
                  <a:tcPr/>
                </a:tc>
                <a:tc rowSpan="2" gridSpan="2">
                  <a:txBody>
                    <a:bodyPr/>
                    <a:lstStyle/>
                    <a:p>
                      <a:pPr marL="0" lvl="0" indent="0" algn="l" rtl="0">
                        <a:spcBef>
                          <a:spcPts val="0"/>
                        </a:spcBef>
                        <a:spcAft>
                          <a:spcPts val="0"/>
                        </a:spcAft>
                        <a:buNone/>
                      </a:pPr>
                      <a:r>
                        <a:rPr lang="en" sz="1300"/>
                        <a:t>Warman Device</a:t>
                      </a:r>
                      <a:endParaRPr sz="1300"/>
                    </a:p>
                    <a:p>
                      <a:pPr marL="0" lvl="0" indent="0" algn="l" rtl="0">
                        <a:spcBef>
                          <a:spcPts val="0"/>
                        </a:spcBef>
                        <a:spcAft>
                          <a:spcPts val="0"/>
                        </a:spcAft>
                        <a:buNone/>
                      </a:pPr>
                      <a:r>
                        <a:rPr lang="en" sz="1300"/>
                        <a:t>Gripper Claw</a:t>
                      </a:r>
                      <a:endParaRPr sz="1300"/>
                    </a:p>
                  </a:txBody>
                  <a:tcPr marL="91425" marR="91425" marT="83800" marB="83800">
                    <a:solidFill>
                      <a:schemeClr val="lt1"/>
                    </a:solidFill>
                  </a:tcPr>
                </a:tc>
                <a:tc rowSpan="2" hMerge="1">
                  <a:txBody>
                    <a:bodyPr/>
                    <a:lstStyle/>
                    <a:p>
                      <a:endParaRPr lang="en-US"/>
                    </a:p>
                  </a:txBody>
                  <a:tcPr/>
                </a:tc>
                <a:tc>
                  <a:txBody>
                    <a:bodyPr/>
                    <a:lstStyle/>
                    <a:p>
                      <a:pPr marL="0" lvl="0" indent="0" algn="l" rtl="0">
                        <a:spcBef>
                          <a:spcPts val="0"/>
                        </a:spcBef>
                        <a:spcAft>
                          <a:spcPts val="0"/>
                        </a:spcAft>
                        <a:buNone/>
                      </a:pPr>
                      <a:r>
                        <a:rPr lang="en" sz="1300"/>
                        <a:t>Scale 1:4</a:t>
                      </a: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Date: 28/03/22</a:t>
                      </a:r>
                      <a:endParaRPr sz="1300"/>
                    </a:p>
                  </a:txBody>
                  <a:tcPr marL="91425" marR="91425" marT="83800" marB="83800">
                    <a:solidFill>
                      <a:schemeClr val="lt1"/>
                    </a:solidFill>
                  </a:tcPr>
                </a:tc>
                <a:extLst>
                  <a:ext uri="{0D108BD9-81ED-4DB2-BD59-A6C34878D82A}">
                    <a16:rowId xmlns:a16="http://schemas.microsoft.com/office/drawing/2014/main" val="10001"/>
                  </a:ext>
                </a:extLst>
              </a:tr>
              <a:tr h="363200">
                <a:tc gridSpan="2" vMerge="1">
                  <a:txBody>
                    <a:bodyPr/>
                    <a:lstStyle/>
                    <a:p>
                      <a:endParaRPr lang="en-US"/>
                    </a:p>
                  </a:txBody>
                  <a:tcPr/>
                </a:tc>
                <a:tc hMerge="1" vMerge="1">
                  <a:txBody>
                    <a:bodyPr/>
                    <a:lstStyle/>
                    <a:p>
                      <a:endParaRPr lang="en-US"/>
                    </a:p>
                  </a:txBody>
                  <a:tcPr/>
                </a:tc>
                <a:tc gridSpan="2" vMerge="1">
                  <a:txBody>
                    <a:bodyPr/>
                    <a:lstStyle/>
                    <a:p>
                      <a:endParaRPr lang="en-US"/>
                    </a:p>
                  </a:txBody>
                  <a:tcPr/>
                </a:tc>
                <a:tc hMerge="1" vMerge="1">
                  <a:txBody>
                    <a:bodyPr/>
                    <a:lstStyle/>
                    <a:p>
                      <a:endParaRPr lang="en-US"/>
                    </a:p>
                  </a:txBody>
                  <a:tcPr/>
                </a:tc>
                <a:tc>
                  <a:txBody>
                    <a:bodyPr/>
                    <a:lstStyle/>
                    <a:p>
                      <a:pPr marL="0" lvl="0" indent="0" algn="l" rtl="0">
                        <a:spcBef>
                          <a:spcPts val="0"/>
                        </a:spcBef>
                        <a:spcAft>
                          <a:spcPts val="0"/>
                        </a:spcAft>
                        <a:buNone/>
                      </a:pPr>
                      <a:endParaRPr sz="1300"/>
                    </a:p>
                  </a:txBody>
                  <a:tcPr marL="91425" marR="91425" marT="83800" marB="83800">
                    <a:solidFill>
                      <a:schemeClr val="lt1"/>
                    </a:solidFill>
                  </a:tcPr>
                </a:tc>
                <a:tc>
                  <a:txBody>
                    <a:bodyPr/>
                    <a:lstStyle/>
                    <a:p>
                      <a:pPr marL="0" lvl="0" indent="0" algn="l" rtl="0">
                        <a:spcBef>
                          <a:spcPts val="0"/>
                        </a:spcBef>
                        <a:spcAft>
                          <a:spcPts val="0"/>
                        </a:spcAft>
                        <a:buNone/>
                      </a:pPr>
                      <a:r>
                        <a:rPr lang="en" sz="1300"/>
                        <a:t>MEC-O3</a:t>
                      </a:r>
                      <a:endParaRPr sz="1300"/>
                    </a:p>
                  </a:txBody>
                  <a:tcPr marL="91425" marR="91425" marT="83800" marB="83800">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45"/>
          <p:cNvSpPr txBox="1"/>
          <p:nvPr/>
        </p:nvSpPr>
        <p:spPr>
          <a:xfrm>
            <a:off x="0" y="131944"/>
            <a:ext cx="17940600" cy="1731000"/>
          </a:xfrm>
          <a:prstGeom prst="rect">
            <a:avLst/>
          </a:prstGeom>
          <a:noFill/>
          <a:ln>
            <a:noFill/>
          </a:ln>
        </p:spPr>
        <p:txBody>
          <a:bodyPr spcFirstLastPara="1" wrap="square" lIns="168825" tIns="168825" rIns="168825" bIns="168825" anchor="t" anchorCtr="0">
            <a:spAutoFit/>
          </a:bodyPr>
          <a:lstStyle/>
          <a:p>
            <a:pPr marL="0" marR="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(Set-up and ready for start)</a:t>
            </a:r>
            <a:endParaRPr sz="4200" b="1">
              <a:solidFill>
                <a:schemeClr val="dk1"/>
              </a:solidFill>
              <a:highlight>
                <a:srgbClr val="FFFFFF"/>
              </a:highlight>
              <a:latin typeface="Calibri"/>
              <a:ea typeface="Calibri"/>
              <a:cs typeface="Calibri"/>
              <a:sym typeface="Calibri"/>
            </a:endParaRPr>
          </a:p>
          <a:p>
            <a:pPr marL="0" marR="0" lvl="0" indent="0" algn="just" rtl="0">
              <a:lnSpc>
                <a:spcPct val="115000"/>
              </a:lnSpc>
              <a:spcBef>
                <a:spcPts val="0"/>
              </a:spcBef>
              <a:spcAft>
                <a:spcPts val="0"/>
              </a:spcAft>
              <a:buNone/>
            </a:pPr>
            <a:endParaRPr sz="4200" b="1">
              <a:solidFill>
                <a:schemeClr val="dk1"/>
              </a:solidFill>
              <a:highlight>
                <a:srgbClr val="FFFFFF"/>
              </a:highlight>
              <a:latin typeface="Calibri"/>
              <a:ea typeface="Calibri"/>
              <a:cs typeface="Calibri"/>
              <a:sym typeface="Calibri"/>
            </a:endParaRPr>
          </a:p>
        </p:txBody>
      </p:sp>
      <p:sp>
        <p:nvSpPr>
          <p:cNvPr id="411" name="Google Shape;411;p45"/>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6AA84F"/>
                </a:solidFill>
                <a:highlight>
                  <a:srgbClr val="FFFFFF"/>
                </a:highlight>
                <a:latin typeface="Calibri"/>
                <a:ea typeface="Calibri"/>
                <a:cs typeface="Calibri"/>
                <a:sym typeface="Calibri"/>
              </a:rPr>
              <a:t>PHASE  1</a:t>
            </a:r>
            <a:endParaRPr sz="6100" b="1">
              <a:solidFill>
                <a:srgbClr val="6AA84F"/>
              </a:solidFill>
              <a:highlight>
                <a:srgbClr val="FFFFFF"/>
              </a:highlight>
              <a:latin typeface="Calibri"/>
              <a:ea typeface="Calibri"/>
              <a:cs typeface="Calibri"/>
              <a:sym typeface="Calibri"/>
            </a:endParaRPr>
          </a:p>
        </p:txBody>
      </p:sp>
      <p:pic>
        <p:nvPicPr>
          <p:cNvPr id="412" name="Google Shape;412;p45"/>
          <p:cNvPicPr preferRelativeResize="0"/>
          <p:nvPr/>
        </p:nvPicPr>
        <p:blipFill rotWithShape="1">
          <a:blip r:embed="rId3">
            <a:alphaModFix/>
          </a:blip>
          <a:srcRect r="1739" b="10281"/>
          <a:stretch/>
        </p:blipFill>
        <p:spPr>
          <a:xfrm>
            <a:off x="5561950" y="1362980"/>
            <a:ext cx="5949500" cy="8235677"/>
          </a:xfrm>
          <a:prstGeom prst="rect">
            <a:avLst/>
          </a:prstGeom>
          <a:noFill/>
          <a:ln>
            <a:noFill/>
          </a:ln>
        </p:spPr>
      </p:pic>
      <p:sp>
        <p:nvSpPr>
          <p:cNvPr id="413" name="Google Shape;413;p45"/>
          <p:cNvSpPr txBox="1"/>
          <p:nvPr/>
        </p:nvSpPr>
        <p:spPr>
          <a:xfrm>
            <a:off x="12429200" y="7626094"/>
            <a:ext cx="32541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will start 50mm away from the pylon.</a:t>
            </a:r>
            <a:endParaRPr sz="1800">
              <a:latin typeface="Calibri"/>
              <a:ea typeface="Calibri"/>
              <a:cs typeface="Calibri"/>
              <a:sym typeface="Calibri"/>
            </a:endParaRPr>
          </a:p>
        </p:txBody>
      </p:sp>
      <p:cxnSp>
        <p:nvCxnSpPr>
          <p:cNvPr id="414" name="Google Shape;414;p45"/>
          <p:cNvCxnSpPr>
            <a:stCxn id="413" idx="1"/>
          </p:cNvCxnSpPr>
          <p:nvPr/>
        </p:nvCxnSpPr>
        <p:spPr>
          <a:xfrm rot="10800000">
            <a:off x="10833200" y="6966244"/>
            <a:ext cx="1596000" cy="1029300"/>
          </a:xfrm>
          <a:prstGeom prst="straightConnector1">
            <a:avLst/>
          </a:prstGeom>
          <a:noFill/>
          <a:ln w="28575" cap="flat" cmpd="sng">
            <a:solidFill>
              <a:schemeClr val="dk1"/>
            </a:solidFill>
            <a:prstDash val="solid"/>
            <a:round/>
            <a:headEnd type="none" w="med" len="med"/>
            <a:tailEnd type="triangle" w="med" len="med"/>
          </a:ln>
        </p:spPr>
      </p:cxnSp>
      <p:sp>
        <p:nvSpPr>
          <p:cNvPr id="415" name="Google Shape;415;p45"/>
          <p:cNvSpPr txBox="1"/>
          <p:nvPr/>
        </p:nvSpPr>
        <p:spPr>
          <a:xfrm>
            <a:off x="2194725" y="2190696"/>
            <a:ext cx="29526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systems fingers should be near the edge of the start zone and align with the wheel.</a:t>
            </a:r>
            <a:endParaRPr sz="1800">
              <a:latin typeface="Calibri"/>
              <a:ea typeface="Calibri"/>
              <a:cs typeface="Calibri"/>
              <a:sym typeface="Calibri"/>
            </a:endParaRPr>
          </a:p>
        </p:txBody>
      </p:sp>
      <p:cxnSp>
        <p:nvCxnSpPr>
          <p:cNvPr id="416" name="Google Shape;416;p45"/>
          <p:cNvCxnSpPr/>
          <p:nvPr/>
        </p:nvCxnSpPr>
        <p:spPr>
          <a:xfrm rot="10800000" flipH="1">
            <a:off x="5127300" y="2798019"/>
            <a:ext cx="2094900" cy="54900"/>
          </a:xfrm>
          <a:prstGeom prst="straightConnector1">
            <a:avLst/>
          </a:prstGeom>
          <a:noFill/>
          <a:ln w="28575" cap="flat" cmpd="sng">
            <a:solidFill>
              <a:schemeClr val="dk1"/>
            </a:solidFill>
            <a:prstDash val="solid"/>
            <a:round/>
            <a:headEnd type="none" w="med" len="med"/>
            <a:tailEnd type="triangle" w="med" len="med"/>
          </a:ln>
        </p:spPr>
      </p:cxnSp>
      <p:sp>
        <p:nvSpPr>
          <p:cNvPr id="417" name="Google Shape;417;p45"/>
          <p:cNvSpPr txBox="1"/>
          <p:nvPr/>
        </p:nvSpPr>
        <p:spPr>
          <a:xfrm>
            <a:off x="12379250" y="4994080"/>
            <a:ext cx="30525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pulleys should have the cable wiring directly in the centre of it.</a:t>
            </a:r>
            <a:endParaRPr sz="1800">
              <a:latin typeface="Calibri"/>
              <a:ea typeface="Calibri"/>
              <a:cs typeface="Calibri"/>
              <a:sym typeface="Calibri"/>
            </a:endParaRPr>
          </a:p>
        </p:txBody>
      </p:sp>
      <p:cxnSp>
        <p:nvCxnSpPr>
          <p:cNvPr id="418" name="Google Shape;418;p45"/>
          <p:cNvCxnSpPr/>
          <p:nvPr/>
        </p:nvCxnSpPr>
        <p:spPr>
          <a:xfrm flipH="1">
            <a:off x="10095050" y="5486410"/>
            <a:ext cx="2274300" cy="9144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6"/>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(Set-up and ready for start)</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424" name="Google Shape;424;p46"/>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6AA84F"/>
                </a:solidFill>
                <a:highlight>
                  <a:srgbClr val="FFFFFF"/>
                </a:highlight>
                <a:latin typeface="Calibri"/>
                <a:ea typeface="Calibri"/>
                <a:cs typeface="Calibri"/>
                <a:sym typeface="Calibri"/>
              </a:rPr>
              <a:t>PHASE  1</a:t>
            </a:r>
            <a:endParaRPr sz="6100" b="1">
              <a:solidFill>
                <a:srgbClr val="6AA84F"/>
              </a:solidFill>
              <a:highlight>
                <a:srgbClr val="FFFFFF"/>
              </a:highlight>
              <a:latin typeface="Calibri"/>
              <a:ea typeface="Calibri"/>
              <a:cs typeface="Calibri"/>
              <a:sym typeface="Calibri"/>
            </a:endParaRPr>
          </a:p>
        </p:txBody>
      </p:sp>
      <p:pic>
        <p:nvPicPr>
          <p:cNvPr id="425" name="Google Shape;425;p46"/>
          <p:cNvPicPr preferRelativeResize="0"/>
          <p:nvPr/>
        </p:nvPicPr>
        <p:blipFill>
          <a:blip r:embed="rId3">
            <a:alphaModFix/>
          </a:blip>
          <a:stretch>
            <a:fillRect/>
          </a:stretch>
        </p:blipFill>
        <p:spPr>
          <a:xfrm>
            <a:off x="4454963" y="1161830"/>
            <a:ext cx="7967372" cy="7353065"/>
          </a:xfrm>
          <a:prstGeom prst="rect">
            <a:avLst/>
          </a:prstGeom>
          <a:noFill/>
          <a:ln>
            <a:noFill/>
          </a:ln>
        </p:spPr>
      </p:pic>
      <p:cxnSp>
        <p:nvCxnSpPr>
          <p:cNvPr id="426" name="Google Shape;426;p46"/>
          <p:cNvCxnSpPr>
            <a:stCxn id="427" idx="0"/>
          </p:cNvCxnSpPr>
          <p:nvPr/>
        </p:nvCxnSpPr>
        <p:spPr>
          <a:xfrm rot="10800000" flipH="1">
            <a:off x="2539763" y="2267767"/>
            <a:ext cx="4443000" cy="1316400"/>
          </a:xfrm>
          <a:prstGeom prst="straightConnector1">
            <a:avLst/>
          </a:prstGeom>
          <a:noFill/>
          <a:ln w="28575" cap="flat" cmpd="sng">
            <a:solidFill>
              <a:schemeClr val="dk1"/>
            </a:solidFill>
            <a:prstDash val="solid"/>
            <a:round/>
            <a:headEnd type="none" w="med" len="med"/>
            <a:tailEnd type="triangle" w="med" len="med"/>
          </a:ln>
        </p:spPr>
      </p:cxnSp>
      <p:sp>
        <p:nvSpPr>
          <p:cNvPr id="427" name="Google Shape;427;p46"/>
          <p:cNvSpPr txBox="1"/>
          <p:nvPr/>
        </p:nvSpPr>
        <p:spPr>
          <a:xfrm>
            <a:off x="624563" y="3584167"/>
            <a:ext cx="38304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Both pulleys should be set up to be just above the wiring.</a:t>
            </a:r>
            <a:endParaRPr sz="1800">
              <a:latin typeface="Calibri"/>
              <a:ea typeface="Calibri"/>
              <a:cs typeface="Calibri"/>
              <a:sym typeface="Calibri"/>
            </a:endParaRPr>
          </a:p>
        </p:txBody>
      </p:sp>
      <p:cxnSp>
        <p:nvCxnSpPr>
          <p:cNvPr id="428" name="Google Shape;428;p46"/>
          <p:cNvCxnSpPr>
            <a:stCxn id="429" idx="0"/>
          </p:cNvCxnSpPr>
          <p:nvPr/>
        </p:nvCxnSpPr>
        <p:spPr>
          <a:xfrm rot="10800000" flipH="1">
            <a:off x="5821613" y="8138123"/>
            <a:ext cx="2265900" cy="857700"/>
          </a:xfrm>
          <a:prstGeom prst="straightConnector1">
            <a:avLst/>
          </a:prstGeom>
          <a:noFill/>
          <a:ln w="28575" cap="flat" cmpd="sng">
            <a:solidFill>
              <a:schemeClr val="dk1"/>
            </a:solidFill>
            <a:prstDash val="solid"/>
            <a:round/>
            <a:headEnd type="none" w="med" len="med"/>
            <a:tailEnd type="triangle" w="med" len="med"/>
          </a:ln>
        </p:spPr>
      </p:cxnSp>
      <p:sp>
        <p:nvSpPr>
          <p:cNvPr id="429" name="Google Shape;429;p46"/>
          <p:cNvSpPr txBox="1"/>
          <p:nvPr/>
        </p:nvSpPr>
        <p:spPr>
          <a:xfrm>
            <a:off x="4454963" y="8995823"/>
            <a:ext cx="27333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should start with both stand offs touching the ground.</a:t>
            </a:r>
            <a:endParaRPr sz="1800">
              <a:latin typeface="Calibri"/>
              <a:ea typeface="Calibri"/>
              <a:cs typeface="Calibri"/>
              <a:sym typeface="Calibri"/>
            </a:endParaRPr>
          </a:p>
        </p:txBody>
      </p:sp>
      <p:cxnSp>
        <p:nvCxnSpPr>
          <p:cNvPr id="430" name="Google Shape;430;p46"/>
          <p:cNvCxnSpPr/>
          <p:nvPr/>
        </p:nvCxnSpPr>
        <p:spPr>
          <a:xfrm rot="10800000">
            <a:off x="9922788" y="4937785"/>
            <a:ext cx="3651000" cy="3950100"/>
          </a:xfrm>
          <a:prstGeom prst="straightConnector1">
            <a:avLst/>
          </a:prstGeom>
          <a:noFill/>
          <a:ln w="28575" cap="flat" cmpd="sng">
            <a:solidFill>
              <a:schemeClr val="dk1"/>
            </a:solidFill>
            <a:prstDash val="solid"/>
            <a:round/>
            <a:headEnd type="none" w="med" len="med"/>
            <a:tailEnd type="triangle" w="med" len="med"/>
          </a:ln>
        </p:spPr>
      </p:cxnSp>
      <p:sp>
        <p:nvSpPr>
          <p:cNvPr id="431" name="Google Shape;431;p46"/>
          <p:cNvSpPr txBox="1"/>
          <p:nvPr/>
        </p:nvSpPr>
        <p:spPr>
          <a:xfrm>
            <a:off x="12636088" y="8995823"/>
            <a:ext cx="38304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Drawer slides should be extended as much as possible, in accordance with the linear actuator.</a:t>
            </a:r>
            <a:endParaRPr sz="180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7"/>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(Set-up and ready for start)</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437" name="Google Shape;437;p47"/>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6AA84F"/>
                </a:solidFill>
                <a:highlight>
                  <a:srgbClr val="FFFFFF"/>
                </a:highlight>
                <a:latin typeface="Calibri"/>
                <a:ea typeface="Calibri"/>
                <a:cs typeface="Calibri"/>
                <a:sym typeface="Calibri"/>
              </a:rPr>
              <a:t>PHASE  1</a:t>
            </a:r>
            <a:endParaRPr sz="6100" b="1">
              <a:solidFill>
                <a:srgbClr val="6AA84F"/>
              </a:solidFill>
              <a:highlight>
                <a:srgbClr val="FFFFFF"/>
              </a:highlight>
              <a:latin typeface="Calibri"/>
              <a:ea typeface="Calibri"/>
              <a:cs typeface="Calibri"/>
              <a:sym typeface="Calibri"/>
            </a:endParaRPr>
          </a:p>
        </p:txBody>
      </p:sp>
      <p:pic>
        <p:nvPicPr>
          <p:cNvPr id="438" name="Google Shape;438;p47"/>
          <p:cNvPicPr preferRelativeResize="0"/>
          <p:nvPr/>
        </p:nvPicPr>
        <p:blipFill>
          <a:blip r:embed="rId3">
            <a:alphaModFix/>
          </a:blip>
          <a:stretch>
            <a:fillRect/>
          </a:stretch>
        </p:blipFill>
        <p:spPr>
          <a:xfrm>
            <a:off x="1921288" y="1236697"/>
            <a:ext cx="5944148" cy="7585004"/>
          </a:xfrm>
          <a:prstGeom prst="rect">
            <a:avLst/>
          </a:prstGeom>
          <a:noFill/>
          <a:ln>
            <a:noFill/>
          </a:ln>
        </p:spPr>
      </p:pic>
      <p:pic>
        <p:nvPicPr>
          <p:cNvPr id="439" name="Google Shape;439;p47"/>
          <p:cNvPicPr preferRelativeResize="0"/>
          <p:nvPr/>
        </p:nvPicPr>
        <p:blipFill>
          <a:blip r:embed="rId4">
            <a:alphaModFix/>
          </a:blip>
          <a:stretch>
            <a:fillRect/>
          </a:stretch>
        </p:blipFill>
        <p:spPr>
          <a:xfrm>
            <a:off x="9799875" y="1161828"/>
            <a:ext cx="5157465" cy="7483073"/>
          </a:xfrm>
          <a:prstGeom prst="rect">
            <a:avLst/>
          </a:prstGeom>
          <a:noFill/>
          <a:ln>
            <a:noFill/>
          </a:ln>
        </p:spPr>
      </p:pic>
      <p:sp>
        <p:nvSpPr>
          <p:cNvPr id="440" name="Google Shape;440;p47"/>
          <p:cNvSpPr txBox="1"/>
          <p:nvPr/>
        </p:nvSpPr>
        <p:spPr>
          <a:xfrm>
            <a:off x="6768350" y="9144002"/>
            <a:ext cx="61596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Fingers should be set/in position for grabbing the package once the task starts.</a:t>
            </a:r>
            <a:endParaRPr sz="1800">
              <a:latin typeface="Calibri"/>
              <a:ea typeface="Calibri"/>
              <a:cs typeface="Calibri"/>
              <a:sym typeface="Calibri"/>
            </a:endParaRPr>
          </a:p>
        </p:txBody>
      </p:sp>
      <p:cxnSp>
        <p:nvCxnSpPr>
          <p:cNvPr id="441" name="Google Shape;441;p47"/>
          <p:cNvCxnSpPr/>
          <p:nvPr/>
        </p:nvCxnSpPr>
        <p:spPr>
          <a:xfrm rot="10800000">
            <a:off x="6108625" y="7972969"/>
            <a:ext cx="3758100" cy="1163700"/>
          </a:xfrm>
          <a:prstGeom prst="straightConnector1">
            <a:avLst/>
          </a:prstGeom>
          <a:noFill/>
          <a:ln w="28575" cap="flat" cmpd="sng">
            <a:solidFill>
              <a:schemeClr val="dk1"/>
            </a:solidFill>
            <a:prstDash val="solid"/>
            <a:round/>
            <a:headEnd type="none" w="med" len="med"/>
            <a:tailEnd type="triangle" w="med" len="med"/>
          </a:ln>
        </p:spPr>
      </p:cxnSp>
      <p:cxnSp>
        <p:nvCxnSpPr>
          <p:cNvPr id="442" name="Google Shape;442;p47"/>
          <p:cNvCxnSpPr/>
          <p:nvPr/>
        </p:nvCxnSpPr>
        <p:spPr>
          <a:xfrm rot="10800000" flipH="1">
            <a:off x="9904425" y="8030742"/>
            <a:ext cx="2388000" cy="1094400"/>
          </a:xfrm>
          <a:prstGeom prst="straightConnector1">
            <a:avLst/>
          </a:prstGeom>
          <a:noFill/>
          <a:ln w="28575" cap="flat" cmpd="sng">
            <a:solidFill>
              <a:schemeClr val="dk1"/>
            </a:solidFill>
            <a:prstDash val="solid"/>
            <a:round/>
            <a:headEnd type="none" w="med" len="med"/>
            <a:tailEnd type="triangle" w="med" len="med"/>
          </a:ln>
        </p:spPr>
      </p:cxnSp>
      <p:sp>
        <p:nvSpPr>
          <p:cNvPr id="443" name="Google Shape;443;p47"/>
          <p:cNvSpPr txBox="1"/>
          <p:nvPr/>
        </p:nvSpPr>
        <p:spPr>
          <a:xfrm>
            <a:off x="2494203" y="9009950"/>
            <a:ext cx="3320400" cy="4617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has two standoffs.</a:t>
            </a:r>
            <a:endParaRPr sz="1800">
              <a:latin typeface="Calibri"/>
              <a:ea typeface="Calibri"/>
              <a:cs typeface="Calibri"/>
              <a:sym typeface="Calibri"/>
            </a:endParaRPr>
          </a:p>
        </p:txBody>
      </p:sp>
      <p:cxnSp>
        <p:nvCxnSpPr>
          <p:cNvPr id="444" name="Google Shape;444;p47"/>
          <p:cNvCxnSpPr/>
          <p:nvPr/>
        </p:nvCxnSpPr>
        <p:spPr>
          <a:xfrm rot="10800000">
            <a:off x="3833538" y="7857640"/>
            <a:ext cx="27300" cy="1152300"/>
          </a:xfrm>
          <a:prstGeom prst="straightConnector1">
            <a:avLst/>
          </a:prstGeom>
          <a:noFill/>
          <a:ln w="28575" cap="flat" cmpd="sng">
            <a:solidFill>
              <a:schemeClr val="dk1"/>
            </a:solidFill>
            <a:prstDash val="solid"/>
            <a:round/>
            <a:headEnd type="none" w="med" len="med"/>
            <a:tailEnd type="triangle" w="med" len="med"/>
          </a:ln>
        </p:spPr>
      </p:cxnSp>
      <p:cxnSp>
        <p:nvCxnSpPr>
          <p:cNvPr id="445" name="Google Shape;445;p47"/>
          <p:cNvCxnSpPr>
            <a:stCxn id="443" idx="0"/>
          </p:cNvCxnSpPr>
          <p:nvPr/>
        </p:nvCxnSpPr>
        <p:spPr>
          <a:xfrm rot="10800000" flipH="1">
            <a:off x="4154403" y="7893350"/>
            <a:ext cx="2302200" cy="1116600"/>
          </a:xfrm>
          <a:prstGeom prst="straightConnector1">
            <a:avLst/>
          </a:prstGeom>
          <a:noFill/>
          <a:ln w="28575" cap="flat" cmpd="sng">
            <a:solidFill>
              <a:schemeClr val="dk1"/>
            </a:solidFill>
            <a:prstDash val="solid"/>
            <a:round/>
            <a:headEnd type="none" w="med" len="med"/>
            <a:tailEnd type="triangle" w="med" len="med"/>
          </a:ln>
        </p:spPr>
      </p:cxnSp>
      <p:sp>
        <p:nvSpPr>
          <p:cNvPr id="446" name="Google Shape;446;p47"/>
          <p:cNvSpPr txBox="1"/>
          <p:nvPr/>
        </p:nvSpPr>
        <p:spPr>
          <a:xfrm>
            <a:off x="8333300" y="3617808"/>
            <a:ext cx="1571100" cy="184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Calibri"/>
                <a:ea typeface="Calibri"/>
                <a:cs typeface="Calibri"/>
                <a:sym typeface="Calibri"/>
              </a:rPr>
              <a:t>The system utilities a Linear Actuator to lift the system up and down.</a:t>
            </a:r>
            <a:endParaRPr sz="1800">
              <a:latin typeface="Calibri"/>
              <a:ea typeface="Calibri"/>
              <a:cs typeface="Calibri"/>
              <a:sym typeface="Calibri"/>
            </a:endParaRPr>
          </a:p>
        </p:txBody>
      </p:sp>
      <p:cxnSp>
        <p:nvCxnSpPr>
          <p:cNvPr id="447" name="Google Shape;447;p47"/>
          <p:cNvCxnSpPr>
            <a:stCxn id="446" idx="1"/>
          </p:cNvCxnSpPr>
          <p:nvPr/>
        </p:nvCxnSpPr>
        <p:spPr>
          <a:xfrm flipH="1">
            <a:off x="5957600" y="4541358"/>
            <a:ext cx="2375700" cy="321000"/>
          </a:xfrm>
          <a:prstGeom prst="straightConnector1">
            <a:avLst/>
          </a:prstGeom>
          <a:noFill/>
          <a:ln w="28575" cap="flat" cmpd="sng">
            <a:solidFill>
              <a:schemeClr val="dk1"/>
            </a:solidFill>
            <a:prstDash val="solid"/>
            <a:round/>
            <a:headEnd type="none" w="med" len="med"/>
            <a:tailEnd type="triangle" w="med" len="med"/>
          </a:ln>
        </p:spPr>
      </p:cxnSp>
      <p:cxnSp>
        <p:nvCxnSpPr>
          <p:cNvPr id="448" name="Google Shape;448;p47"/>
          <p:cNvCxnSpPr/>
          <p:nvPr/>
        </p:nvCxnSpPr>
        <p:spPr>
          <a:xfrm>
            <a:off x="9799875" y="4490346"/>
            <a:ext cx="2350500" cy="1020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48"/>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(Collecting Payload)</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454" name="Google Shape;454;p48"/>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F1C232"/>
                </a:solidFill>
                <a:highlight>
                  <a:srgbClr val="FFFFFF"/>
                </a:highlight>
                <a:latin typeface="Calibri"/>
                <a:ea typeface="Calibri"/>
                <a:cs typeface="Calibri"/>
                <a:sym typeface="Calibri"/>
              </a:rPr>
              <a:t>PHASE  2</a:t>
            </a:r>
            <a:endParaRPr sz="6100" b="1">
              <a:solidFill>
                <a:srgbClr val="F1C232"/>
              </a:solidFill>
              <a:highlight>
                <a:srgbClr val="FFFFFF"/>
              </a:highlight>
              <a:latin typeface="Calibri"/>
              <a:ea typeface="Calibri"/>
              <a:cs typeface="Calibri"/>
              <a:sym typeface="Calibri"/>
            </a:endParaRPr>
          </a:p>
        </p:txBody>
      </p:sp>
      <p:pic>
        <p:nvPicPr>
          <p:cNvPr id="455" name="Google Shape;455;p48"/>
          <p:cNvPicPr preferRelativeResize="0"/>
          <p:nvPr/>
        </p:nvPicPr>
        <p:blipFill>
          <a:blip r:embed="rId3">
            <a:alphaModFix/>
          </a:blip>
          <a:stretch>
            <a:fillRect/>
          </a:stretch>
        </p:blipFill>
        <p:spPr>
          <a:xfrm>
            <a:off x="416325" y="1344177"/>
            <a:ext cx="4239240" cy="8457855"/>
          </a:xfrm>
          <a:prstGeom prst="rect">
            <a:avLst/>
          </a:prstGeom>
          <a:noFill/>
          <a:ln>
            <a:noFill/>
          </a:ln>
        </p:spPr>
      </p:pic>
      <p:pic>
        <p:nvPicPr>
          <p:cNvPr id="456" name="Google Shape;456;p48"/>
          <p:cNvPicPr preferRelativeResize="0"/>
          <p:nvPr/>
        </p:nvPicPr>
        <p:blipFill>
          <a:blip r:embed="rId4">
            <a:alphaModFix/>
          </a:blip>
          <a:stretch>
            <a:fillRect/>
          </a:stretch>
        </p:blipFill>
        <p:spPr>
          <a:xfrm>
            <a:off x="7668950" y="1364977"/>
            <a:ext cx="5318247" cy="8204029"/>
          </a:xfrm>
          <a:prstGeom prst="rect">
            <a:avLst/>
          </a:prstGeom>
          <a:noFill/>
          <a:ln>
            <a:noFill/>
          </a:ln>
        </p:spPr>
      </p:pic>
      <p:sp>
        <p:nvSpPr>
          <p:cNvPr id="457" name="Google Shape;457;p48"/>
          <p:cNvSpPr txBox="1"/>
          <p:nvPr/>
        </p:nvSpPr>
        <p:spPr>
          <a:xfrm>
            <a:off x="14089925" y="3652367"/>
            <a:ext cx="38505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As can be seen from these two images, when the task starts, the arm will extend outwards, far enough to be able to reach the package.</a:t>
            </a:r>
            <a:endParaRPr sz="1800">
              <a:latin typeface="Calibri"/>
              <a:ea typeface="Calibri"/>
              <a:cs typeface="Calibri"/>
              <a:sym typeface="Calibri"/>
            </a:endParaRPr>
          </a:p>
        </p:txBody>
      </p:sp>
      <p:pic>
        <p:nvPicPr>
          <p:cNvPr id="458" name="Google Shape;458;p48"/>
          <p:cNvPicPr preferRelativeResize="0"/>
          <p:nvPr/>
        </p:nvPicPr>
        <p:blipFill>
          <a:blip r:embed="rId5">
            <a:alphaModFix/>
          </a:blip>
          <a:stretch>
            <a:fillRect/>
          </a:stretch>
        </p:blipFill>
        <p:spPr>
          <a:xfrm>
            <a:off x="4655575" y="4857050"/>
            <a:ext cx="3013673" cy="1077300"/>
          </a:xfrm>
          <a:prstGeom prst="rect">
            <a:avLst/>
          </a:prstGeom>
          <a:noFill/>
          <a:ln>
            <a:noFill/>
          </a:ln>
        </p:spPr>
      </p:pic>
      <p:cxnSp>
        <p:nvCxnSpPr>
          <p:cNvPr id="459" name="Google Shape;459;p48"/>
          <p:cNvCxnSpPr>
            <a:stCxn id="457" idx="1"/>
          </p:cNvCxnSpPr>
          <p:nvPr/>
        </p:nvCxnSpPr>
        <p:spPr>
          <a:xfrm rot="10800000">
            <a:off x="9665825" y="3221567"/>
            <a:ext cx="4424100" cy="1077300"/>
          </a:xfrm>
          <a:prstGeom prst="straightConnector1">
            <a:avLst/>
          </a:prstGeom>
          <a:noFill/>
          <a:ln w="28575" cap="flat" cmpd="sng">
            <a:solidFill>
              <a:schemeClr val="dk1"/>
            </a:solidFill>
            <a:prstDash val="solid"/>
            <a:round/>
            <a:headEnd type="none" w="med" len="med"/>
            <a:tailEnd type="triangle" w="med" len="med"/>
          </a:ln>
        </p:spPr>
      </p:cxnSp>
      <p:sp>
        <p:nvSpPr>
          <p:cNvPr id="460" name="Google Shape;460;p48"/>
          <p:cNvSpPr txBox="1"/>
          <p:nvPr/>
        </p:nvSpPr>
        <p:spPr>
          <a:xfrm>
            <a:off x="4953125" y="2959667"/>
            <a:ext cx="2589300" cy="1569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We can see roughly how much the arm needs to extend to reach the package, from its starting position.</a:t>
            </a:r>
            <a:endParaRPr sz="1800">
              <a:latin typeface="Calibri"/>
              <a:ea typeface="Calibri"/>
              <a:cs typeface="Calibri"/>
              <a:sym typeface="Calibri"/>
            </a:endParaRPr>
          </a:p>
        </p:txBody>
      </p:sp>
      <p:cxnSp>
        <p:nvCxnSpPr>
          <p:cNvPr id="461" name="Google Shape;461;p48"/>
          <p:cNvCxnSpPr/>
          <p:nvPr/>
        </p:nvCxnSpPr>
        <p:spPr>
          <a:xfrm flipH="1">
            <a:off x="2438525" y="4193888"/>
            <a:ext cx="2626800" cy="242100"/>
          </a:xfrm>
          <a:prstGeom prst="straightConnector1">
            <a:avLst/>
          </a:prstGeom>
          <a:noFill/>
          <a:ln w="28575" cap="flat" cmpd="sng">
            <a:solidFill>
              <a:schemeClr val="dk1"/>
            </a:solidFill>
            <a:prstDash val="solid"/>
            <a:round/>
            <a:headEnd type="none" w="med" len="med"/>
            <a:tailEnd type="triangle" w="med" len="med"/>
          </a:ln>
        </p:spPr>
      </p:cxnSp>
      <p:cxnSp>
        <p:nvCxnSpPr>
          <p:cNvPr id="462" name="Google Shape;462;p48"/>
          <p:cNvCxnSpPr/>
          <p:nvPr/>
        </p:nvCxnSpPr>
        <p:spPr>
          <a:xfrm>
            <a:off x="7403175" y="4170833"/>
            <a:ext cx="1898100" cy="57900"/>
          </a:xfrm>
          <a:prstGeom prst="straightConnector1">
            <a:avLst/>
          </a:prstGeom>
          <a:noFill/>
          <a:ln w="28575" cap="flat" cmpd="sng">
            <a:solidFill>
              <a:schemeClr val="dk1"/>
            </a:solidFill>
            <a:prstDash val="solid"/>
            <a:round/>
            <a:headEnd type="none" w="med" len="med"/>
            <a:tailEnd type="stealth"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(Collecting Payload)</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468" name="Google Shape;468;p49"/>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F1C232"/>
                </a:solidFill>
                <a:highlight>
                  <a:srgbClr val="FFFFFF"/>
                </a:highlight>
                <a:latin typeface="Calibri"/>
                <a:ea typeface="Calibri"/>
                <a:cs typeface="Calibri"/>
                <a:sym typeface="Calibri"/>
              </a:rPr>
              <a:t>PHASE  2</a:t>
            </a:r>
            <a:endParaRPr sz="6100" b="1">
              <a:solidFill>
                <a:srgbClr val="F1C232"/>
              </a:solidFill>
              <a:highlight>
                <a:srgbClr val="FFFFFF"/>
              </a:highlight>
              <a:latin typeface="Calibri"/>
              <a:ea typeface="Calibri"/>
              <a:cs typeface="Calibri"/>
              <a:sym typeface="Calibri"/>
            </a:endParaRPr>
          </a:p>
        </p:txBody>
      </p:sp>
      <p:pic>
        <p:nvPicPr>
          <p:cNvPr id="469" name="Google Shape;469;p49"/>
          <p:cNvPicPr preferRelativeResize="0"/>
          <p:nvPr/>
        </p:nvPicPr>
        <p:blipFill>
          <a:blip r:embed="rId3">
            <a:alphaModFix/>
          </a:blip>
          <a:stretch>
            <a:fillRect/>
          </a:stretch>
        </p:blipFill>
        <p:spPr>
          <a:xfrm>
            <a:off x="3761175" y="7422676"/>
            <a:ext cx="8984456" cy="2016919"/>
          </a:xfrm>
          <a:prstGeom prst="rect">
            <a:avLst/>
          </a:prstGeom>
          <a:noFill/>
          <a:ln>
            <a:noFill/>
          </a:ln>
        </p:spPr>
      </p:pic>
      <p:pic>
        <p:nvPicPr>
          <p:cNvPr id="470" name="Google Shape;470;p49"/>
          <p:cNvPicPr preferRelativeResize="0"/>
          <p:nvPr/>
        </p:nvPicPr>
        <p:blipFill>
          <a:blip r:embed="rId4">
            <a:alphaModFix/>
          </a:blip>
          <a:stretch>
            <a:fillRect/>
          </a:stretch>
        </p:blipFill>
        <p:spPr>
          <a:xfrm>
            <a:off x="1938963" y="1213439"/>
            <a:ext cx="12568163" cy="4078122"/>
          </a:xfrm>
          <a:prstGeom prst="rect">
            <a:avLst/>
          </a:prstGeom>
          <a:noFill/>
          <a:ln>
            <a:noFill/>
          </a:ln>
        </p:spPr>
      </p:pic>
      <p:sp>
        <p:nvSpPr>
          <p:cNvPr id="471" name="Google Shape;471;p49"/>
          <p:cNvSpPr txBox="1"/>
          <p:nvPr/>
        </p:nvSpPr>
        <p:spPr>
          <a:xfrm>
            <a:off x="5857200" y="5772342"/>
            <a:ext cx="62844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Collection method utilises a rack and pinion system to extend the arm out. A motor is connected to the pinion to power it.The fingers of the arm are connected to the end of the rack.</a:t>
            </a:r>
            <a:endParaRPr sz="1800">
              <a:latin typeface="Calibri"/>
              <a:ea typeface="Calibri"/>
              <a:cs typeface="Calibri"/>
              <a:sym typeface="Calibri"/>
            </a:endParaRPr>
          </a:p>
        </p:txBody>
      </p:sp>
      <p:cxnSp>
        <p:nvCxnSpPr>
          <p:cNvPr id="472" name="Google Shape;472;p49"/>
          <p:cNvCxnSpPr>
            <a:stCxn id="471" idx="0"/>
          </p:cNvCxnSpPr>
          <p:nvPr/>
        </p:nvCxnSpPr>
        <p:spPr>
          <a:xfrm rot="10800000" flipH="1">
            <a:off x="8999400" y="3951942"/>
            <a:ext cx="1156500" cy="1820400"/>
          </a:xfrm>
          <a:prstGeom prst="straightConnector1">
            <a:avLst/>
          </a:prstGeom>
          <a:noFill/>
          <a:ln w="28575" cap="flat" cmpd="sng">
            <a:solidFill>
              <a:schemeClr val="dk1"/>
            </a:solidFill>
            <a:prstDash val="solid"/>
            <a:round/>
            <a:headEnd type="none" w="med" len="med"/>
            <a:tailEnd type="triangle" w="med" len="med"/>
          </a:ln>
        </p:spPr>
      </p:cxnSp>
      <p:cxnSp>
        <p:nvCxnSpPr>
          <p:cNvPr id="473" name="Google Shape;473;p49"/>
          <p:cNvCxnSpPr>
            <a:stCxn id="471" idx="2"/>
          </p:cNvCxnSpPr>
          <p:nvPr/>
        </p:nvCxnSpPr>
        <p:spPr>
          <a:xfrm>
            <a:off x="8999400" y="6788142"/>
            <a:ext cx="50400" cy="624900"/>
          </a:xfrm>
          <a:prstGeom prst="straightConnector1">
            <a:avLst/>
          </a:prstGeom>
          <a:noFill/>
          <a:ln w="28575" cap="flat" cmpd="sng">
            <a:solidFill>
              <a:schemeClr val="dk1"/>
            </a:solidFill>
            <a:prstDash val="solid"/>
            <a:round/>
            <a:headEnd type="none" w="med" len="med"/>
            <a:tailEnd type="triangle" w="med" len="med"/>
          </a:ln>
        </p:spPr>
      </p:cxnSp>
      <p:cxnSp>
        <p:nvCxnSpPr>
          <p:cNvPr id="474" name="Google Shape;474;p49"/>
          <p:cNvCxnSpPr/>
          <p:nvPr/>
        </p:nvCxnSpPr>
        <p:spPr>
          <a:xfrm>
            <a:off x="2689775" y="7327765"/>
            <a:ext cx="1998600" cy="1336500"/>
          </a:xfrm>
          <a:prstGeom prst="straightConnector1">
            <a:avLst/>
          </a:prstGeom>
          <a:noFill/>
          <a:ln w="28575" cap="flat" cmpd="sng">
            <a:solidFill>
              <a:schemeClr val="dk1"/>
            </a:solidFill>
            <a:prstDash val="solid"/>
            <a:round/>
            <a:headEnd type="none" w="med" len="med"/>
            <a:tailEnd type="triangle" w="med" len="med"/>
          </a:ln>
        </p:spPr>
      </p:cxnSp>
      <p:sp>
        <p:nvSpPr>
          <p:cNvPr id="475" name="Google Shape;475;p49"/>
          <p:cNvSpPr txBox="1"/>
          <p:nvPr/>
        </p:nvSpPr>
        <p:spPr>
          <a:xfrm>
            <a:off x="797800" y="6338825"/>
            <a:ext cx="19986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has mounted guides to direct and hold the rack in place.</a:t>
            </a:r>
            <a:endParaRPr sz="1800">
              <a:latin typeface="Calibri"/>
              <a:ea typeface="Calibri"/>
              <a:cs typeface="Calibri"/>
              <a:sym typeface="Calibri"/>
            </a:endParaRPr>
          </a:p>
        </p:txBody>
      </p:sp>
      <p:sp>
        <p:nvSpPr>
          <p:cNvPr id="476" name="Google Shape;476;p49"/>
          <p:cNvSpPr txBox="1"/>
          <p:nvPr/>
        </p:nvSpPr>
        <p:spPr>
          <a:xfrm>
            <a:off x="113125" y="3507190"/>
            <a:ext cx="1747200" cy="24012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800">
                <a:latin typeface="Calibri"/>
                <a:ea typeface="Calibri"/>
                <a:cs typeface="Calibri"/>
                <a:sym typeface="Calibri"/>
              </a:rPr>
              <a:t>When the system comes towards the package, there is enough space for clamps to slide on each side.</a:t>
            </a:r>
            <a:endParaRPr sz="1800">
              <a:latin typeface="Calibri"/>
              <a:ea typeface="Calibri"/>
              <a:cs typeface="Calibri"/>
              <a:sym typeface="Calibri"/>
            </a:endParaRPr>
          </a:p>
        </p:txBody>
      </p:sp>
      <p:cxnSp>
        <p:nvCxnSpPr>
          <p:cNvPr id="477" name="Google Shape;477;p49"/>
          <p:cNvCxnSpPr/>
          <p:nvPr/>
        </p:nvCxnSpPr>
        <p:spPr>
          <a:xfrm rot="10800000" flipH="1">
            <a:off x="1860325" y="3975000"/>
            <a:ext cx="4612800" cy="10542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50"/>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(Collecting Payload)</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483" name="Google Shape;483;p50"/>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F1C232"/>
                </a:solidFill>
                <a:highlight>
                  <a:srgbClr val="FFFFFF"/>
                </a:highlight>
                <a:latin typeface="Calibri"/>
                <a:ea typeface="Calibri"/>
                <a:cs typeface="Calibri"/>
                <a:sym typeface="Calibri"/>
              </a:rPr>
              <a:t>PHASE  2</a:t>
            </a:r>
            <a:endParaRPr sz="6100" b="1">
              <a:solidFill>
                <a:srgbClr val="F1C232"/>
              </a:solidFill>
              <a:highlight>
                <a:srgbClr val="FFFFFF"/>
              </a:highlight>
              <a:latin typeface="Calibri"/>
              <a:ea typeface="Calibri"/>
              <a:cs typeface="Calibri"/>
              <a:sym typeface="Calibri"/>
            </a:endParaRPr>
          </a:p>
        </p:txBody>
      </p:sp>
      <p:pic>
        <p:nvPicPr>
          <p:cNvPr id="484" name="Google Shape;484;p50"/>
          <p:cNvPicPr preferRelativeResize="0"/>
          <p:nvPr/>
        </p:nvPicPr>
        <p:blipFill>
          <a:blip r:embed="rId3">
            <a:alphaModFix/>
          </a:blip>
          <a:stretch>
            <a:fillRect/>
          </a:stretch>
        </p:blipFill>
        <p:spPr>
          <a:xfrm>
            <a:off x="243425" y="1124685"/>
            <a:ext cx="6028872" cy="7809037"/>
          </a:xfrm>
          <a:prstGeom prst="rect">
            <a:avLst/>
          </a:prstGeom>
          <a:noFill/>
          <a:ln>
            <a:noFill/>
          </a:ln>
        </p:spPr>
      </p:pic>
      <p:pic>
        <p:nvPicPr>
          <p:cNvPr id="485" name="Google Shape;485;p50"/>
          <p:cNvPicPr preferRelativeResize="0"/>
          <p:nvPr/>
        </p:nvPicPr>
        <p:blipFill>
          <a:blip r:embed="rId4">
            <a:alphaModFix/>
          </a:blip>
          <a:stretch>
            <a:fillRect/>
          </a:stretch>
        </p:blipFill>
        <p:spPr>
          <a:xfrm>
            <a:off x="8010388" y="1352049"/>
            <a:ext cx="8966994" cy="2261394"/>
          </a:xfrm>
          <a:prstGeom prst="rect">
            <a:avLst/>
          </a:prstGeom>
          <a:noFill/>
          <a:ln>
            <a:noFill/>
          </a:ln>
        </p:spPr>
      </p:pic>
      <p:pic>
        <p:nvPicPr>
          <p:cNvPr id="486" name="Google Shape;486;p50"/>
          <p:cNvPicPr preferRelativeResize="0"/>
          <p:nvPr/>
        </p:nvPicPr>
        <p:blipFill>
          <a:blip r:embed="rId5">
            <a:alphaModFix/>
          </a:blip>
          <a:stretch>
            <a:fillRect/>
          </a:stretch>
        </p:blipFill>
        <p:spPr>
          <a:xfrm>
            <a:off x="10508500" y="5099461"/>
            <a:ext cx="3056465" cy="4726265"/>
          </a:xfrm>
          <a:prstGeom prst="rect">
            <a:avLst/>
          </a:prstGeom>
          <a:noFill/>
          <a:ln>
            <a:noFill/>
          </a:ln>
        </p:spPr>
      </p:pic>
      <p:sp>
        <p:nvSpPr>
          <p:cNvPr id="487" name="Google Shape;487;p50"/>
          <p:cNvSpPr txBox="1"/>
          <p:nvPr/>
        </p:nvSpPr>
        <p:spPr>
          <a:xfrm>
            <a:off x="7374000" y="3974965"/>
            <a:ext cx="31926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uses a servo motor to spin the gears, which will consequently tighten the clamps.</a:t>
            </a:r>
            <a:endParaRPr sz="1800">
              <a:latin typeface="Calibri"/>
              <a:ea typeface="Calibri"/>
              <a:cs typeface="Calibri"/>
              <a:sym typeface="Calibri"/>
            </a:endParaRPr>
          </a:p>
        </p:txBody>
      </p:sp>
      <p:cxnSp>
        <p:nvCxnSpPr>
          <p:cNvPr id="488" name="Google Shape;488;p50"/>
          <p:cNvCxnSpPr>
            <a:stCxn id="487" idx="0"/>
          </p:cNvCxnSpPr>
          <p:nvPr/>
        </p:nvCxnSpPr>
        <p:spPr>
          <a:xfrm rot="10800000" flipH="1">
            <a:off x="8970300" y="3387265"/>
            <a:ext cx="1839000" cy="587700"/>
          </a:xfrm>
          <a:prstGeom prst="straightConnector1">
            <a:avLst/>
          </a:prstGeom>
          <a:noFill/>
          <a:ln w="28575" cap="flat" cmpd="sng">
            <a:solidFill>
              <a:schemeClr val="dk1"/>
            </a:solidFill>
            <a:prstDash val="solid"/>
            <a:round/>
            <a:headEnd type="none" w="med" len="med"/>
            <a:tailEnd type="triangle" w="med" len="med"/>
          </a:ln>
        </p:spPr>
      </p:cxnSp>
      <p:sp>
        <p:nvSpPr>
          <p:cNvPr id="489" name="Google Shape;489;p50"/>
          <p:cNvSpPr txBox="1"/>
          <p:nvPr/>
        </p:nvSpPr>
        <p:spPr>
          <a:xfrm>
            <a:off x="13511750" y="4090190"/>
            <a:ext cx="39342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clamps are able to grab onto the majority of the package depth.</a:t>
            </a:r>
            <a:endParaRPr sz="1800">
              <a:latin typeface="Calibri"/>
              <a:ea typeface="Calibri"/>
              <a:cs typeface="Calibri"/>
              <a:sym typeface="Calibri"/>
            </a:endParaRPr>
          </a:p>
        </p:txBody>
      </p:sp>
      <p:cxnSp>
        <p:nvCxnSpPr>
          <p:cNvPr id="490" name="Google Shape;490;p50"/>
          <p:cNvCxnSpPr>
            <a:stCxn id="489" idx="0"/>
          </p:cNvCxnSpPr>
          <p:nvPr/>
        </p:nvCxnSpPr>
        <p:spPr>
          <a:xfrm rot="10800000">
            <a:off x="15359450" y="3422090"/>
            <a:ext cx="119400" cy="668100"/>
          </a:xfrm>
          <a:prstGeom prst="straightConnector1">
            <a:avLst/>
          </a:prstGeom>
          <a:noFill/>
          <a:ln w="28575" cap="flat" cmpd="sng">
            <a:solidFill>
              <a:schemeClr val="dk1"/>
            </a:solidFill>
            <a:prstDash val="solid"/>
            <a:round/>
            <a:headEnd type="none" w="med" len="med"/>
            <a:tailEnd type="triangle" w="med" len="med"/>
          </a:ln>
        </p:spPr>
      </p:cxnSp>
      <p:cxnSp>
        <p:nvCxnSpPr>
          <p:cNvPr id="491" name="Google Shape;491;p50"/>
          <p:cNvCxnSpPr>
            <a:stCxn id="492" idx="1"/>
          </p:cNvCxnSpPr>
          <p:nvPr/>
        </p:nvCxnSpPr>
        <p:spPr>
          <a:xfrm flipH="1">
            <a:off x="4122600" y="6130848"/>
            <a:ext cx="3251400" cy="282300"/>
          </a:xfrm>
          <a:prstGeom prst="straightConnector1">
            <a:avLst/>
          </a:prstGeom>
          <a:noFill/>
          <a:ln w="28575" cap="flat" cmpd="sng">
            <a:solidFill>
              <a:schemeClr val="dk1"/>
            </a:solidFill>
            <a:prstDash val="solid"/>
            <a:round/>
            <a:headEnd type="none" w="med" len="med"/>
            <a:tailEnd type="triangle" w="med" len="med"/>
          </a:ln>
        </p:spPr>
      </p:cxnSp>
      <p:sp>
        <p:nvSpPr>
          <p:cNvPr id="492" name="Google Shape;492;p50"/>
          <p:cNvSpPr txBox="1"/>
          <p:nvPr/>
        </p:nvSpPr>
        <p:spPr>
          <a:xfrm>
            <a:off x="7374000" y="5622948"/>
            <a:ext cx="11688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Gears on each finger.</a:t>
            </a:r>
            <a:endParaRPr sz="1800">
              <a:latin typeface="Calibri"/>
              <a:ea typeface="Calibri"/>
              <a:cs typeface="Calibri"/>
              <a:sym typeface="Calibri"/>
            </a:endParaRPr>
          </a:p>
        </p:txBody>
      </p:sp>
      <p:sp>
        <p:nvSpPr>
          <p:cNvPr id="493" name="Google Shape;493;p50"/>
          <p:cNvSpPr txBox="1"/>
          <p:nvPr/>
        </p:nvSpPr>
        <p:spPr>
          <a:xfrm>
            <a:off x="7415750" y="7281679"/>
            <a:ext cx="2474100" cy="1569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System retracks the rack and draws the package out of the warehouse and into the deposit zone.</a:t>
            </a:r>
            <a:endParaRPr sz="1800">
              <a:latin typeface="Calibri"/>
              <a:ea typeface="Calibri"/>
              <a:cs typeface="Calibri"/>
              <a:sym typeface="Calibri"/>
            </a:endParaRPr>
          </a:p>
        </p:txBody>
      </p:sp>
      <p:cxnSp>
        <p:nvCxnSpPr>
          <p:cNvPr id="494" name="Google Shape;494;p50"/>
          <p:cNvCxnSpPr>
            <a:stCxn id="493" idx="1"/>
          </p:cNvCxnSpPr>
          <p:nvPr/>
        </p:nvCxnSpPr>
        <p:spPr>
          <a:xfrm rot="10800000">
            <a:off x="5103050" y="7887829"/>
            <a:ext cx="2312700" cy="178800"/>
          </a:xfrm>
          <a:prstGeom prst="straightConnector1">
            <a:avLst/>
          </a:prstGeom>
          <a:noFill/>
          <a:ln w="28575" cap="flat" cmpd="sng">
            <a:solidFill>
              <a:schemeClr val="dk1"/>
            </a:solidFill>
            <a:prstDash val="solid"/>
            <a:round/>
            <a:headEnd type="none" w="med" len="med"/>
            <a:tailEnd type="triangle" w="med" len="med"/>
          </a:ln>
        </p:spPr>
      </p:cxnSp>
      <p:cxnSp>
        <p:nvCxnSpPr>
          <p:cNvPr id="495" name="Google Shape;495;p50"/>
          <p:cNvCxnSpPr>
            <a:stCxn id="493" idx="3"/>
          </p:cNvCxnSpPr>
          <p:nvPr/>
        </p:nvCxnSpPr>
        <p:spPr>
          <a:xfrm rot="10800000" flipH="1">
            <a:off x="9889850" y="5756329"/>
            <a:ext cx="819000" cy="23103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1"/>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(Traversing Chasm)</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01" name="Google Shape;501;p51"/>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E69138"/>
                </a:solidFill>
                <a:highlight>
                  <a:srgbClr val="FFFFFF"/>
                </a:highlight>
                <a:latin typeface="Calibri"/>
                <a:ea typeface="Calibri"/>
                <a:cs typeface="Calibri"/>
                <a:sym typeface="Calibri"/>
              </a:rPr>
              <a:t>PHASE  3</a:t>
            </a:r>
            <a:endParaRPr sz="6100" b="1">
              <a:solidFill>
                <a:srgbClr val="E69138"/>
              </a:solidFill>
              <a:highlight>
                <a:srgbClr val="FFFFFF"/>
              </a:highlight>
              <a:latin typeface="Calibri"/>
              <a:ea typeface="Calibri"/>
              <a:cs typeface="Calibri"/>
              <a:sym typeface="Calibri"/>
            </a:endParaRPr>
          </a:p>
        </p:txBody>
      </p:sp>
      <p:pic>
        <p:nvPicPr>
          <p:cNvPr id="502" name="Google Shape;502;p51"/>
          <p:cNvPicPr preferRelativeResize="0"/>
          <p:nvPr/>
        </p:nvPicPr>
        <p:blipFill>
          <a:blip r:embed="rId3">
            <a:alphaModFix/>
          </a:blip>
          <a:stretch>
            <a:fillRect/>
          </a:stretch>
        </p:blipFill>
        <p:spPr>
          <a:xfrm>
            <a:off x="311900" y="2344422"/>
            <a:ext cx="4985544" cy="4723606"/>
          </a:xfrm>
          <a:prstGeom prst="rect">
            <a:avLst/>
          </a:prstGeom>
          <a:noFill/>
          <a:ln>
            <a:noFill/>
          </a:ln>
        </p:spPr>
      </p:pic>
      <p:pic>
        <p:nvPicPr>
          <p:cNvPr id="503" name="Google Shape;503;p51"/>
          <p:cNvPicPr preferRelativeResize="0"/>
          <p:nvPr/>
        </p:nvPicPr>
        <p:blipFill>
          <a:blip r:embed="rId4">
            <a:alphaModFix/>
          </a:blip>
          <a:stretch>
            <a:fillRect/>
          </a:stretch>
        </p:blipFill>
        <p:spPr>
          <a:xfrm>
            <a:off x="6237113" y="2296832"/>
            <a:ext cx="5128612" cy="4818824"/>
          </a:xfrm>
          <a:prstGeom prst="rect">
            <a:avLst/>
          </a:prstGeom>
          <a:noFill/>
          <a:ln>
            <a:noFill/>
          </a:ln>
        </p:spPr>
      </p:pic>
      <p:pic>
        <p:nvPicPr>
          <p:cNvPr id="504" name="Google Shape;504;p51"/>
          <p:cNvPicPr preferRelativeResize="0"/>
          <p:nvPr/>
        </p:nvPicPr>
        <p:blipFill>
          <a:blip r:embed="rId5">
            <a:alphaModFix/>
          </a:blip>
          <a:stretch>
            <a:fillRect/>
          </a:stretch>
        </p:blipFill>
        <p:spPr>
          <a:xfrm>
            <a:off x="12381250" y="2296823"/>
            <a:ext cx="5128590" cy="5099288"/>
          </a:xfrm>
          <a:prstGeom prst="rect">
            <a:avLst/>
          </a:prstGeom>
          <a:noFill/>
          <a:ln>
            <a:noFill/>
          </a:ln>
        </p:spPr>
      </p:pic>
      <p:pic>
        <p:nvPicPr>
          <p:cNvPr id="505" name="Google Shape;505;p51"/>
          <p:cNvPicPr preferRelativeResize="0"/>
          <p:nvPr/>
        </p:nvPicPr>
        <p:blipFill>
          <a:blip r:embed="rId6">
            <a:alphaModFix/>
          </a:blip>
          <a:stretch>
            <a:fillRect/>
          </a:stretch>
        </p:blipFill>
        <p:spPr>
          <a:xfrm>
            <a:off x="4434525" y="4197623"/>
            <a:ext cx="2026383" cy="820256"/>
          </a:xfrm>
          <a:prstGeom prst="rect">
            <a:avLst/>
          </a:prstGeom>
          <a:noFill/>
          <a:ln>
            <a:noFill/>
          </a:ln>
        </p:spPr>
      </p:pic>
      <p:pic>
        <p:nvPicPr>
          <p:cNvPr id="506" name="Google Shape;506;p51"/>
          <p:cNvPicPr preferRelativeResize="0"/>
          <p:nvPr/>
        </p:nvPicPr>
        <p:blipFill>
          <a:blip r:embed="rId6">
            <a:alphaModFix/>
          </a:blip>
          <a:stretch>
            <a:fillRect/>
          </a:stretch>
        </p:blipFill>
        <p:spPr>
          <a:xfrm>
            <a:off x="10246075" y="4296107"/>
            <a:ext cx="2026383" cy="820256"/>
          </a:xfrm>
          <a:prstGeom prst="rect">
            <a:avLst/>
          </a:prstGeom>
          <a:noFill/>
          <a:ln>
            <a:noFill/>
          </a:ln>
        </p:spPr>
      </p:pic>
      <p:sp>
        <p:nvSpPr>
          <p:cNvPr id="507" name="Google Shape;507;p51"/>
          <p:cNvSpPr txBox="1"/>
          <p:nvPr/>
        </p:nvSpPr>
        <p:spPr>
          <a:xfrm>
            <a:off x="3993050" y="7650363"/>
            <a:ext cx="41730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Once the system has the package, the linear actuator will retract until the system is solely dependent on the wire.</a:t>
            </a:r>
            <a:endParaRPr sz="1800">
              <a:latin typeface="Calibri"/>
              <a:ea typeface="Calibri"/>
              <a:cs typeface="Calibri"/>
              <a:sym typeface="Calibri"/>
            </a:endParaRPr>
          </a:p>
        </p:txBody>
      </p:sp>
      <p:cxnSp>
        <p:nvCxnSpPr>
          <p:cNvPr id="508" name="Google Shape;508;p51"/>
          <p:cNvCxnSpPr>
            <a:stCxn id="507" idx="0"/>
          </p:cNvCxnSpPr>
          <p:nvPr/>
        </p:nvCxnSpPr>
        <p:spPr>
          <a:xfrm rot="10800000" flipH="1">
            <a:off x="6079550" y="3375663"/>
            <a:ext cx="1583700" cy="4274700"/>
          </a:xfrm>
          <a:prstGeom prst="straightConnector1">
            <a:avLst/>
          </a:prstGeom>
          <a:noFill/>
          <a:ln w="28575" cap="flat" cmpd="sng">
            <a:solidFill>
              <a:schemeClr val="dk1"/>
            </a:solidFill>
            <a:prstDash val="solid"/>
            <a:round/>
            <a:headEnd type="none" w="med" len="med"/>
            <a:tailEnd type="triangle" w="med" len="med"/>
          </a:ln>
        </p:spPr>
      </p:cxnSp>
      <p:cxnSp>
        <p:nvCxnSpPr>
          <p:cNvPr id="509" name="Google Shape;509;p51"/>
          <p:cNvCxnSpPr>
            <a:stCxn id="507" idx="0"/>
          </p:cNvCxnSpPr>
          <p:nvPr/>
        </p:nvCxnSpPr>
        <p:spPr>
          <a:xfrm rot="10800000">
            <a:off x="2334050" y="3260463"/>
            <a:ext cx="3745500" cy="4389900"/>
          </a:xfrm>
          <a:prstGeom prst="straightConnector1">
            <a:avLst/>
          </a:prstGeom>
          <a:noFill/>
          <a:ln w="28575" cap="flat" cmpd="sng">
            <a:solidFill>
              <a:schemeClr val="dk1"/>
            </a:solidFill>
            <a:prstDash val="solid"/>
            <a:round/>
            <a:headEnd type="none" w="med" len="med"/>
            <a:tailEnd type="triangle" w="med" len="med"/>
          </a:ln>
        </p:spPr>
      </p:cxnSp>
      <p:sp>
        <p:nvSpPr>
          <p:cNvPr id="510" name="Google Shape;510;p51"/>
          <p:cNvSpPr txBox="1"/>
          <p:nvPr/>
        </p:nvSpPr>
        <p:spPr>
          <a:xfrm>
            <a:off x="10505375" y="7918488"/>
            <a:ext cx="41730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linear actuator will keep retracting until the whole system is off the ground.</a:t>
            </a:r>
            <a:endParaRPr sz="1800">
              <a:latin typeface="Calibri"/>
              <a:ea typeface="Calibri"/>
              <a:cs typeface="Calibri"/>
              <a:sym typeface="Calibri"/>
            </a:endParaRPr>
          </a:p>
        </p:txBody>
      </p:sp>
      <p:cxnSp>
        <p:nvCxnSpPr>
          <p:cNvPr id="511" name="Google Shape;511;p51"/>
          <p:cNvCxnSpPr/>
          <p:nvPr/>
        </p:nvCxnSpPr>
        <p:spPr>
          <a:xfrm rot="10800000" flipH="1">
            <a:off x="12591875" y="6475188"/>
            <a:ext cx="1795800" cy="1443300"/>
          </a:xfrm>
          <a:prstGeom prst="straightConnector1">
            <a:avLst/>
          </a:prstGeom>
          <a:noFill/>
          <a:ln w="28575" cap="flat" cmpd="sng">
            <a:solidFill>
              <a:schemeClr val="dk1"/>
            </a:solidFill>
            <a:prstDash val="solid"/>
            <a:round/>
            <a:headEnd type="none" w="med" len="med"/>
            <a:tailEnd type="triangle" w="med" len="med"/>
          </a:ln>
        </p:spPr>
      </p:cxnSp>
      <p:cxnSp>
        <p:nvCxnSpPr>
          <p:cNvPr id="512" name="Google Shape;512;p51"/>
          <p:cNvCxnSpPr/>
          <p:nvPr/>
        </p:nvCxnSpPr>
        <p:spPr>
          <a:xfrm rot="10800000">
            <a:off x="8945375" y="6809088"/>
            <a:ext cx="3646500" cy="1109400"/>
          </a:xfrm>
          <a:prstGeom prst="straightConnector1">
            <a:avLst/>
          </a:prstGeom>
          <a:noFill/>
          <a:ln w="28575" cap="flat" cmpd="sng">
            <a:solidFill>
              <a:schemeClr val="dk1"/>
            </a:solidFill>
            <a:prstDash val="solid"/>
            <a:round/>
            <a:headEnd type="none" w="med" len="med"/>
            <a:tailEnd type="triangle" w="med" len="med"/>
          </a:ln>
        </p:spPr>
      </p:cxnSp>
      <p:sp>
        <p:nvSpPr>
          <p:cNvPr id="513" name="Google Shape;513;p51"/>
          <p:cNvSpPr txBox="1"/>
          <p:nvPr/>
        </p:nvSpPr>
        <p:spPr>
          <a:xfrm>
            <a:off x="15581725" y="7926875"/>
            <a:ext cx="23589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arm and package lift with it.</a:t>
            </a:r>
            <a:endParaRPr sz="1800">
              <a:latin typeface="Calibri"/>
              <a:ea typeface="Calibri"/>
              <a:cs typeface="Calibri"/>
              <a:sym typeface="Calibri"/>
            </a:endParaRPr>
          </a:p>
        </p:txBody>
      </p:sp>
      <p:cxnSp>
        <p:nvCxnSpPr>
          <p:cNvPr id="514" name="Google Shape;514;p51"/>
          <p:cNvCxnSpPr>
            <a:stCxn id="513" idx="0"/>
          </p:cNvCxnSpPr>
          <p:nvPr/>
        </p:nvCxnSpPr>
        <p:spPr>
          <a:xfrm rot="10800000" flipH="1">
            <a:off x="16761175" y="6475175"/>
            <a:ext cx="208200" cy="14517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52"/>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(Traversing Chasm)</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20" name="Google Shape;520;p52"/>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E69138"/>
                </a:solidFill>
                <a:highlight>
                  <a:srgbClr val="FFFFFF"/>
                </a:highlight>
                <a:latin typeface="Calibri"/>
                <a:ea typeface="Calibri"/>
                <a:cs typeface="Calibri"/>
                <a:sym typeface="Calibri"/>
              </a:rPr>
              <a:t>PHASE  3</a:t>
            </a:r>
            <a:endParaRPr sz="6100" b="1">
              <a:solidFill>
                <a:srgbClr val="E69138"/>
              </a:solidFill>
              <a:highlight>
                <a:srgbClr val="FFFFFF"/>
              </a:highlight>
              <a:latin typeface="Calibri"/>
              <a:ea typeface="Calibri"/>
              <a:cs typeface="Calibri"/>
              <a:sym typeface="Calibri"/>
            </a:endParaRPr>
          </a:p>
        </p:txBody>
      </p:sp>
      <p:pic>
        <p:nvPicPr>
          <p:cNvPr id="521" name="Google Shape;521;p52"/>
          <p:cNvPicPr preferRelativeResize="0"/>
          <p:nvPr/>
        </p:nvPicPr>
        <p:blipFill>
          <a:blip r:embed="rId3">
            <a:alphaModFix/>
          </a:blip>
          <a:stretch>
            <a:fillRect/>
          </a:stretch>
        </p:blipFill>
        <p:spPr>
          <a:xfrm>
            <a:off x="152400" y="1491751"/>
            <a:ext cx="8888413" cy="3859213"/>
          </a:xfrm>
          <a:prstGeom prst="rect">
            <a:avLst/>
          </a:prstGeom>
          <a:noFill/>
          <a:ln>
            <a:noFill/>
          </a:ln>
        </p:spPr>
      </p:pic>
      <p:pic>
        <p:nvPicPr>
          <p:cNvPr id="522" name="Google Shape;522;p52"/>
          <p:cNvPicPr preferRelativeResize="0"/>
          <p:nvPr/>
        </p:nvPicPr>
        <p:blipFill>
          <a:blip r:embed="rId4">
            <a:alphaModFix/>
          </a:blip>
          <a:stretch>
            <a:fillRect/>
          </a:stretch>
        </p:blipFill>
        <p:spPr>
          <a:xfrm>
            <a:off x="10855350" y="1491759"/>
            <a:ext cx="6673564" cy="5703481"/>
          </a:xfrm>
          <a:prstGeom prst="rect">
            <a:avLst/>
          </a:prstGeom>
          <a:noFill/>
          <a:ln>
            <a:noFill/>
          </a:ln>
        </p:spPr>
      </p:pic>
      <p:pic>
        <p:nvPicPr>
          <p:cNvPr id="523" name="Google Shape;523;p52"/>
          <p:cNvPicPr preferRelativeResize="0"/>
          <p:nvPr/>
        </p:nvPicPr>
        <p:blipFill>
          <a:blip r:embed="rId5">
            <a:alphaModFix/>
          </a:blip>
          <a:stretch>
            <a:fillRect/>
          </a:stretch>
        </p:blipFill>
        <p:spPr>
          <a:xfrm>
            <a:off x="152400" y="5490663"/>
            <a:ext cx="6673570" cy="4428036"/>
          </a:xfrm>
          <a:prstGeom prst="rect">
            <a:avLst/>
          </a:prstGeom>
          <a:noFill/>
          <a:ln>
            <a:noFill/>
          </a:ln>
        </p:spPr>
      </p:pic>
      <p:pic>
        <p:nvPicPr>
          <p:cNvPr id="524" name="Google Shape;524;p52"/>
          <p:cNvPicPr preferRelativeResize="0"/>
          <p:nvPr/>
        </p:nvPicPr>
        <p:blipFill>
          <a:blip r:embed="rId6">
            <a:alphaModFix/>
          </a:blip>
          <a:stretch>
            <a:fillRect/>
          </a:stretch>
        </p:blipFill>
        <p:spPr>
          <a:xfrm>
            <a:off x="14108373" y="7415535"/>
            <a:ext cx="2944150" cy="2322605"/>
          </a:xfrm>
          <a:prstGeom prst="rect">
            <a:avLst/>
          </a:prstGeom>
          <a:noFill/>
          <a:ln>
            <a:noFill/>
          </a:ln>
        </p:spPr>
      </p:pic>
      <p:sp>
        <p:nvSpPr>
          <p:cNvPr id="525" name="Google Shape;525;p52"/>
          <p:cNvSpPr txBox="1"/>
          <p:nvPr/>
        </p:nvSpPr>
        <p:spPr>
          <a:xfrm>
            <a:off x="7432650" y="6624956"/>
            <a:ext cx="24636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DC Motors mounted into this top piece.</a:t>
            </a:r>
            <a:endParaRPr sz="1800">
              <a:latin typeface="Calibri"/>
              <a:ea typeface="Calibri"/>
              <a:cs typeface="Calibri"/>
              <a:sym typeface="Calibri"/>
            </a:endParaRPr>
          </a:p>
        </p:txBody>
      </p:sp>
      <p:cxnSp>
        <p:nvCxnSpPr>
          <p:cNvPr id="526" name="Google Shape;526;p52"/>
          <p:cNvCxnSpPr>
            <a:stCxn id="525" idx="0"/>
          </p:cNvCxnSpPr>
          <p:nvPr/>
        </p:nvCxnSpPr>
        <p:spPr>
          <a:xfrm rot="10800000">
            <a:off x="6837450" y="3998156"/>
            <a:ext cx="1827000" cy="2626800"/>
          </a:xfrm>
          <a:prstGeom prst="straightConnector1">
            <a:avLst/>
          </a:prstGeom>
          <a:noFill/>
          <a:ln w="28575" cap="flat" cmpd="sng">
            <a:solidFill>
              <a:schemeClr val="dk1"/>
            </a:solidFill>
            <a:prstDash val="solid"/>
            <a:round/>
            <a:headEnd type="none" w="med" len="med"/>
            <a:tailEnd type="triangle" w="med" len="med"/>
          </a:ln>
        </p:spPr>
      </p:cxnSp>
      <p:cxnSp>
        <p:nvCxnSpPr>
          <p:cNvPr id="527" name="Google Shape;527;p52"/>
          <p:cNvCxnSpPr/>
          <p:nvPr/>
        </p:nvCxnSpPr>
        <p:spPr>
          <a:xfrm flipH="1">
            <a:off x="5844750" y="6977644"/>
            <a:ext cx="1587900" cy="430800"/>
          </a:xfrm>
          <a:prstGeom prst="straightConnector1">
            <a:avLst/>
          </a:prstGeom>
          <a:noFill/>
          <a:ln w="28575" cap="flat" cmpd="sng">
            <a:solidFill>
              <a:schemeClr val="dk1"/>
            </a:solidFill>
            <a:prstDash val="solid"/>
            <a:round/>
            <a:headEnd type="none" w="med" len="med"/>
            <a:tailEnd type="triangle" w="med" len="med"/>
          </a:ln>
        </p:spPr>
      </p:cxnSp>
      <p:sp>
        <p:nvSpPr>
          <p:cNvPr id="528" name="Google Shape;528;p52"/>
          <p:cNvSpPr txBox="1"/>
          <p:nvPr/>
        </p:nvSpPr>
        <p:spPr>
          <a:xfrm>
            <a:off x="8257475" y="8214950"/>
            <a:ext cx="17436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Calibri"/>
                <a:ea typeface="Calibri"/>
                <a:cs typeface="Calibri"/>
                <a:sym typeface="Calibri"/>
              </a:rPr>
              <a:t>Linear Actuator mounts from underneath by slotting in and then bolting on.</a:t>
            </a:r>
            <a:endParaRPr sz="1800">
              <a:latin typeface="Calibri"/>
              <a:ea typeface="Calibri"/>
              <a:cs typeface="Calibri"/>
              <a:sym typeface="Calibri"/>
            </a:endParaRPr>
          </a:p>
        </p:txBody>
      </p:sp>
      <p:cxnSp>
        <p:nvCxnSpPr>
          <p:cNvPr id="529" name="Google Shape;529;p52"/>
          <p:cNvCxnSpPr>
            <a:stCxn id="528" idx="1"/>
          </p:cNvCxnSpPr>
          <p:nvPr/>
        </p:nvCxnSpPr>
        <p:spPr>
          <a:xfrm rot="10800000">
            <a:off x="4763375" y="8213900"/>
            <a:ext cx="3494100" cy="786000"/>
          </a:xfrm>
          <a:prstGeom prst="straightConnector1">
            <a:avLst/>
          </a:prstGeom>
          <a:noFill/>
          <a:ln w="28575" cap="flat" cmpd="sng">
            <a:solidFill>
              <a:schemeClr val="dk1"/>
            </a:solidFill>
            <a:prstDash val="solid"/>
            <a:round/>
            <a:headEnd type="none" w="med" len="med"/>
            <a:tailEnd type="triangle" w="med" len="med"/>
          </a:ln>
        </p:spPr>
      </p:cxnSp>
      <p:cxnSp>
        <p:nvCxnSpPr>
          <p:cNvPr id="530" name="Google Shape;530;p52"/>
          <p:cNvCxnSpPr>
            <a:stCxn id="528" idx="3"/>
          </p:cNvCxnSpPr>
          <p:nvPr/>
        </p:nvCxnSpPr>
        <p:spPr>
          <a:xfrm rot="10800000" flipH="1">
            <a:off x="10001075" y="4385300"/>
            <a:ext cx="4365300" cy="4614600"/>
          </a:xfrm>
          <a:prstGeom prst="straightConnector1">
            <a:avLst/>
          </a:prstGeom>
          <a:noFill/>
          <a:ln w="28575" cap="flat" cmpd="sng">
            <a:solidFill>
              <a:schemeClr val="dk1"/>
            </a:solidFill>
            <a:prstDash val="solid"/>
            <a:round/>
            <a:headEnd type="none" w="med" len="med"/>
            <a:tailEnd type="triangle" w="med" len="med"/>
          </a:ln>
        </p:spPr>
      </p:cxnSp>
      <p:sp>
        <p:nvSpPr>
          <p:cNvPr id="531" name="Google Shape;531;p52"/>
          <p:cNvSpPr txBox="1"/>
          <p:nvPr/>
        </p:nvSpPr>
        <p:spPr>
          <a:xfrm>
            <a:off x="10855350" y="8214938"/>
            <a:ext cx="2266800" cy="1569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Pulleys. They will have adhesive grip on it to get enough grip with the wire that fits underneath.</a:t>
            </a:r>
            <a:endParaRPr sz="1800">
              <a:latin typeface="Calibri"/>
              <a:ea typeface="Calibri"/>
              <a:cs typeface="Calibri"/>
              <a:sym typeface="Calibri"/>
            </a:endParaRPr>
          </a:p>
        </p:txBody>
      </p:sp>
      <p:cxnSp>
        <p:nvCxnSpPr>
          <p:cNvPr id="532" name="Google Shape;532;p52"/>
          <p:cNvCxnSpPr>
            <a:stCxn id="531" idx="3"/>
          </p:cNvCxnSpPr>
          <p:nvPr/>
        </p:nvCxnSpPr>
        <p:spPr>
          <a:xfrm rot="10800000" flipH="1">
            <a:off x="13122150" y="8943488"/>
            <a:ext cx="1822500" cy="56400"/>
          </a:xfrm>
          <a:prstGeom prst="straightConnector1">
            <a:avLst/>
          </a:prstGeom>
          <a:noFill/>
          <a:ln w="28575" cap="flat" cmpd="sng">
            <a:solidFill>
              <a:schemeClr val="dk1"/>
            </a:solidFill>
            <a:prstDash val="solid"/>
            <a:round/>
            <a:headEnd type="none" w="med" len="med"/>
            <a:tailEnd type="triangle" w="med" len="med"/>
          </a:ln>
        </p:spPr>
      </p:cxnSp>
      <p:sp>
        <p:nvSpPr>
          <p:cNvPr id="533" name="Google Shape;533;p52"/>
          <p:cNvSpPr txBox="1"/>
          <p:nvPr/>
        </p:nvSpPr>
        <p:spPr>
          <a:xfrm>
            <a:off x="9210288" y="4244261"/>
            <a:ext cx="18225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Calibri"/>
                <a:ea typeface="Calibri"/>
                <a:cs typeface="Calibri"/>
                <a:sym typeface="Calibri"/>
              </a:rPr>
              <a:t>3D printed mount to connect the motor’s rotation to the pulley.</a:t>
            </a:r>
            <a:endParaRPr sz="1800">
              <a:latin typeface="Calibri"/>
              <a:ea typeface="Calibri"/>
              <a:cs typeface="Calibri"/>
              <a:sym typeface="Calibri"/>
            </a:endParaRPr>
          </a:p>
        </p:txBody>
      </p:sp>
      <p:cxnSp>
        <p:nvCxnSpPr>
          <p:cNvPr id="534" name="Google Shape;534;p52"/>
          <p:cNvCxnSpPr>
            <a:stCxn id="533" idx="3"/>
          </p:cNvCxnSpPr>
          <p:nvPr/>
        </p:nvCxnSpPr>
        <p:spPr>
          <a:xfrm rot="10800000" flipH="1">
            <a:off x="11032788" y="3766211"/>
            <a:ext cx="1474500" cy="1263000"/>
          </a:xfrm>
          <a:prstGeom prst="straightConnector1">
            <a:avLst/>
          </a:prstGeom>
          <a:noFill/>
          <a:ln w="28575" cap="flat" cmpd="sng">
            <a:solidFill>
              <a:schemeClr val="dk1"/>
            </a:solidFill>
            <a:prstDash val="solid"/>
            <a:round/>
            <a:headEnd type="none" w="med" len="med"/>
            <a:tailEnd type="triangle" w="med" len="med"/>
          </a:ln>
        </p:spPr>
      </p:cxnSp>
      <p:sp>
        <p:nvSpPr>
          <p:cNvPr id="535" name="Google Shape;535;p52"/>
          <p:cNvSpPr txBox="1"/>
          <p:nvPr/>
        </p:nvSpPr>
        <p:spPr>
          <a:xfrm>
            <a:off x="10646050" y="195640"/>
            <a:ext cx="34062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Mount for drawers slides to connect to wooden motor mount. Drawer slides are added for stability.</a:t>
            </a:r>
            <a:endParaRPr sz="1800">
              <a:latin typeface="Calibri"/>
              <a:ea typeface="Calibri"/>
              <a:cs typeface="Calibri"/>
              <a:sym typeface="Calibri"/>
            </a:endParaRPr>
          </a:p>
        </p:txBody>
      </p:sp>
      <p:cxnSp>
        <p:nvCxnSpPr>
          <p:cNvPr id="536" name="Google Shape;536;p52"/>
          <p:cNvCxnSpPr>
            <a:stCxn id="535" idx="2"/>
          </p:cNvCxnSpPr>
          <p:nvPr/>
        </p:nvCxnSpPr>
        <p:spPr>
          <a:xfrm>
            <a:off x="12349150" y="1488640"/>
            <a:ext cx="144600" cy="7518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3"/>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(Traversing Chasm)</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42" name="Google Shape;542;p53"/>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E69138"/>
                </a:solidFill>
                <a:highlight>
                  <a:srgbClr val="FFFFFF"/>
                </a:highlight>
                <a:latin typeface="Calibri"/>
                <a:ea typeface="Calibri"/>
                <a:cs typeface="Calibri"/>
                <a:sym typeface="Calibri"/>
              </a:rPr>
              <a:t>PHASE  3</a:t>
            </a:r>
            <a:endParaRPr sz="6100" b="1">
              <a:solidFill>
                <a:srgbClr val="E69138"/>
              </a:solidFill>
              <a:highlight>
                <a:srgbClr val="FFFFFF"/>
              </a:highlight>
              <a:latin typeface="Calibri"/>
              <a:ea typeface="Calibri"/>
              <a:cs typeface="Calibri"/>
              <a:sym typeface="Calibri"/>
            </a:endParaRPr>
          </a:p>
        </p:txBody>
      </p:sp>
      <p:pic>
        <p:nvPicPr>
          <p:cNvPr id="543" name="Google Shape;543;p53"/>
          <p:cNvPicPr preferRelativeResize="0"/>
          <p:nvPr/>
        </p:nvPicPr>
        <p:blipFill>
          <a:blip r:embed="rId3">
            <a:alphaModFix/>
          </a:blip>
          <a:stretch>
            <a:fillRect/>
          </a:stretch>
        </p:blipFill>
        <p:spPr>
          <a:xfrm>
            <a:off x="340975" y="2035092"/>
            <a:ext cx="5934660" cy="5080465"/>
          </a:xfrm>
          <a:prstGeom prst="rect">
            <a:avLst/>
          </a:prstGeom>
          <a:noFill/>
          <a:ln>
            <a:noFill/>
          </a:ln>
        </p:spPr>
      </p:pic>
      <p:pic>
        <p:nvPicPr>
          <p:cNvPr id="544" name="Google Shape;544;p53"/>
          <p:cNvPicPr preferRelativeResize="0"/>
          <p:nvPr/>
        </p:nvPicPr>
        <p:blipFill>
          <a:blip r:embed="rId4">
            <a:alphaModFix/>
          </a:blip>
          <a:stretch>
            <a:fillRect/>
          </a:stretch>
        </p:blipFill>
        <p:spPr>
          <a:xfrm>
            <a:off x="7214700" y="1161832"/>
            <a:ext cx="3686879" cy="6826990"/>
          </a:xfrm>
          <a:prstGeom prst="rect">
            <a:avLst/>
          </a:prstGeom>
          <a:noFill/>
          <a:ln>
            <a:noFill/>
          </a:ln>
        </p:spPr>
      </p:pic>
      <p:pic>
        <p:nvPicPr>
          <p:cNvPr id="545" name="Google Shape;545;p53"/>
          <p:cNvPicPr preferRelativeResize="0"/>
          <p:nvPr/>
        </p:nvPicPr>
        <p:blipFill>
          <a:blip r:embed="rId5">
            <a:alphaModFix/>
          </a:blip>
          <a:stretch>
            <a:fillRect/>
          </a:stretch>
        </p:blipFill>
        <p:spPr>
          <a:xfrm>
            <a:off x="13157900" y="1770808"/>
            <a:ext cx="4034319" cy="5609037"/>
          </a:xfrm>
          <a:prstGeom prst="rect">
            <a:avLst/>
          </a:prstGeom>
          <a:noFill/>
          <a:ln>
            <a:noFill/>
          </a:ln>
        </p:spPr>
      </p:pic>
      <p:pic>
        <p:nvPicPr>
          <p:cNvPr id="546" name="Google Shape;546;p53"/>
          <p:cNvPicPr preferRelativeResize="0"/>
          <p:nvPr/>
        </p:nvPicPr>
        <p:blipFill>
          <a:blip r:embed="rId6">
            <a:alphaModFix/>
          </a:blip>
          <a:stretch>
            <a:fillRect/>
          </a:stretch>
        </p:blipFill>
        <p:spPr>
          <a:xfrm>
            <a:off x="11010550" y="4095275"/>
            <a:ext cx="2147348" cy="960125"/>
          </a:xfrm>
          <a:prstGeom prst="rect">
            <a:avLst/>
          </a:prstGeom>
          <a:noFill/>
          <a:ln>
            <a:noFill/>
          </a:ln>
        </p:spPr>
      </p:pic>
      <p:sp>
        <p:nvSpPr>
          <p:cNvPr id="547" name="Google Shape;547;p53"/>
          <p:cNvSpPr txBox="1"/>
          <p:nvPr/>
        </p:nvSpPr>
        <p:spPr>
          <a:xfrm>
            <a:off x="477625" y="7258648"/>
            <a:ext cx="58725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Near the sag point, the system will have enough clearance to not touch the chasm due to the linear actuator retracting enough to keep it hovering above ground.</a:t>
            </a:r>
            <a:endParaRPr sz="1800">
              <a:latin typeface="Calibri"/>
              <a:ea typeface="Calibri"/>
              <a:cs typeface="Calibri"/>
              <a:sym typeface="Calibri"/>
            </a:endParaRPr>
          </a:p>
        </p:txBody>
      </p:sp>
      <p:cxnSp>
        <p:nvCxnSpPr>
          <p:cNvPr id="548" name="Google Shape;548;p53"/>
          <p:cNvCxnSpPr/>
          <p:nvPr/>
        </p:nvCxnSpPr>
        <p:spPr>
          <a:xfrm rot="10800000" flipH="1">
            <a:off x="3167400" y="6832165"/>
            <a:ext cx="25200" cy="495600"/>
          </a:xfrm>
          <a:prstGeom prst="straightConnector1">
            <a:avLst/>
          </a:prstGeom>
          <a:noFill/>
          <a:ln w="28575" cap="flat" cmpd="sng">
            <a:solidFill>
              <a:schemeClr val="dk1"/>
            </a:solidFill>
            <a:prstDash val="solid"/>
            <a:round/>
            <a:headEnd type="none" w="med" len="med"/>
            <a:tailEnd type="triangle" w="med" len="med"/>
          </a:ln>
        </p:spPr>
      </p:cxnSp>
      <p:sp>
        <p:nvSpPr>
          <p:cNvPr id="549" name="Google Shape;549;p53"/>
          <p:cNvSpPr txBox="1"/>
          <p:nvPr/>
        </p:nvSpPr>
        <p:spPr>
          <a:xfrm>
            <a:off x="9879275" y="8232148"/>
            <a:ext cx="61713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While traversing across the chasm, the arm will rotate the package so that it is in position and ready for depositing. It needs to rotate in the chasm as there is not enough space at the deposit zone for the rack to turn without hitting the pylon.</a:t>
            </a:r>
            <a:endParaRPr sz="1800">
              <a:latin typeface="Calibri"/>
              <a:ea typeface="Calibri"/>
              <a:cs typeface="Calibri"/>
              <a:sym typeface="Calibri"/>
            </a:endParaRPr>
          </a:p>
        </p:txBody>
      </p:sp>
      <p:pic>
        <p:nvPicPr>
          <p:cNvPr id="550" name="Google Shape;550;p53"/>
          <p:cNvPicPr preferRelativeResize="0"/>
          <p:nvPr/>
        </p:nvPicPr>
        <p:blipFill>
          <a:blip r:embed="rId7">
            <a:alphaModFix/>
          </a:blip>
          <a:stretch>
            <a:fillRect/>
          </a:stretch>
        </p:blipFill>
        <p:spPr>
          <a:xfrm rot="1459657">
            <a:off x="7053284" y="4291836"/>
            <a:ext cx="1790179" cy="1790179"/>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54"/>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(Traversing Chasm)</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56" name="Google Shape;556;p54"/>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E69138"/>
                </a:solidFill>
                <a:highlight>
                  <a:srgbClr val="FFFFFF"/>
                </a:highlight>
                <a:latin typeface="Calibri"/>
                <a:ea typeface="Calibri"/>
                <a:cs typeface="Calibri"/>
                <a:sym typeface="Calibri"/>
              </a:rPr>
              <a:t>PHASE  3</a:t>
            </a:r>
            <a:endParaRPr sz="6100" b="1">
              <a:solidFill>
                <a:srgbClr val="E69138"/>
              </a:solidFill>
              <a:highlight>
                <a:srgbClr val="FFFFFF"/>
              </a:highlight>
              <a:latin typeface="Calibri"/>
              <a:ea typeface="Calibri"/>
              <a:cs typeface="Calibri"/>
              <a:sym typeface="Calibri"/>
            </a:endParaRPr>
          </a:p>
        </p:txBody>
      </p:sp>
      <p:pic>
        <p:nvPicPr>
          <p:cNvPr id="557" name="Google Shape;557;p54"/>
          <p:cNvPicPr preferRelativeResize="0"/>
          <p:nvPr/>
        </p:nvPicPr>
        <p:blipFill rotWithShape="1">
          <a:blip r:embed="rId3">
            <a:alphaModFix/>
          </a:blip>
          <a:srcRect l="15369" t="10199" r="14128" b="27151"/>
          <a:stretch/>
        </p:blipFill>
        <p:spPr>
          <a:xfrm>
            <a:off x="11173925" y="3214532"/>
            <a:ext cx="5480101" cy="3790622"/>
          </a:xfrm>
          <a:prstGeom prst="rect">
            <a:avLst/>
          </a:prstGeom>
          <a:noFill/>
          <a:ln>
            <a:noFill/>
          </a:ln>
        </p:spPr>
      </p:pic>
      <p:pic>
        <p:nvPicPr>
          <p:cNvPr id="558" name="Google Shape;558;p54"/>
          <p:cNvPicPr preferRelativeResize="0"/>
          <p:nvPr/>
        </p:nvPicPr>
        <p:blipFill>
          <a:blip r:embed="rId4">
            <a:alphaModFix/>
          </a:blip>
          <a:stretch>
            <a:fillRect/>
          </a:stretch>
        </p:blipFill>
        <p:spPr>
          <a:xfrm>
            <a:off x="735675" y="3547134"/>
            <a:ext cx="6697465" cy="3673703"/>
          </a:xfrm>
          <a:prstGeom prst="rect">
            <a:avLst/>
          </a:prstGeom>
          <a:noFill/>
          <a:ln>
            <a:noFill/>
          </a:ln>
        </p:spPr>
      </p:pic>
      <p:sp>
        <p:nvSpPr>
          <p:cNvPr id="559" name="Google Shape;559;p54"/>
          <p:cNvSpPr txBox="1"/>
          <p:nvPr/>
        </p:nvSpPr>
        <p:spPr>
          <a:xfrm>
            <a:off x="2916025" y="1705206"/>
            <a:ext cx="4776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560" name="Google Shape;560;p54"/>
          <p:cNvSpPr txBox="1"/>
          <p:nvPr/>
        </p:nvSpPr>
        <p:spPr>
          <a:xfrm>
            <a:off x="1709375" y="1401881"/>
            <a:ext cx="61713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In the chassis, near the centre, there is a stepper motor mounted upside down. This is the motor that will cause the twist or the arm. Note the image below is a section view.</a:t>
            </a:r>
            <a:endParaRPr sz="1800">
              <a:latin typeface="Calibri"/>
              <a:ea typeface="Calibri"/>
              <a:cs typeface="Calibri"/>
              <a:sym typeface="Calibri"/>
            </a:endParaRPr>
          </a:p>
        </p:txBody>
      </p:sp>
      <p:cxnSp>
        <p:nvCxnSpPr>
          <p:cNvPr id="561" name="Google Shape;561;p54"/>
          <p:cNvCxnSpPr>
            <a:stCxn id="560" idx="2"/>
          </p:cNvCxnSpPr>
          <p:nvPr/>
        </p:nvCxnSpPr>
        <p:spPr>
          <a:xfrm>
            <a:off x="4795025" y="2417681"/>
            <a:ext cx="509100" cy="1783800"/>
          </a:xfrm>
          <a:prstGeom prst="straightConnector1">
            <a:avLst/>
          </a:prstGeom>
          <a:noFill/>
          <a:ln w="28575" cap="flat" cmpd="sng">
            <a:solidFill>
              <a:schemeClr val="dk1"/>
            </a:solidFill>
            <a:prstDash val="solid"/>
            <a:round/>
            <a:headEnd type="none" w="med" len="med"/>
            <a:tailEnd type="triangle" w="med" len="med"/>
          </a:ln>
        </p:spPr>
      </p:cxnSp>
      <p:sp>
        <p:nvSpPr>
          <p:cNvPr id="562" name="Google Shape;562;p54"/>
          <p:cNvSpPr txBox="1"/>
          <p:nvPr/>
        </p:nvSpPr>
        <p:spPr>
          <a:xfrm>
            <a:off x="7516300" y="7627331"/>
            <a:ext cx="44118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A designed mount is used to transfer the rotation applied by the stepper motor to the arm. This rotates the wooden board underneath, which will rotate the arm. </a:t>
            </a:r>
            <a:endParaRPr sz="1800">
              <a:latin typeface="Calibri"/>
              <a:ea typeface="Calibri"/>
              <a:cs typeface="Calibri"/>
              <a:sym typeface="Calibri"/>
            </a:endParaRPr>
          </a:p>
        </p:txBody>
      </p:sp>
      <p:cxnSp>
        <p:nvCxnSpPr>
          <p:cNvPr id="563" name="Google Shape;563;p54"/>
          <p:cNvCxnSpPr/>
          <p:nvPr/>
        </p:nvCxnSpPr>
        <p:spPr>
          <a:xfrm rot="10800000">
            <a:off x="6146325" y="6705673"/>
            <a:ext cx="2538900" cy="887100"/>
          </a:xfrm>
          <a:prstGeom prst="straightConnector1">
            <a:avLst/>
          </a:prstGeom>
          <a:noFill/>
          <a:ln w="28575" cap="flat" cmpd="sng">
            <a:solidFill>
              <a:schemeClr val="dk1"/>
            </a:solidFill>
            <a:prstDash val="solid"/>
            <a:round/>
            <a:headEnd type="none" w="med" len="med"/>
            <a:tailEnd type="triangle" w="med" len="med"/>
          </a:ln>
        </p:spPr>
      </p:cxnSp>
      <p:cxnSp>
        <p:nvCxnSpPr>
          <p:cNvPr id="564" name="Google Shape;564;p54"/>
          <p:cNvCxnSpPr/>
          <p:nvPr/>
        </p:nvCxnSpPr>
        <p:spPr>
          <a:xfrm rot="10800000" flipH="1">
            <a:off x="10382050" y="5334490"/>
            <a:ext cx="3444000" cy="23274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55"/>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(Traversing Chasm)</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70" name="Google Shape;570;p55"/>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E69138"/>
                </a:solidFill>
                <a:highlight>
                  <a:srgbClr val="FFFFFF"/>
                </a:highlight>
                <a:latin typeface="Calibri"/>
                <a:ea typeface="Calibri"/>
                <a:cs typeface="Calibri"/>
                <a:sym typeface="Calibri"/>
              </a:rPr>
              <a:t>PHASE  3</a:t>
            </a:r>
            <a:endParaRPr sz="6100" b="1">
              <a:solidFill>
                <a:srgbClr val="E69138"/>
              </a:solidFill>
              <a:highlight>
                <a:srgbClr val="FFFFFF"/>
              </a:highlight>
              <a:latin typeface="Calibri"/>
              <a:ea typeface="Calibri"/>
              <a:cs typeface="Calibri"/>
              <a:sym typeface="Calibri"/>
            </a:endParaRPr>
          </a:p>
        </p:txBody>
      </p:sp>
      <p:pic>
        <p:nvPicPr>
          <p:cNvPr id="571" name="Google Shape;571;p55"/>
          <p:cNvPicPr preferRelativeResize="0"/>
          <p:nvPr/>
        </p:nvPicPr>
        <p:blipFill>
          <a:blip r:embed="rId3">
            <a:alphaModFix/>
          </a:blip>
          <a:stretch>
            <a:fillRect/>
          </a:stretch>
        </p:blipFill>
        <p:spPr>
          <a:xfrm>
            <a:off x="3530575" y="1548524"/>
            <a:ext cx="5843933" cy="7233279"/>
          </a:xfrm>
          <a:prstGeom prst="rect">
            <a:avLst/>
          </a:prstGeom>
          <a:noFill/>
          <a:ln>
            <a:noFill/>
          </a:ln>
        </p:spPr>
      </p:pic>
      <p:cxnSp>
        <p:nvCxnSpPr>
          <p:cNvPr id="572" name="Google Shape;572;p55"/>
          <p:cNvCxnSpPr/>
          <p:nvPr/>
        </p:nvCxnSpPr>
        <p:spPr>
          <a:xfrm rot="10800000">
            <a:off x="9037175" y="4896696"/>
            <a:ext cx="1458000" cy="0"/>
          </a:xfrm>
          <a:prstGeom prst="straightConnector1">
            <a:avLst/>
          </a:prstGeom>
          <a:noFill/>
          <a:ln w="28575" cap="flat" cmpd="sng">
            <a:solidFill>
              <a:schemeClr val="dk1"/>
            </a:solidFill>
            <a:prstDash val="solid"/>
            <a:round/>
            <a:headEnd type="none" w="med" len="med"/>
            <a:tailEnd type="triangle" w="med" len="med"/>
          </a:ln>
        </p:spPr>
      </p:cxnSp>
      <p:sp>
        <p:nvSpPr>
          <p:cNvPr id="573" name="Google Shape;573;p55"/>
          <p:cNvSpPr txBox="1"/>
          <p:nvPr/>
        </p:nvSpPr>
        <p:spPr>
          <a:xfrm>
            <a:off x="10495175" y="4250202"/>
            <a:ext cx="33183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Once the whole system has just entered into the deposit zone (5mm from the edge), it will stop at this spot.</a:t>
            </a:r>
            <a:endParaRPr sz="1800">
              <a:latin typeface="Calibri"/>
              <a:ea typeface="Calibri"/>
              <a:cs typeface="Calibri"/>
              <a:sym typeface="Calibri"/>
            </a:endParaRPr>
          </a:p>
        </p:txBody>
      </p:sp>
      <p:sp>
        <p:nvSpPr>
          <p:cNvPr id="574" name="Google Shape;574;p55"/>
          <p:cNvSpPr txBox="1"/>
          <p:nvPr/>
        </p:nvSpPr>
        <p:spPr>
          <a:xfrm>
            <a:off x="10734000" y="7730933"/>
            <a:ext cx="2538900" cy="1569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arm should positioned at such an angle that it is ready to deposit the package when possible.</a:t>
            </a:r>
            <a:endParaRPr sz="1800">
              <a:latin typeface="Calibri"/>
              <a:ea typeface="Calibri"/>
              <a:cs typeface="Calibri"/>
              <a:sym typeface="Calibri"/>
            </a:endParaRPr>
          </a:p>
        </p:txBody>
      </p:sp>
      <p:cxnSp>
        <p:nvCxnSpPr>
          <p:cNvPr id="575" name="Google Shape;575;p55"/>
          <p:cNvCxnSpPr/>
          <p:nvPr/>
        </p:nvCxnSpPr>
        <p:spPr>
          <a:xfrm rot="10800000">
            <a:off x="6950700" y="8088083"/>
            <a:ext cx="3783300" cy="1038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56"/>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(Depositing Payload)</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81" name="Google Shape;581;p56"/>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CC0000"/>
                </a:solidFill>
                <a:highlight>
                  <a:srgbClr val="FFFFFF"/>
                </a:highlight>
                <a:latin typeface="Calibri"/>
                <a:ea typeface="Calibri"/>
                <a:cs typeface="Calibri"/>
                <a:sym typeface="Calibri"/>
              </a:rPr>
              <a:t>PHASE  4</a:t>
            </a:r>
            <a:endParaRPr sz="6100" b="1">
              <a:solidFill>
                <a:srgbClr val="CC0000"/>
              </a:solidFill>
              <a:highlight>
                <a:srgbClr val="FFFFFF"/>
              </a:highlight>
              <a:latin typeface="Calibri"/>
              <a:ea typeface="Calibri"/>
              <a:cs typeface="Calibri"/>
              <a:sym typeface="Calibri"/>
            </a:endParaRPr>
          </a:p>
        </p:txBody>
      </p:sp>
      <p:pic>
        <p:nvPicPr>
          <p:cNvPr id="582" name="Google Shape;582;p56"/>
          <p:cNvPicPr preferRelativeResize="0"/>
          <p:nvPr/>
        </p:nvPicPr>
        <p:blipFill>
          <a:blip r:embed="rId3">
            <a:alphaModFix/>
          </a:blip>
          <a:stretch>
            <a:fillRect/>
          </a:stretch>
        </p:blipFill>
        <p:spPr>
          <a:xfrm>
            <a:off x="689475" y="1872946"/>
            <a:ext cx="8181181" cy="4173538"/>
          </a:xfrm>
          <a:prstGeom prst="rect">
            <a:avLst/>
          </a:prstGeom>
          <a:noFill/>
          <a:ln>
            <a:noFill/>
          </a:ln>
        </p:spPr>
      </p:pic>
      <p:pic>
        <p:nvPicPr>
          <p:cNvPr id="583" name="Google Shape;583;p56"/>
          <p:cNvPicPr preferRelativeResize="0"/>
          <p:nvPr/>
        </p:nvPicPr>
        <p:blipFill>
          <a:blip r:embed="rId4">
            <a:alphaModFix/>
          </a:blip>
          <a:stretch>
            <a:fillRect/>
          </a:stretch>
        </p:blipFill>
        <p:spPr>
          <a:xfrm>
            <a:off x="11183424" y="1872946"/>
            <a:ext cx="4773967" cy="4443643"/>
          </a:xfrm>
          <a:prstGeom prst="rect">
            <a:avLst/>
          </a:prstGeom>
          <a:noFill/>
          <a:ln>
            <a:noFill/>
          </a:ln>
        </p:spPr>
      </p:pic>
      <p:sp>
        <p:nvSpPr>
          <p:cNvPr id="584" name="Google Shape;584;p56"/>
          <p:cNvSpPr txBox="1"/>
          <p:nvPr/>
        </p:nvSpPr>
        <p:spPr>
          <a:xfrm>
            <a:off x="11123650" y="6837485"/>
            <a:ext cx="3959400" cy="7389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package and arm should be aligned with the drop zone, D.</a:t>
            </a:r>
            <a:endParaRPr sz="1800">
              <a:latin typeface="Calibri"/>
              <a:ea typeface="Calibri"/>
              <a:cs typeface="Calibri"/>
              <a:sym typeface="Calibri"/>
            </a:endParaRPr>
          </a:p>
        </p:txBody>
      </p:sp>
      <p:cxnSp>
        <p:nvCxnSpPr>
          <p:cNvPr id="585" name="Google Shape;585;p56"/>
          <p:cNvCxnSpPr>
            <a:stCxn id="584" idx="0"/>
          </p:cNvCxnSpPr>
          <p:nvPr/>
        </p:nvCxnSpPr>
        <p:spPr>
          <a:xfrm rot="10800000" flipH="1">
            <a:off x="13103350" y="4654685"/>
            <a:ext cx="458700" cy="2182800"/>
          </a:xfrm>
          <a:prstGeom prst="straightConnector1">
            <a:avLst/>
          </a:prstGeom>
          <a:noFill/>
          <a:ln w="28575" cap="flat" cmpd="sng">
            <a:solidFill>
              <a:schemeClr val="dk1"/>
            </a:solidFill>
            <a:prstDash val="solid"/>
            <a:round/>
            <a:headEnd type="none" w="med" len="med"/>
            <a:tailEnd type="triangle" w="med" len="med"/>
          </a:ln>
        </p:spPr>
      </p:cxnSp>
      <p:sp>
        <p:nvSpPr>
          <p:cNvPr id="586" name="Google Shape;586;p56"/>
          <p:cNvSpPr txBox="1"/>
          <p:nvPr/>
        </p:nvSpPr>
        <p:spPr>
          <a:xfrm>
            <a:off x="2777775" y="6567390"/>
            <a:ext cx="52917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should remain on the wire and, hence, hovering above ground. This will allow the arm and the package to be high enough to be able to go over the small incline surrounding the deposit zone D.</a:t>
            </a:r>
            <a:endParaRPr sz="1800">
              <a:latin typeface="Calibri"/>
              <a:ea typeface="Calibri"/>
              <a:cs typeface="Calibri"/>
              <a:sym typeface="Calibri"/>
            </a:endParaRPr>
          </a:p>
        </p:txBody>
      </p:sp>
      <p:cxnSp>
        <p:nvCxnSpPr>
          <p:cNvPr id="587" name="Google Shape;587;p56"/>
          <p:cNvCxnSpPr>
            <a:stCxn id="586" idx="0"/>
          </p:cNvCxnSpPr>
          <p:nvPr/>
        </p:nvCxnSpPr>
        <p:spPr>
          <a:xfrm rot="10800000" flipH="1">
            <a:off x="5423625" y="4551090"/>
            <a:ext cx="1313400" cy="2016300"/>
          </a:xfrm>
          <a:prstGeom prst="straightConnector1">
            <a:avLst/>
          </a:prstGeom>
          <a:noFill/>
          <a:ln w="28575" cap="flat" cmpd="sng">
            <a:solidFill>
              <a:schemeClr val="dk1"/>
            </a:solidFill>
            <a:prstDash val="solid"/>
            <a:round/>
            <a:headEnd type="none" w="med" len="med"/>
            <a:tailEnd type="triangle" w="med" len="med"/>
          </a:ln>
        </p:spPr>
      </p:cxnSp>
      <p:cxnSp>
        <p:nvCxnSpPr>
          <p:cNvPr id="588" name="Google Shape;588;p56"/>
          <p:cNvCxnSpPr>
            <a:stCxn id="586" idx="0"/>
          </p:cNvCxnSpPr>
          <p:nvPr/>
        </p:nvCxnSpPr>
        <p:spPr>
          <a:xfrm rot="10800000">
            <a:off x="4550025" y="4527990"/>
            <a:ext cx="873600" cy="20394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57"/>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(Depositing Payload)</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594" name="Google Shape;594;p57"/>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CC0000"/>
                </a:solidFill>
                <a:highlight>
                  <a:srgbClr val="FFFFFF"/>
                </a:highlight>
                <a:latin typeface="Calibri"/>
                <a:ea typeface="Calibri"/>
                <a:cs typeface="Calibri"/>
                <a:sym typeface="Calibri"/>
              </a:rPr>
              <a:t>PHASE  4</a:t>
            </a:r>
            <a:endParaRPr sz="6100" b="1">
              <a:solidFill>
                <a:srgbClr val="CC0000"/>
              </a:solidFill>
              <a:highlight>
                <a:srgbClr val="FFFFFF"/>
              </a:highlight>
              <a:latin typeface="Calibri"/>
              <a:ea typeface="Calibri"/>
              <a:cs typeface="Calibri"/>
              <a:sym typeface="Calibri"/>
            </a:endParaRPr>
          </a:p>
        </p:txBody>
      </p:sp>
      <p:pic>
        <p:nvPicPr>
          <p:cNvPr id="595" name="Google Shape;595;p57"/>
          <p:cNvPicPr preferRelativeResize="0"/>
          <p:nvPr/>
        </p:nvPicPr>
        <p:blipFill>
          <a:blip r:embed="rId3">
            <a:alphaModFix/>
          </a:blip>
          <a:stretch>
            <a:fillRect/>
          </a:stretch>
        </p:blipFill>
        <p:spPr>
          <a:xfrm>
            <a:off x="1515625" y="6354690"/>
            <a:ext cx="6609556" cy="3073400"/>
          </a:xfrm>
          <a:prstGeom prst="rect">
            <a:avLst/>
          </a:prstGeom>
          <a:noFill/>
          <a:ln>
            <a:noFill/>
          </a:ln>
        </p:spPr>
      </p:pic>
      <p:pic>
        <p:nvPicPr>
          <p:cNvPr id="596" name="Google Shape;596;p57"/>
          <p:cNvPicPr preferRelativeResize="0"/>
          <p:nvPr/>
        </p:nvPicPr>
        <p:blipFill>
          <a:blip r:embed="rId4">
            <a:alphaModFix/>
          </a:blip>
          <a:stretch>
            <a:fillRect/>
          </a:stretch>
        </p:blipFill>
        <p:spPr>
          <a:xfrm>
            <a:off x="707375" y="3212163"/>
            <a:ext cx="9712747" cy="3073400"/>
          </a:xfrm>
          <a:prstGeom prst="rect">
            <a:avLst/>
          </a:prstGeom>
          <a:noFill/>
          <a:ln>
            <a:noFill/>
          </a:ln>
        </p:spPr>
      </p:pic>
      <p:pic>
        <p:nvPicPr>
          <p:cNvPr id="597" name="Google Shape;597;p57"/>
          <p:cNvPicPr preferRelativeResize="0"/>
          <p:nvPr/>
        </p:nvPicPr>
        <p:blipFill>
          <a:blip r:embed="rId5">
            <a:alphaModFix/>
          </a:blip>
          <a:stretch>
            <a:fillRect/>
          </a:stretch>
        </p:blipFill>
        <p:spPr>
          <a:xfrm>
            <a:off x="13533775" y="2067633"/>
            <a:ext cx="3649663" cy="7255669"/>
          </a:xfrm>
          <a:prstGeom prst="rect">
            <a:avLst/>
          </a:prstGeom>
          <a:noFill/>
          <a:ln>
            <a:noFill/>
          </a:ln>
        </p:spPr>
      </p:pic>
      <p:sp>
        <p:nvSpPr>
          <p:cNvPr id="598" name="Google Shape;598;p57"/>
          <p:cNvSpPr txBox="1"/>
          <p:nvPr/>
        </p:nvSpPr>
        <p:spPr>
          <a:xfrm>
            <a:off x="2362975" y="1189535"/>
            <a:ext cx="4600200" cy="1015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Calibri"/>
                <a:ea typeface="Calibri"/>
                <a:cs typeface="Calibri"/>
                <a:sym typeface="Calibri"/>
              </a:rPr>
              <a:t>The system will extend out (using the rack and pinion method) enough such that the package can be placed in deposit zone D.</a:t>
            </a:r>
            <a:endParaRPr sz="1800">
              <a:latin typeface="Calibri"/>
              <a:ea typeface="Calibri"/>
              <a:cs typeface="Calibri"/>
              <a:sym typeface="Calibri"/>
            </a:endParaRPr>
          </a:p>
        </p:txBody>
      </p:sp>
      <p:cxnSp>
        <p:nvCxnSpPr>
          <p:cNvPr id="599" name="Google Shape;599;p57"/>
          <p:cNvCxnSpPr/>
          <p:nvPr/>
        </p:nvCxnSpPr>
        <p:spPr>
          <a:xfrm>
            <a:off x="4663075" y="2431160"/>
            <a:ext cx="364500" cy="1912500"/>
          </a:xfrm>
          <a:prstGeom prst="straightConnector1">
            <a:avLst/>
          </a:prstGeom>
          <a:noFill/>
          <a:ln w="28575" cap="flat" cmpd="sng">
            <a:solidFill>
              <a:schemeClr val="dk1"/>
            </a:solidFill>
            <a:prstDash val="solid"/>
            <a:round/>
            <a:headEnd type="none" w="med" len="med"/>
            <a:tailEnd type="triangle" w="med" len="med"/>
          </a:ln>
        </p:spPr>
      </p:cxnSp>
      <p:cxnSp>
        <p:nvCxnSpPr>
          <p:cNvPr id="600" name="Google Shape;600;p57"/>
          <p:cNvCxnSpPr/>
          <p:nvPr/>
        </p:nvCxnSpPr>
        <p:spPr>
          <a:xfrm>
            <a:off x="5492675" y="2373456"/>
            <a:ext cx="4110000" cy="1993200"/>
          </a:xfrm>
          <a:prstGeom prst="straightConnector1">
            <a:avLst/>
          </a:prstGeom>
          <a:noFill/>
          <a:ln w="28575" cap="flat" cmpd="sng">
            <a:solidFill>
              <a:schemeClr val="dk1"/>
            </a:solidFill>
            <a:prstDash val="solid"/>
            <a:round/>
            <a:headEnd type="none" w="med" len="med"/>
            <a:tailEnd type="triangle" w="med" len="med"/>
          </a:ln>
        </p:spPr>
      </p:cxnSp>
      <p:sp>
        <p:nvSpPr>
          <p:cNvPr id="601" name="Google Shape;601;p57"/>
          <p:cNvSpPr txBox="1"/>
          <p:nvPr/>
        </p:nvSpPr>
        <p:spPr>
          <a:xfrm>
            <a:off x="9728450" y="7915371"/>
            <a:ext cx="25137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package should be placed right in the centre of Deposit Zone D.</a:t>
            </a:r>
            <a:endParaRPr sz="1800">
              <a:latin typeface="Calibri"/>
              <a:ea typeface="Calibri"/>
              <a:cs typeface="Calibri"/>
              <a:sym typeface="Calibri"/>
            </a:endParaRPr>
          </a:p>
        </p:txBody>
      </p:sp>
      <p:cxnSp>
        <p:nvCxnSpPr>
          <p:cNvPr id="602" name="Google Shape;602;p57"/>
          <p:cNvCxnSpPr/>
          <p:nvPr/>
        </p:nvCxnSpPr>
        <p:spPr>
          <a:xfrm>
            <a:off x="12455950" y="8479923"/>
            <a:ext cx="1407600" cy="34800"/>
          </a:xfrm>
          <a:prstGeom prst="straightConnector1">
            <a:avLst/>
          </a:prstGeom>
          <a:noFill/>
          <a:ln w="28575" cap="flat" cmpd="sng">
            <a:solidFill>
              <a:schemeClr val="dk1"/>
            </a:solidFill>
            <a:prstDash val="solid"/>
            <a:round/>
            <a:headEnd type="none" w="med" len="med"/>
            <a:tailEnd type="triangle" w="med" len="med"/>
          </a:ln>
        </p:spPr>
      </p:cxnSp>
      <p:cxnSp>
        <p:nvCxnSpPr>
          <p:cNvPr id="603" name="Google Shape;603;p57"/>
          <p:cNvCxnSpPr>
            <a:stCxn id="601" idx="1"/>
          </p:cNvCxnSpPr>
          <p:nvPr/>
        </p:nvCxnSpPr>
        <p:spPr>
          <a:xfrm rot="10800000">
            <a:off x="4122650" y="8171271"/>
            <a:ext cx="5605800" cy="3906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58"/>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(Depositing Payload)</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609" name="Google Shape;609;p58"/>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CC0000"/>
                </a:solidFill>
                <a:highlight>
                  <a:srgbClr val="FFFFFF"/>
                </a:highlight>
                <a:latin typeface="Calibri"/>
                <a:ea typeface="Calibri"/>
                <a:cs typeface="Calibri"/>
                <a:sym typeface="Calibri"/>
              </a:rPr>
              <a:t>PHASE  4</a:t>
            </a:r>
            <a:endParaRPr sz="6100" b="1">
              <a:solidFill>
                <a:srgbClr val="CC0000"/>
              </a:solidFill>
              <a:highlight>
                <a:srgbClr val="FFFFFF"/>
              </a:highlight>
              <a:latin typeface="Calibri"/>
              <a:ea typeface="Calibri"/>
              <a:cs typeface="Calibri"/>
              <a:sym typeface="Calibri"/>
            </a:endParaRPr>
          </a:p>
        </p:txBody>
      </p:sp>
      <p:pic>
        <p:nvPicPr>
          <p:cNvPr id="610" name="Google Shape;610;p58"/>
          <p:cNvPicPr preferRelativeResize="0"/>
          <p:nvPr/>
        </p:nvPicPr>
        <p:blipFill>
          <a:blip r:embed="rId3">
            <a:alphaModFix/>
          </a:blip>
          <a:stretch>
            <a:fillRect/>
          </a:stretch>
        </p:blipFill>
        <p:spPr>
          <a:xfrm>
            <a:off x="10638700" y="1905110"/>
            <a:ext cx="3824288" cy="7212013"/>
          </a:xfrm>
          <a:prstGeom prst="rect">
            <a:avLst/>
          </a:prstGeom>
          <a:noFill/>
          <a:ln>
            <a:noFill/>
          </a:ln>
        </p:spPr>
      </p:pic>
      <p:pic>
        <p:nvPicPr>
          <p:cNvPr id="611" name="Google Shape;611;p58"/>
          <p:cNvPicPr preferRelativeResize="0"/>
          <p:nvPr/>
        </p:nvPicPr>
        <p:blipFill>
          <a:blip r:embed="rId4">
            <a:alphaModFix/>
          </a:blip>
          <a:stretch>
            <a:fillRect/>
          </a:stretch>
        </p:blipFill>
        <p:spPr>
          <a:xfrm>
            <a:off x="3305550" y="2465970"/>
            <a:ext cx="5876153" cy="5601383"/>
          </a:xfrm>
          <a:prstGeom prst="rect">
            <a:avLst/>
          </a:prstGeom>
          <a:noFill/>
          <a:ln>
            <a:noFill/>
          </a:ln>
        </p:spPr>
      </p:pic>
      <p:sp>
        <p:nvSpPr>
          <p:cNvPr id="612" name="Google Shape;612;p58"/>
          <p:cNvSpPr txBox="1"/>
          <p:nvPr/>
        </p:nvSpPr>
        <p:spPr>
          <a:xfrm>
            <a:off x="15510225" y="6037350"/>
            <a:ext cx="2023500" cy="2124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Arm/rack retracts away from zone D and back towards the body of the system, leaving the package in deposit zone D.</a:t>
            </a:r>
            <a:endParaRPr sz="1800">
              <a:latin typeface="Calibri"/>
              <a:ea typeface="Calibri"/>
              <a:cs typeface="Calibri"/>
              <a:sym typeface="Calibri"/>
            </a:endParaRPr>
          </a:p>
        </p:txBody>
      </p:sp>
      <p:cxnSp>
        <p:nvCxnSpPr>
          <p:cNvPr id="613" name="Google Shape;613;p58"/>
          <p:cNvCxnSpPr>
            <a:stCxn id="612" idx="1"/>
          </p:cNvCxnSpPr>
          <p:nvPr/>
        </p:nvCxnSpPr>
        <p:spPr>
          <a:xfrm rot="10800000">
            <a:off x="13197525" y="6072150"/>
            <a:ext cx="2312700" cy="1027200"/>
          </a:xfrm>
          <a:prstGeom prst="straightConnector1">
            <a:avLst/>
          </a:prstGeom>
          <a:noFill/>
          <a:ln w="28575" cap="flat" cmpd="sng">
            <a:solidFill>
              <a:schemeClr val="dk1"/>
            </a:solidFill>
            <a:prstDash val="solid"/>
            <a:round/>
            <a:headEnd type="none" w="med" len="med"/>
            <a:tailEnd type="triangle" w="med" len="med"/>
          </a:ln>
        </p:spPr>
      </p:cxnSp>
      <p:cxnSp>
        <p:nvCxnSpPr>
          <p:cNvPr id="614" name="Google Shape;614;p58"/>
          <p:cNvCxnSpPr>
            <a:stCxn id="612" idx="1"/>
          </p:cNvCxnSpPr>
          <p:nvPr/>
        </p:nvCxnSpPr>
        <p:spPr>
          <a:xfrm flipH="1">
            <a:off x="12053625" y="7099350"/>
            <a:ext cx="3456600" cy="1323300"/>
          </a:xfrm>
          <a:prstGeom prst="straightConnector1">
            <a:avLst/>
          </a:prstGeom>
          <a:noFill/>
          <a:ln w="28575" cap="flat" cmpd="sng">
            <a:solidFill>
              <a:schemeClr val="dk1"/>
            </a:solidFill>
            <a:prstDash val="solid"/>
            <a:round/>
            <a:headEnd type="none" w="med" len="med"/>
            <a:tailEnd type="triangle" w="med" len="med"/>
          </a:ln>
        </p:spPr>
      </p:cxnSp>
      <p:sp>
        <p:nvSpPr>
          <p:cNvPr id="615" name="Google Shape;615;p58"/>
          <p:cNvSpPr txBox="1"/>
          <p:nvPr/>
        </p:nvSpPr>
        <p:spPr>
          <a:xfrm>
            <a:off x="565600" y="5184735"/>
            <a:ext cx="2149500" cy="24012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servo motor rotates, loosing the grip of the arm on the package. This allows the package to free fall a few centirements off the ground into zone D.</a:t>
            </a:r>
            <a:endParaRPr sz="1800">
              <a:latin typeface="Calibri"/>
              <a:ea typeface="Calibri"/>
              <a:cs typeface="Calibri"/>
              <a:sym typeface="Calibri"/>
            </a:endParaRPr>
          </a:p>
        </p:txBody>
      </p:sp>
      <p:cxnSp>
        <p:nvCxnSpPr>
          <p:cNvPr id="616" name="Google Shape;616;p58"/>
          <p:cNvCxnSpPr>
            <a:stCxn id="615" idx="3"/>
          </p:cNvCxnSpPr>
          <p:nvPr/>
        </p:nvCxnSpPr>
        <p:spPr>
          <a:xfrm rot="10800000" flipH="1">
            <a:off x="2715100" y="5267235"/>
            <a:ext cx="3569400" cy="1118100"/>
          </a:xfrm>
          <a:prstGeom prst="straightConnector1">
            <a:avLst/>
          </a:prstGeom>
          <a:noFill/>
          <a:ln w="28575" cap="flat" cmpd="sng">
            <a:solidFill>
              <a:schemeClr val="dk1"/>
            </a:solidFill>
            <a:prstDash val="solid"/>
            <a:round/>
            <a:headEnd type="none" w="med" len="med"/>
            <a:tailEnd type="triangle" w="med" len="med"/>
          </a:ln>
        </p:spPr>
      </p:cxnSp>
      <p:cxnSp>
        <p:nvCxnSpPr>
          <p:cNvPr id="617" name="Google Shape;617;p58"/>
          <p:cNvCxnSpPr>
            <a:stCxn id="615" idx="3"/>
          </p:cNvCxnSpPr>
          <p:nvPr/>
        </p:nvCxnSpPr>
        <p:spPr>
          <a:xfrm rot="10800000" flipH="1">
            <a:off x="2715100" y="6119835"/>
            <a:ext cx="3431100" cy="2655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59"/>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(Returned to Start Zone)</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623" name="Google Shape;623;p59"/>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674EA7"/>
                </a:solidFill>
                <a:highlight>
                  <a:srgbClr val="FFFFFF"/>
                </a:highlight>
                <a:latin typeface="Calibri"/>
                <a:ea typeface="Calibri"/>
                <a:cs typeface="Calibri"/>
                <a:sym typeface="Calibri"/>
              </a:rPr>
              <a:t>PHASE  5</a:t>
            </a:r>
            <a:endParaRPr sz="6100" b="1">
              <a:solidFill>
                <a:srgbClr val="674EA7"/>
              </a:solidFill>
              <a:highlight>
                <a:srgbClr val="FFFFFF"/>
              </a:highlight>
              <a:latin typeface="Calibri"/>
              <a:ea typeface="Calibri"/>
              <a:cs typeface="Calibri"/>
              <a:sym typeface="Calibri"/>
            </a:endParaRPr>
          </a:p>
        </p:txBody>
      </p:sp>
      <p:pic>
        <p:nvPicPr>
          <p:cNvPr id="624" name="Google Shape;624;p59"/>
          <p:cNvPicPr preferRelativeResize="0"/>
          <p:nvPr/>
        </p:nvPicPr>
        <p:blipFill>
          <a:blip r:embed="rId3">
            <a:alphaModFix/>
          </a:blip>
          <a:stretch>
            <a:fillRect/>
          </a:stretch>
        </p:blipFill>
        <p:spPr>
          <a:xfrm>
            <a:off x="2642450" y="2163323"/>
            <a:ext cx="4959350" cy="6164263"/>
          </a:xfrm>
          <a:prstGeom prst="rect">
            <a:avLst/>
          </a:prstGeom>
          <a:noFill/>
          <a:ln>
            <a:noFill/>
          </a:ln>
        </p:spPr>
      </p:pic>
      <p:pic>
        <p:nvPicPr>
          <p:cNvPr id="625" name="Google Shape;625;p59"/>
          <p:cNvPicPr preferRelativeResize="0"/>
          <p:nvPr/>
        </p:nvPicPr>
        <p:blipFill rotWithShape="1">
          <a:blip r:embed="rId4">
            <a:alphaModFix/>
          </a:blip>
          <a:srcRect b="15433"/>
          <a:stretch/>
        </p:blipFill>
        <p:spPr>
          <a:xfrm>
            <a:off x="11313200" y="2163345"/>
            <a:ext cx="4496251" cy="5947998"/>
          </a:xfrm>
          <a:prstGeom prst="rect">
            <a:avLst/>
          </a:prstGeom>
          <a:noFill/>
          <a:ln>
            <a:noFill/>
          </a:ln>
        </p:spPr>
      </p:pic>
      <p:sp>
        <p:nvSpPr>
          <p:cNvPr id="626" name="Google Shape;626;p59"/>
          <p:cNvSpPr txBox="1"/>
          <p:nvPr/>
        </p:nvSpPr>
        <p:spPr>
          <a:xfrm>
            <a:off x="3255400" y="8710373"/>
            <a:ext cx="46884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solidFill>
                  <a:schemeClr val="dk1"/>
                </a:solidFill>
                <a:latin typeface="Calibri"/>
                <a:ea typeface="Calibri"/>
                <a:cs typeface="Calibri"/>
                <a:sym typeface="Calibri"/>
              </a:rPr>
              <a:t>The system does not retract down to the floor in the deposit zone. Hence, </a:t>
            </a:r>
            <a:r>
              <a:rPr lang="en" sz="1800">
                <a:latin typeface="Calibri"/>
                <a:ea typeface="Calibri"/>
                <a:cs typeface="Calibri"/>
                <a:sym typeface="Calibri"/>
              </a:rPr>
              <a:t>when returning, as before, the system has to be hovering above the floor. </a:t>
            </a:r>
            <a:endParaRPr sz="1800">
              <a:latin typeface="Calibri"/>
              <a:ea typeface="Calibri"/>
              <a:cs typeface="Calibri"/>
              <a:sym typeface="Calibri"/>
            </a:endParaRPr>
          </a:p>
        </p:txBody>
      </p:sp>
      <p:cxnSp>
        <p:nvCxnSpPr>
          <p:cNvPr id="627" name="Google Shape;627;p59"/>
          <p:cNvCxnSpPr/>
          <p:nvPr/>
        </p:nvCxnSpPr>
        <p:spPr>
          <a:xfrm rot="10800000">
            <a:off x="5216175" y="7350773"/>
            <a:ext cx="113100" cy="1359600"/>
          </a:xfrm>
          <a:prstGeom prst="straightConnector1">
            <a:avLst/>
          </a:prstGeom>
          <a:noFill/>
          <a:ln w="28575" cap="flat" cmpd="sng">
            <a:solidFill>
              <a:schemeClr val="dk1"/>
            </a:solidFill>
            <a:prstDash val="solid"/>
            <a:round/>
            <a:headEnd type="none" w="med" len="med"/>
            <a:tailEnd type="triangle" w="med" len="med"/>
          </a:ln>
        </p:spPr>
      </p:cxnSp>
      <p:sp>
        <p:nvSpPr>
          <p:cNvPr id="628" name="Google Shape;628;p59"/>
          <p:cNvSpPr txBox="1"/>
          <p:nvPr/>
        </p:nvSpPr>
        <p:spPr>
          <a:xfrm>
            <a:off x="8164063" y="3145400"/>
            <a:ext cx="2599800" cy="2124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stays attached to the wire the whole time in the deposit zone. Hence, when returning, as before, the wire is directly in contact with the centre of the pulleys.</a:t>
            </a:r>
            <a:endParaRPr sz="1800">
              <a:latin typeface="Calibri"/>
              <a:ea typeface="Calibri"/>
              <a:cs typeface="Calibri"/>
              <a:sym typeface="Calibri"/>
            </a:endParaRPr>
          </a:p>
        </p:txBody>
      </p:sp>
      <p:cxnSp>
        <p:nvCxnSpPr>
          <p:cNvPr id="629" name="Google Shape;629;p59"/>
          <p:cNvCxnSpPr/>
          <p:nvPr/>
        </p:nvCxnSpPr>
        <p:spPr>
          <a:xfrm rot="10800000" flipH="1">
            <a:off x="10763825" y="3767692"/>
            <a:ext cx="2283000" cy="6687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60"/>
          <p:cNvSpPr txBox="1"/>
          <p:nvPr/>
        </p:nvSpPr>
        <p:spPr>
          <a:xfrm>
            <a:off x="8253525" y="5029200"/>
            <a:ext cx="30147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returns back into the start zone. It comes in just enough for the arm to be within the bounds.</a:t>
            </a:r>
            <a:endParaRPr sz="1800">
              <a:latin typeface="Calibri"/>
              <a:ea typeface="Calibri"/>
              <a:cs typeface="Calibri"/>
              <a:sym typeface="Calibri"/>
            </a:endParaRPr>
          </a:p>
        </p:txBody>
      </p:sp>
      <p:sp>
        <p:nvSpPr>
          <p:cNvPr id="635" name="Google Shape;635;p60"/>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(Returned to Start Zone)</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636" name="Google Shape;636;p60"/>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674EA7"/>
                </a:solidFill>
                <a:highlight>
                  <a:srgbClr val="FFFFFF"/>
                </a:highlight>
                <a:latin typeface="Calibri"/>
                <a:ea typeface="Calibri"/>
                <a:cs typeface="Calibri"/>
                <a:sym typeface="Calibri"/>
              </a:rPr>
              <a:t>PHASE  5</a:t>
            </a:r>
            <a:endParaRPr sz="6100" b="1">
              <a:solidFill>
                <a:srgbClr val="674EA7"/>
              </a:solidFill>
              <a:highlight>
                <a:srgbClr val="FFFFFF"/>
              </a:highlight>
              <a:latin typeface="Calibri"/>
              <a:ea typeface="Calibri"/>
              <a:cs typeface="Calibri"/>
              <a:sym typeface="Calibri"/>
            </a:endParaRPr>
          </a:p>
        </p:txBody>
      </p:sp>
      <p:pic>
        <p:nvPicPr>
          <p:cNvPr id="637" name="Google Shape;637;p60"/>
          <p:cNvPicPr preferRelativeResize="0"/>
          <p:nvPr/>
        </p:nvPicPr>
        <p:blipFill>
          <a:blip r:embed="rId3">
            <a:alphaModFix/>
          </a:blip>
          <a:stretch>
            <a:fillRect/>
          </a:stretch>
        </p:blipFill>
        <p:spPr>
          <a:xfrm>
            <a:off x="1760525" y="2389912"/>
            <a:ext cx="5702424" cy="4880791"/>
          </a:xfrm>
          <a:prstGeom prst="rect">
            <a:avLst/>
          </a:prstGeom>
          <a:noFill/>
          <a:ln>
            <a:noFill/>
          </a:ln>
        </p:spPr>
      </p:pic>
      <p:pic>
        <p:nvPicPr>
          <p:cNvPr id="638" name="Google Shape;638;p60"/>
          <p:cNvPicPr preferRelativeResize="0"/>
          <p:nvPr/>
        </p:nvPicPr>
        <p:blipFill rotWithShape="1">
          <a:blip r:embed="rId4">
            <a:alphaModFix/>
          </a:blip>
          <a:srcRect b="2056"/>
          <a:stretch/>
        </p:blipFill>
        <p:spPr>
          <a:xfrm>
            <a:off x="11793675" y="1891565"/>
            <a:ext cx="4795450" cy="6275273"/>
          </a:xfrm>
          <a:prstGeom prst="rect">
            <a:avLst/>
          </a:prstGeom>
          <a:noFill/>
          <a:ln>
            <a:noFill/>
          </a:ln>
        </p:spPr>
      </p:pic>
      <p:sp>
        <p:nvSpPr>
          <p:cNvPr id="639" name="Google Shape;639;p60"/>
          <p:cNvSpPr txBox="1"/>
          <p:nvPr/>
        </p:nvSpPr>
        <p:spPr>
          <a:xfrm>
            <a:off x="2790325" y="7926898"/>
            <a:ext cx="40599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system is lifted high enough off the ground at the sag point when it traverses across the chasm.</a:t>
            </a:r>
            <a:endParaRPr sz="1800">
              <a:latin typeface="Calibri"/>
              <a:ea typeface="Calibri"/>
              <a:cs typeface="Calibri"/>
              <a:sym typeface="Calibri"/>
            </a:endParaRPr>
          </a:p>
        </p:txBody>
      </p:sp>
      <p:cxnSp>
        <p:nvCxnSpPr>
          <p:cNvPr id="640" name="Google Shape;640;p60"/>
          <p:cNvCxnSpPr/>
          <p:nvPr/>
        </p:nvCxnSpPr>
        <p:spPr>
          <a:xfrm rot="10800000">
            <a:off x="4901925" y="6981898"/>
            <a:ext cx="144600" cy="945000"/>
          </a:xfrm>
          <a:prstGeom prst="straightConnector1">
            <a:avLst/>
          </a:prstGeom>
          <a:noFill/>
          <a:ln w="28575" cap="flat" cmpd="sng">
            <a:solidFill>
              <a:schemeClr val="dk1"/>
            </a:solidFill>
            <a:prstDash val="solid"/>
            <a:round/>
            <a:headEnd type="none" w="med" len="med"/>
            <a:tailEnd type="triangle" w="med" len="med"/>
          </a:ln>
        </p:spPr>
      </p:cxnSp>
      <p:cxnSp>
        <p:nvCxnSpPr>
          <p:cNvPr id="641" name="Google Shape;641;p60"/>
          <p:cNvCxnSpPr>
            <a:stCxn id="634" idx="3"/>
          </p:cNvCxnSpPr>
          <p:nvPr/>
        </p:nvCxnSpPr>
        <p:spPr>
          <a:xfrm>
            <a:off x="11268225" y="5675700"/>
            <a:ext cx="798000" cy="12714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61"/>
          <p:cNvSpPr txBox="1"/>
          <p:nvPr/>
        </p:nvSpPr>
        <p:spPr>
          <a:xfrm>
            <a:off x="0" y="132151"/>
            <a:ext cx="17940600" cy="13308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CAD Images (Returned to Start Zone)</a:t>
            </a:r>
            <a:endParaRPr sz="4200" b="1" i="1">
              <a:solidFill>
                <a:srgbClr val="4A86E8"/>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600" b="1">
              <a:solidFill>
                <a:srgbClr val="0000FF"/>
              </a:solidFill>
              <a:highlight>
                <a:srgbClr val="FFFFFF"/>
              </a:highlight>
              <a:latin typeface="Calibri"/>
              <a:ea typeface="Calibri"/>
              <a:cs typeface="Calibri"/>
              <a:sym typeface="Calibri"/>
            </a:endParaRPr>
          </a:p>
        </p:txBody>
      </p:sp>
      <p:sp>
        <p:nvSpPr>
          <p:cNvPr id="647" name="Google Shape;647;p61"/>
          <p:cNvSpPr txBox="1"/>
          <p:nvPr/>
        </p:nvSpPr>
        <p:spPr>
          <a:xfrm>
            <a:off x="13692000" y="131954"/>
            <a:ext cx="4302900" cy="1123500"/>
          </a:xfrm>
          <a:prstGeom prst="rect">
            <a:avLst/>
          </a:prstGeom>
          <a:noFill/>
          <a:ln>
            <a:noFill/>
          </a:ln>
        </p:spPr>
        <p:txBody>
          <a:bodyPr spcFirstLastPara="1" wrap="square" lIns="91425" tIns="91425" rIns="91425" bIns="91425" anchor="t" anchorCtr="0">
            <a:spAutoFit/>
          </a:bodyPr>
          <a:lstStyle/>
          <a:p>
            <a:pPr marL="0" marR="0" lvl="0" indent="0" algn="r" rtl="0">
              <a:lnSpc>
                <a:spcPct val="115000"/>
              </a:lnSpc>
              <a:spcBef>
                <a:spcPts val="0"/>
              </a:spcBef>
              <a:spcAft>
                <a:spcPts val="0"/>
              </a:spcAft>
              <a:buNone/>
            </a:pPr>
            <a:r>
              <a:rPr lang="en" sz="6100" b="1">
                <a:solidFill>
                  <a:srgbClr val="674EA7"/>
                </a:solidFill>
                <a:highlight>
                  <a:srgbClr val="FFFFFF"/>
                </a:highlight>
                <a:latin typeface="Calibri"/>
                <a:ea typeface="Calibri"/>
                <a:cs typeface="Calibri"/>
                <a:sym typeface="Calibri"/>
              </a:rPr>
              <a:t>PHASE  5</a:t>
            </a:r>
            <a:endParaRPr sz="6100" b="1">
              <a:solidFill>
                <a:srgbClr val="674EA7"/>
              </a:solidFill>
              <a:highlight>
                <a:srgbClr val="FFFFFF"/>
              </a:highlight>
              <a:latin typeface="Calibri"/>
              <a:ea typeface="Calibri"/>
              <a:cs typeface="Calibri"/>
              <a:sym typeface="Calibri"/>
            </a:endParaRPr>
          </a:p>
        </p:txBody>
      </p:sp>
      <p:pic>
        <p:nvPicPr>
          <p:cNvPr id="648" name="Google Shape;648;p61"/>
          <p:cNvPicPr preferRelativeResize="0"/>
          <p:nvPr/>
        </p:nvPicPr>
        <p:blipFill>
          <a:blip r:embed="rId3">
            <a:alphaModFix/>
          </a:blip>
          <a:stretch>
            <a:fillRect/>
          </a:stretch>
        </p:blipFill>
        <p:spPr>
          <a:xfrm>
            <a:off x="496425" y="1689117"/>
            <a:ext cx="6605868" cy="6583981"/>
          </a:xfrm>
          <a:prstGeom prst="rect">
            <a:avLst/>
          </a:prstGeom>
          <a:noFill/>
          <a:ln>
            <a:noFill/>
          </a:ln>
        </p:spPr>
      </p:pic>
      <p:pic>
        <p:nvPicPr>
          <p:cNvPr id="649" name="Google Shape;649;p61"/>
          <p:cNvPicPr preferRelativeResize="0"/>
          <p:nvPr/>
        </p:nvPicPr>
        <p:blipFill>
          <a:blip r:embed="rId4">
            <a:alphaModFix/>
          </a:blip>
          <a:stretch>
            <a:fillRect/>
          </a:stretch>
        </p:blipFill>
        <p:spPr>
          <a:xfrm>
            <a:off x="10039550" y="1548857"/>
            <a:ext cx="6605867" cy="6864509"/>
          </a:xfrm>
          <a:prstGeom prst="rect">
            <a:avLst/>
          </a:prstGeom>
          <a:noFill/>
          <a:ln>
            <a:noFill/>
          </a:ln>
        </p:spPr>
      </p:pic>
      <p:pic>
        <p:nvPicPr>
          <p:cNvPr id="650" name="Google Shape;650;p61"/>
          <p:cNvPicPr preferRelativeResize="0"/>
          <p:nvPr/>
        </p:nvPicPr>
        <p:blipFill>
          <a:blip r:embed="rId5">
            <a:alphaModFix/>
          </a:blip>
          <a:stretch>
            <a:fillRect/>
          </a:stretch>
        </p:blipFill>
        <p:spPr>
          <a:xfrm>
            <a:off x="7102300" y="4276250"/>
            <a:ext cx="2937252" cy="1505899"/>
          </a:xfrm>
          <a:prstGeom prst="rect">
            <a:avLst/>
          </a:prstGeom>
          <a:noFill/>
          <a:ln>
            <a:noFill/>
          </a:ln>
        </p:spPr>
      </p:pic>
      <p:sp>
        <p:nvSpPr>
          <p:cNvPr id="651" name="Google Shape;651;p61"/>
          <p:cNvSpPr txBox="1"/>
          <p:nvPr/>
        </p:nvSpPr>
        <p:spPr>
          <a:xfrm>
            <a:off x="5983950" y="8610158"/>
            <a:ext cx="6320100" cy="12930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latin typeface="Calibri"/>
                <a:ea typeface="Calibri"/>
                <a:cs typeface="Calibri"/>
                <a:sym typeface="Calibri"/>
              </a:rPr>
              <a:t>The Linear Actuator extends out enough so that the system no longer hovers above the ground. The task is complete when it is safely placed on the ground. Hence at this point the pulley will no longer be in contact with the wire.</a:t>
            </a:r>
            <a:endParaRPr sz="1800">
              <a:latin typeface="Calibri"/>
              <a:ea typeface="Calibri"/>
              <a:cs typeface="Calibri"/>
              <a:sym typeface="Calibri"/>
            </a:endParaRPr>
          </a:p>
        </p:txBody>
      </p:sp>
      <p:cxnSp>
        <p:nvCxnSpPr>
          <p:cNvPr id="652" name="Google Shape;652;p61"/>
          <p:cNvCxnSpPr>
            <a:stCxn id="651" idx="0"/>
          </p:cNvCxnSpPr>
          <p:nvPr/>
        </p:nvCxnSpPr>
        <p:spPr>
          <a:xfrm rot="10800000">
            <a:off x="4273500" y="7166558"/>
            <a:ext cx="4870500" cy="1443600"/>
          </a:xfrm>
          <a:prstGeom prst="straightConnector1">
            <a:avLst/>
          </a:prstGeom>
          <a:noFill/>
          <a:ln w="28575" cap="flat" cmpd="sng">
            <a:solidFill>
              <a:schemeClr val="dk1"/>
            </a:solidFill>
            <a:prstDash val="solid"/>
            <a:round/>
            <a:headEnd type="none" w="med" len="med"/>
            <a:tailEnd type="triangle" w="med" len="med"/>
          </a:ln>
        </p:spPr>
      </p:cxnSp>
      <p:cxnSp>
        <p:nvCxnSpPr>
          <p:cNvPr id="653" name="Google Shape;653;p61"/>
          <p:cNvCxnSpPr>
            <a:stCxn id="651" idx="0"/>
          </p:cNvCxnSpPr>
          <p:nvPr/>
        </p:nvCxnSpPr>
        <p:spPr>
          <a:xfrm rot="10800000" flipH="1">
            <a:off x="9144000" y="7431458"/>
            <a:ext cx="4707000" cy="1178700"/>
          </a:xfrm>
          <a:prstGeom prst="straightConnector1">
            <a:avLst/>
          </a:prstGeom>
          <a:noFill/>
          <a:ln w="28575" cap="flat" cmpd="sng">
            <a:solidFill>
              <a:schemeClr val="dk1"/>
            </a:solidFill>
            <a:prstDash val="solid"/>
            <a:round/>
            <a:headEnd type="none" w="med" len="med"/>
            <a:tailEnd type="triangle" w="med" len="med"/>
          </a:ln>
        </p:spPr>
      </p:cxn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62"/>
          <p:cNvSpPr txBox="1"/>
          <p:nvPr/>
        </p:nvSpPr>
        <p:spPr>
          <a:xfrm>
            <a:off x="-875" y="2150402"/>
            <a:ext cx="9144000" cy="45954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1800">
                <a:solidFill>
                  <a:schemeClr val="dk1"/>
                </a:solidFill>
                <a:latin typeface="Calibri"/>
                <a:ea typeface="Calibri"/>
                <a:cs typeface="Calibri"/>
                <a:sym typeface="Calibri"/>
              </a:rPr>
              <a:t>After careful examination of the problem at hand, our team has generated a creative solution that will not only solve the issue of transporting the package from the warehouse to the deposit zone and meet all the requirements, but is also a cost-friendly alternative to traditional ‘off the shelf’ solutions. </a:t>
            </a:r>
            <a:endParaRPr sz="1800">
              <a:solidFill>
                <a:schemeClr val="dk1"/>
              </a:solidFill>
              <a:latin typeface="Calibri"/>
              <a:ea typeface="Calibri"/>
              <a:cs typeface="Calibri"/>
              <a:sym typeface="Calibri"/>
            </a:endParaRPr>
          </a:p>
          <a:p>
            <a:pPr marL="0" lvl="0" indent="0" algn="just" rtl="0">
              <a:lnSpc>
                <a:spcPct val="115000"/>
              </a:lnSpc>
              <a:spcBef>
                <a:spcPts val="1200"/>
              </a:spcBef>
              <a:spcAft>
                <a:spcPts val="1200"/>
              </a:spcAft>
              <a:buClr>
                <a:schemeClr val="dk1"/>
              </a:buClr>
              <a:buSzPts val="1100"/>
              <a:buFont typeface="Arial"/>
              <a:buNone/>
            </a:pPr>
            <a:r>
              <a:rPr lang="en" sz="1800">
                <a:solidFill>
                  <a:schemeClr val="dk1"/>
                </a:solidFill>
                <a:latin typeface="Calibri"/>
                <a:ea typeface="Calibri"/>
                <a:cs typeface="Calibri"/>
                <a:sym typeface="Calibri"/>
              </a:rPr>
              <a:t>This has been made possible through a careful ‘OFFERS’ analysis and creative solution generation process where multiple concepts were conceived to solve the issue. A thorough decision making process, using the composite criterion method, enabled the team to determine which solution would be more appropriate. The recommended concept was detailed through both isometric and orthogonal drawings and a complete CAD assembly. Due to this rigorous engineering design process, the team has already been able to gain exposure and learn about the areas specified in the learning-based objectives, and are now in the best position to start prototyping and building our solution to continue achieving the goals we have set out for ourselves.</a:t>
            </a:r>
            <a:endParaRPr sz="1800" b="1">
              <a:solidFill>
                <a:schemeClr val="dk1"/>
              </a:solidFill>
              <a:highlight>
                <a:srgbClr val="FFFFFF"/>
              </a:highlight>
              <a:latin typeface="Calibri"/>
              <a:ea typeface="Calibri"/>
              <a:cs typeface="Calibri"/>
              <a:sym typeface="Calibri"/>
            </a:endParaRPr>
          </a:p>
        </p:txBody>
      </p:sp>
      <p:sp>
        <p:nvSpPr>
          <p:cNvPr id="659" name="Google Shape;659;p62"/>
          <p:cNvSpPr txBox="1"/>
          <p:nvPr/>
        </p:nvSpPr>
        <p:spPr>
          <a:xfrm>
            <a:off x="0" y="1"/>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Conclusions</a:t>
            </a:r>
            <a:endParaRPr sz="4200" b="1">
              <a:latin typeface="Calibri"/>
              <a:ea typeface="Calibri"/>
              <a:cs typeface="Calibri"/>
              <a:sym typeface="Calibri"/>
            </a:endParaRPr>
          </a:p>
        </p:txBody>
      </p:sp>
      <p:sp>
        <p:nvSpPr>
          <p:cNvPr id="660" name="Google Shape;660;p62"/>
          <p:cNvSpPr txBox="1"/>
          <p:nvPr/>
        </p:nvSpPr>
        <p:spPr>
          <a:xfrm>
            <a:off x="10359875" y="9451246"/>
            <a:ext cx="28488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Faisal Ibrahim M Almaslukh	</a:t>
            </a:r>
            <a:endParaRPr sz="1500"/>
          </a:p>
        </p:txBody>
      </p:sp>
      <p:sp>
        <p:nvSpPr>
          <p:cNvPr id="661" name="Google Shape;661;p62"/>
          <p:cNvSpPr txBox="1"/>
          <p:nvPr/>
        </p:nvSpPr>
        <p:spPr>
          <a:xfrm>
            <a:off x="14424550" y="4681004"/>
            <a:ext cx="28488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Ryan Hartshorne	</a:t>
            </a:r>
            <a:endParaRPr sz="1500"/>
          </a:p>
        </p:txBody>
      </p:sp>
      <p:sp>
        <p:nvSpPr>
          <p:cNvPr id="662" name="Google Shape;662;p62"/>
          <p:cNvSpPr txBox="1"/>
          <p:nvPr/>
        </p:nvSpPr>
        <p:spPr>
          <a:xfrm>
            <a:off x="10955225" y="4587756"/>
            <a:ext cx="16581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t>Jason Abi Chebli	</a:t>
            </a:r>
            <a:endParaRPr sz="1500"/>
          </a:p>
        </p:txBody>
      </p:sp>
      <p:sp>
        <p:nvSpPr>
          <p:cNvPr id="663" name="Google Shape;663;p62"/>
          <p:cNvSpPr txBox="1"/>
          <p:nvPr/>
        </p:nvSpPr>
        <p:spPr>
          <a:xfrm>
            <a:off x="14169538" y="9465775"/>
            <a:ext cx="33588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a:t>Mahdir Shafin Hasan	</a:t>
            </a:r>
            <a:endParaRPr sz="1500"/>
          </a:p>
        </p:txBody>
      </p:sp>
      <p:pic>
        <p:nvPicPr>
          <p:cNvPr id="664" name="Google Shape;664;p62"/>
          <p:cNvPicPr preferRelativeResize="0"/>
          <p:nvPr/>
        </p:nvPicPr>
        <p:blipFill>
          <a:blip r:embed="rId3">
            <a:alphaModFix/>
          </a:blip>
          <a:stretch>
            <a:fillRect/>
          </a:stretch>
        </p:blipFill>
        <p:spPr>
          <a:xfrm>
            <a:off x="10359875" y="527157"/>
            <a:ext cx="2611398" cy="3906611"/>
          </a:xfrm>
          <a:prstGeom prst="rect">
            <a:avLst/>
          </a:prstGeom>
          <a:noFill/>
          <a:ln>
            <a:noFill/>
          </a:ln>
        </p:spPr>
      </p:pic>
      <p:pic>
        <p:nvPicPr>
          <p:cNvPr id="665" name="Google Shape;665;p62"/>
          <p:cNvPicPr preferRelativeResize="0"/>
          <p:nvPr/>
        </p:nvPicPr>
        <p:blipFill>
          <a:blip r:embed="rId4">
            <a:alphaModFix/>
          </a:blip>
          <a:stretch>
            <a:fillRect/>
          </a:stretch>
        </p:blipFill>
        <p:spPr>
          <a:xfrm>
            <a:off x="14167713" y="5282374"/>
            <a:ext cx="3082261" cy="3962907"/>
          </a:xfrm>
          <a:prstGeom prst="rect">
            <a:avLst/>
          </a:prstGeom>
          <a:noFill/>
          <a:ln>
            <a:noFill/>
          </a:ln>
        </p:spPr>
      </p:pic>
      <p:pic>
        <p:nvPicPr>
          <p:cNvPr id="666" name="Google Shape;666;p62"/>
          <p:cNvPicPr preferRelativeResize="0"/>
          <p:nvPr/>
        </p:nvPicPr>
        <p:blipFill>
          <a:blip r:embed="rId5">
            <a:alphaModFix/>
          </a:blip>
          <a:stretch>
            <a:fillRect/>
          </a:stretch>
        </p:blipFill>
        <p:spPr>
          <a:xfrm>
            <a:off x="10237975" y="5334360"/>
            <a:ext cx="2834890" cy="3962909"/>
          </a:xfrm>
          <a:prstGeom prst="rect">
            <a:avLst/>
          </a:prstGeom>
          <a:noFill/>
          <a:ln>
            <a:noFill/>
          </a:ln>
        </p:spPr>
      </p:pic>
      <p:pic>
        <p:nvPicPr>
          <p:cNvPr id="667" name="Google Shape;667;p62"/>
          <p:cNvPicPr preferRelativeResize="0"/>
          <p:nvPr/>
        </p:nvPicPr>
        <p:blipFill>
          <a:blip r:embed="rId6">
            <a:alphaModFix/>
          </a:blip>
          <a:stretch>
            <a:fillRect/>
          </a:stretch>
        </p:blipFill>
        <p:spPr>
          <a:xfrm>
            <a:off x="14424550" y="552395"/>
            <a:ext cx="2611401" cy="3856136"/>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71"/>
        <p:cNvGrpSpPr/>
        <p:nvPr/>
      </p:nvGrpSpPr>
      <p:grpSpPr>
        <a:xfrm>
          <a:off x="0" y="0"/>
          <a:ext cx="0" cy="0"/>
          <a:chOff x="0" y="0"/>
          <a:chExt cx="0" cy="0"/>
        </a:xfrm>
      </p:grpSpPr>
      <p:sp>
        <p:nvSpPr>
          <p:cNvPr id="672" name="Google Shape;672;p63"/>
          <p:cNvSpPr txBox="1"/>
          <p:nvPr/>
        </p:nvSpPr>
        <p:spPr>
          <a:xfrm>
            <a:off x="913250" y="1187475"/>
            <a:ext cx="15537900" cy="89022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[1]Warmandesignandbuild.org.au,2022.[Online].Available:https://warmandesignandbuild.org.au/wp-content/uploads/2019/04/193686_-_warman_book_-_digital_final_for_website_0-1.pdf. [Accessed: 30-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[2]Engineers Australia, "2022 Weir Warman Competition Rules-Rev 1.1", 35th Warman Student Design and Build Competition, 2022.</a:t>
            </a:r>
            <a:r>
              <a:rPr lang="en" sz="1800">
                <a:solidFill>
                  <a:schemeClr val="dk1"/>
                </a:solidFill>
                <a:highlight>
                  <a:schemeClr val="lt1"/>
                </a:highlight>
                <a:latin typeface="Calibri"/>
                <a:ea typeface="Calibri"/>
                <a:cs typeface="Calibri"/>
                <a:sym typeface="Calibri"/>
              </a:rPr>
              <a:t>[Online]. Available: https://lms.monash.edu/mod/resource/view.php?id=10038569/. [Accessed: 29- Mar- 2022].</a:t>
            </a:r>
            <a:endParaRPr sz="1800">
              <a:solidFill>
                <a:schemeClr val="dk1"/>
              </a:solidFill>
              <a:highlight>
                <a:schemeClr val="lt1"/>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chemeClr val="lt1"/>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[3]"Monash University wins 2018 Warman Design &amp; Build Competition", Global.weir, 2022. [Online]. Available: https://www.global.weir/newsroom/news-articles/monash-university,-clayton-campus-wins-the-2018-warman-design-and-build-competition/. [Accessed: 29-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[4]"History of the Competition – The Warman Design and Build Competition", Warmandesignandbuild.org.au, 2022. [Online]. Available: https://warmandesignandbuild.org.au/history/. [Accessed: 29-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[5]"Engineering students save a world in peril at 2019 Warman Design and Build Competition", Create, 2022. [Online]. Available: https://createdigital.org.au/warman-design-and-build-competition-2019-winners-announced/. [Accessed: 29-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[6]"How to Scale an Assembly in SOLIDWORKS", The Javelin Blog, 2022. [Online]. Available: https://www.javelin-tech.com/blog/2020/09/how-to-scale-an-assembly-in-solidworks/. [Accessed: 30-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[7]"Arduino Uno Rev3", Arduino Online Shop, 2022. [Online]. Available: http://store-usa.arduino.cc/products/arduino-uno-rev3. [Accessed: 29-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[8]</a:t>
            </a:r>
            <a:r>
              <a:rPr lang="en" sz="1800">
                <a:solidFill>
                  <a:schemeClr val="dk1"/>
                </a:solidFill>
                <a:highlight>
                  <a:schemeClr val="lt1"/>
                </a:highlight>
                <a:latin typeface="Calibri"/>
                <a:ea typeface="Calibri"/>
                <a:cs typeface="Calibri"/>
                <a:sym typeface="Calibri"/>
              </a:rPr>
              <a:t>D. Team, "Orthographic Projection (Principles, Conversions) | Difference Between Orthographic and Isometric Projection", Dream Civil, 2022. [Online]. Available: https://dreamcivil.com/orthographic-projection/. [Accessed: 30- Mar- 2022].</a:t>
            </a: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rgbClr val="FFFFFF"/>
                </a:highlight>
                <a:latin typeface="Calibri"/>
                <a:ea typeface="Calibri"/>
                <a:cs typeface="Calibri"/>
                <a:sym typeface="Calibri"/>
              </a:rPr>
              <a:t>[9]</a:t>
            </a:r>
            <a:r>
              <a:rPr lang="en" sz="1800">
                <a:solidFill>
                  <a:schemeClr val="dk1"/>
                </a:solidFill>
                <a:highlight>
                  <a:schemeClr val="lt1"/>
                </a:highlight>
                <a:latin typeface="Calibri"/>
                <a:ea typeface="Calibri"/>
                <a:cs typeface="Calibri"/>
                <a:sym typeface="Calibri"/>
              </a:rPr>
              <a:t>Thumbs.dreamstime.com, 2022. [Online]. Available: https://thumbs.dreamstime.com/b/linear-flat-winning-team-people-medal-winner-cup-f-businesspeople-hugging-flag-hands-vector-illustration-ribbon-label-78230968.jpg. [Accessed: 30- Mar- 2022].</a:t>
            </a:r>
            <a:endParaRPr sz="1800">
              <a:solidFill>
                <a:schemeClr val="dk1"/>
              </a:solidFill>
              <a:highlight>
                <a:srgbClr val="FFFFFF"/>
              </a:highlight>
              <a:latin typeface="Calibri"/>
              <a:ea typeface="Calibri"/>
              <a:cs typeface="Calibri"/>
              <a:sym typeface="Calibri"/>
            </a:endParaRPr>
          </a:p>
        </p:txBody>
      </p:sp>
      <p:sp>
        <p:nvSpPr>
          <p:cNvPr id="673" name="Google Shape;673;p63"/>
          <p:cNvSpPr txBox="1"/>
          <p:nvPr/>
        </p:nvSpPr>
        <p:spPr>
          <a:xfrm>
            <a:off x="152400" y="317936"/>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References</a:t>
            </a:r>
            <a:endParaRPr sz="4200" b="1">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64"/>
          <p:cNvSpPr txBox="1"/>
          <p:nvPr/>
        </p:nvSpPr>
        <p:spPr>
          <a:xfrm>
            <a:off x="913250" y="1187475"/>
            <a:ext cx="15537900" cy="22113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1800">
                <a:solidFill>
                  <a:schemeClr val="dk1"/>
                </a:solidFill>
                <a:highlight>
                  <a:schemeClr val="lt1"/>
                </a:highlight>
                <a:latin typeface="Calibri"/>
                <a:ea typeface="Calibri"/>
                <a:cs typeface="Calibri"/>
                <a:sym typeface="Calibri"/>
              </a:rPr>
              <a:t>[10]E. Lehmann and E. Lehmann, "What mining means to Australians: a national survey", CSIRO scope, 2022. [Online]. Available: https://blog.csiro.au/what-mining-means-to-australians-a-national-survey/. [Accessed: 30- Mar- 2022].</a:t>
            </a:r>
            <a:endParaRPr sz="1800">
              <a:solidFill>
                <a:schemeClr val="dk1"/>
              </a:solidFill>
              <a:highlight>
                <a:schemeClr val="lt1"/>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chemeClr val="lt1"/>
              </a:highlight>
              <a:latin typeface="Calibri"/>
              <a:ea typeface="Calibri"/>
              <a:cs typeface="Calibri"/>
              <a:sym typeface="Calibri"/>
            </a:endParaRPr>
          </a:p>
          <a:p>
            <a:pPr marL="0" lvl="0" indent="0" algn="just" rtl="0">
              <a:lnSpc>
                <a:spcPct val="115000"/>
              </a:lnSpc>
              <a:spcBef>
                <a:spcPts val="0"/>
              </a:spcBef>
              <a:spcAft>
                <a:spcPts val="0"/>
              </a:spcAft>
              <a:buNone/>
            </a:pPr>
            <a:r>
              <a:rPr lang="en" sz="1800">
                <a:solidFill>
                  <a:schemeClr val="dk1"/>
                </a:solidFill>
                <a:highlight>
                  <a:schemeClr val="lt1"/>
                </a:highlight>
                <a:latin typeface="Calibri"/>
                <a:ea typeface="Calibri"/>
                <a:cs typeface="Calibri"/>
                <a:sym typeface="Calibri"/>
              </a:rPr>
              <a:t>[11]Engineers Australia, "2022 Warman Competition Track Base 1 of 5 ", 35th Warman Student Design and Build Competition, 2022.[Online]. Available: https://lms.monash.edu/mod/resource/view.php?id=10038569/. [Accessed: 29- Mar- 2022].</a:t>
            </a:r>
            <a:endParaRPr sz="1800">
              <a:solidFill>
                <a:schemeClr val="dk1"/>
              </a:solidFill>
              <a:highlight>
                <a:schemeClr val="lt1"/>
              </a:highlight>
              <a:latin typeface="Calibri"/>
              <a:ea typeface="Calibri"/>
              <a:cs typeface="Calibri"/>
              <a:sym typeface="Calibri"/>
            </a:endParaRPr>
          </a:p>
          <a:p>
            <a:pPr marL="0" lvl="0" indent="0" algn="just" rtl="0">
              <a:lnSpc>
                <a:spcPct val="115000"/>
              </a:lnSpc>
              <a:spcBef>
                <a:spcPts val="0"/>
              </a:spcBef>
              <a:spcAft>
                <a:spcPts val="0"/>
              </a:spcAft>
              <a:buNone/>
            </a:pPr>
            <a:endParaRPr sz="1800">
              <a:solidFill>
                <a:schemeClr val="dk1"/>
              </a:solidFill>
              <a:highlight>
                <a:srgbClr val="FFFFFF"/>
              </a:highlight>
              <a:latin typeface="Calibri"/>
              <a:ea typeface="Calibri"/>
              <a:cs typeface="Calibri"/>
              <a:sym typeface="Calibri"/>
            </a:endParaRPr>
          </a:p>
        </p:txBody>
      </p:sp>
      <p:sp>
        <p:nvSpPr>
          <p:cNvPr id="679" name="Google Shape;679;p64"/>
          <p:cNvSpPr txBox="1"/>
          <p:nvPr/>
        </p:nvSpPr>
        <p:spPr>
          <a:xfrm>
            <a:off x="152400" y="317936"/>
            <a:ext cx="11550000" cy="987600"/>
          </a:xfrm>
          <a:prstGeom prst="rect">
            <a:avLst/>
          </a:prstGeom>
          <a:noFill/>
          <a:ln>
            <a:noFill/>
          </a:ln>
        </p:spPr>
        <p:txBody>
          <a:bodyPr spcFirstLastPara="1" wrap="square" lIns="168825" tIns="168825" rIns="168825" bIns="168825" anchor="t" anchorCtr="0">
            <a:spAutoFit/>
          </a:bodyPr>
          <a:lstStyle/>
          <a:p>
            <a:pPr marL="0" lvl="0" indent="0" algn="just" rtl="0">
              <a:lnSpc>
                <a:spcPct val="115000"/>
              </a:lnSpc>
              <a:spcBef>
                <a:spcPts val="0"/>
              </a:spcBef>
              <a:spcAft>
                <a:spcPts val="0"/>
              </a:spcAft>
              <a:buNone/>
            </a:pPr>
            <a:r>
              <a:rPr lang="en" sz="4200" b="1">
                <a:solidFill>
                  <a:schemeClr val="dk1"/>
                </a:solidFill>
                <a:highlight>
                  <a:srgbClr val="FFFFFF"/>
                </a:highlight>
                <a:latin typeface="Calibri"/>
                <a:ea typeface="Calibri"/>
                <a:cs typeface="Calibri"/>
                <a:sym typeface="Calibri"/>
              </a:rPr>
              <a:t>References</a:t>
            </a:r>
            <a:endParaRPr sz="4200" b="1">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8613</Words>
  <Application>Microsoft Office PowerPoint</Application>
  <PresentationFormat>Custom</PresentationFormat>
  <Paragraphs>1114</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Jason Abi Chebli</cp:lastModifiedBy>
  <cp:revision>1</cp:revision>
  <dcterms:modified xsi:type="dcterms:W3CDTF">2025-02-17T21:29:10Z</dcterms:modified>
</cp:coreProperties>
</file>